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321"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22" r:id="rId65"/>
    <p:sldId id="323" r:id="rId66"/>
    <p:sldId id="318" r:id="rId67"/>
    <p:sldId id="320" r:id="rId68"/>
    <p:sldId id="319" r:id="rId6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ément Chardon" userId="234d26f7ab6df698" providerId="LiveId" clId="{95C97F46-5FE1-4F7A-837F-1C95F852080E}"/>
    <pc:docChg chg="undo custSel modSld">
      <pc:chgData name="Clément Chardon" userId="234d26f7ab6df698" providerId="LiveId" clId="{95C97F46-5FE1-4F7A-837F-1C95F852080E}" dt="2026-09-28T09:35:11.071" v="210" actId="20577"/>
      <pc:docMkLst>
        <pc:docMk/>
      </pc:docMkLst>
      <pc:sldChg chg="modSp mod">
        <pc:chgData name="Clément Chardon" userId="234d26f7ab6df698" providerId="LiveId" clId="{95C97F46-5FE1-4F7A-837F-1C95F852080E}" dt="2026-09-28T09:35:11.071" v="210" actId="20577"/>
        <pc:sldMkLst>
          <pc:docMk/>
          <pc:sldMk cId="0" sldId="257"/>
        </pc:sldMkLst>
        <pc:spChg chg="mod">
          <ac:chgData name="Clément Chardon" userId="234d26f7ab6df698" providerId="LiveId" clId="{95C97F46-5FE1-4F7A-837F-1C95F852080E}" dt="2026-09-28T09:33:21.734" v="40" actId="20577"/>
          <ac:spMkLst>
            <pc:docMk/>
            <pc:sldMk cId="0" sldId="257"/>
            <ac:spMk id="8" creationId="{00000000-0000-0000-0000-000000000000}"/>
          </ac:spMkLst>
        </pc:spChg>
        <pc:spChg chg="mod">
          <ac:chgData name="Clément Chardon" userId="234d26f7ab6df698" providerId="LiveId" clId="{95C97F46-5FE1-4F7A-837F-1C95F852080E}" dt="2026-09-28T09:34:14.194" v="96" actId="20577"/>
          <ac:spMkLst>
            <pc:docMk/>
            <pc:sldMk cId="0" sldId="257"/>
            <ac:spMk id="12" creationId="{00000000-0000-0000-0000-000000000000}"/>
          </ac:spMkLst>
        </pc:spChg>
        <pc:spChg chg="mod">
          <ac:chgData name="Clément Chardon" userId="234d26f7ab6df698" providerId="LiveId" clId="{95C97F46-5FE1-4F7A-837F-1C95F852080E}" dt="2026-09-28T09:34:31.483" v="119" actId="20577"/>
          <ac:spMkLst>
            <pc:docMk/>
            <pc:sldMk cId="0" sldId="257"/>
            <ac:spMk id="16" creationId="{00000000-0000-0000-0000-000000000000}"/>
          </ac:spMkLst>
        </pc:spChg>
        <pc:spChg chg="mod">
          <ac:chgData name="Clément Chardon" userId="234d26f7ab6df698" providerId="LiveId" clId="{95C97F46-5FE1-4F7A-837F-1C95F852080E}" dt="2026-09-28T09:35:11.071" v="210" actId="20577"/>
          <ac:spMkLst>
            <pc:docMk/>
            <pc:sldMk cId="0" sldId="257"/>
            <ac:spMk id="2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0885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g"/><Relationship Id="rId7"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jp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jpg"/></Relationships>
</file>

<file path=ppt/slides/_rels/slide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3.jp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0.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38.jpg"/><Relationship Id="rId7"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9.png"/><Relationship Id="rId7"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37.png"/><Relationship Id="rId4" Type="http://schemas.openxmlformats.org/officeDocument/2006/relationships/image" Target="../media/image47.png"/><Relationship Id="rId9" Type="http://schemas.openxmlformats.org/officeDocument/2006/relationships/image" Target="../media/image50.png"/></Relationships>
</file>

<file path=ppt/slides/_rels/slide23.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6.png"/><Relationship Id="rId7" Type="http://schemas.openxmlformats.org/officeDocument/2006/relationships/image" Target="../media/image59.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8.png"/><Relationship Id="rId11" Type="http://schemas.openxmlformats.org/officeDocument/2006/relationships/image" Target="../media/image62.png"/><Relationship Id="rId5" Type="http://schemas.openxmlformats.org/officeDocument/2006/relationships/image" Target="../media/image57.png"/><Relationship Id="rId10" Type="http://schemas.openxmlformats.org/officeDocument/2006/relationships/image" Target="../media/image28.png"/><Relationship Id="rId4" Type="http://schemas.openxmlformats.org/officeDocument/2006/relationships/image" Target="../media/image15.png"/><Relationship Id="rId9" Type="http://schemas.openxmlformats.org/officeDocument/2006/relationships/image" Target="../media/image61.png"/></Relationships>
</file>

<file path=ppt/slides/_rels/slide26.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66.jpg"/></Relationships>
</file>

<file path=ppt/slides/_rels/slide29.xml.rels><?xml version="1.0" encoding="UTF-8" standalone="yes"?>
<Relationships xmlns="http://schemas.openxmlformats.org/package/2006/relationships"><Relationship Id="rId3" Type="http://schemas.openxmlformats.org/officeDocument/2006/relationships/image" Target="../media/image67.jpg"/><Relationship Id="rId7" Type="http://schemas.openxmlformats.org/officeDocument/2006/relationships/image" Target="../media/image69.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36.png"/><Relationship Id="rId4" Type="http://schemas.openxmlformats.org/officeDocument/2006/relationships/image" Target="../media/image68.jpg"/></Relationships>
</file>

<file path=ppt/slides/_rels/slide30.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40.png"/><Relationship Id="rId4" Type="http://schemas.openxmlformats.org/officeDocument/2006/relationships/image" Target="../media/image72.png"/></Relationships>
</file>

<file path=ppt/slides/_rels/slide3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73.png"/><Relationship Id="rId7" Type="http://schemas.openxmlformats.org/officeDocument/2006/relationships/image" Target="../media/image71.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74.png"/><Relationship Id="rId5" Type="http://schemas.openxmlformats.org/officeDocument/2006/relationships/image" Target="../media/image25.png"/><Relationship Id="rId4" Type="http://schemas.openxmlformats.org/officeDocument/2006/relationships/image" Target="../media/image50.png"/></Relationships>
</file>

<file path=ppt/slides/_rels/slide33.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0.png"/><Relationship Id="rId4" Type="http://schemas.openxmlformats.org/officeDocument/2006/relationships/image" Target="../media/image77.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3.png"/><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81.png"/></Relationships>
</file>

<file path=ppt/slides/_rels/slide4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8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48.xml.rels><?xml version="1.0" encoding="UTF-8" standalone="yes"?>
<Relationships xmlns="http://schemas.openxmlformats.org/package/2006/relationships"><Relationship Id="rId3" Type="http://schemas.openxmlformats.org/officeDocument/2006/relationships/image" Target="../media/image89.jp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91.png"/><Relationship Id="rId4" Type="http://schemas.openxmlformats.org/officeDocument/2006/relationships/image" Target="../media/image90.png"/></Relationships>
</file>

<file path=ppt/slides/_rels/slide49.xml.rels><?xml version="1.0" encoding="UTF-8" standalone="yes"?>
<Relationships xmlns="http://schemas.openxmlformats.org/package/2006/relationships"><Relationship Id="rId3" Type="http://schemas.openxmlformats.org/officeDocument/2006/relationships/image" Target="../media/image92.jp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95.jpg"/><Relationship Id="rId5" Type="http://schemas.openxmlformats.org/officeDocument/2006/relationships/image" Target="../media/image94.jpg"/><Relationship Id="rId4" Type="http://schemas.openxmlformats.org/officeDocument/2006/relationships/image" Target="../media/image93.jp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96.jp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99.jpg"/><Relationship Id="rId4" Type="http://schemas.openxmlformats.org/officeDocument/2006/relationships/image" Target="../media/image98.jpg"/></Relationships>
</file>

<file path=ppt/slides/_rels/slide53.xml.rels><?xml version="1.0" encoding="UTF-8" standalone="yes"?>
<Relationships xmlns="http://schemas.openxmlformats.org/package/2006/relationships"><Relationship Id="rId3" Type="http://schemas.openxmlformats.org/officeDocument/2006/relationships/image" Target="../media/image100.jpg"/><Relationship Id="rId2" Type="http://schemas.openxmlformats.org/officeDocument/2006/relationships/notesSlide" Target="../notesSlides/notesSlide52.xml"/><Relationship Id="rId1" Type="http://schemas.openxmlformats.org/officeDocument/2006/relationships/slideLayout" Target="../slideLayouts/slideLayout1.xml"/><Relationship Id="rId5" Type="http://schemas.openxmlformats.org/officeDocument/2006/relationships/image" Target="../media/image102.jpg"/><Relationship Id="rId4" Type="http://schemas.openxmlformats.org/officeDocument/2006/relationships/image" Target="../media/image101.jpg"/></Relationships>
</file>

<file path=ppt/slides/_rels/slide54.xml.rels><?xml version="1.0" encoding="UTF-8" standalone="yes"?>
<Relationships xmlns="http://schemas.openxmlformats.org/package/2006/relationships"><Relationship Id="rId3" Type="http://schemas.openxmlformats.org/officeDocument/2006/relationships/image" Target="../media/image103.jp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105.jpg"/><Relationship Id="rId4" Type="http://schemas.openxmlformats.org/officeDocument/2006/relationships/image" Target="../media/image104.jpg"/></Relationships>
</file>

<file path=ppt/slides/_rels/slide55.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notesSlide" Target="../notesSlides/notesSlide54.xml"/><Relationship Id="rId1" Type="http://schemas.openxmlformats.org/officeDocument/2006/relationships/slideLayout" Target="../slideLayouts/slideLayout1.xml"/><Relationship Id="rId5" Type="http://schemas.openxmlformats.org/officeDocument/2006/relationships/image" Target="../media/image108.jpg"/><Relationship Id="rId4" Type="http://schemas.openxmlformats.org/officeDocument/2006/relationships/image" Target="../media/image107.jpg"/></Relationships>
</file>

<file path=ppt/slides/_rels/slide56.xml.rels><?xml version="1.0" encoding="UTF-8" standalone="yes"?>
<Relationships xmlns="http://schemas.openxmlformats.org/package/2006/relationships"><Relationship Id="rId3" Type="http://schemas.openxmlformats.org/officeDocument/2006/relationships/image" Target="../media/image109.jp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image" Target="../media/image111.jpg"/><Relationship Id="rId4" Type="http://schemas.openxmlformats.org/officeDocument/2006/relationships/image" Target="../media/image110.jpg"/></Relationships>
</file>

<file path=ppt/slides/_rels/slide57.xml.rels><?xml version="1.0" encoding="UTF-8" standalone="yes"?>
<Relationships xmlns="http://schemas.openxmlformats.org/package/2006/relationships"><Relationship Id="rId3" Type="http://schemas.openxmlformats.org/officeDocument/2006/relationships/image" Target="../media/image112.jp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114.jpg"/><Relationship Id="rId4" Type="http://schemas.openxmlformats.org/officeDocument/2006/relationships/image" Target="../media/image113.jpg"/></Relationships>
</file>

<file path=ppt/slides/_rels/slide58.xml.rels><?xml version="1.0" encoding="UTF-8" standalone="yes"?>
<Relationships xmlns="http://schemas.openxmlformats.org/package/2006/relationships"><Relationship Id="rId3" Type="http://schemas.openxmlformats.org/officeDocument/2006/relationships/image" Target="../media/image115.jp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68.jpg"/></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16.jp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118.jpg"/><Relationship Id="rId4" Type="http://schemas.openxmlformats.org/officeDocument/2006/relationships/image" Target="../media/image117.jpg"/></Relationships>
</file>

<file path=ppt/slides/_rels/slide61.xml.rels><?xml version="1.0" encoding="UTF-8" standalone="yes"?>
<Relationships xmlns="http://schemas.openxmlformats.org/package/2006/relationships"><Relationship Id="rId3" Type="http://schemas.openxmlformats.org/officeDocument/2006/relationships/image" Target="../media/image119.jp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121.jpg"/><Relationship Id="rId4" Type="http://schemas.openxmlformats.org/officeDocument/2006/relationships/image" Target="../media/image120.jpg"/></Relationships>
</file>

<file path=ppt/slides/_rels/slide62.xml.rels><?xml version="1.0" encoding="UTF-8" standalone="yes"?>
<Relationships xmlns="http://schemas.openxmlformats.org/package/2006/relationships"><Relationship Id="rId3" Type="http://schemas.openxmlformats.org/officeDocument/2006/relationships/image" Target="../media/image122.jp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123.jpg"/></Relationships>
</file>

<file path=ppt/slides/_rels/slide63.xml.rels><?xml version="1.0" encoding="UTF-8" standalone="yes"?>
<Relationships xmlns="http://schemas.openxmlformats.org/package/2006/relationships"><Relationship Id="rId3" Type="http://schemas.openxmlformats.org/officeDocument/2006/relationships/image" Target="../media/image124.jp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125.jpg"/></Relationships>
</file>

<file path=ppt/slides/_rels/slide64.xml.rels><?xml version="1.0" encoding="UTF-8" standalone="yes"?>
<Relationships xmlns="http://schemas.openxmlformats.org/package/2006/relationships"><Relationship Id="rId3" Type="http://schemas.openxmlformats.org/officeDocument/2006/relationships/image" Target="../media/image127.jpg"/><Relationship Id="rId2" Type="http://schemas.openxmlformats.org/officeDocument/2006/relationships/image" Target="../media/image126.jpg"/><Relationship Id="rId1" Type="http://schemas.openxmlformats.org/officeDocument/2006/relationships/slideLayout" Target="../slideLayouts/slideLayout1.xml"/><Relationship Id="rId5" Type="http://schemas.openxmlformats.org/officeDocument/2006/relationships/image" Target="../media/image129.jpg"/><Relationship Id="rId4" Type="http://schemas.openxmlformats.org/officeDocument/2006/relationships/image" Target="../media/image128.jpg"/></Relationships>
</file>

<file path=ppt/slides/_rels/slide65.xml.rels><?xml version="1.0" encoding="UTF-8" standalone="yes"?>
<Relationships xmlns="http://schemas.openxmlformats.org/package/2006/relationships"><Relationship Id="rId3" Type="http://schemas.openxmlformats.org/officeDocument/2006/relationships/image" Target="../media/image131.jpg"/><Relationship Id="rId2" Type="http://schemas.openxmlformats.org/officeDocument/2006/relationships/image" Target="../media/image130.jp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32.jpg"/><Relationship Id="rId7" Type="http://schemas.openxmlformats.org/officeDocument/2006/relationships/image" Target="../media/image136.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33.jpg"/></Relationships>
</file>

<file path=ppt/slides/_rels/slide67.xml.rels><?xml version="1.0" encoding="UTF-8" standalone="yes"?>
<Relationships xmlns="http://schemas.openxmlformats.org/package/2006/relationships"><Relationship Id="rId8" Type="http://schemas.openxmlformats.org/officeDocument/2006/relationships/image" Target="../media/image16.jp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jpg"/><Relationship Id="rId1" Type="http://schemas.openxmlformats.org/officeDocument/2006/relationships/slideLayout" Target="../slideLayouts/slideLayout1.xml"/><Relationship Id="rId6" Type="http://schemas.openxmlformats.org/officeDocument/2006/relationships/image" Target="../media/image14.jpg"/><Relationship Id="rId5" Type="http://schemas.openxmlformats.org/officeDocument/2006/relationships/image" Target="../media/image13.png"/><Relationship Id="rId4" Type="http://schemas.openxmlformats.org/officeDocument/2006/relationships/image" Target="../media/image12.jpg"/><Relationship Id="rId9"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137.jpg"/><Relationship Id="rId2" Type="http://schemas.openxmlformats.org/officeDocument/2006/relationships/notesSlide" Target="../notesSlides/notesSlide6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claude/deck/crop3/fdd_image1_1778_50_50_0_.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3FC4">
              <a:alpha val="54000"/>
            </a:srgbClr>
          </a:solidFill>
          <a:ln w="12700">
            <a:solidFill>
              <a:srgbClr val="0B3FC4"/>
            </a:solidFill>
            <a:prstDash val="solid"/>
          </a:ln>
        </p:spPr>
        <p:txBody>
          <a:bodyPr/>
          <a:lstStyle/>
          <a:p>
            <a:endParaRPr lang="fr-FR"/>
          </a:p>
        </p:txBody>
      </p:sp>
      <p:pic>
        <p:nvPicPr>
          <p:cNvPr id="4" name="Image 1" descr="/home/claude/deck/logo-projet-blanc.png"/>
          <p:cNvPicPr>
            <a:picLocks noChangeAspect="1"/>
          </p:cNvPicPr>
          <p:nvPr/>
        </p:nvPicPr>
        <p:blipFill>
          <a:blip r:embed="rId4"/>
          <a:stretch>
            <a:fillRect/>
          </a:stretch>
        </p:blipFill>
        <p:spPr>
          <a:xfrm>
            <a:off x="9768535" y="320040"/>
            <a:ext cx="1920240" cy="776954"/>
          </a:xfrm>
          <a:prstGeom prst="rect">
            <a:avLst/>
          </a:prstGeom>
        </p:spPr>
      </p:pic>
      <p:sp>
        <p:nvSpPr>
          <p:cNvPr id="5" name="Shape 1"/>
          <p:cNvSpPr/>
          <p:nvPr/>
        </p:nvSpPr>
        <p:spPr>
          <a:xfrm>
            <a:off x="731520" y="1737360"/>
            <a:ext cx="3017520" cy="310896"/>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6" name="Text 2"/>
          <p:cNvSpPr txBox="1"/>
          <p:nvPr/>
        </p:nvSpPr>
        <p:spPr>
          <a:xfrm>
            <a:off x="731520" y="1737360"/>
            <a:ext cx="3017520" cy="310896"/>
          </a:xfrm>
          <a:prstGeom prst="rect">
            <a:avLst/>
          </a:prstGeom>
          <a:noFill/>
          <a:ln/>
        </p:spPr>
        <p:txBody>
          <a:bodyPr wrap="square" lIns="0" tIns="0" rIns="0" bIns="0" rtlCol="0" anchor="ctr"/>
          <a:lstStyle/>
          <a:p>
            <a:pPr marL="0" indent="0" algn="ctr">
              <a:buNone/>
            </a:pPr>
            <a:r>
              <a:rPr lang="en-US" sz="1250" b="1" dirty="0">
                <a:solidFill>
                  <a:srgbClr val="0012B5"/>
                </a:solidFill>
                <a:latin typeface="Verdana" pitchFamily="34" charset="0"/>
                <a:ea typeface="Verdana" pitchFamily="34" charset="-122"/>
                <a:cs typeface="Verdana" pitchFamily="34" charset="-120"/>
              </a:rPr>
              <a:t>Présentation · septembre 2026</a:t>
            </a:r>
            <a:endParaRPr lang="en-US" sz="1250" dirty="0"/>
          </a:p>
        </p:txBody>
      </p:sp>
      <p:sp>
        <p:nvSpPr>
          <p:cNvPr id="7" name="Text 3"/>
          <p:cNvSpPr txBox="1"/>
          <p:nvPr/>
        </p:nvSpPr>
        <p:spPr>
          <a:xfrm>
            <a:off x="731520" y="2240280"/>
            <a:ext cx="9875520" cy="1371600"/>
          </a:xfrm>
          <a:prstGeom prst="rect">
            <a:avLst/>
          </a:prstGeom>
          <a:noFill/>
          <a:ln/>
        </p:spPr>
        <p:txBody>
          <a:bodyPr wrap="square" lIns="0" tIns="0" rIns="0" bIns="0" rtlCol="0" anchor="t"/>
          <a:lstStyle/>
          <a:p>
            <a:pPr marL="0" indent="0">
              <a:buNone/>
            </a:pPr>
            <a:r>
              <a:rPr lang="en-US" sz="3800" b="1" dirty="0">
                <a:solidFill>
                  <a:srgbClr val="FFFFFF"/>
                </a:solidFill>
                <a:latin typeface="Verdana" pitchFamily="34" charset="0"/>
                <a:ea typeface="Verdana" pitchFamily="34" charset="-122"/>
                <a:cs typeface="Verdana" pitchFamily="34" charset="-120"/>
              </a:rPr>
              <a:t>Comment fonctionne Mare Services, de A à Z</a:t>
            </a:r>
            <a:endParaRPr lang="en-US" sz="3800" dirty="0"/>
          </a:p>
        </p:txBody>
      </p:sp>
      <p:sp>
        <p:nvSpPr>
          <p:cNvPr id="8" name="Shape 4"/>
          <p:cNvSpPr/>
          <p:nvPr/>
        </p:nvSpPr>
        <p:spPr>
          <a:xfrm>
            <a:off x="731520" y="3931920"/>
            <a:ext cx="9697818" cy="1325880"/>
          </a:xfrm>
          <a:prstGeom prst="roundRect">
            <a:avLst>
              <a:gd name="adj" fmla="val 13793"/>
            </a:avLst>
          </a:prstGeom>
          <a:solidFill>
            <a:srgbClr val="FFFFFF"/>
          </a:solidFill>
          <a:ln w="12700">
            <a:solidFill>
              <a:srgbClr val="FFFFFF"/>
            </a:solidFill>
            <a:prstDash val="solid"/>
          </a:ln>
        </p:spPr>
        <p:txBody>
          <a:bodyPr/>
          <a:lstStyle/>
          <a:p>
            <a:endParaRPr lang="fr-FR"/>
          </a:p>
        </p:txBody>
      </p:sp>
      <p:sp>
        <p:nvSpPr>
          <p:cNvPr id="9" name="Text 5"/>
          <p:cNvSpPr txBox="1"/>
          <p:nvPr/>
        </p:nvSpPr>
        <p:spPr>
          <a:xfrm>
            <a:off x="1005840" y="3931920"/>
            <a:ext cx="9423497" cy="1325880"/>
          </a:xfrm>
          <a:prstGeom prst="rect">
            <a:avLst/>
          </a:prstGeom>
          <a:noFill/>
          <a:ln/>
        </p:spPr>
        <p:txBody>
          <a:bodyPr wrap="square" lIns="0" tIns="0" rIns="0" bIns="0" rtlCol="0" anchor="ctr"/>
          <a:lstStyle/>
          <a:p>
            <a:pPr marL="0" indent="0">
              <a:buNone/>
            </a:pPr>
            <a:r>
              <a:rPr lang="en-US" sz="1650" b="1" dirty="0">
                <a:solidFill>
                  <a:srgbClr val="0012B5"/>
                </a:solidFill>
                <a:latin typeface="Verdana" pitchFamily="34" charset="0"/>
                <a:ea typeface="Verdana" pitchFamily="34" charset="-122"/>
                <a:cs typeface="Verdana" pitchFamily="34" charset="-120"/>
              </a:rPr>
              <a:t>Mare Services — </a:t>
            </a:r>
            <a:r>
              <a:rPr lang="en-US" sz="1400" dirty="0">
                <a:solidFill>
                  <a:srgbClr val="1D2838"/>
                </a:solidFill>
                <a:latin typeface="Verdana" pitchFamily="34" charset="0"/>
                <a:ea typeface="Verdana" pitchFamily="34" charset="-122"/>
                <a:cs typeface="Verdana" pitchFamily="34" charset="-120"/>
              </a:rPr>
              <a:t>l’activité de services de Mare Durabilis : les navires de pêche méditerranéens au service du tourisme, de la recherche, de la sensibilisation et de l’action de l’État en mer. Touristes, organismes, pêcheurs, sécurité en mer, données, messages, back office, </a:t>
            </a:r>
            <a:r>
              <a:rPr lang="en-US" sz="1400" dirty="0" err="1">
                <a:solidFill>
                  <a:srgbClr val="1D2838"/>
                </a:solidFill>
                <a:latin typeface="Verdana" pitchFamily="34" charset="0"/>
                <a:ea typeface="Verdana" pitchFamily="34" charset="-122"/>
                <a:cs typeface="Verdana" pitchFamily="34" charset="-120"/>
              </a:rPr>
              <a:t>fiabilité</a:t>
            </a:r>
            <a:r>
              <a:rPr lang="en-US" sz="1400" dirty="0">
                <a:solidFill>
                  <a:srgbClr val="1D2838"/>
                </a:solidFill>
                <a:latin typeface="Verdana" pitchFamily="34" charset="0"/>
                <a:ea typeface="Verdana" pitchFamily="34" charset="-122"/>
                <a:cs typeface="Verdana" pitchFamily="34" charset="-120"/>
              </a:rPr>
              <a:t> du site, </a:t>
            </a:r>
            <a:r>
              <a:rPr lang="en-US" sz="1400" dirty="0" err="1">
                <a:solidFill>
                  <a:srgbClr val="1D2838"/>
                </a:solidFill>
                <a:latin typeface="Verdana" pitchFamily="34" charset="0"/>
                <a:ea typeface="Verdana" pitchFamily="34" charset="-122"/>
                <a:cs typeface="Verdana" pitchFamily="34" charset="-120"/>
              </a:rPr>
              <a:t>modèle</a:t>
            </a:r>
            <a:r>
              <a:rPr lang="en-US" sz="1400" dirty="0">
                <a:solidFill>
                  <a:srgbClr val="1D2838"/>
                </a:solidFill>
                <a:latin typeface="Verdana" pitchFamily="34" charset="0"/>
                <a:ea typeface="Verdana" pitchFamily="34" charset="-122"/>
                <a:cs typeface="Verdana" pitchFamily="34" charset="-120"/>
              </a:rPr>
              <a:t> économique, cadre juridique et financier, feuille de route.</a:t>
            </a:r>
            <a:endParaRPr lang="en-US" sz="1400" dirty="0"/>
          </a:p>
        </p:txBody>
      </p:sp>
      <p:sp>
        <p:nvSpPr>
          <p:cNvPr id="10" name="Text 6"/>
          <p:cNvSpPr txBox="1"/>
          <p:nvPr/>
        </p:nvSpPr>
        <p:spPr>
          <a:xfrm>
            <a:off x="731520" y="6035040"/>
            <a:ext cx="5486400" cy="320040"/>
          </a:xfrm>
          <a:prstGeom prst="rect">
            <a:avLst/>
          </a:prstGeom>
          <a:noFill/>
          <a:ln/>
        </p:spPr>
        <p:txBody>
          <a:bodyPr wrap="square" lIns="0" tIns="0" rIns="0" bIns="0" rtlCol="0" anchor="t"/>
          <a:lstStyle/>
          <a:p>
            <a:pPr marL="0" indent="0">
              <a:buNone/>
            </a:pPr>
            <a:r>
              <a:rPr lang="en-US" sz="1500" b="1" dirty="0">
                <a:solidFill>
                  <a:srgbClr val="FFFFFF"/>
                </a:solidFill>
                <a:latin typeface="Verdana" pitchFamily="34" charset="0"/>
                <a:ea typeface="Verdana" pitchFamily="34" charset="-122"/>
                <a:cs typeface="Verdana" pitchFamily="34" charset="-120"/>
              </a:rPr>
              <a:t>https://services.maredurabilis.org</a:t>
            </a:r>
            <a:endParaRPr lang="en-US" sz="1500" dirty="0"/>
          </a:p>
        </p:txBody>
      </p:sp>
      <p:sp>
        <p:nvSpPr>
          <p:cNvPr id="12" name="Shape 12">
            <a:extLst>
              <a:ext uri="{FF2B5EF4-FFF2-40B4-BE49-F238E27FC236}">
                <a16:creationId xmlns:a16="http://schemas.microsoft.com/office/drawing/2014/main" id="{E0EFF152-8994-1D7D-F956-E868D4F158B3}"/>
              </a:ext>
            </a:extLst>
          </p:cNvPr>
          <p:cNvSpPr/>
          <p:nvPr/>
        </p:nvSpPr>
        <p:spPr>
          <a:xfrm>
            <a:off x="10429337" y="5577840"/>
            <a:ext cx="1653108" cy="1197920"/>
          </a:xfrm>
          <a:prstGeom prst="roundRect">
            <a:avLst>
              <a:gd name="adj" fmla="val 21053"/>
            </a:avLst>
          </a:prstGeom>
          <a:solidFill>
            <a:srgbClr val="FFFFFF"/>
          </a:solidFill>
          <a:ln w="12700">
            <a:solidFill>
              <a:srgbClr val="FFFFFF"/>
            </a:solidFill>
            <a:prstDash val="solid"/>
          </a:ln>
        </p:spPr>
        <p:txBody>
          <a:bodyPr/>
          <a:lstStyle/>
          <a:p>
            <a:endParaRPr lang="fr-FR"/>
          </a:p>
        </p:txBody>
      </p:sp>
      <p:pic>
        <p:nvPicPr>
          <p:cNvPr id="14" name="QR site" descr="QR code vers services.maredurabilis.org">
            <a:extLst>
              <a:ext uri="{FF2B5EF4-FFF2-40B4-BE49-F238E27FC236}">
                <a16:creationId xmlns:a16="http://schemas.microsoft.com/office/drawing/2014/main" id="{63DF30D1-8A61-BDE9-4296-09CB5D9CFE95}"/>
              </a:ext>
            </a:extLst>
          </p:cNvPr>
          <p:cNvPicPr>
            <a:picLocks noChangeAspect="1"/>
          </p:cNvPicPr>
          <p:nvPr/>
        </p:nvPicPr>
        <p:blipFill>
          <a:blip r:embed="rId5"/>
          <a:stretch>
            <a:fillRect/>
          </a:stretch>
        </p:blipFill>
        <p:spPr>
          <a:xfrm>
            <a:off x="10728655" y="5597823"/>
            <a:ext cx="1177937" cy="11779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ome/claude/deck/crop3/pt-dauphin-saut_652_55_50_30_.jpg"/>
          <p:cNvPicPr>
            <a:picLocks noChangeAspect="1"/>
          </p:cNvPicPr>
          <p:nvPr/>
        </p:nvPicPr>
        <p:blipFill>
          <a:blip r:embed="rId3"/>
          <a:stretch>
            <a:fillRect/>
          </a:stretch>
        </p:blipFill>
        <p:spPr>
          <a:xfrm>
            <a:off x="7726680" y="411480"/>
            <a:ext cx="3931920" cy="6035040"/>
          </a:xfrm>
          <a:prstGeom prst="rect">
            <a:avLst/>
          </a:prstGeom>
        </p:spPr>
      </p:pic>
      <p:sp>
        <p:nvSpPr>
          <p:cNvPr id="3"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EN UNE PAGE</a:t>
            </a:r>
            <a:endParaRPr lang="en-US" sz="1200" dirty="0"/>
          </a:p>
        </p:txBody>
      </p:sp>
      <p:sp>
        <p:nvSpPr>
          <p:cNvPr id="4" name="Text 1"/>
          <p:cNvSpPr txBox="1"/>
          <p:nvPr/>
        </p:nvSpPr>
        <p:spPr>
          <a:xfrm>
            <a:off x="548640" y="621792"/>
            <a:ext cx="6949440"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Mare Services, qu’est-ce que c’est ?</a:t>
            </a:r>
            <a:endParaRPr lang="en-US" sz="2500" dirty="0"/>
          </a:p>
        </p:txBody>
      </p:sp>
      <p:sp>
        <p:nvSpPr>
          <p:cNvPr id="5" name="Shape 2"/>
          <p:cNvSpPr/>
          <p:nvPr/>
        </p:nvSpPr>
        <p:spPr>
          <a:xfrm>
            <a:off x="548640" y="1417320"/>
            <a:ext cx="457200" cy="457200"/>
          </a:xfrm>
          <a:prstGeom prst="ellipse">
            <a:avLst/>
          </a:prstGeom>
          <a:solidFill>
            <a:srgbClr val="0012B5"/>
          </a:solidFill>
          <a:ln w="12700">
            <a:solidFill>
              <a:srgbClr val="0012B5"/>
            </a:solidFill>
            <a:prstDash val="solid"/>
          </a:ln>
        </p:spPr>
        <p:txBody>
          <a:bodyPr/>
          <a:lstStyle/>
          <a:p>
            <a:endParaRPr lang="fr-FR"/>
          </a:p>
        </p:txBody>
      </p:sp>
      <p:sp>
        <p:nvSpPr>
          <p:cNvPr id="6" name="Text 3"/>
          <p:cNvSpPr txBox="1"/>
          <p:nvPr/>
        </p:nvSpPr>
        <p:spPr>
          <a:xfrm>
            <a:off x="548640" y="14173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1</a:t>
            </a:r>
            <a:endParaRPr lang="en-US" sz="1400" dirty="0"/>
          </a:p>
        </p:txBody>
      </p:sp>
      <p:sp>
        <p:nvSpPr>
          <p:cNvPr id="7" name="Text 4"/>
          <p:cNvSpPr txBox="1"/>
          <p:nvPr/>
        </p:nvSpPr>
        <p:spPr>
          <a:xfrm>
            <a:off x="1188720" y="1435608"/>
            <a:ext cx="62179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Qui ?</a:t>
            </a:r>
            <a:endParaRPr lang="en-US" sz="1700" dirty="0"/>
          </a:p>
        </p:txBody>
      </p:sp>
      <p:sp>
        <p:nvSpPr>
          <p:cNvPr id="8" name="Text 5"/>
          <p:cNvSpPr txBox="1"/>
          <p:nvPr/>
        </p:nvSpPr>
        <p:spPr>
          <a:xfrm>
            <a:off x="1188720" y="1801368"/>
            <a:ext cx="6217920" cy="566928"/>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L’activité de services de Mare Durabilis, portée par le fonds de dotation Mare </a:t>
            </a:r>
            <a:r>
              <a:rPr lang="en-US" sz="1450" dirty="0" err="1">
                <a:solidFill>
                  <a:srgbClr val="3A4658"/>
                </a:solidFill>
                <a:latin typeface="Verdana" pitchFamily="34" charset="0"/>
                <a:ea typeface="Verdana" pitchFamily="34" charset="-122"/>
                <a:cs typeface="Verdana" pitchFamily="34" charset="-120"/>
              </a:rPr>
              <a:t>Durabilis</a:t>
            </a:r>
            <a:r>
              <a:rPr lang="en-US" sz="1450" dirty="0">
                <a:solidFill>
                  <a:srgbClr val="3A4658"/>
                </a:solidFill>
                <a:latin typeface="Verdana" pitchFamily="34" charset="0"/>
                <a:ea typeface="Verdana" pitchFamily="34" charset="-122"/>
                <a:cs typeface="Verdana" pitchFamily="34" charset="-120"/>
              </a:rPr>
              <a:t>. Le site est son outil opérationnel.</a:t>
            </a:r>
            <a:endParaRPr lang="en-US" sz="1450" dirty="0"/>
          </a:p>
        </p:txBody>
      </p:sp>
      <p:sp>
        <p:nvSpPr>
          <p:cNvPr id="9" name="Shape 6"/>
          <p:cNvSpPr/>
          <p:nvPr/>
        </p:nvSpPr>
        <p:spPr>
          <a:xfrm>
            <a:off x="548640" y="2404872"/>
            <a:ext cx="457200" cy="457200"/>
          </a:xfrm>
          <a:prstGeom prst="ellipse">
            <a:avLst/>
          </a:prstGeom>
          <a:solidFill>
            <a:srgbClr val="1F5BD6"/>
          </a:solidFill>
          <a:ln w="12700">
            <a:solidFill>
              <a:srgbClr val="1F5BD6"/>
            </a:solidFill>
            <a:prstDash val="solid"/>
          </a:ln>
        </p:spPr>
        <p:txBody>
          <a:bodyPr/>
          <a:lstStyle/>
          <a:p>
            <a:endParaRPr lang="fr-FR"/>
          </a:p>
        </p:txBody>
      </p:sp>
      <p:sp>
        <p:nvSpPr>
          <p:cNvPr id="10" name="Text 7"/>
          <p:cNvSpPr txBox="1"/>
          <p:nvPr/>
        </p:nvSpPr>
        <p:spPr>
          <a:xfrm>
            <a:off x="548640" y="24048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2</a:t>
            </a:r>
            <a:endParaRPr lang="en-US" sz="1400" dirty="0"/>
          </a:p>
        </p:txBody>
      </p:sp>
      <p:sp>
        <p:nvSpPr>
          <p:cNvPr id="11" name="Text 8"/>
          <p:cNvSpPr txBox="1"/>
          <p:nvPr/>
        </p:nvSpPr>
        <p:spPr>
          <a:xfrm>
            <a:off x="1188720" y="2423160"/>
            <a:ext cx="62179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Quoi ?</a:t>
            </a:r>
            <a:endParaRPr lang="en-US" sz="1700" dirty="0"/>
          </a:p>
        </p:txBody>
      </p:sp>
      <p:sp>
        <p:nvSpPr>
          <p:cNvPr id="12" name="Text 9"/>
          <p:cNvSpPr txBox="1"/>
          <p:nvPr/>
        </p:nvSpPr>
        <p:spPr>
          <a:xfrm>
            <a:off x="1188719" y="2788920"/>
            <a:ext cx="6428405" cy="566928"/>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Un guichet unique qui met les navires du réseau au service </a:t>
            </a:r>
            <a:r>
              <a:rPr lang="en-US" sz="1450" dirty="0" err="1">
                <a:solidFill>
                  <a:srgbClr val="3A4658"/>
                </a:solidFill>
                <a:latin typeface="Verdana" pitchFamily="34" charset="0"/>
                <a:ea typeface="Verdana" pitchFamily="34" charset="-122"/>
                <a:cs typeface="Verdana" pitchFamily="34" charset="-120"/>
              </a:rPr>
              <a:t>d’usages</a:t>
            </a:r>
            <a:r>
              <a:rPr lang="en-US" sz="1450" dirty="0">
                <a:solidFill>
                  <a:srgbClr val="3A4658"/>
                </a:solidFill>
                <a:latin typeface="Verdana" pitchFamily="34" charset="0"/>
                <a:ea typeface="Verdana" pitchFamily="34" charset="-122"/>
                <a:cs typeface="Verdana" pitchFamily="34" charset="-120"/>
              </a:rPr>
              <a:t> </a:t>
            </a:r>
            <a:r>
              <a:rPr lang="en-US" sz="1450" dirty="0" err="1">
                <a:solidFill>
                  <a:srgbClr val="3A4658"/>
                </a:solidFill>
                <a:latin typeface="Verdana" pitchFamily="34" charset="0"/>
                <a:ea typeface="Verdana" pitchFamily="34" charset="-122"/>
                <a:cs typeface="Verdana" pitchFamily="34" charset="-120"/>
              </a:rPr>
              <a:t>diversifiés</a:t>
            </a:r>
            <a:r>
              <a:rPr lang="en-US" sz="1450" dirty="0">
                <a:solidFill>
                  <a:srgbClr val="3A4658"/>
                </a:solidFill>
                <a:latin typeface="Verdana" pitchFamily="34" charset="0"/>
                <a:ea typeface="Verdana" pitchFamily="34" charset="-122"/>
                <a:cs typeface="Verdana" pitchFamily="34" charset="-120"/>
              </a:rPr>
              <a:t> : tourisme, science, </a:t>
            </a:r>
            <a:r>
              <a:rPr lang="en-US" sz="1450" dirty="0" err="1">
                <a:solidFill>
                  <a:srgbClr val="3A4658"/>
                </a:solidFill>
                <a:latin typeface="Verdana" pitchFamily="34" charset="0"/>
                <a:ea typeface="Verdana" pitchFamily="34" charset="-122"/>
                <a:cs typeface="Verdana" pitchFamily="34" charset="-120"/>
              </a:rPr>
              <a:t>intérêt</a:t>
            </a:r>
            <a:r>
              <a:rPr lang="en-US" sz="1450" dirty="0">
                <a:solidFill>
                  <a:srgbClr val="3A4658"/>
                </a:solidFill>
                <a:latin typeface="Verdana" pitchFamily="34" charset="0"/>
                <a:ea typeface="Verdana" pitchFamily="34" charset="-122"/>
                <a:cs typeface="Verdana" pitchFamily="34" charset="-120"/>
              </a:rPr>
              <a:t> general (</a:t>
            </a:r>
            <a:r>
              <a:rPr lang="en-US" sz="1450" dirty="0" err="1">
                <a:solidFill>
                  <a:srgbClr val="3A4658"/>
                </a:solidFill>
                <a:latin typeface="Verdana" pitchFamily="34" charset="0"/>
                <a:ea typeface="Verdana" pitchFamily="34" charset="-122"/>
                <a:cs typeface="Verdana" pitchFamily="34" charset="-120"/>
              </a:rPr>
              <a:t>évolutions</a:t>
            </a:r>
            <a:r>
              <a:rPr lang="en-US" sz="1450" dirty="0">
                <a:solidFill>
                  <a:srgbClr val="3A4658"/>
                </a:solidFill>
                <a:latin typeface="Verdana" pitchFamily="34" charset="0"/>
                <a:ea typeface="Verdana" pitchFamily="34" charset="-122"/>
                <a:cs typeface="Verdana" pitchFamily="34" charset="-120"/>
              </a:rPr>
              <a:t> </a:t>
            </a:r>
            <a:r>
              <a:rPr lang="en-US" sz="1450" dirty="0" err="1">
                <a:solidFill>
                  <a:srgbClr val="3A4658"/>
                </a:solidFill>
                <a:latin typeface="Verdana" pitchFamily="34" charset="0"/>
                <a:ea typeface="Verdana" pitchFamily="34" charset="-122"/>
                <a:cs typeface="Verdana" pitchFamily="34" charset="-120"/>
              </a:rPr>
              <a:t>envisagée</a:t>
            </a:r>
            <a:r>
              <a:rPr lang="en-US" sz="1450" dirty="0">
                <a:solidFill>
                  <a:srgbClr val="3A4658"/>
                </a:solidFill>
                <a:latin typeface="Verdana" pitchFamily="34" charset="0"/>
                <a:ea typeface="Verdana" pitchFamily="34" charset="-122"/>
                <a:cs typeface="Verdana" pitchFamily="34" charset="-120"/>
              </a:rPr>
              <a:t>)</a:t>
            </a:r>
            <a:endParaRPr lang="en-US" sz="1450" dirty="0"/>
          </a:p>
        </p:txBody>
      </p:sp>
      <p:sp>
        <p:nvSpPr>
          <p:cNvPr id="13" name="Shape 10"/>
          <p:cNvSpPr/>
          <p:nvPr/>
        </p:nvSpPr>
        <p:spPr>
          <a:xfrm>
            <a:off x="548640" y="3392424"/>
            <a:ext cx="457200" cy="457200"/>
          </a:xfrm>
          <a:prstGeom prst="ellipse">
            <a:avLst/>
          </a:prstGeom>
          <a:solidFill>
            <a:srgbClr val="0074B5"/>
          </a:solidFill>
          <a:ln w="12700">
            <a:solidFill>
              <a:srgbClr val="0074B5"/>
            </a:solidFill>
            <a:prstDash val="solid"/>
          </a:ln>
        </p:spPr>
        <p:txBody>
          <a:bodyPr/>
          <a:lstStyle/>
          <a:p>
            <a:endParaRPr lang="fr-FR"/>
          </a:p>
        </p:txBody>
      </p:sp>
      <p:sp>
        <p:nvSpPr>
          <p:cNvPr id="14" name="Text 11"/>
          <p:cNvSpPr txBox="1"/>
          <p:nvPr/>
        </p:nvSpPr>
        <p:spPr>
          <a:xfrm>
            <a:off x="548640" y="33924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3</a:t>
            </a:r>
            <a:endParaRPr lang="en-US" sz="1400" dirty="0"/>
          </a:p>
        </p:txBody>
      </p:sp>
      <p:sp>
        <p:nvSpPr>
          <p:cNvPr id="15" name="Text 12"/>
          <p:cNvSpPr txBox="1"/>
          <p:nvPr/>
        </p:nvSpPr>
        <p:spPr>
          <a:xfrm>
            <a:off x="1188720" y="3410712"/>
            <a:ext cx="62179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Pour qui ?</a:t>
            </a:r>
            <a:endParaRPr lang="en-US" sz="1700" dirty="0"/>
          </a:p>
        </p:txBody>
      </p:sp>
      <p:sp>
        <p:nvSpPr>
          <p:cNvPr id="16" name="Text 13"/>
          <p:cNvSpPr txBox="1"/>
          <p:nvPr/>
        </p:nvSpPr>
        <p:spPr>
          <a:xfrm>
            <a:off x="1188720" y="3776472"/>
            <a:ext cx="6217920" cy="566928"/>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Touristes et familles, organismes scientifiques, </a:t>
            </a:r>
            <a:r>
              <a:rPr lang="en-US" sz="1450" dirty="0" err="1">
                <a:solidFill>
                  <a:srgbClr val="3A4658"/>
                </a:solidFill>
                <a:latin typeface="Verdana" pitchFamily="34" charset="0"/>
                <a:ea typeface="Verdana" pitchFamily="34" charset="-122"/>
                <a:cs typeface="Verdana" pitchFamily="34" charset="-120"/>
              </a:rPr>
              <a:t>gestionnaires</a:t>
            </a:r>
            <a:r>
              <a:rPr lang="en-US" sz="1450" dirty="0">
                <a:solidFill>
                  <a:srgbClr val="3A4658"/>
                </a:solidFill>
                <a:latin typeface="Verdana" pitchFamily="34" charset="0"/>
                <a:ea typeface="Verdana" pitchFamily="34" charset="-122"/>
                <a:cs typeface="Verdana" pitchFamily="34" charset="-120"/>
              </a:rPr>
              <a:t> </a:t>
            </a:r>
            <a:r>
              <a:rPr lang="en-US" sz="1450" dirty="0" err="1">
                <a:solidFill>
                  <a:srgbClr val="3A4658"/>
                </a:solidFill>
                <a:latin typeface="Verdana" pitchFamily="34" charset="0"/>
                <a:ea typeface="Verdana" pitchFamily="34" charset="-122"/>
                <a:cs typeface="Verdana" pitchFamily="34" charset="-120"/>
              </a:rPr>
              <a:t>d’AMP</a:t>
            </a:r>
            <a:r>
              <a:rPr lang="en-US" sz="1450" dirty="0">
                <a:solidFill>
                  <a:srgbClr val="3A4658"/>
                </a:solidFill>
                <a:latin typeface="Verdana" pitchFamily="34" charset="0"/>
                <a:ea typeface="Verdana" pitchFamily="34" charset="-122"/>
                <a:cs typeface="Verdana" pitchFamily="34" charset="-120"/>
              </a:rPr>
              <a:t>, services de l’État… et d’abord les pêcheurs.</a:t>
            </a:r>
            <a:endParaRPr lang="en-US" sz="1450" dirty="0"/>
          </a:p>
        </p:txBody>
      </p:sp>
      <p:sp>
        <p:nvSpPr>
          <p:cNvPr id="17" name="Shape 14"/>
          <p:cNvSpPr/>
          <p:nvPr/>
        </p:nvSpPr>
        <p:spPr>
          <a:xfrm>
            <a:off x="548640" y="4379976"/>
            <a:ext cx="457200" cy="457200"/>
          </a:xfrm>
          <a:prstGeom prst="ellipse">
            <a:avLst/>
          </a:prstGeom>
          <a:solidFill>
            <a:srgbClr val="00A7B5"/>
          </a:solidFill>
          <a:ln w="12700">
            <a:solidFill>
              <a:srgbClr val="00A7B5"/>
            </a:solidFill>
            <a:prstDash val="solid"/>
          </a:ln>
        </p:spPr>
        <p:txBody>
          <a:bodyPr/>
          <a:lstStyle/>
          <a:p>
            <a:endParaRPr lang="fr-FR"/>
          </a:p>
        </p:txBody>
      </p:sp>
      <p:sp>
        <p:nvSpPr>
          <p:cNvPr id="18" name="Text 15"/>
          <p:cNvSpPr txBox="1"/>
          <p:nvPr/>
        </p:nvSpPr>
        <p:spPr>
          <a:xfrm>
            <a:off x="548640" y="437997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4</a:t>
            </a:r>
            <a:endParaRPr lang="en-US" sz="1400" dirty="0"/>
          </a:p>
        </p:txBody>
      </p:sp>
      <p:sp>
        <p:nvSpPr>
          <p:cNvPr id="19" name="Text 16"/>
          <p:cNvSpPr txBox="1"/>
          <p:nvPr/>
        </p:nvSpPr>
        <p:spPr>
          <a:xfrm>
            <a:off x="1188720" y="4398264"/>
            <a:ext cx="62179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Comment ?</a:t>
            </a:r>
            <a:endParaRPr lang="en-US" sz="1700" dirty="0"/>
          </a:p>
        </p:txBody>
      </p:sp>
      <p:sp>
        <p:nvSpPr>
          <p:cNvPr id="20" name="Text 17"/>
          <p:cNvSpPr txBox="1"/>
          <p:nvPr/>
        </p:nvSpPr>
        <p:spPr>
          <a:xfrm>
            <a:off x="1188720" y="4764024"/>
            <a:ext cx="6217920" cy="566928"/>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Navires vérifiés, identités contrôlées, paiement sécurisé, déclaration de sécurité en mer en un clic.</a:t>
            </a:r>
            <a:endParaRPr lang="en-US" sz="1450" dirty="0"/>
          </a:p>
        </p:txBody>
      </p:sp>
      <p:sp>
        <p:nvSpPr>
          <p:cNvPr id="21" name="Shape 18"/>
          <p:cNvSpPr/>
          <p:nvPr/>
        </p:nvSpPr>
        <p:spPr>
          <a:xfrm>
            <a:off x="548640" y="5367528"/>
            <a:ext cx="457200" cy="457200"/>
          </a:xfrm>
          <a:prstGeom prst="ellipse">
            <a:avLst/>
          </a:prstGeom>
          <a:solidFill>
            <a:srgbClr val="0E9F6E"/>
          </a:solidFill>
          <a:ln w="12700">
            <a:solidFill>
              <a:srgbClr val="0E9F6E"/>
            </a:solidFill>
            <a:prstDash val="solid"/>
          </a:ln>
        </p:spPr>
        <p:txBody>
          <a:bodyPr/>
          <a:lstStyle/>
          <a:p>
            <a:endParaRPr lang="fr-FR"/>
          </a:p>
        </p:txBody>
      </p:sp>
      <p:sp>
        <p:nvSpPr>
          <p:cNvPr id="22" name="Text 19"/>
          <p:cNvSpPr txBox="1"/>
          <p:nvPr/>
        </p:nvSpPr>
        <p:spPr>
          <a:xfrm>
            <a:off x="548640" y="536752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5</a:t>
            </a:r>
            <a:endParaRPr lang="en-US" sz="1400" dirty="0"/>
          </a:p>
        </p:txBody>
      </p:sp>
      <p:sp>
        <p:nvSpPr>
          <p:cNvPr id="23" name="Text 20"/>
          <p:cNvSpPr txBox="1"/>
          <p:nvPr/>
        </p:nvSpPr>
        <p:spPr>
          <a:xfrm>
            <a:off x="1188720" y="5385816"/>
            <a:ext cx="62179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Pourquoi ?</a:t>
            </a:r>
            <a:endParaRPr lang="en-US" sz="1700" dirty="0"/>
          </a:p>
        </p:txBody>
      </p:sp>
      <p:sp>
        <p:nvSpPr>
          <p:cNvPr id="24" name="Text 21"/>
          <p:cNvSpPr txBox="1"/>
          <p:nvPr/>
        </p:nvSpPr>
        <p:spPr>
          <a:xfrm>
            <a:off x="1188720" y="5751576"/>
            <a:ext cx="6217920" cy="566928"/>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Des revenus en plus entre deux marées, sans intermédiaire. La part de Mare Durabilis finance les </a:t>
            </a:r>
            <a:r>
              <a:rPr lang="en-US" sz="1450" dirty="0" err="1">
                <a:solidFill>
                  <a:srgbClr val="3A4658"/>
                </a:solidFill>
                <a:latin typeface="Verdana" pitchFamily="34" charset="0"/>
                <a:ea typeface="Verdana" pitchFamily="34" charset="-122"/>
                <a:cs typeface="Verdana" pitchFamily="34" charset="-120"/>
              </a:rPr>
              <a:t>programmes</a:t>
            </a:r>
            <a:r>
              <a:rPr lang="en-US" sz="1450" dirty="0">
                <a:solidFill>
                  <a:srgbClr val="3A4658"/>
                </a:solidFill>
                <a:latin typeface="Verdana" pitchFamily="34" charset="0"/>
                <a:ea typeface="Verdana" pitchFamily="34" charset="-122"/>
                <a:cs typeface="Verdana" pitchFamily="34" charset="-120"/>
              </a:rPr>
              <a:t> du FDD – sous reserve de validation </a:t>
            </a:r>
            <a:r>
              <a:rPr lang="en-US" sz="1450" dirty="0" err="1">
                <a:solidFill>
                  <a:srgbClr val="3A4658"/>
                </a:solidFill>
                <a:latin typeface="Verdana" pitchFamily="34" charset="0"/>
                <a:ea typeface="Verdana" pitchFamily="34" charset="-122"/>
                <a:cs typeface="Verdana" pitchFamily="34" charset="-120"/>
              </a:rPr>
              <a:t>juridique</a:t>
            </a:r>
            <a:r>
              <a:rPr lang="en-US" sz="1450" dirty="0">
                <a:solidFill>
                  <a:srgbClr val="3A4658"/>
                </a:solidFill>
                <a:latin typeface="Verdana" pitchFamily="34" charset="0"/>
                <a:ea typeface="Verdana" pitchFamily="34" charset="-122"/>
                <a:cs typeface="Verdana" pitchFamily="34" charset="-120"/>
              </a:rPr>
              <a:t>.</a:t>
            </a:r>
            <a:endParaRPr lang="en-US" sz="1450" dirty="0"/>
          </a:p>
        </p:txBody>
      </p:sp>
      <p:sp>
        <p:nvSpPr>
          <p:cNvPr id="25" name="Text 22"/>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2</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NOS SERVICES</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Cinq services, une seule flotte</a:t>
            </a:r>
            <a:endParaRPr lang="en-US" sz="2500" dirty="0"/>
          </a:p>
        </p:txBody>
      </p:sp>
      <p:sp>
        <p:nvSpPr>
          <p:cNvPr id="4" name="Text 2"/>
          <p:cNvSpPr txBox="1"/>
          <p:nvPr/>
        </p:nvSpPr>
        <p:spPr>
          <a:xfrm>
            <a:off x="548640" y="1216152"/>
            <a:ext cx="11094415" cy="457200"/>
          </a:xfrm>
          <a:prstGeom prst="rect">
            <a:avLst/>
          </a:prstGeom>
          <a:noFill/>
          <a:ln/>
        </p:spPr>
        <p:txBody>
          <a:bodyPr wrap="square" lIns="0" tIns="0" rIns="0" bIns="0" rtlCol="0" anchor="t"/>
          <a:lstStyle/>
          <a:p>
            <a:pPr marL="0" indent="0">
              <a:buNone/>
            </a:pPr>
            <a:r>
              <a:rPr lang="en-US" sz="1550" dirty="0">
                <a:solidFill>
                  <a:srgbClr val="66728A"/>
                </a:solidFill>
                <a:latin typeface="Verdana" pitchFamily="34" charset="0"/>
                <a:ea typeface="Verdana" pitchFamily="34" charset="-122"/>
                <a:cs typeface="Verdana" pitchFamily="34" charset="-120"/>
              </a:rPr>
              <a:t>Chaque patron choisit les services qu’il propose. Chacun a ses règles, ses publics et son circuit.</a:t>
            </a:r>
            <a:endParaRPr lang="en-US" sz="1550" dirty="0"/>
          </a:p>
        </p:txBody>
      </p:sp>
      <p:sp>
        <p:nvSpPr>
          <p:cNvPr id="5" name="Shape 3"/>
          <p:cNvSpPr/>
          <p:nvPr/>
        </p:nvSpPr>
        <p:spPr>
          <a:xfrm>
            <a:off x="548640" y="1828800"/>
            <a:ext cx="2084832" cy="3977640"/>
          </a:xfrm>
          <a:prstGeom prst="roundRect">
            <a:avLst>
              <a:gd name="adj" fmla="val 8772"/>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6" name="Image 0" descr="/home/claude/deck/crop3/hero-pesca_1754_50_50_20_h_F6F9FE.jpg"/>
          <p:cNvPicPr>
            <a:picLocks noChangeAspect="1"/>
          </p:cNvPicPr>
          <p:nvPr/>
        </p:nvPicPr>
        <p:blipFill>
          <a:blip r:embed="rId3"/>
          <a:stretch>
            <a:fillRect/>
          </a:stretch>
        </p:blipFill>
        <p:spPr>
          <a:xfrm>
            <a:off x="548640" y="1828800"/>
            <a:ext cx="2084832" cy="1188720"/>
          </a:xfrm>
          <a:prstGeom prst="rect">
            <a:avLst/>
          </a:prstGeom>
        </p:spPr>
      </p:pic>
      <p:sp>
        <p:nvSpPr>
          <p:cNvPr id="7" name="Text 4"/>
          <p:cNvSpPr txBox="1"/>
          <p:nvPr/>
        </p:nvSpPr>
        <p:spPr>
          <a:xfrm>
            <a:off x="685800" y="3108960"/>
            <a:ext cx="1810512" cy="566928"/>
          </a:xfrm>
          <a:prstGeom prst="rect">
            <a:avLst/>
          </a:prstGeom>
          <a:noFill/>
          <a:ln/>
        </p:spPr>
        <p:txBody>
          <a:bodyPr wrap="square" lIns="0" tIns="0" rIns="0" bIns="0" rtlCol="0" anchor="ctr"/>
          <a:lstStyle/>
          <a:p>
            <a:pPr marL="0" indent="0">
              <a:buNone/>
            </a:pPr>
            <a:r>
              <a:rPr lang="en-US" sz="1400" b="1" dirty="0">
                <a:solidFill>
                  <a:srgbClr val="0012B5"/>
                </a:solidFill>
                <a:latin typeface="Verdana" pitchFamily="34" charset="0"/>
                <a:ea typeface="Verdana" pitchFamily="34" charset="-122"/>
                <a:cs typeface="Verdana" pitchFamily="34" charset="-120"/>
              </a:rPr>
              <a:t>Pesca-tourisme</a:t>
            </a:r>
            <a:endParaRPr lang="en-US" sz="1400" dirty="0"/>
          </a:p>
        </p:txBody>
      </p:sp>
      <p:sp>
        <p:nvSpPr>
          <p:cNvPr id="8" name="Text 5"/>
          <p:cNvSpPr txBox="1"/>
          <p:nvPr/>
        </p:nvSpPr>
        <p:spPr>
          <a:xfrm>
            <a:off x="685800" y="3730752"/>
            <a:ext cx="1810512" cy="1508760"/>
          </a:xfrm>
          <a:prstGeom prst="rect">
            <a:avLst/>
          </a:prstGeom>
          <a:noFill/>
          <a:ln/>
        </p:spPr>
        <p:txBody>
          <a:bodyPr wrap="square" lIns="0" tIns="0" rIns="0" bIns="0" rtlCol="0" anchor="t"/>
          <a:lstStyle/>
          <a:p>
            <a:pPr marL="0" indent="0">
              <a:buNone/>
            </a:pPr>
            <a:r>
              <a:rPr lang="en-US" sz="1200" dirty="0">
                <a:solidFill>
                  <a:srgbClr val="3A4658"/>
                </a:solidFill>
                <a:latin typeface="Verdana" pitchFamily="34" charset="0"/>
                <a:ea typeface="Verdana" pitchFamily="34" charset="-122"/>
                <a:cs typeface="Verdana" pitchFamily="34" charset="-120"/>
              </a:rPr>
              <a:t>Le grand public embarque pour une sortie de pêche. Réservation et paiement en ligne.</a:t>
            </a:r>
            <a:endParaRPr lang="en-US" sz="1200" dirty="0"/>
          </a:p>
        </p:txBody>
      </p:sp>
      <p:sp>
        <p:nvSpPr>
          <p:cNvPr id="9" name="Shape 6"/>
          <p:cNvSpPr/>
          <p:nvPr/>
        </p:nvSpPr>
        <p:spPr>
          <a:xfrm>
            <a:off x="685800" y="5349240"/>
            <a:ext cx="1810512" cy="310896"/>
          </a:xfrm>
          <a:prstGeom prst="roundRect">
            <a:avLst>
              <a:gd name="adj" fmla="val 50000"/>
            </a:avLst>
          </a:prstGeom>
          <a:solidFill>
            <a:srgbClr val="EEF4FD"/>
          </a:solidFill>
          <a:ln w="12700">
            <a:solidFill>
              <a:srgbClr val="EEF4FD"/>
            </a:solidFill>
            <a:prstDash val="solid"/>
          </a:ln>
        </p:spPr>
        <p:txBody>
          <a:bodyPr/>
          <a:lstStyle/>
          <a:p>
            <a:endParaRPr lang="fr-FR"/>
          </a:p>
        </p:txBody>
      </p:sp>
      <p:sp>
        <p:nvSpPr>
          <p:cNvPr id="10" name="Text 7"/>
          <p:cNvSpPr txBox="1"/>
          <p:nvPr/>
        </p:nvSpPr>
        <p:spPr>
          <a:xfrm>
            <a:off x="685800" y="5349240"/>
            <a:ext cx="1810512" cy="310896"/>
          </a:xfrm>
          <a:prstGeom prst="rect">
            <a:avLst/>
          </a:prstGeom>
          <a:noFill/>
          <a:ln/>
        </p:spPr>
        <p:txBody>
          <a:bodyPr wrap="square" lIns="0" tIns="0" rIns="0" bIns="0" rtlCol="0" anchor="ctr"/>
          <a:lstStyle/>
          <a:p>
            <a:pPr marL="0" indent="0" algn="ctr">
              <a:buNone/>
            </a:pPr>
            <a:r>
              <a:rPr lang="en-US" sz="1050" b="1" dirty="0">
                <a:solidFill>
                  <a:srgbClr val="1F5BD6"/>
                </a:solidFill>
                <a:latin typeface="Verdana" pitchFamily="34" charset="0"/>
                <a:ea typeface="Verdana" pitchFamily="34" charset="-122"/>
                <a:cs typeface="Verdana" pitchFamily="34" charset="-120"/>
              </a:rPr>
              <a:t>Touristes</a:t>
            </a:r>
            <a:endParaRPr lang="en-US" sz="1050" dirty="0"/>
          </a:p>
        </p:txBody>
      </p:sp>
      <p:sp>
        <p:nvSpPr>
          <p:cNvPr id="11" name="Shape 8"/>
          <p:cNvSpPr/>
          <p:nvPr/>
        </p:nvSpPr>
        <p:spPr>
          <a:xfrm>
            <a:off x="2798064" y="1828800"/>
            <a:ext cx="2084832" cy="3977640"/>
          </a:xfrm>
          <a:prstGeom prst="roundRect">
            <a:avLst>
              <a:gd name="adj" fmla="val 8772"/>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12" name="Image 1" descr="/home/claude/deck/crop3/sp-decouverte_1754_50_50_20_h_F6F9FE.jpg"/>
          <p:cNvPicPr>
            <a:picLocks noChangeAspect="1"/>
          </p:cNvPicPr>
          <p:nvPr/>
        </p:nvPicPr>
        <p:blipFill>
          <a:blip r:embed="rId4"/>
          <a:stretch>
            <a:fillRect/>
          </a:stretch>
        </p:blipFill>
        <p:spPr>
          <a:xfrm>
            <a:off x="2798064" y="1828800"/>
            <a:ext cx="2084832" cy="1188720"/>
          </a:xfrm>
          <a:prstGeom prst="rect">
            <a:avLst/>
          </a:prstGeom>
        </p:spPr>
      </p:pic>
      <p:sp>
        <p:nvSpPr>
          <p:cNvPr id="13" name="Text 9"/>
          <p:cNvSpPr txBox="1"/>
          <p:nvPr/>
        </p:nvSpPr>
        <p:spPr>
          <a:xfrm>
            <a:off x="2935224" y="3108960"/>
            <a:ext cx="1810512" cy="566928"/>
          </a:xfrm>
          <a:prstGeom prst="rect">
            <a:avLst/>
          </a:prstGeom>
          <a:noFill/>
          <a:ln/>
        </p:spPr>
        <p:txBody>
          <a:bodyPr wrap="square" lIns="0" tIns="0" rIns="0" bIns="0" rtlCol="0" anchor="ctr"/>
          <a:lstStyle/>
          <a:p>
            <a:pPr marL="0" indent="0">
              <a:buNone/>
            </a:pPr>
            <a:r>
              <a:rPr lang="en-US" sz="1400" b="1" dirty="0">
                <a:solidFill>
                  <a:srgbClr val="0012B5"/>
                </a:solidFill>
                <a:latin typeface="Verdana" pitchFamily="34" charset="0"/>
                <a:ea typeface="Verdana" pitchFamily="34" charset="-122"/>
                <a:cs typeface="Verdana" pitchFamily="34" charset="-120"/>
              </a:rPr>
              <a:t>Sorties découverte</a:t>
            </a:r>
            <a:endParaRPr lang="en-US" sz="1400" dirty="0"/>
          </a:p>
        </p:txBody>
      </p:sp>
      <p:sp>
        <p:nvSpPr>
          <p:cNvPr id="14" name="Text 10"/>
          <p:cNvSpPr txBox="1"/>
          <p:nvPr/>
        </p:nvSpPr>
        <p:spPr>
          <a:xfrm>
            <a:off x="2935224" y="3730752"/>
            <a:ext cx="1810512" cy="1508760"/>
          </a:xfrm>
          <a:prstGeom prst="rect">
            <a:avLst/>
          </a:prstGeom>
          <a:noFill/>
          <a:ln/>
        </p:spPr>
        <p:txBody>
          <a:bodyPr wrap="square" lIns="0" tIns="0" rIns="0" bIns="0" rtlCol="0" anchor="t"/>
          <a:lstStyle/>
          <a:p>
            <a:pPr marL="0" indent="0">
              <a:buNone/>
            </a:pPr>
            <a:r>
              <a:rPr lang="en-US" sz="1200" dirty="0">
                <a:solidFill>
                  <a:srgbClr val="3A4658"/>
                </a:solidFill>
                <a:latin typeface="Verdana" pitchFamily="34" charset="0"/>
                <a:ea typeface="Verdana" pitchFamily="34" charset="-122"/>
                <a:cs typeface="Verdana" pitchFamily="34" charset="-120"/>
              </a:rPr>
              <a:t>Le public embarque aux côtés d’une mission scientifique.</a:t>
            </a:r>
            <a:endParaRPr lang="en-US" sz="1200" dirty="0"/>
          </a:p>
        </p:txBody>
      </p:sp>
      <p:sp>
        <p:nvSpPr>
          <p:cNvPr id="15" name="Shape 11"/>
          <p:cNvSpPr/>
          <p:nvPr/>
        </p:nvSpPr>
        <p:spPr>
          <a:xfrm>
            <a:off x="2935224" y="5349240"/>
            <a:ext cx="1810512" cy="310896"/>
          </a:xfrm>
          <a:prstGeom prst="roundRect">
            <a:avLst>
              <a:gd name="adj" fmla="val 50000"/>
            </a:avLst>
          </a:prstGeom>
          <a:solidFill>
            <a:srgbClr val="EEF4FD"/>
          </a:solidFill>
          <a:ln w="12700">
            <a:solidFill>
              <a:srgbClr val="EEF4FD"/>
            </a:solidFill>
            <a:prstDash val="solid"/>
          </a:ln>
        </p:spPr>
        <p:txBody>
          <a:bodyPr/>
          <a:lstStyle/>
          <a:p>
            <a:endParaRPr lang="fr-FR"/>
          </a:p>
        </p:txBody>
      </p:sp>
      <p:sp>
        <p:nvSpPr>
          <p:cNvPr id="16" name="Text 12"/>
          <p:cNvSpPr txBox="1"/>
          <p:nvPr/>
        </p:nvSpPr>
        <p:spPr>
          <a:xfrm>
            <a:off x="2935224" y="5349240"/>
            <a:ext cx="1810512" cy="310896"/>
          </a:xfrm>
          <a:prstGeom prst="rect">
            <a:avLst/>
          </a:prstGeom>
          <a:noFill/>
          <a:ln/>
        </p:spPr>
        <p:txBody>
          <a:bodyPr wrap="square" lIns="0" tIns="0" rIns="0" bIns="0" rtlCol="0" anchor="ctr"/>
          <a:lstStyle/>
          <a:p>
            <a:pPr marL="0" indent="0" algn="ctr">
              <a:buNone/>
            </a:pPr>
            <a:r>
              <a:rPr lang="en-US" sz="1050" b="1" dirty="0">
                <a:solidFill>
                  <a:srgbClr val="1F5BD6"/>
                </a:solidFill>
                <a:latin typeface="Verdana" pitchFamily="34" charset="0"/>
                <a:ea typeface="Verdana" pitchFamily="34" charset="-122"/>
                <a:cs typeface="Verdana" pitchFamily="34" charset="-120"/>
              </a:rPr>
              <a:t>Touristes</a:t>
            </a:r>
            <a:endParaRPr lang="en-US" sz="1050" dirty="0"/>
          </a:p>
        </p:txBody>
      </p:sp>
      <p:sp>
        <p:nvSpPr>
          <p:cNvPr id="17" name="Shape 13"/>
          <p:cNvSpPr/>
          <p:nvPr/>
        </p:nvSpPr>
        <p:spPr>
          <a:xfrm>
            <a:off x="5047488" y="1828800"/>
            <a:ext cx="2084832" cy="3977640"/>
          </a:xfrm>
          <a:prstGeom prst="roundRect">
            <a:avLst>
              <a:gd name="adj" fmla="val 8772"/>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18" name="Image 2" descr="/home/claude/deck/crop3/hero-embarquement_1754_50_50_20_h_F6F9FE.jpg"/>
          <p:cNvPicPr>
            <a:picLocks noChangeAspect="1"/>
          </p:cNvPicPr>
          <p:nvPr/>
        </p:nvPicPr>
        <p:blipFill>
          <a:blip r:embed="rId5"/>
          <a:stretch>
            <a:fillRect/>
          </a:stretch>
        </p:blipFill>
        <p:spPr>
          <a:xfrm>
            <a:off x="5047488" y="1828800"/>
            <a:ext cx="2084832" cy="1188720"/>
          </a:xfrm>
          <a:prstGeom prst="rect">
            <a:avLst/>
          </a:prstGeom>
        </p:spPr>
      </p:pic>
      <p:sp>
        <p:nvSpPr>
          <p:cNvPr id="19" name="Text 14"/>
          <p:cNvSpPr txBox="1"/>
          <p:nvPr/>
        </p:nvSpPr>
        <p:spPr>
          <a:xfrm>
            <a:off x="5184648" y="3108960"/>
            <a:ext cx="1810512" cy="566928"/>
          </a:xfrm>
          <a:prstGeom prst="rect">
            <a:avLst/>
          </a:prstGeom>
          <a:noFill/>
          <a:ln/>
        </p:spPr>
        <p:txBody>
          <a:bodyPr wrap="square" lIns="0" tIns="0" rIns="0" bIns="0" rtlCol="0" anchor="ctr"/>
          <a:lstStyle/>
          <a:p>
            <a:pPr marL="0" indent="0">
              <a:buNone/>
            </a:pPr>
            <a:r>
              <a:rPr lang="en-US" sz="1400" b="1" dirty="0">
                <a:solidFill>
                  <a:srgbClr val="0012B5"/>
                </a:solidFill>
                <a:latin typeface="Verdana" pitchFamily="34" charset="0"/>
                <a:ea typeface="Verdana" pitchFamily="34" charset="-122"/>
                <a:cs typeface="Verdana" pitchFamily="34" charset="-120"/>
              </a:rPr>
              <a:t>Embarquement scientifique</a:t>
            </a:r>
            <a:endParaRPr lang="en-US" sz="1400" dirty="0"/>
          </a:p>
        </p:txBody>
      </p:sp>
      <p:sp>
        <p:nvSpPr>
          <p:cNvPr id="20" name="Text 15"/>
          <p:cNvSpPr txBox="1"/>
          <p:nvPr/>
        </p:nvSpPr>
        <p:spPr>
          <a:xfrm>
            <a:off x="5184648" y="3730752"/>
            <a:ext cx="1810512" cy="1508760"/>
          </a:xfrm>
          <a:prstGeom prst="rect">
            <a:avLst/>
          </a:prstGeom>
          <a:noFill/>
          <a:ln/>
        </p:spPr>
        <p:txBody>
          <a:bodyPr wrap="square" lIns="0" tIns="0" rIns="0" bIns="0" rtlCol="0" anchor="t"/>
          <a:lstStyle/>
          <a:p>
            <a:pPr marL="0" indent="0">
              <a:buNone/>
            </a:pPr>
            <a:r>
              <a:rPr lang="en-US" sz="1200" dirty="0">
                <a:solidFill>
                  <a:srgbClr val="3A4658"/>
                </a:solidFill>
                <a:latin typeface="Verdana" pitchFamily="34" charset="0"/>
                <a:ea typeface="Verdana" pitchFamily="34" charset="-122"/>
                <a:cs typeface="Verdana" pitchFamily="34" charset="-120"/>
              </a:rPr>
              <a:t>Une équipe de recherche embarque. Appel, tirage au sort, devis.</a:t>
            </a:r>
            <a:endParaRPr lang="en-US" sz="1200" dirty="0"/>
          </a:p>
        </p:txBody>
      </p:sp>
      <p:sp>
        <p:nvSpPr>
          <p:cNvPr id="21" name="Shape 16"/>
          <p:cNvSpPr/>
          <p:nvPr/>
        </p:nvSpPr>
        <p:spPr>
          <a:xfrm>
            <a:off x="5184648" y="5349240"/>
            <a:ext cx="1810512" cy="310896"/>
          </a:xfrm>
          <a:prstGeom prst="roundRect">
            <a:avLst>
              <a:gd name="adj" fmla="val 50000"/>
            </a:avLst>
          </a:prstGeom>
          <a:solidFill>
            <a:srgbClr val="EEF4FD"/>
          </a:solidFill>
          <a:ln w="12700">
            <a:solidFill>
              <a:srgbClr val="EEF4FD"/>
            </a:solidFill>
            <a:prstDash val="solid"/>
          </a:ln>
        </p:spPr>
        <p:txBody>
          <a:bodyPr/>
          <a:lstStyle/>
          <a:p>
            <a:endParaRPr lang="fr-FR"/>
          </a:p>
        </p:txBody>
      </p:sp>
      <p:sp>
        <p:nvSpPr>
          <p:cNvPr id="22" name="Text 17"/>
          <p:cNvSpPr txBox="1"/>
          <p:nvPr/>
        </p:nvSpPr>
        <p:spPr>
          <a:xfrm>
            <a:off x="5184648" y="5349240"/>
            <a:ext cx="1810512" cy="310896"/>
          </a:xfrm>
          <a:prstGeom prst="rect">
            <a:avLst/>
          </a:prstGeom>
          <a:noFill/>
          <a:ln/>
        </p:spPr>
        <p:txBody>
          <a:bodyPr wrap="square" lIns="0" tIns="0" rIns="0" bIns="0" rtlCol="0" anchor="ctr"/>
          <a:lstStyle/>
          <a:p>
            <a:pPr marL="0" indent="0" algn="ctr">
              <a:buNone/>
            </a:pPr>
            <a:r>
              <a:rPr lang="en-US" sz="1050" b="1" dirty="0">
                <a:solidFill>
                  <a:srgbClr val="00A7B5"/>
                </a:solidFill>
                <a:latin typeface="Verdana" pitchFamily="34" charset="0"/>
                <a:ea typeface="Verdana" pitchFamily="34" charset="-122"/>
                <a:cs typeface="Verdana" pitchFamily="34" charset="-120"/>
              </a:rPr>
              <a:t>Organismes</a:t>
            </a:r>
            <a:endParaRPr lang="en-US" sz="1050" dirty="0"/>
          </a:p>
        </p:txBody>
      </p:sp>
      <p:sp>
        <p:nvSpPr>
          <p:cNvPr id="23" name="Shape 18"/>
          <p:cNvSpPr/>
          <p:nvPr/>
        </p:nvSpPr>
        <p:spPr>
          <a:xfrm>
            <a:off x="7296912" y="1828800"/>
            <a:ext cx="2084832" cy="3977640"/>
          </a:xfrm>
          <a:prstGeom prst="roundRect">
            <a:avLst>
              <a:gd name="adj" fmla="val 8772"/>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24" name="Image 3" descr="/home/claude/deck/crop3/fdd_image74_1754_50_50_20_h_F6F9FE.jpg"/>
          <p:cNvPicPr>
            <a:picLocks noChangeAspect="1"/>
          </p:cNvPicPr>
          <p:nvPr/>
        </p:nvPicPr>
        <p:blipFill>
          <a:blip r:embed="rId6"/>
          <a:stretch>
            <a:fillRect/>
          </a:stretch>
        </p:blipFill>
        <p:spPr>
          <a:xfrm>
            <a:off x="7296912" y="1828800"/>
            <a:ext cx="2084832" cy="1188720"/>
          </a:xfrm>
          <a:prstGeom prst="rect">
            <a:avLst/>
          </a:prstGeom>
        </p:spPr>
      </p:pic>
      <p:sp>
        <p:nvSpPr>
          <p:cNvPr id="25" name="Text 19"/>
          <p:cNvSpPr txBox="1"/>
          <p:nvPr/>
        </p:nvSpPr>
        <p:spPr>
          <a:xfrm>
            <a:off x="7434072" y="3108960"/>
            <a:ext cx="1810512" cy="566928"/>
          </a:xfrm>
          <a:prstGeom prst="rect">
            <a:avLst/>
          </a:prstGeom>
          <a:noFill/>
          <a:ln/>
        </p:spPr>
        <p:txBody>
          <a:bodyPr wrap="square" lIns="0" tIns="0" rIns="0" bIns="0" rtlCol="0" anchor="ctr"/>
          <a:lstStyle/>
          <a:p>
            <a:pPr marL="0" indent="0">
              <a:buNone/>
            </a:pPr>
            <a:r>
              <a:rPr lang="en-US" sz="1400" b="1" dirty="0">
                <a:solidFill>
                  <a:srgbClr val="0012B5"/>
                </a:solidFill>
                <a:latin typeface="Verdana" pitchFamily="34" charset="0"/>
                <a:ea typeface="Verdana" pitchFamily="34" charset="-122"/>
                <a:cs typeface="Verdana" pitchFamily="34" charset="-120"/>
              </a:rPr>
              <a:t>Missions autonomes</a:t>
            </a:r>
            <a:endParaRPr lang="en-US" sz="1400" dirty="0"/>
          </a:p>
        </p:txBody>
      </p:sp>
      <p:sp>
        <p:nvSpPr>
          <p:cNvPr id="26" name="Text 20"/>
          <p:cNvSpPr txBox="1"/>
          <p:nvPr/>
        </p:nvSpPr>
        <p:spPr>
          <a:xfrm>
            <a:off x="7434072" y="3730752"/>
            <a:ext cx="1810512" cy="1508760"/>
          </a:xfrm>
          <a:prstGeom prst="rect">
            <a:avLst/>
          </a:prstGeom>
          <a:noFill/>
          <a:ln/>
        </p:spPr>
        <p:txBody>
          <a:bodyPr wrap="square" lIns="0" tIns="0" rIns="0" bIns="0" rtlCol="0" anchor="t"/>
          <a:lstStyle/>
          <a:p>
            <a:pPr marL="0" indent="0">
              <a:buNone/>
            </a:pPr>
            <a:r>
              <a:rPr lang="en-US" sz="1200" dirty="0">
                <a:solidFill>
                  <a:srgbClr val="3A4658"/>
                </a:solidFill>
                <a:latin typeface="Verdana" pitchFamily="34" charset="0"/>
                <a:ea typeface="Verdana" pitchFamily="34" charset="-122"/>
                <a:cs typeface="Verdana" pitchFamily="34" charset="-120"/>
              </a:rPr>
              <a:t>Le patron réalise seul, pendant sa marée, relevés, signalements, protocoles légers.</a:t>
            </a:r>
            <a:endParaRPr lang="en-US" sz="1200" dirty="0"/>
          </a:p>
        </p:txBody>
      </p:sp>
      <p:sp>
        <p:nvSpPr>
          <p:cNvPr id="27" name="Shape 21"/>
          <p:cNvSpPr/>
          <p:nvPr/>
        </p:nvSpPr>
        <p:spPr>
          <a:xfrm>
            <a:off x="7434072" y="5349240"/>
            <a:ext cx="1810512" cy="310896"/>
          </a:xfrm>
          <a:prstGeom prst="roundRect">
            <a:avLst>
              <a:gd name="adj" fmla="val 50000"/>
            </a:avLst>
          </a:prstGeom>
          <a:solidFill>
            <a:srgbClr val="EEF4FD"/>
          </a:solidFill>
          <a:ln w="12700">
            <a:solidFill>
              <a:srgbClr val="EEF4FD"/>
            </a:solidFill>
            <a:prstDash val="solid"/>
          </a:ln>
        </p:spPr>
        <p:txBody>
          <a:bodyPr/>
          <a:lstStyle/>
          <a:p>
            <a:endParaRPr lang="fr-FR"/>
          </a:p>
        </p:txBody>
      </p:sp>
      <p:sp>
        <p:nvSpPr>
          <p:cNvPr id="28" name="Text 22"/>
          <p:cNvSpPr txBox="1"/>
          <p:nvPr/>
        </p:nvSpPr>
        <p:spPr>
          <a:xfrm>
            <a:off x="7434072" y="5349240"/>
            <a:ext cx="1810512" cy="310896"/>
          </a:xfrm>
          <a:prstGeom prst="rect">
            <a:avLst/>
          </a:prstGeom>
          <a:noFill/>
          <a:ln/>
        </p:spPr>
        <p:txBody>
          <a:bodyPr wrap="square" lIns="0" tIns="0" rIns="0" bIns="0" rtlCol="0" anchor="ctr"/>
          <a:lstStyle/>
          <a:p>
            <a:pPr marL="0" indent="0" algn="ctr">
              <a:buNone/>
            </a:pPr>
            <a:r>
              <a:rPr lang="en-US" sz="1050" b="1" dirty="0">
                <a:solidFill>
                  <a:srgbClr val="00A7B5"/>
                </a:solidFill>
                <a:latin typeface="Verdana" pitchFamily="34" charset="0"/>
                <a:ea typeface="Verdana" pitchFamily="34" charset="-122"/>
                <a:cs typeface="Verdana" pitchFamily="34" charset="-120"/>
              </a:rPr>
              <a:t>Organismes</a:t>
            </a:r>
            <a:endParaRPr lang="en-US" sz="1050" dirty="0"/>
          </a:p>
        </p:txBody>
      </p:sp>
      <p:sp>
        <p:nvSpPr>
          <p:cNvPr id="29" name="Shape 23"/>
          <p:cNvSpPr/>
          <p:nvPr/>
        </p:nvSpPr>
        <p:spPr>
          <a:xfrm>
            <a:off x="9546336" y="1828800"/>
            <a:ext cx="2084832" cy="3977640"/>
          </a:xfrm>
          <a:prstGeom prst="roundRect">
            <a:avLst>
              <a:gd name="adj" fmla="val 8772"/>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30" name="Image 4" descr="/home/claude/deck/crop3/hero-rideau_1754_50_50_20_h_F6F9FE.jpg"/>
          <p:cNvPicPr>
            <a:picLocks noChangeAspect="1"/>
          </p:cNvPicPr>
          <p:nvPr/>
        </p:nvPicPr>
        <p:blipFill>
          <a:blip r:embed="rId7"/>
          <a:stretch>
            <a:fillRect/>
          </a:stretch>
        </p:blipFill>
        <p:spPr>
          <a:xfrm>
            <a:off x="9546336" y="1828800"/>
            <a:ext cx="2084832" cy="1188720"/>
          </a:xfrm>
          <a:prstGeom prst="rect">
            <a:avLst/>
          </a:prstGeom>
        </p:spPr>
      </p:pic>
      <p:sp>
        <p:nvSpPr>
          <p:cNvPr id="31" name="Text 24"/>
          <p:cNvSpPr txBox="1"/>
          <p:nvPr/>
        </p:nvSpPr>
        <p:spPr>
          <a:xfrm>
            <a:off x="9683496" y="3108960"/>
            <a:ext cx="1810512" cy="566928"/>
          </a:xfrm>
          <a:prstGeom prst="rect">
            <a:avLst/>
          </a:prstGeom>
          <a:noFill/>
          <a:ln/>
        </p:spPr>
        <p:txBody>
          <a:bodyPr wrap="square" lIns="0" tIns="0" rIns="0" bIns="0" rtlCol="0" anchor="ctr"/>
          <a:lstStyle/>
          <a:p>
            <a:pPr marL="0" indent="0">
              <a:buNone/>
            </a:pPr>
            <a:r>
              <a:rPr lang="en-US" sz="1400" b="1" dirty="0">
                <a:solidFill>
                  <a:srgbClr val="0012B5"/>
                </a:solidFill>
                <a:latin typeface="Verdana" pitchFamily="34" charset="0"/>
                <a:ea typeface="Verdana" pitchFamily="34" charset="-122"/>
                <a:cs typeface="Verdana" pitchFamily="34" charset="-120"/>
              </a:rPr>
              <a:t>Appui à l’État en mer</a:t>
            </a:r>
            <a:endParaRPr lang="en-US" sz="1400" dirty="0"/>
          </a:p>
        </p:txBody>
      </p:sp>
      <p:sp>
        <p:nvSpPr>
          <p:cNvPr id="32" name="Text 25"/>
          <p:cNvSpPr txBox="1"/>
          <p:nvPr/>
        </p:nvSpPr>
        <p:spPr>
          <a:xfrm>
            <a:off x="9683496" y="3730752"/>
            <a:ext cx="1810512" cy="1508760"/>
          </a:xfrm>
          <a:prstGeom prst="rect">
            <a:avLst/>
          </a:prstGeom>
          <a:noFill/>
          <a:ln/>
        </p:spPr>
        <p:txBody>
          <a:bodyPr wrap="square" lIns="0" tIns="0" rIns="0" bIns="0" rtlCol="0" anchor="t"/>
          <a:lstStyle/>
          <a:p>
            <a:pPr marL="0" indent="0">
              <a:buNone/>
            </a:pPr>
            <a:r>
              <a:rPr lang="en-US" sz="1200" dirty="0">
                <a:solidFill>
                  <a:srgbClr val="3A4658"/>
                </a:solidFill>
                <a:latin typeface="Verdana" pitchFamily="34" charset="0"/>
                <a:ea typeface="Verdana" pitchFamily="34" charset="-122"/>
                <a:cs typeface="Verdana" pitchFamily="34" charset="-120"/>
              </a:rPr>
              <a:t>Recensement des navires volontaires et formés pour le « deuxième rideau » antipollution.</a:t>
            </a:r>
            <a:endParaRPr lang="en-US" sz="1200" dirty="0"/>
          </a:p>
        </p:txBody>
      </p:sp>
      <p:sp>
        <p:nvSpPr>
          <p:cNvPr id="33" name="Shape 26"/>
          <p:cNvSpPr/>
          <p:nvPr/>
        </p:nvSpPr>
        <p:spPr>
          <a:xfrm>
            <a:off x="9683496" y="5349240"/>
            <a:ext cx="1810512" cy="310896"/>
          </a:xfrm>
          <a:prstGeom prst="roundRect">
            <a:avLst>
              <a:gd name="adj" fmla="val 50000"/>
            </a:avLst>
          </a:prstGeom>
          <a:solidFill>
            <a:srgbClr val="EEF4FD"/>
          </a:solidFill>
          <a:ln w="12700">
            <a:solidFill>
              <a:srgbClr val="EEF4FD"/>
            </a:solidFill>
            <a:prstDash val="solid"/>
          </a:ln>
        </p:spPr>
        <p:txBody>
          <a:bodyPr/>
          <a:lstStyle/>
          <a:p>
            <a:endParaRPr lang="fr-FR"/>
          </a:p>
        </p:txBody>
      </p:sp>
      <p:sp>
        <p:nvSpPr>
          <p:cNvPr id="34" name="Text 27"/>
          <p:cNvSpPr txBox="1"/>
          <p:nvPr/>
        </p:nvSpPr>
        <p:spPr>
          <a:xfrm>
            <a:off x="9683496" y="5349240"/>
            <a:ext cx="1810512" cy="310896"/>
          </a:xfrm>
          <a:prstGeom prst="rect">
            <a:avLst/>
          </a:prstGeom>
          <a:noFill/>
          <a:ln/>
        </p:spPr>
        <p:txBody>
          <a:bodyPr wrap="square" lIns="0" tIns="0" rIns="0" bIns="0" rtlCol="0" anchor="ctr"/>
          <a:lstStyle/>
          <a:p>
            <a:pPr marL="0" indent="0" algn="ctr">
              <a:buNone/>
            </a:pPr>
            <a:r>
              <a:rPr lang="en-US" sz="1050" b="1" dirty="0">
                <a:solidFill>
                  <a:srgbClr val="0E9F6E"/>
                </a:solidFill>
                <a:latin typeface="Verdana" pitchFamily="34" charset="0"/>
                <a:ea typeface="Verdana" pitchFamily="34" charset="-122"/>
                <a:cs typeface="Verdana" pitchFamily="34" charset="-120"/>
              </a:rPr>
              <a:t>Services de l’État</a:t>
            </a:r>
            <a:endParaRPr lang="en-US" sz="1050" dirty="0"/>
          </a:p>
        </p:txBody>
      </p:sp>
      <p:sp>
        <p:nvSpPr>
          <p:cNvPr id="35" name="Shape 28"/>
          <p:cNvSpPr/>
          <p:nvPr/>
        </p:nvSpPr>
        <p:spPr>
          <a:xfrm>
            <a:off x="548640" y="5943600"/>
            <a:ext cx="11094415" cy="457200"/>
          </a:xfrm>
          <a:prstGeom prst="roundRect">
            <a:avLst>
              <a:gd name="adj" fmla="val 40000"/>
            </a:avLst>
          </a:prstGeom>
          <a:solidFill>
            <a:srgbClr val="FFF7EC"/>
          </a:solidFill>
          <a:ln w="12700">
            <a:solidFill>
              <a:srgbClr val="FFF7EC"/>
            </a:solidFill>
            <a:prstDash val="solid"/>
          </a:ln>
        </p:spPr>
        <p:txBody>
          <a:bodyPr/>
          <a:lstStyle/>
          <a:p>
            <a:endParaRPr lang="fr-FR"/>
          </a:p>
        </p:txBody>
      </p:sp>
      <p:sp>
        <p:nvSpPr>
          <p:cNvPr id="36" name="Text 29"/>
          <p:cNvSpPr txBox="1"/>
          <p:nvPr/>
        </p:nvSpPr>
        <p:spPr>
          <a:xfrm>
            <a:off x="822960" y="5943600"/>
            <a:ext cx="10545775" cy="457200"/>
          </a:xfrm>
          <a:prstGeom prst="rect">
            <a:avLst/>
          </a:prstGeom>
          <a:noFill/>
          <a:ln/>
        </p:spPr>
        <p:txBody>
          <a:bodyPr wrap="square" lIns="0" tIns="0" rIns="0" bIns="0" rtlCol="0" anchor="ctr"/>
          <a:lstStyle/>
          <a:p>
            <a:pPr marL="0" indent="0">
              <a:buNone/>
            </a:pPr>
            <a:r>
              <a:rPr lang="en-US" sz="1400" b="1" dirty="0">
                <a:solidFill>
                  <a:srgbClr val="B45309"/>
                </a:solidFill>
                <a:latin typeface="Verdana" pitchFamily="34" charset="0"/>
                <a:ea typeface="Verdana" pitchFamily="34" charset="-122"/>
                <a:cs typeface="Verdana" pitchFamily="34" charset="-120"/>
              </a:rPr>
              <a:t>Bientôt : des dégustations organisées par les pêcheurs eux-mêmes (voir « Ce qui arrive »).</a:t>
            </a:r>
            <a:endParaRPr lang="en-US" sz="1400" dirty="0"/>
          </a:p>
        </p:txBody>
      </p:sp>
      <p:sp>
        <p:nvSpPr>
          <p:cNvPr id="37" name="Text 30"/>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3</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QUI FAIT QUOI</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Trois espaces séparés, plus un back office</a:t>
            </a:r>
            <a:endParaRPr lang="en-US" sz="2500" dirty="0"/>
          </a:p>
        </p:txBody>
      </p:sp>
      <p:sp>
        <p:nvSpPr>
          <p:cNvPr id="4" name="Text 2"/>
          <p:cNvSpPr txBox="1"/>
          <p:nvPr/>
        </p:nvSpPr>
        <p:spPr>
          <a:xfrm>
            <a:off x="548640" y="1216152"/>
            <a:ext cx="11094415" cy="457200"/>
          </a:xfrm>
          <a:prstGeom prst="rect">
            <a:avLst/>
          </a:prstGeom>
          <a:noFill/>
          <a:ln/>
        </p:spPr>
        <p:txBody>
          <a:bodyPr wrap="square" lIns="0" tIns="0" rIns="0" bIns="0" rtlCol="0" anchor="t"/>
          <a:lstStyle/>
          <a:p>
            <a:pPr marL="0" indent="0">
              <a:buNone/>
            </a:pPr>
            <a:r>
              <a:rPr lang="en-US" sz="1550" dirty="0">
                <a:solidFill>
                  <a:srgbClr val="66728A"/>
                </a:solidFill>
                <a:latin typeface="Verdana" pitchFamily="34" charset="0"/>
                <a:ea typeface="Verdana" pitchFamily="34" charset="-122"/>
                <a:cs typeface="Verdana" pitchFamily="34" charset="-120"/>
              </a:rPr>
              <a:t>Un compte = un rôle. Un touriste ne voit jamais un outil d’organisme ; un organisme ne peut pas réserver.</a:t>
            </a:r>
            <a:endParaRPr lang="en-US" sz="1550" dirty="0"/>
          </a:p>
        </p:txBody>
      </p:sp>
      <p:sp>
        <p:nvSpPr>
          <p:cNvPr id="5" name="Shape 3"/>
          <p:cNvSpPr/>
          <p:nvPr/>
        </p:nvSpPr>
        <p:spPr>
          <a:xfrm>
            <a:off x="548640" y="1828800"/>
            <a:ext cx="2651760" cy="4572000"/>
          </a:xfrm>
          <a:prstGeom prst="roundRect">
            <a:avLst>
              <a:gd name="adj" fmla="val 6897"/>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6" name="Image 0" descr="/home/claude/deck/crop3/hero-accueil_2417_50_50_20_h_F6F9FE.jpg"/>
          <p:cNvPicPr>
            <a:picLocks noChangeAspect="1"/>
          </p:cNvPicPr>
          <p:nvPr/>
        </p:nvPicPr>
        <p:blipFill>
          <a:blip r:embed="rId3"/>
          <a:stretch>
            <a:fillRect/>
          </a:stretch>
        </p:blipFill>
        <p:spPr>
          <a:xfrm>
            <a:off x="548640" y="1828800"/>
            <a:ext cx="2651760" cy="1097280"/>
          </a:xfrm>
          <a:prstGeom prst="rect">
            <a:avLst/>
          </a:prstGeom>
        </p:spPr>
      </p:pic>
      <p:sp>
        <p:nvSpPr>
          <p:cNvPr id="7" name="Shape 4"/>
          <p:cNvSpPr/>
          <p:nvPr/>
        </p:nvSpPr>
        <p:spPr>
          <a:xfrm>
            <a:off x="749808" y="2651760"/>
            <a:ext cx="548640" cy="548640"/>
          </a:xfrm>
          <a:prstGeom prst="ellipse">
            <a:avLst/>
          </a:prstGeom>
          <a:solidFill>
            <a:srgbClr val="1F5BD6"/>
          </a:solidFill>
          <a:ln w="12700">
            <a:solidFill>
              <a:srgbClr val="1F5BD6"/>
            </a:solidFill>
            <a:prstDash val="solid"/>
          </a:ln>
        </p:spPr>
        <p:txBody>
          <a:bodyPr/>
          <a:lstStyle/>
          <a:p>
            <a:endParaRPr lang="fr-FR"/>
          </a:p>
        </p:txBody>
      </p:sp>
      <p:pic>
        <p:nvPicPr>
          <p:cNvPr id="8" name="Image 1" descr="preencoded.png"/>
          <p:cNvPicPr>
            <a:picLocks noChangeAspect="1"/>
          </p:cNvPicPr>
          <p:nvPr/>
        </p:nvPicPr>
        <p:blipFill>
          <a:blip r:embed="rId4"/>
          <a:stretch>
            <a:fillRect/>
          </a:stretch>
        </p:blipFill>
        <p:spPr>
          <a:xfrm>
            <a:off x="886968" y="2788920"/>
            <a:ext cx="274320" cy="274320"/>
          </a:xfrm>
          <a:prstGeom prst="rect">
            <a:avLst/>
          </a:prstGeom>
        </p:spPr>
      </p:pic>
      <p:sp>
        <p:nvSpPr>
          <p:cNvPr id="9" name="Text 5"/>
          <p:cNvSpPr txBox="1"/>
          <p:nvPr/>
        </p:nvSpPr>
        <p:spPr>
          <a:xfrm>
            <a:off x="749808" y="3291840"/>
            <a:ext cx="2249424" cy="347472"/>
          </a:xfrm>
          <a:prstGeom prst="rect">
            <a:avLst/>
          </a:prstGeom>
          <a:noFill/>
          <a:ln/>
        </p:spPr>
        <p:txBody>
          <a:bodyPr wrap="square" lIns="0" tIns="0" rIns="0" bIns="0" rtlCol="0" anchor="t"/>
          <a:lstStyle/>
          <a:p>
            <a:pPr marL="0" indent="0">
              <a:buNone/>
            </a:pPr>
            <a:r>
              <a:rPr lang="en-US" sz="1500" b="1" dirty="0">
                <a:solidFill>
                  <a:srgbClr val="0012B5"/>
                </a:solidFill>
                <a:latin typeface="Verdana" pitchFamily="34" charset="0"/>
                <a:ea typeface="Verdana" pitchFamily="34" charset="-122"/>
                <a:cs typeface="Verdana" pitchFamily="34" charset="-120"/>
              </a:rPr>
              <a:t>Espace touriste</a:t>
            </a:r>
            <a:endParaRPr lang="en-US" sz="1500" dirty="0"/>
          </a:p>
        </p:txBody>
      </p:sp>
      <p:sp>
        <p:nvSpPr>
          <p:cNvPr id="10" name="Text 6"/>
          <p:cNvSpPr txBox="1"/>
          <p:nvPr/>
        </p:nvSpPr>
        <p:spPr>
          <a:xfrm>
            <a:off x="749808" y="3639312"/>
            <a:ext cx="2249424" cy="274320"/>
          </a:xfrm>
          <a:prstGeom prst="rect">
            <a:avLst/>
          </a:prstGeom>
          <a:noFill/>
          <a:ln/>
        </p:spPr>
        <p:txBody>
          <a:bodyPr wrap="square" lIns="0" tIns="0" rIns="0" bIns="0" rtlCol="0" anchor="t"/>
          <a:lstStyle/>
          <a:p>
            <a:pPr marL="0" indent="0">
              <a:buNone/>
            </a:pPr>
            <a:r>
              <a:rPr lang="en-US" sz="1300" i="1" dirty="0">
                <a:solidFill>
                  <a:srgbClr val="66728A"/>
                </a:solidFill>
                <a:latin typeface="Verdana" pitchFamily="34" charset="0"/>
                <a:ea typeface="Verdana" pitchFamily="34" charset="-122"/>
                <a:cs typeface="Verdana" pitchFamily="34" charset="-120"/>
              </a:rPr>
              <a:t>Grand public, familles</a:t>
            </a:r>
            <a:endParaRPr lang="en-US" sz="1300" dirty="0"/>
          </a:p>
        </p:txBody>
      </p:sp>
      <p:sp>
        <p:nvSpPr>
          <p:cNvPr id="11" name="Text 7"/>
          <p:cNvSpPr txBox="1"/>
          <p:nvPr/>
        </p:nvSpPr>
        <p:spPr>
          <a:xfrm>
            <a:off x="713232" y="4041648"/>
            <a:ext cx="2322576" cy="22402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3A4658"/>
                </a:solidFill>
                <a:latin typeface="Verdana" pitchFamily="34" charset="0"/>
                <a:ea typeface="Verdana" pitchFamily="34" charset="-122"/>
                <a:cs typeface="Verdana" pitchFamily="34" charset="-120"/>
              </a:rPr>
              <a:t>Réserver une sortie</a:t>
            </a:r>
            <a:endParaRPr lang="en-US" sz="1400" dirty="0"/>
          </a:p>
          <a:p>
            <a:pPr marL="177800" indent="-177800">
              <a:spcAft>
                <a:spcPts val="700"/>
              </a:spcAft>
              <a:buSzPct val="100000"/>
              <a:buChar char="•"/>
            </a:pPr>
            <a:r>
              <a:rPr lang="en-US" sz="1400" dirty="0">
                <a:solidFill>
                  <a:srgbClr val="3A4658"/>
                </a:solidFill>
                <a:latin typeface="Verdana" pitchFamily="34" charset="0"/>
                <a:ea typeface="Verdana" pitchFamily="34" charset="-122"/>
                <a:cs typeface="Verdana" pitchFamily="34" charset="-120"/>
              </a:rPr>
              <a:t>Déposer sa pièce et celles de ses accompagnants</a:t>
            </a:r>
            <a:endParaRPr lang="en-US" sz="1400" dirty="0"/>
          </a:p>
          <a:p>
            <a:pPr marL="177800" indent="-177800">
              <a:spcAft>
                <a:spcPts val="700"/>
              </a:spcAft>
              <a:buSzPct val="100000"/>
              <a:buChar char="•"/>
            </a:pPr>
            <a:r>
              <a:rPr lang="en-US" sz="1400" dirty="0">
                <a:solidFill>
                  <a:srgbClr val="3A4658"/>
                </a:solidFill>
                <a:latin typeface="Verdana" pitchFamily="34" charset="0"/>
                <a:ea typeface="Verdana" pitchFamily="34" charset="-122"/>
                <a:cs typeface="Verdana" pitchFamily="34" charset="-120"/>
              </a:rPr>
              <a:t>Suivre et annuler ses sorties</a:t>
            </a:r>
            <a:endParaRPr lang="en-US" sz="1400" dirty="0"/>
          </a:p>
          <a:p>
            <a:pPr marL="177800" indent="-177800">
              <a:spcAft>
                <a:spcPts val="700"/>
              </a:spcAft>
              <a:buSzPct val="100000"/>
              <a:buChar char="•"/>
            </a:pPr>
            <a:r>
              <a:rPr lang="en-US" sz="1400" dirty="0">
                <a:solidFill>
                  <a:srgbClr val="3A4658"/>
                </a:solidFill>
                <a:latin typeface="Verdana" pitchFamily="34" charset="0"/>
                <a:ea typeface="Verdana" pitchFamily="34" charset="-122"/>
                <a:cs typeface="Verdana" pitchFamily="34" charset="-120"/>
              </a:rPr>
              <a:t>Noter sa sortie</a:t>
            </a:r>
            <a:endParaRPr lang="en-US" sz="1400" dirty="0"/>
          </a:p>
        </p:txBody>
      </p:sp>
      <p:sp>
        <p:nvSpPr>
          <p:cNvPr id="12" name="Shape 8"/>
          <p:cNvSpPr/>
          <p:nvPr/>
        </p:nvSpPr>
        <p:spPr>
          <a:xfrm>
            <a:off x="3364992" y="1828800"/>
            <a:ext cx="2651760" cy="4572000"/>
          </a:xfrm>
          <a:prstGeom prst="roundRect">
            <a:avLst>
              <a:gd name="adj" fmla="val 6897"/>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13" name="Image 2" descr="/home/claude/deck/crop3/hero-science_2417_50_50_20_h_F6F9FE.jpg"/>
          <p:cNvPicPr>
            <a:picLocks noChangeAspect="1"/>
          </p:cNvPicPr>
          <p:nvPr/>
        </p:nvPicPr>
        <p:blipFill>
          <a:blip r:embed="rId5"/>
          <a:stretch>
            <a:fillRect/>
          </a:stretch>
        </p:blipFill>
        <p:spPr>
          <a:xfrm>
            <a:off x="3364992" y="1828800"/>
            <a:ext cx="2651760" cy="1097280"/>
          </a:xfrm>
          <a:prstGeom prst="rect">
            <a:avLst/>
          </a:prstGeom>
        </p:spPr>
      </p:pic>
      <p:sp>
        <p:nvSpPr>
          <p:cNvPr id="14" name="Shape 9"/>
          <p:cNvSpPr/>
          <p:nvPr/>
        </p:nvSpPr>
        <p:spPr>
          <a:xfrm>
            <a:off x="3566160" y="2651760"/>
            <a:ext cx="548640" cy="548640"/>
          </a:xfrm>
          <a:prstGeom prst="ellipse">
            <a:avLst/>
          </a:prstGeom>
          <a:solidFill>
            <a:srgbClr val="00A7B5"/>
          </a:solidFill>
          <a:ln w="12700">
            <a:solidFill>
              <a:srgbClr val="00A7B5"/>
            </a:solidFill>
            <a:prstDash val="solid"/>
          </a:ln>
        </p:spPr>
        <p:txBody>
          <a:bodyPr/>
          <a:lstStyle/>
          <a:p>
            <a:endParaRPr lang="fr-FR"/>
          </a:p>
        </p:txBody>
      </p:sp>
      <p:pic>
        <p:nvPicPr>
          <p:cNvPr id="15" name="Image 3" descr="preencoded.png"/>
          <p:cNvPicPr>
            <a:picLocks noChangeAspect="1"/>
          </p:cNvPicPr>
          <p:nvPr/>
        </p:nvPicPr>
        <p:blipFill>
          <a:blip r:embed="rId6"/>
          <a:stretch>
            <a:fillRect/>
          </a:stretch>
        </p:blipFill>
        <p:spPr>
          <a:xfrm>
            <a:off x="3703320" y="2788920"/>
            <a:ext cx="274320" cy="274320"/>
          </a:xfrm>
          <a:prstGeom prst="rect">
            <a:avLst/>
          </a:prstGeom>
        </p:spPr>
      </p:pic>
      <p:sp>
        <p:nvSpPr>
          <p:cNvPr id="16" name="Text 10"/>
          <p:cNvSpPr txBox="1"/>
          <p:nvPr/>
        </p:nvSpPr>
        <p:spPr>
          <a:xfrm>
            <a:off x="3566160" y="3291840"/>
            <a:ext cx="2249424" cy="347472"/>
          </a:xfrm>
          <a:prstGeom prst="rect">
            <a:avLst/>
          </a:prstGeom>
          <a:noFill/>
          <a:ln/>
        </p:spPr>
        <p:txBody>
          <a:bodyPr wrap="square" lIns="0" tIns="0" rIns="0" bIns="0" rtlCol="0" anchor="t"/>
          <a:lstStyle/>
          <a:p>
            <a:pPr marL="0" indent="0">
              <a:buNone/>
            </a:pPr>
            <a:r>
              <a:rPr lang="en-US" sz="1500" b="1" dirty="0">
                <a:solidFill>
                  <a:srgbClr val="0012B5"/>
                </a:solidFill>
                <a:latin typeface="Verdana" pitchFamily="34" charset="0"/>
                <a:ea typeface="Verdana" pitchFamily="34" charset="-122"/>
                <a:cs typeface="Verdana" pitchFamily="34" charset="-120"/>
              </a:rPr>
              <a:t>Espace organisme</a:t>
            </a:r>
            <a:endParaRPr lang="en-US" sz="1500" dirty="0"/>
          </a:p>
        </p:txBody>
      </p:sp>
      <p:sp>
        <p:nvSpPr>
          <p:cNvPr id="17" name="Text 11"/>
          <p:cNvSpPr txBox="1"/>
          <p:nvPr/>
        </p:nvSpPr>
        <p:spPr>
          <a:xfrm>
            <a:off x="3566160" y="3639312"/>
            <a:ext cx="2249424" cy="274320"/>
          </a:xfrm>
          <a:prstGeom prst="rect">
            <a:avLst/>
          </a:prstGeom>
          <a:noFill/>
          <a:ln/>
        </p:spPr>
        <p:txBody>
          <a:bodyPr wrap="square" lIns="0" tIns="0" rIns="0" bIns="0" rtlCol="0" anchor="t"/>
          <a:lstStyle/>
          <a:p>
            <a:pPr marL="0" indent="0">
              <a:buNone/>
            </a:pPr>
            <a:r>
              <a:rPr lang="en-US" sz="1300" i="1" dirty="0">
                <a:solidFill>
                  <a:srgbClr val="66728A"/>
                </a:solidFill>
                <a:latin typeface="Verdana" pitchFamily="34" charset="0"/>
                <a:ea typeface="Verdana" pitchFamily="34" charset="-122"/>
                <a:cs typeface="Verdana" pitchFamily="34" charset="-120"/>
              </a:rPr>
              <a:t>Labos, universités, AMP</a:t>
            </a:r>
            <a:endParaRPr lang="en-US" sz="1300" dirty="0"/>
          </a:p>
        </p:txBody>
      </p:sp>
      <p:sp>
        <p:nvSpPr>
          <p:cNvPr id="18" name="Text 12"/>
          <p:cNvSpPr txBox="1"/>
          <p:nvPr/>
        </p:nvSpPr>
        <p:spPr>
          <a:xfrm>
            <a:off x="3529584" y="4041648"/>
            <a:ext cx="2322576" cy="22402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3A4658"/>
                </a:solidFill>
                <a:latin typeface="Verdana" pitchFamily="34" charset="0"/>
                <a:ea typeface="Verdana" pitchFamily="34" charset="-122"/>
                <a:cs typeface="Verdana" pitchFamily="34" charset="-120"/>
              </a:rPr>
              <a:t>Inscription vérifiée et validée</a:t>
            </a:r>
            <a:endParaRPr lang="en-US" sz="1400" dirty="0"/>
          </a:p>
          <a:p>
            <a:pPr marL="177800" indent="-177800">
              <a:spcAft>
                <a:spcPts val="700"/>
              </a:spcAft>
              <a:buSzPct val="100000"/>
              <a:buChar char="•"/>
            </a:pPr>
            <a:r>
              <a:rPr lang="en-US" sz="1400" dirty="0">
                <a:solidFill>
                  <a:srgbClr val="3A4658"/>
                </a:solidFill>
                <a:latin typeface="Verdana" pitchFamily="34" charset="0"/>
                <a:ea typeface="Verdana" pitchFamily="34" charset="-122"/>
                <a:cs typeface="Verdana" pitchFamily="34" charset="-120"/>
              </a:rPr>
              <a:t>Lancer des appels</a:t>
            </a:r>
            <a:endParaRPr lang="en-US" sz="1400" dirty="0"/>
          </a:p>
          <a:p>
            <a:pPr marL="177800" indent="-177800">
              <a:spcAft>
                <a:spcPts val="700"/>
              </a:spcAft>
              <a:buSzPct val="100000"/>
              <a:buChar char="•"/>
            </a:pPr>
            <a:r>
              <a:rPr lang="en-US" sz="1400" dirty="0">
                <a:solidFill>
                  <a:srgbClr val="3A4658"/>
                </a:solidFill>
                <a:latin typeface="Verdana" pitchFamily="34" charset="0"/>
                <a:ea typeface="Verdana" pitchFamily="34" charset="-122"/>
                <a:cs typeface="Verdana" pitchFamily="34" charset="-120"/>
              </a:rPr>
              <a:t>Tirer au sort</a:t>
            </a:r>
            <a:endParaRPr lang="en-US" sz="1400" dirty="0"/>
          </a:p>
          <a:p>
            <a:pPr marL="177800" indent="-177800">
              <a:spcAft>
                <a:spcPts val="700"/>
              </a:spcAft>
              <a:buSzPct val="100000"/>
              <a:buChar char="•"/>
            </a:pPr>
            <a:r>
              <a:rPr lang="en-US" sz="1400" dirty="0">
                <a:solidFill>
                  <a:srgbClr val="3A4658"/>
                </a:solidFill>
                <a:latin typeface="Verdana" pitchFamily="34" charset="0"/>
                <a:ea typeface="Verdana" pitchFamily="34" charset="-122"/>
                <a:cs typeface="Verdana" pitchFamily="34" charset="-120"/>
              </a:rPr>
              <a:t>Déclarer son équipe, annuler si besoin</a:t>
            </a:r>
            <a:endParaRPr lang="en-US" sz="1400" dirty="0"/>
          </a:p>
        </p:txBody>
      </p:sp>
      <p:sp>
        <p:nvSpPr>
          <p:cNvPr id="19" name="Shape 13"/>
          <p:cNvSpPr/>
          <p:nvPr/>
        </p:nvSpPr>
        <p:spPr>
          <a:xfrm>
            <a:off x="6181344" y="1828800"/>
            <a:ext cx="2651760" cy="4572000"/>
          </a:xfrm>
          <a:prstGeom prst="roundRect">
            <a:avLst>
              <a:gd name="adj" fmla="val 6897"/>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20" name="Image 4" descr="/home/claude/deck/crop3/fdd_image45_2417_50_50_20_h_F6F9FE.jpg"/>
          <p:cNvPicPr>
            <a:picLocks noChangeAspect="1"/>
          </p:cNvPicPr>
          <p:nvPr/>
        </p:nvPicPr>
        <p:blipFill>
          <a:blip r:embed="rId7"/>
          <a:stretch>
            <a:fillRect/>
          </a:stretch>
        </p:blipFill>
        <p:spPr>
          <a:xfrm>
            <a:off x="6181344" y="1828800"/>
            <a:ext cx="2651760" cy="1097280"/>
          </a:xfrm>
          <a:prstGeom prst="rect">
            <a:avLst/>
          </a:prstGeom>
        </p:spPr>
      </p:pic>
      <p:sp>
        <p:nvSpPr>
          <p:cNvPr id="21" name="Shape 14"/>
          <p:cNvSpPr/>
          <p:nvPr/>
        </p:nvSpPr>
        <p:spPr>
          <a:xfrm>
            <a:off x="6382512" y="2651760"/>
            <a:ext cx="548640" cy="548640"/>
          </a:xfrm>
          <a:prstGeom prst="ellipse">
            <a:avLst/>
          </a:prstGeom>
          <a:solidFill>
            <a:srgbClr val="0012B5"/>
          </a:solidFill>
          <a:ln w="12700">
            <a:solidFill>
              <a:srgbClr val="0012B5"/>
            </a:solidFill>
            <a:prstDash val="solid"/>
          </a:ln>
        </p:spPr>
        <p:txBody>
          <a:bodyPr/>
          <a:lstStyle/>
          <a:p>
            <a:endParaRPr lang="fr-FR"/>
          </a:p>
        </p:txBody>
      </p:sp>
      <p:pic>
        <p:nvPicPr>
          <p:cNvPr id="22" name="Image 5" descr="preencoded.png"/>
          <p:cNvPicPr>
            <a:picLocks noChangeAspect="1"/>
          </p:cNvPicPr>
          <p:nvPr/>
        </p:nvPicPr>
        <p:blipFill>
          <a:blip r:embed="rId8"/>
          <a:stretch>
            <a:fillRect/>
          </a:stretch>
        </p:blipFill>
        <p:spPr>
          <a:xfrm>
            <a:off x="6519672" y="2788920"/>
            <a:ext cx="274320" cy="274320"/>
          </a:xfrm>
          <a:prstGeom prst="rect">
            <a:avLst/>
          </a:prstGeom>
        </p:spPr>
      </p:pic>
      <p:sp>
        <p:nvSpPr>
          <p:cNvPr id="23" name="Text 15"/>
          <p:cNvSpPr txBox="1"/>
          <p:nvPr/>
        </p:nvSpPr>
        <p:spPr>
          <a:xfrm>
            <a:off x="6382512" y="3291840"/>
            <a:ext cx="2249424" cy="347472"/>
          </a:xfrm>
          <a:prstGeom prst="rect">
            <a:avLst/>
          </a:prstGeom>
          <a:noFill/>
          <a:ln/>
        </p:spPr>
        <p:txBody>
          <a:bodyPr wrap="square" lIns="0" tIns="0" rIns="0" bIns="0" rtlCol="0" anchor="t"/>
          <a:lstStyle/>
          <a:p>
            <a:pPr marL="0" indent="0">
              <a:buNone/>
            </a:pPr>
            <a:r>
              <a:rPr lang="en-US" sz="1500" b="1" dirty="0">
                <a:solidFill>
                  <a:srgbClr val="0012B5"/>
                </a:solidFill>
                <a:latin typeface="Verdana" pitchFamily="34" charset="0"/>
                <a:ea typeface="Verdana" pitchFamily="34" charset="-122"/>
                <a:cs typeface="Verdana" pitchFamily="34" charset="-120"/>
              </a:rPr>
              <a:t>Espace pêcheur</a:t>
            </a:r>
            <a:endParaRPr lang="en-US" sz="1500" dirty="0"/>
          </a:p>
        </p:txBody>
      </p:sp>
      <p:sp>
        <p:nvSpPr>
          <p:cNvPr id="24" name="Text 16"/>
          <p:cNvSpPr txBox="1"/>
          <p:nvPr/>
        </p:nvSpPr>
        <p:spPr>
          <a:xfrm>
            <a:off x="6382512" y="3639312"/>
            <a:ext cx="2249424" cy="274320"/>
          </a:xfrm>
          <a:prstGeom prst="rect">
            <a:avLst/>
          </a:prstGeom>
          <a:noFill/>
          <a:ln/>
        </p:spPr>
        <p:txBody>
          <a:bodyPr wrap="square" lIns="0" tIns="0" rIns="0" bIns="0" rtlCol="0" anchor="t"/>
          <a:lstStyle/>
          <a:p>
            <a:pPr marL="0" indent="0">
              <a:buNone/>
            </a:pPr>
            <a:r>
              <a:rPr lang="en-US" sz="1300" i="1" dirty="0">
                <a:solidFill>
                  <a:srgbClr val="66728A"/>
                </a:solidFill>
                <a:latin typeface="Verdana" pitchFamily="34" charset="0"/>
                <a:ea typeface="Verdana" pitchFamily="34" charset="-122"/>
                <a:cs typeface="Verdana" pitchFamily="34" charset="-120"/>
              </a:rPr>
              <a:t>Patrons du réseau</a:t>
            </a:r>
            <a:endParaRPr lang="en-US" sz="1300" dirty="0"/>
          </a:p>
        </p:txBody>
      </p:sp>
      <p:sp>
        <p:nvSpPr>
          <p:cNvPr id="25" name="Text 17"/>
          <p:cNvSpPr txBox="1"/>
          <p:nvPr/>
        </p:nvSpPr>
        <p:spPr>
          <a:xfrm>
            <a:off x="6345936" y="4041648"/>
            <a:ext cx="2322576" cy="22402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3A4658"/>
                </a:solidFill>
                <a:latin typeface="Verdana" pitchFamily="34" charset="0"/>
                <a:ea typeface="Verdana" pitchFamily="34" charset="-122"/>
                <a:cs typeface="Verdana" pitchFamily="34" charset="-120"/>
              </a:rPr>
              <a:t>Régler ses offres</a:t>
            </a:r>
            <a:endParaRPr lang="en-US" sz="1400" dirty="0"/>
          </a:p>
          <a:p>
            <a:pPr marL="177800" indent="-177800">
              <a:spcAft>
                <a:spcPts val="700"/>
              </a:spcAft>
              <a:buSzPct val="100000"/>
              <a:buChar char="•"/>
            </a:pPr>
            <a:r>
              <a:rPr lang="en-US" sz="1400" dirty="0">
                <a:solidFill>
                  <a:srgbClr val="3A4658"/>
                </a:solidFill>
                <a:latin typeface="Verdana" pitchFamily="34" charset="0"/>
                <a:ea typeface="Verdana" pitchFamily="34" charset="-122"/>
                <a:cs typeface="Verdana" pitchFamily="34" charset="-120"/>
              </a:rPr>
              <a:t>Accepter, refuser, déplacer</a:t>
            </a:r>
            <a:endParaRPr lang="en-US" sz="1400" dirty="0"/>
          </a:p>
          <a:p>
            <a:pPr marL="177800" indent="-177800">
              <a:spcAft>
                <a:spcPts val="700"/>
              </a:spcAft>
              <a:buSzPct val="100000"/>
              <a:buChar char="•"/>
            </a:pPr>
            <a:r>
              <a:rPr lang="en-US" sz="1400" dirty="0">
                <a:solidFill>
                  <a:srgbClr val="3A4658"/>
                </a:solidFill>
                <a:latin typeface="Verdana" pitchFamily="34" charset="0"/>
                <a:ea typeface="Verdana" pitchFamily="34" charset="-122"/>
                <a:cs typeface="Verdana" pitchFamily="34" charset="-120"/>
              </a:rPr>
              <a:t>Répondre aux appels</a:t>
            </a:r>
            <a:endParaRPr lang="en-US" sz="1400" dirty="0"/>
          </a:p>
          <a:p>
            <a:pPr marL="177800" indent="-177800">
              <a:spcAft>
                <a:spcPts val="700"/>
              </a:spcAft>
              <a:buSzPct val="100000"/>
              <a:buChar char="•"/>
            </a:pPr>
            <a:r>
              <a:rPr lang="en-US" sz="1400" dirty="0">
                <a:solidFill>
                  <a:srgbClr val="3A4658"/>
                </a:solidFill>
                <a:latin typeface="Verdana" pitchFamily="34" charset="0"/>
                <a:ea typeface="Verdana" pitchFamily="34" charset="-122"/>
                <a:cs typeface="Verdana" pitchFamily="34" charset="-120"/>
              </a:rPr>
              <a:t>Déclarer au CROSS et à la SNSM</a:t>
            </a:r>
            <a:endParaRPr lang="en-US" sz="1400" dirty="0"/>
          </a:p>
        </p:txBody>
      </p:sp>
      <p:sp>
        <p:nvSpPr>
          <p:cNvPr id="26" name="Shape 18"/>
          <p:cNvSpPr/>
          <p:nvPr/>
        </p:nvSpPr>
        <p:spPr>
          <a:xfrm>
            <a:off x="8997696" y="1828800"/>
            <a:ext cx="2651760" cy="4572000"/>
          </a:xfrm>
          <a:prstGeom prst="roundRect">
            <a:avLst>
              <a:gd name="adj" fmla="val 6897"/>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27" name="Image 6" descr="/home/claude/deck/crop3/galerie-palangre_2417_50_50_20_h_F6F9FE.jpg"/>
          <p:cNvPicPr>
            <a:picLocks noChangeAspect="1"/>
          </p:cNvPicPr>
          <p:nvPr/>
        </p:nvPicPr>
        <p:blipFill>
          <a:blip r:embed="rId9"/>
          <a:stretch>
            <a:fillRect/>
          </a:stretch>
        </p:blipFill>
        <p:spPr>
          <a:xfrm>
            <a:off x="8997696" y="1828800"/>
            <a:ext cx="2651760" cy="1097280"/>
          </a:xfrm>
          <a:prstGeom prst="rect">
            <a:avLst/>
          </a:prstGeom>
        </p:spPr>
      </p:pic>
      <p:sp>
        <p:nvSpPr>
          <p:cNvPr id="28" name="Shape 19"/>
          <p:cNvSpPr/>
          <p:nvPr/>
        </p:nvSpPr>
        <p:spPr>
          <a:xfrm>
            <a:off x="9198864" y="2651760"/>
            <a:ext cx="548640" cy="548640"/>
          </a:xfrm>
          <a:prstGeom prst="ellipse">
            <a:avLst/>
          </a:prstGeom>
          <a:solidFill>
            <a:srgbClr val="0E9F6E"/>
          </a:solidFill>
          <a:ln w="12700">
            <a:solidFill>
              <a:srgbClr val="0E9F6E"/>
            </a:solidFill>
            <a:prstDash val="solid"/>
          </a:ln>
        </p:spPr>
        <p:txBody>
          <a:bodyPr/>
          <a:lstStyle/>
          <a:p>
            <a:endParaRPr lang="fr-FR"/>
          </a:p>
        </p:txBody>
      </p:sp>
      <p:pic>
        <p:nvPicPr>
          <p:cNvPr id="29" name="Image 7" descr="preencoded.png"/>
          <p:cNvPicPr>
            <a:picLocks noChangeAspect="1"/>
          </p:cNvPicPr>
          <p:nvPr/>
        </p:nvPicPr>
        <p:blipFill>
          <a:blip r:embed="rId10"/>
          <a:stretch>
            <a:fillRect/>
          </a:stretch>
        </p:blipFill>
        <p:spPr>
          <a:xfrm>
            <a:off x="9336024" y="2788920"/>
            <a:ext cx="274320" cy="274320"/>
          </a:xfrm>
          <a:prstGeom prst="rect">
            <a:avLst/>
          </a:prstGeom>
        </p:spPr>
      </p:pic>
      <p:sp>
        <p:nvSpPr>
          <p:cNvPr id="30" name="Text 20"/>
          <p:cNvSpPr txBox="1"/>
          <p:nvPr/>
        </p:nvSpPr>
        <p:spPr>
          <a:xfrm>
            <a:off x="9198864" y="3291840"/>
            <a:ext cx="2249424" cy="347472"/>
          </a:xfrm>
          <a:prstGeom prst="rect">
            <a:avLst/>
          </a:prstGeom>
          <a:noFill/>
          <a:ln/>
        </p:spPr>
        <p:txBody>
          <a:bodyPr wrap="square" lIns="0" tIns="0" rIns="0" bIns="0" rtlCol="0" anchor="t"/>
          <a:lstStyle/>
          <a:p>
            <a:pPr marL="0" indent="0">
              <a:buNone/>
            </a:pPr>
            <a:r>
              <a:rPr lang="en-US" sz="1500" b="1" dirty="0">
                <a:solidFill>
                  <a:srgbClr val="0012B5"/>
                </a:solidFill>
                <a:latin typeface="Verdana" pitchFamily="34" charset="0"/>
                <a:ea typeface="Verdana" pitchFamily="34" charset="-122"/>
                <a:cs typeface="Verdana" pitchFamily="34" charset="-120"/>
              </a:rPr>
              <a:t>Back office</a:t>
            </a:r>
            <a:endParaRPr lang="en-US" sz="1500" dirty="0"/>
          </a:p>
        </p:txBody>
      </p:sp>
      <p:sp>
        <p:nvSpPr>
          <p:cNvPr id="31" name="Text 21"/>
          <p:cNvSpPr txBox="1"/>
          <p:nvPr/>
        </p:nvSpPr>
        <p:spPr>
          <a:xfrm>
            <a:off x="9198864" y="3639312"/>
            <a:ext cx="2249424" cy="274320"/>
          </a:xfrm>
          <a:prstGeom prst="rect">
            <a:avLst/>
          </a:prstGeom>
          <a:noFill/>
          <a:ln/>
        </p:spPr>
        <p:txBody>
          <a:bodyPr wrap="square" lIns="0" tIns="0" rIns="0" bIns="0" rtlCol="0" anchor="t"/>
          <a:lstStyle/>
          <a:p>
            <a:pPr marL="0" indent="0">
              <a:buNone/>
            </a:pPr>
            <a:r>
              <a:rPr lang="en-US" sz="1300" i="1" dirty="0">
                <a:solidFill>
                  <a:srgbClr val="66728A"/>
                </a:solidFill>
                <a:latin typeface="Verdana" pitchFamily="34" charset="0"/>
                <a:ea typeface="Verdana" pitchFamily="34" charset="-122"/>
                <a:cs typeface="Verdana" pitchFamily="34" charset="-120"/>
              </a:rPr>
              <a:t>Équipe Mare Durabilis</a:t>
            </a:r>
            <a:endParaRPr lang="en-US" sz="1300" dirty="0"/>
          </a:p>
        </p:txBody>
      </p:sp>
      <p:sp>
        <p:nvSpPr>
          <p:cNvPr id="32" name="Text 22"/>
          <p:cNvSpPr txBox="1"/>
          <p:nvPr/>
        </p:nvSpPr>
        <p:spPr>
          <a:xfrm>
            <a:off x="9162288" y="4041648"/>
            <a:ext cx="2322576" cy="22402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3A4658"/>
                </a:solidFill>
                <a:latin typeface="Verdana" pitchFamily="34" charset="0"/>
                <a:ea typeface="Verdana" pitchFamily="34" charset="-122"/>
                <a:cs typeface="Verdana" pitchFamily="34" charset="-120"/>
              </a:rPr>
              <a:t>Vérifier les navires</a:t>
            </a:r>
            <a:endParaRPr lang="en-US" sz="1400" dirty="0"/>
          </a:p>
          <a:p>
            <a:pPr marL="177800" indent="-177800">
              <a:spcAft>
                <a:spcPts val="700"/>
              </a:spcAft>
              <a:buSzPct val="100000"/>
              <a:buChar char="•"/>
            </a:pPr>
            <a:r>
              <a:rPr lang="en-US" sz="1400" dirty="0">
                <a:solidFill>
                  <a:srgbClr val="3A4658"/>
                </a:solidFill>
                <a:latin typeface="Verdana" pitchFamily="34" charset="0"/>
                <a:ea typeface="Verdana" pitchFamily="34" charset="-122"/>
                <a:cs typeface="Verdana" pitchFamily="34" charset="-120"/>
              </a:rPr>
              <a:t>Autoriser la mise en ligne</a:t>
            </a:r>
            <a:endParaRPr lang="en-US" sz="1400" dirty="0"/>
          </a:p>
          <a:p>
            <a:pPr marL="177800" indent="-177800">
              <a:spcAft>
                <a:spcPts val="700"/>
              </a:spcAft>
              <a:buSzPct val="100000"/>
              <a:buChar char="•"/>
            </a:pPr>
            <a:r>
              <a:rPr lang="en-US" sz="1400" dirty="0">
                <a:solidFill>
                  <a:srgbClr val="3A4658"/>
                </a:solidFill>
                <a:latin typeface="Verdana" pitchFamily="34" charset="0"/>
                <a:ea typeface="Verdana" pitchFamily="34" charset="-122"/>
                <a:cs typeface="Verdana" pitchFamily="34" charset="-120"/>
              </a:rPr>
              <a:t>Valider les organismes</a:t>
            </a:r>
            <a:endParaRPr lang="en-US" sz="1400" dirty="0"/>
          </a:p>
          <a:p>
            <a:pPr marL="177800" indent="-177800">
              <a:spcAft>
                <a:spcPts val="700"/>
              </a:spcAft>
              <a:buSzPct val="100000"/>
              <a:buChar char="•"/>
            </a:pPr>
            <a:r>
              <a:rPr lang="en-US" sz="1400" dirty="0">
                <a:solidFill>
                  <a:srgbClr val="3A4658"/>
                </a:solidFill>
                <a:latin typeface="Verdana" pitchFamily="34" charset="0"/>
                <a:ea typeface="Verdana" pitchFamily="34" charset="-122"/>
                <a:cs typeface="Verdana" pitchFamily="34" charset="-120"/>
              </a:rPr>
              <a:t>Suivre, rembourser, rémunérer</a:t>
            </a:r>
            <a:endParaRPr lang="en-US" sz="1400" dirty="0"/>
          </a:p>
        </p:txBody>
      </p:sp>
      <p:sp>
        <p:nvSpPr>
          <p:cNvPr id="33" name="Text 23"/>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4</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deck/crop3/galerie-thon_1778_50_50_0_.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3FC4">
              <a:alpha val="54000"/>
            </a:srgbClr>
          </a:solidFill>
          <a:ln w="12700">
            <a:solidFill>
              <a:srgbClr val="0B3FC4"/>
            </a:solidFill>
            <a:prstDash val="solid"/>
          </a:ln>
        </p:spPr>
        <p:txBody>
          <a:bodyPr/>
          <a:lstStyle/>
          <a:p>
            <a:endParaRPr lang="fr-FR"/>
          </a:p>
        </p:txBody>
      </p:sp>
      <p:pic>
        <p:nvPicPr>
          <p:cNvPr id="4" name="Image 1" descr="/home/claude/deck/logo-projet-blanc.png"/>
          <p:cNvPicPr>
            <a:picLocks noChangeAspect="1"/>
          </p:cNvPicPr>
          <p:nvPr/>
        </p:nvPicPr>
        <p:blipFill>
          <a:blip r:embed="rId4"/>
          <a:stretch>
            <a:fillRect/>
          </a:stretch>
        </p:blipFill>
        <p:spPr>
          <a:xfrm>
            <a:off x="10088575" y="320040"/>
            <a:ext cx="1600200" cy="647462"/>
          </a:xfrm>
          <a:prstGeom prst="rect">
            <a:avLst/>
          </a:prstGeom>
        </p:spPr>
      </p:pic>
      <p:sp>
        <p:nvSpPr>
          <p:cNvPr id="5" name="Shape 1"/>
          <p:cNvSpPr/>
          <p:nvPr/>
        </p:nvSpPr>
        <p:spPr>
          <a:xfrm>
            <a:off x="731520" y="2377440"/>
            <a:ext cx="2377440" cy="384048"/>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6" name="Text 2"/>
          <p:cNvSpPr txBox="1"/>
          <p:nvPr/>
        </p:nvSpPr>
        <p:spPr>
          <a:xfrm>
            <a:off x="731520" y="2377440"/>
            <a:ext cx="2377440" cy="384048"/>
          </a:xfrm>
          <a:prstGeom prst="rect">
            <a:avLst/>
          </a:prstGeom>
          <a:noFill/>
          <a:ln/>
        </p:spPr>
        <p:txBody>
          <a:bodyPr wrap="square" lIns="0" tIns="0" rIns="0" bIns="0" rtlCol="0" anchor="ctr"/>
          <a:lstStyle/>
          <a:p>
            <a:pPr marL="0" indent="0" algn="ctr">
              <a:buNone/>
            </a:pPr>
            <a:r>
              <a:rPr lang="en-US" sz="1400" b="1" dirty="0">
                <a:solidFill>
                  <a:srgbClr val="0012B5"/>
                </a:solidFill>
                <a:latin typeface="Verdana" pitchFamily="34" charset="0"/>
                <a:ea typeface="Verdana" pitchFamily="34" charset="-122"/>
                <a:cs typeface="Verdana" pitchFamily="34" charset="-120"/>
              </a:rPr>
              <a:t>Première partie</a:t>
            </a:r>
            <a:endParaRPr lang="en-US" sz="1400" dirty="0"/>
          </a:p>
        </p:txBody>
      </p:sp>
      <p:sp>
        <p:nvSpPr>
          <p:cNvPr id="7" name="Text 3"/>
          <p:cNvSpPr txBox="1"/>
          <p:nvPr/>
        </p:nvSpPr>
        <p:spPr>
          <a:xfrm>
            <a:off x="731520" y="2926080"/>
            <a:ext cx="10058400" cy="868680"/>
          </a:xfrm>
          <a:prstGeom prst="rect">
            <a:avLst/>
          </a:prstGeom>
          <a:noFill/>
          <a:ln/>
        </p:spPr>
        <p:txBody>
          <a:bodyPr wrap="square" lIns="0" tIns="0" rIns="0" bIns="0" rtlCol="0" anchor="ctr"/>
          <a:lstStyle/>
          <a:p>
            <a:pPr marL="0" indent="0">
              <a:buNone/>
            </a:pPr>
            <a:r>
              <a:rPr lang="en-US" sz="4000" b="1" dirty="0">
                <a:solidFill>
                  <a:srgbClr val="FFFFFF"/>
                </a:solidFill>
                <a:latin typeface="Verdana" pitchFamily="34" charset="0"/>
                <a:ea typeface="Verdana" pitchFamily="34" charset="-122"/>
                <a:cs typeface="Verdana" pitchFamily="34" charset="-120"/>
              </a:rPr>
              <a:t>Le parcours du touriste</a:t>
            </a:r>
            <a:endParaRPr lang="en-US" sz="4000" dirty="0"/>
          </a:p>
        </p:txBody>
      </p:sp>
      <p:sp>
        <p:nvSpPr>
          <p:cNvPr id="8" name="Text 4"/>
          <p:cNvSpPr txBox="1"/>
          <p:nvPr/>
        </p:nvSpPr>
        <p:spPr>
          <a:xfrm>
            <a:off x="731520" y="3931920"/>
            <a:ext cx="10058400" cy="640080"/>
          </a:xfrm>
          <a:prstGeom prst="rect">
            <a:avLst/>
          </a:prstGeom>
          <a:noFill/>
          <a:ln/>
        </p:spPr>
        <p:txBody>
          <a:bodyPr wrap="square" lIns="0" tIns="0" rIns="0" bIns="0" rtlCol="0" anchor="t"/>
          <a:lstStyle/>
          <a:p>
            <a:pPr marL="0" indent="0">
              <a:buNone/>
            </a:pPr>
            <a:r>
              <a:rPr lang="en-US" sz="1900" dirty="0">
                <a:solidFill>
                  <a:srgbClr val="FFFFFF"/>
                </a:solidFill>
                <a:latin typeface="Verdana" pitchFamily="34" charset="0"/>
                <a:ea typeface="Verdana" pitchFamily="34" charset="-122"/>
                <a:cs typeface="Verdana" pitchFamily="34" charset="-120"/>
              </a:rPr>
              <a:t>Créer son compte, réserver, payer, embarquer, annuler ou déplacer, noter.</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LE TOURISTE · AVANT DE RÉSERVER</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Créer son compte et déposer sa pièce d’identité</a:t>
            </a:r>
            <a:endParaRPr lang="en-US" sz="2300" dirty="0"/>
          </a:p>
        </p:txBody>
      </p:sp>
      <p:sp>
        <p:nvSpPr>
          <p:cNvPr id="4" name="Text 2"/>
          <p:cNvSpPr txBox="1"/>
          <p:nvPr/>
        </p:nvSpPr>
        <p:spPr>
          <a:xfrm>
            <a:off x="548640" y="1216152"/>
            <a:ext cx="11094415" cy="457200"/>
          </a:xfrm>
          <a:prstGeom prst="rect">
            <a:avLst/>
          </a:prstGeom>
          <a:noFill/>
          <a:ln/>
        </p:spPr>
        <p:txBody>
          <a:bodyPr wrap="square" lIns="0" tIns="0" rIns="0" bIns="0" rtlCol="0" anchor="t"/>
          <a:lstStyle/>
          <a:p>
            <a:pPr marL="0" indent="0">
              <a:buNone/>
            </a:pPr>
            <a:r>
              <a:rPr lang="en-US" sz="1550" dirty="0">
                <a:solidFill>
                  <a:srgbClr val="66728A"/>
                </a:solidFill>
                <a:latin typeface="Verdana" pitchFamily="34" charset="0"/>
                <a:ea typeface="Verdana" pitchFamily="34" charset="-122"/>
                <a:cs typeface="Verdana" pitchFamily="34" charset="-120"/>
              </a:rPr>
              <a:t>Aucune réservation n’est possible sans compte touriste ni pièce d’identité déposée.</a:t>
            </a:r>
            <a:endParaRPr lang="en-US" sz="1550" dirty="0"/>
          </a:p>
        </p:txBody>
      </p:sp>
      <p:sp>
        <p:nvSpPr>
          <p:cNvPr id="5" name="Shape 3"/>
          <p:cNvSpPr/>
          <p:nvPr/>
        </p:nvSpPr>
        <p:spPr>
          <a:xfrm>
            <a:off x="548640" y="1783080"/>
            <a:ext cx="3566160" cy="2286000"/>
          </a:xfrm>
          <a:prstGeom prst="roundRect">
            <a:avLst>
              <a:gd name="adj" fmla="val 8000"/>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6" name="Shape 4"/>
          <p:cNvSpPr/>
          <p:nvPr/>
        </p:nvSpPr>
        <p:spPr>
          <a:xfrm>
            <a:off x="749808" y="1984248"/>
            <a:ext cx="512064" cy="512064"/>
          </a:xfrm>
          <a:prstGeom prst="ellipse">
            <a:avLst/>
          </a:prstGeom>
          <a:solidFill>
            <a:srgbClr val="0012B5"/>
          </a:solidFill>
          <a:ln w="12700">
            <a:solidFill>
              <a:srgbClr val="0012B5"/>
            </a:solidFill>
            <a:prstDash val="solid"/>
          </a:ln>
        </p:spPr>
        <p:txBody>
          <a:bodyPr/>
          <a:lstStyle/>
          <a:p>
            <a:endParaRPr lang="fr-FR"/>
          </a:p>
        </p:txBody>
      </p:sp>
      <p:pic>
        <p:nvPicPr>
          <p:cNvPr id="7" name="Image 0" descr="preencoded.png"/>
          <p:cNvPicPr>
            <a:picLocks noChangeAspect="1"/>
          </p:cNvPicPr>
          <p:nvPr/>
        </p:nvPicPr>
        <p:blipFill>
          <a:blip r:embed="rId3"/>
          <a:stretch>
            <a:fillRect/>
          </a:stretch>
        </p:blipFill>
        <p:spPr>
          <a:xfrm>
            <a:off x="877824" y="2112264"/>
            <a:ext cx="256032" cy="256032"/>
          </a:xfrm>
          <a:prstGeom prst="rect">
            <a:avLst/>
          </a:prstGeom>
        </p:spPr>
      </p:pic>
      <p:sp>
        <p:nvSpPr>
          <p:cNvPr id="8" name="Text 5"/>
          <p:cNvSpPr txBox="1"/>
          <p:nvPr/>
        </p:nvSpPr>
        <p:spPr>
          <a:xfrm>
            <a:off x="3474720" y="198424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1</a:t>
            </a:r>
            <a:endParaRPr lang="en-US" sz="1800" dirty="0"/>
          </a:p>
        </p:txBody>
      </p:sp>
      <p:sp>
        <p:nvSpPr>
          <p:cNvPr id="9" name="Text 6"/>
          <p:cNvSpPr txBox="1"/>
          <p:nvPr/>
        </p:nvSpPr>
        <p:spPr>
          <a:xfrm>
            <a:off x="749808" y="2624328"/>
            <a:ext cx="3163824" cy="457200"/>
          </a:xfrm>
          <a:prstGeom prst="rect">
            <a:avLst/>
          </a:prstGeom>
          <a:noFill/>
          <a:ln/>
        </p:spPr>
        <p:txBody>
          <a:bodyPr wrap="square" lIns="0" tIns="0" rIns="0" bIns="0" rtlCol="0" anchor="t"/>
          <a:lstStyle/>
          <a:p>
            <a:pPr marL="0" indent="0">
              <a:buNone/>
            </a:pPr>
            <a:r>
              <a:rPr lang="en-US" sz="1650" b="1" dirty="0">
                <a:solidFill>
                  <a:srgbClr val="0012B5"/>
                </a:solidFill>
                <a:latin typeface="Verdana" pitchFamily="34" charset="0"/>
                <a:ea typeface="Verdana" pitchFamily="34" charset="-122"/>
                <a:cs typeface="Verdana" pitchFamily="34" charset="-120"/>
              </a:rPr>
              <a:t>Créer son compte</a:t>
            </a:r>
            <a:endParaRPr lang="en-US" sz="1650" dirty="0"/>
          </a:p>
        </p:txBody>
      </p:sp>
      <p:sp>
        <p:nvSpPr>
          <p:cNvPr id="10" name="Text 7"/>
          <p:cNvSpPr txBox="1"/>
          <p:nvPr/>
        </p:nvSpPr>
        <p:spPr>
          <a:xfrm>
            <a:off x="749808" y="3127248"/>
            <a:ext cx="3163824" cy="82296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Nom, e-mail, mot de passe. Une adresse = un compte : doublon refusé.</a:t>
            </a:r>
            <a:endParaRPr lang="en-US" sz="1400" dirty="0"/>
          </a:p>
        </p:txBody>
      </p:sp>
      <p:sp>
        <p:nvSpPr>
          <p:cNvPr id="11" name="Shape 8"/>
          <p:cNvSpPr/>
          <p:nvPr/>
        </p:nvSpPr>
        <p:spPr>
          <a:xfrm>
            <a:off x="4343400" y="1783080"/>
            <a:ext cx="3566160" cy="2286000"/>
          </a:xfrm>
          <a:prstGeom prst="roundRect">
            <a:avLst>
              <a:gd name="adj" fmla="val 8000"/>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2" name="Shape 9"/>
          <p:cNvSpPr/>
          <p:nvPr/>
        </p:nvSpPr>
        <p:spPr>
          <a:xfrm>
            <a:off x="4544568" y="1984248"/>
            <a:ext cx="512064" cy="512064"/>
          </a:xfrm>
          <a:prstGeom prst="ellipse">
            <a:avLst/>
          </a:prstGeom>
          <a:solidFill>
            <a:srgbClr val="1F5BD6"/>
          </a:solidFill>
          <a:ln w="12700">
            <a:solidFill>
              <a:srgbClr val="1F5BD6"/>
            </a:solidFill>
            <a:prstDash val="solid"/>
          </a:ln>
        </p:spPr>
        <p:txBody>
          <a:bodyPr/>
          <a:lstStyle/>
          <a:p>
            <a:endParaRPr lang="fr-FR"/>
          </a:p>
        </p:txBody>
      </p:sp>
      <p:pic>
        <p:nvPicPr>
          <p:cNvPr id="13" name="Image 1" descr="preencoded.png"/>
          <p:cNvPicPr>
            <a:picLocks noChangeAspect="1"/>
          </p:cNvPicPr>
          <p:nvPr/>
        </p:nvPicPr>
        <p:blipFill>
          <a:blip r:embed="rId4"/>
          <a:stretch>
            <a:fillRect/>
          </a:stretch>
        </p:blipFill>
        <p:spPr>
          <a:xfrm>
            <a:off x="4672584" y="2112264"/>
            <a:ext cx="256032" cy="256032"/>
          </a:xfrm>
          <a:prstGeom prst="rect">
            <a:avLst/>
          </a:prstGeom>
        </p:spPr>
      </p:pic>
      <p:sp>
        <p:nvSpPr>
          <p:cNvPr id="14" name="Text 10"/>
          <p:cNvSpPr txBox="1"/>
          <p:nvPr/>
        </p:nvSpPr>
        <p:spPr>
          <a:xfrm>
            <a:off x="7269480" y="198424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2</a:t>
            </a:r>
            <a:endParaRPr lang="en-US" sz="1800" dirty="0"/>
          </a:p>
        </p:txBody>
      </p:sp>
      <p:sp>
        <p:nvSpPr>
          <p:cNvPr id="15" name="Text 11"/>
          <p:cNvSpPr txBox="1"/>
          <p:nvPr/>
        </p:nvSpPr>
        <p:spPr>
          <a:xfrm>
            <a:off x="4544568" y="2624328"/>
            <a:ext cx="3163824" cy="457200"/>
          </a:xfrm>
          <a:prstGeom prst="rect">
            <a:avLst/>
          </a:prstGeom>
          <a:noFill/>
          <a:ln/>
        </p:spPr>
        <p:txBody>
          <a:bodyPr wrap="square" lIns="0" tIns="0" rIns="0" bIns="0" rtlCol="0" anchor="t"/>
          <a:lstStyle/>
          <a:p>
            <a:pPr marL="0" indent="0">
              <a:buNone/>
            </a:pPr>
            <a:r>
              <a:rPr lang="en-US" sz="1650" b="1" dirty="0">
                <a:solidFill>
                  <a:srgbClr val="0012B5"/>
                </a:solidFill>
                <a:latin typeface="Verdana" pitchFamily="34" charset="0"/>
                <a:ea typeface="Verdana" pitchFamily="34" charset="-122"/>
                <a:cs typeface="Verdana" pitchFamily="34" charset="-120"/>
              </a:rPr>
              <a:t>Confirmer son adresse</a:t>
            </a:r>
            <a:endParaRPr lang="en-US" sz="1650" dirty="0"/>
          </a:p>
        </p:txBody>
      </p:sp>
      <p:sp>
        <p:nvSpPr>
          <p:cNvPr id="16" name="Text 12"/>
          <p:cNvSpPr txBox="1"/>
          <p:nvPr/>
        </p:nvSpPr>
        <p:spPr>
          <a:xfrm>
            <a:off x="4544568" y="3127248"/>
            <a:ext cx="3163824" cy="82296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Un clic dans l’e-mail « Confirmez votre adresse » active le compte. Mot de passe oublié : lien à usage unique.</a:t>
            </a:r>
            <a:endParaRPr lang="en-US" sz="1400" dirty="0"/>
          </a:p>
        </p:txBody>
      </p:sp>
      <p:sp>
        <p:nvSpPr>
          <p:cNvPr id="17" name="Shape 13"/>
          <p:cNvSpPr/>
          <p:nvPr/>
        </p:nvSpPr>
        <p:spPr>
          <a:xfrm>
            <a:off x="8138160" y="1783080"/>
            <a:ext cx="3566160" cy="2286000"/>
          </a:xfrm>
          <a:prstGeom prst="roundRect">
            <a:avLst>
              <a:gd name="adj" fmla="val 8000"/>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8" name="Shape 14"/>
          <p:cNvSpPr/>
          <p:nvPr/>
        </p:nvSpPr>
        <p:spPr>
          <a:xfrm>
            <a:off x="8339328" y="1984248"/>
            <a:ext cx="512064" cy="512064"/>
          </a:xfrm>
          <a:prstGeom prst="ellipse">
            <a:avLst/>
          </a:prstGeom>
          <a:solidFill>
            <a:srgbClr val="00A7B5"/>
          </a:solidFill>
          <a:ln w="12700">
            <a:solidFill>
              <a:srgbClr val="00A7B5"/>
            </a:solidFill>
            <a:prstDash val="solid"/>
          </a:ln>
        </p:spPr>
        <p:txBody>
          <a:bodyPr/>
          <a:lstStyle/>
          <a:p>
            <a:endParaRPr lang="fr-FR"/>
          </a:p>
        </p:txBody>
      </p:sp>
      <p:pic>
        <p:nvPicPr>
          <p:cNvPr id="19" name="Image 2" descr="preencoded.png"/>
          <p:cNvPicPr>
            <a:picLocks noChangeAspect="1"/>
          </p:cNvPicPr>
          <p:nvPr/>
        </p:nvPicPr>
        <p:blipFill>
          <a:blip r:embed="rId5"/>
          <a:stretch>
            <a:fillRect/>
          </a:stretch>
        </p:blipFill>
        <p:spPr>
          <a:xfrm>
            <a:off x="8467344" y="2112264"/>
            <a:ext cx="256032" cy="256032"/>
          </a:xfrm>
          <a:prstGeom prst="rect">
            <a:avLst/>
          </a:prstGeom>
        </p:spPr>
      </p:pic>
      <p:sp>
        <p:nvSpPr>
          <p:cNvPr id="20" name="Text 15"/>
          <p:cNvSpPr txBox="1"/>
          <p:nvPr/>
        </p:nvSpPr>
        <p:spPr>
          <a:xfrm>
            <a:off x="11064240" y="198424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3</a:t>
            </a:r>
            <a:endParaRPr lang="en-US" sz="1800" dirty="0"/>
          </a:p>
        </p:txBody>
      </p:sp>
      <p:sp>
        <p:nvSpPr>
          <p:cNvPr id="21" name="Text 16"/>
          <p:cNvSpPr txBox="1"/>
          <p:nvPr/>
        </p:nvSpPr>
        <p:spPr>
          <a:xfrm>
            <a:off x="8339328" y="2624328"/>
            <a:ext cx="3163824" cy="457200"/>
          </a:xfrm>
          <a:prstGeom prst="rect">
            <a:avLst/>
          </a:prstGeom>
          <a:noFill/>
          <a:ln/>
        </p:spPr>
        <p:txBody>
          <a:bodyPr wrap="square" lIns="0" tIns="0" rIns="0" bIns="0" rtlCol="0" anchor="t"/>
          <a:lstStyle/>
          <a:p>
            <a:pPr marL="0" indent="0">
              <a:buNone/>
            </a:pPr>
            <a:r>
              <a:rPr lang="en-US" sz="1650" b="1" dirty="0">
                <a:solidFill>
                  <a:srgbClr val="0012B5"/>
                </a:solidFill>
                <a:latin typeface="Verdana" pitchFamily="34" charset="0"/>
                <a:ea typeface="Verdana" pitchFamily="34" charset="-122"/>
                <a:cs typeface="Verdana" pitchFamily="34" charset="-120"/>
              </a:rPr>
              <a:t>Déposer sa pièce</a:t>
            </a:r>
            <a:endParaRPr lang="en-US" sz="1650" dirty="0"/>
          </a:p>
        </p:txBody>
      </p:sp>
      <p:sp>
        <p:nvSpPr>
          <p:cNvPr id="22" name="Text 17"/>
          <p:cNvSpPr txBox="1"/>
          <p:nvPr/>
        </p:nvSpPr>
        <p:spPr>
          <a:xfrm>
            <a:off x="8339328" y="3127248"/>
            <a:ext cx="3163824" cy="82296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Photo ou PDF (8 Mo max), remplaçable. Consentement affiché : transmise au patron à seule fin de sécurité en mer.</a:t>
            </a:r>
            <a:endParaRPr lang="en-US" sz="1400" dirty="0"/>
          </a:p>
        </p:txBody>
      </p:sp>
      <p:sp>
        <p:nvSpPr>
          <p:cNvPr id="23" name="Shape 18"/>
          <p:cNvSpPr/>
          <p:nvPr/>
        </p:nvSpPr>
        <p:spPr>
          <a:xfrm>
            <a:off x="4142232" y="2926080"/>
            <a:ext cx="173736" cy="914"/>
          </a:xfrm>
          <a:prstGeom prst="line">
            <a:avLst/>
          </a:prstGeom>
          <a:noFill/>
          <a:ln w="28575">
            <a:solidFill>
              <a:srgbClr val="1F5BD6"/>
            </a:solidFill>
            <a:prstDash val="solid"/>
            <a:tailEnd type="triangle"/>
          </a:ln>
        </p:spPr>
        <p:txBody>
          <a:bodyPr/>
          <a:lstStyle/>
          <a:p>
            <a:endParaRPr lang="fr-FR"/>
          </a:p>
        </p:txBody>
      </p:sp>
      <p:sp>
        <p:nvSpPr>
          <p:cNvPr id="24" name="Shape 19"/>
          <p:cNvSpPr/>
          <p:nvPr/>
        </p:nvSpPr>
        <p:spPr>
          <a:xfrm>
            <a:off x="7936992" y="2926080"/>
            <a:ext cx="173736" cy="914"/>
          </a:xfrm>
          <a:prstGeom prst="line">
            <a:avLst/>
          </a:prstGeom>
          <a:noFill/>
          <a:ln w="28575">
            <a:solidFill>
              <a:srgbClr val="1F5BD6"/>
            </a:solidFill>
            <a:prstDash val="solid"/>
            <a:tailEnd type="triangle"/>
          </a:ln>
        </p:spPr>
        <p:txBody>
          <a:bodyPr/>
          <a:lstStyle/>
          <a:p>
            <a:endParaRPr lang="fr-FR"/>
          </a:p>
        </p:txBody>
      </p:sp>
      <p:sp>
        <p:nvSpPr>
          <p:cNvPr id="25" name="Shape 20"/>
          <p:cNvSpPr/>
          <p:nvPr/>
        </p:nvSpPr>
        <p:spPr>
          <a:xfrm>
            <a:off x="548640" y="4343400"/>
            <a:ext cx="11094415" cy="2057400"/>
          </a:xfrm>
          <a:prstGeom prst="roundRect">
            <a:avLst>
              <a:gd name="adj" fmla="val 8889"/>
            </a:avLst>
          </a:prstGeom>
          <a:solidFill>
            <a:srgbClr val="EEF4FD"/>
          </a:solidFill>
          <a:ln w="12700">
            <a:solidFill>
              <a:srgbClr val="EEF4FD"/>
            </a:solidFill>
            <a:prstDash val="solid"/>
          </a:ln>
        </p:spPr>
        <p:txBody>
          <a:bodyPr/>
          <a:lstStyle/>
          <a:p>
            <a:endParaRPr lang="fr-FR"/>
          </a:p>
        </p:txBody>
      </p:sp>
      <p:sp>
        <p:nvSpPr>
          <p:cNvPr id="26" name="Text 21"/>
          <p:cNvSpPr txBox="1"/>
          <p:nvPr/>
        </p:nvSpPr>
        <p:spPr>
          <a:xfrm>
            <a:off x="822960" y="4498848"/>
            <a:ext cx="10058400" cy="347472"/>
          </a:xfrm>
          <a:prstGeom prst="rect">
            <a:avLst/>
          </a:prstGeom>
          <a:noFill/>
          <a:ln/>
        </p:spPr>
        <p:txBody>
          <a:bodyPr wrap="square" lIns="0" tIns="0" rIns="0" bIns="0" rtlCol="0" anchor="t"/>
          <a:lstStyle/>
          <a:p>
            <a:pPr marL="0" indent="0">
              <a:buNone/>
            </a:pPr>
            <a:r>
              <a:rPr lang="en-US" sz="1750" b="1" dirty="0">
                <a:solidFill>
                  <a:srgbClr val="0012B5"/>
                </a:solidFill>
                <a:latin typeface="Verdana" pitchFamily="34" charset="0"/>
                <a:ea typeface="Verdana" pitchFamily="34" charset="-122"/>
                <a:cs typeface="Verdana" pitchFamily="34" charset="-120"/>
              </a:rPr>
              <a:t>La pièce est contrôlée trois fois avant tout paiement</a:t>
            </a:r>
            <a:endParaRPr lang="en-US" sz="1750" dirty="0"/>
          </a:p>
        </p:txBody>
      </p:sp>
      <p:sp>
        <p:nvSpPr>
          <p:cNvPr id="27" name="Shape 22"/>
          <p:cNvSpPr/>
          <p:nvPr/>
        </p:nvSpPr>
        <p:spPr>
          <a:xfrm>
            <a:off x="822960" y="5029200"/>
            <a:ext cx="457200" cy="457200"/>
          </a:xfrm>
          <a:prstGeom prst="ellipse">
            <a:avLst/>
          </a:prstGeom>
          <a:solidFill>
            <a:srgbClr val="1F5BD6"/>
          </a:solidFill>
          <a:ln w="12700">
            <a:solidFill>
              <a:srgbClr val="1F5BD6"/>
            </a:solidFill>
            <a:prstDash val="solid"/>
          </a:ln>
        </p:spPr>
        <p:txBody>
          <a:bodyPr/>
          <a:lstStyle/>
          <a:p>
            <a:endParaRPr lang="fr-FR"/>
          </a:p>
        </p:txBody>
      </p:sp>
      <p:sp>
        <p:nvSpPr>
          <p:cNvPr id="28" name="Text 23"/>
          <p:cNvSpPr txBox="1"/>
          <p:nvPr/>
        </p:nvSpPr>
        <p:spPr>
          <a:xfrm>
            <a:off x="822960" y="50292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1</a:t>
            </a:r>
            <a:endParaRPr lang="en-US" sz="1400" dirty="0"/>
          </a:p>
        </p:txBody>
      </p:sp>
      <p:sp>
        <p:nvSpPr>
          <p:cNvPr id="29" name="Text 24"/>
          <p:cNvSpPr txBox="1"/>
          <p:nvPr/>
        </p:nvSpPr>
        <p:spPr>
          <a:xfrm>
            <a:off x="1463040" y="5047488"/>
            <a:ext cx="2788920" cy="310896"/>
          </a:xfrm>
          <a:prstGeom prst="rect">
            <a:avLst/>
          </a:prstGeom>
          <a:noFill/>
          <a:ln/>
        </p:spPr>
        <p:txBody>
          <a:bodyPr wrap="square" lIns="0" tIns="0" rIns="0" bIns="0" rtlCol="0" anchor="ctr"/>
          <a:lstStyle/>
          <a:p>
            <a:pPr marL="0" indent="0">
              <a:buNone/>
            </a:pPr>
            <a:r>
              <a:rPr lang="en-US" sz="1500" b="1" dirty="0">
                <a:solidFill>
                  <a:srgbClr val="0012B5"/>
                </a:solidFill>
                <a:latin typeface="Verdana" pitchFamily="34" charset="0"/>
                <a:ea typeface="Verdana" pitchFamily="34" charset="-122"/>
                <a:cs typeface="Verdana" pitchFamily="34" charset="-120"/>
              </a:rPr>
              <a:t>Au formulaire</a:t>
            </a:r>
            <a:endParaRPr lang="en-US" sz="1500" dirty="0"/>
          </a:p>
        </p:txBody>
      </p:sp>
      <p:sp>
        <p:nvSpPr>
          <p:cNvPr id="30" name="Text 25"/>
          <p:cNvSpPr txBox="1"/>
          <p:nvPr/>
        </p:nvSpPr>
        <p:spPr>
          <a:xfrm>
            <a:off x="1463040" y="5413248"/>
            <a:ext cx="2788920" cy="82296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Sans compte : « Connexion requise ». Sans pièce : « Pièce d’identité requise ».</a:t>
            </a:r>
            <a:endParaRPr lang="en-US" sz="1400" dirty="0"/>
          </a:p>
        </p:txBody>
      </p:sp>
      <p:sp>
        <p:nvSpPr>
          <p:cNvPr id="31" name="Shape 26"/>
          <p:cNvSpPr/>
          <p:nvPr/>
        </p:nvSpPr>
        <p:spPr>
          <a:xfrm>
            <a:off x="4434840" y="5029200"/>
            <a:ext cx="457200" cy="457200"/>
          </a:xfrm>
          <a:prstGeom prst="ellipse">
            <a:avLst/>
          </a:prstGeom>
          <a:solidFill>
            <a:srgbClr val="1F5BD6"/>
          </a:solidFill>
          <a:ln w="12700">
            <a:solidFill>
              <a:srgbClr val="1F5BD6"/>
            </a:solidFill>
            <a:prstDash val="solid"/>
          </a:ln>
        </p:spPr>
        <p:txBody>
          <a:bodyPr/>
          <a:lstStyle/>
          <a:p>
            <a:endParaRPr lang="fr-FR"/>
          </a:p>
        </p:txBody>
      </p:sp>
      <p:sp>
        <p:nvSpPr>
          <p:cNvPr id="32" name="Text 27"/>
          <p:cNvSpPr txBox="1"/>
          <p:nvPr/>
        </p:nvSpPr>
        <p:spPr>
          <a:xfrm>
            <a:off x="4434840" y="50292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2</a:t>
            </a:r>
            <a:endParaRPr lang="en-US" sz="1400" dirty="0"/>
          </a:p>
        </p:txBody>
      </p:sp>
      <p:sp>
        <p:nvSpPr>
          <p:cNvPr id="33" name="Text 28"/>
          <p:cNvSpPr txBox="1"/>
          <p:nvPr/>
        </p:nvSpPr>
        <p:spPr>
          <a:xfrm>
            <a:off x="5074920" y="5047488"/>
            <a:ext cx="2788920" cy="310896"/>
          </a:xfrm>
          <a:prstGeom prst="rect">
            <a:avLst/>
          </a:prstGeom>
          <a:noFill/>
          <a:ln/>
        </p:spPr>
        <p:txBody>
          <a:bodyPr wrap="square" lIns="0" tIns="0" rIns="0" bIns="0" rtlCol="0" anchor="ctr"/>
          <a:lstStyle/>
          <a:p>
            <a:pPr marL="0" indent="0">
              <a:buNone/>
            </a:pPr>
            <a:r>
              <a:rPr lang="en-US" sz="1500" b="1" dirty="0">
                <a:solidFill>
                  <a:srgbClr val="0012B5"/>
                </a:solidFill>
                <a:latin typeface="Verdana" pitchFamily="34" charset="0"/>
                <a:ea typeface="Verdana" pitchFamily="34" charset="-122"/>
                <a:cs typeface="Verdana" pitchFamily="34" charset="-120"/>
              </a:rPr>
              <a:t>À l’envoi</a:t>
            </a:r>
            <a:endParaRPr lang="en-US" sz="1500" dirty="0"/>
          </a:p>
        </p:txBody>
      </p:sp>
      <p:sp>
        <p:nvSpPr>
          <p:cNvPr id="34" name="Text 29"/>
          <p:cNvSpPr txBox="1"/>
          <p:nvPr/>
        </p:nvSpPr>
        <p:spPr>
          <a:xfrm>
            <a:off x="5074920" y="5413248"/>
            <a:ext cx="2788920" cy="82296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Même contrôle au clic « Réserver et payer ».</a:t>
            </a:r>
            <a:endParaRPr lang="en-US" sz="1400" dirty="0"/>
          </a:p>
        </p:txBody>
      </p:sp>
      <p:sp>
        <p:nvSpPr>
          <p:cNvPr id="35" name="Shape 30"/>
          <p:cNvSpPr/>
          <p:nvPr/>
        </p:nvSpPr>
        <p:spPr>
          <a:xfrm>
            <a:off x="8046720" y="5029200"/>
            <a:ext cx="457200" cy="457200"/>
          </a:xfrm>
          <a:prstGeom prst="ellipse">
            <a:avLst/>
          </a:prstGeom>
          <a:solidFill>
            <a:srgbClr val="1F5BD6"/>
          </a:solidFill>
          <a:ln w="12700">
            <a:solidFill>
              <a:srgbClr val="1F5BD6"/>
            </a:solidFill>
            <a:prstDash val="solid"/>
          </a:ln>
        </p:spPr>
        <p:txBody>
          <a:bodyPr/>
          <a:lstStyle/>
          <a:p>
            <a:endParaRPr lang="fr-FR"/>
          </a:p>
        </p:txBody>
      </p:sp>
      <p:sp>
        <p:nvSpPr>
          <p:cNvPr id="36" name="Text 31"/>
          <p:cNvSpPr txBox="1"/>
          <p:nvPr/>
        </p:nvSpPr>
        <p:spPr>
          <a:xfrm>
            <a:off x="8046720" y="50292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3</a:t>
            </a:r>
            <a:endParaRPr lang="en-US" sz="1400" dirty="0"/>
          </a:p>
        </p:txBody>
      </p:sp>
      <p:sp>
        <p:nvSpPr>
          <p:cNvPr id="37" name="Text 32"/>
          <p:cNvSpPr txBox="1"/>
          <p:nvPr/>
        </p:nvSpPr>
        <p:spPr>
          <a:xfrm>
            <a:off x="8686800" y="5047488"/>
            <a:ext cx="2788920" cy="310896"/>
          </a:xfrm>
          <a:prstGeom prst="rect">
            <a:avLst/>
          </a:prstGeom>
          <a:noFill/>
          <a:ln/>
        </p:spPr>
        <p:txBody>
          <a:bodyPr wrap="square" lIns="0" tIns="0" rIns="0" bIns="0" rtlCol="0" anchor="ctr"/>
          <a:lstStyle/>
          <a:p>
            <a:pPr marL="0" indent="0">
              <a:buNone/>
            </a:pPr>
            <a:r>
              <a:rPr lang="en-US" sz="1500" b="1" dirty="0">
                <a:solidFill>
                  <a:srgbClr val="0012B5"/>
                </a:solidFill>
                <a:latin typeface="Verdana" pitchFamily="34" charset="0"/>
                <a:ea typeface="Verdana" pitchFamily="34" charset="-122"/>
                <a:cs typeface="Verdana" pitchFamily="34" charset="-120"/>
              </a:rPr>
              <a:t>Par le serveur</a:t>
            </a:r>
            <a:endParaRPr lang="en-US" sz="1500" dirty="0"/>
          </a:p>
        </p:txBody>
      </p:sp>
      <p:sp>
        <p:nvSpPr>
          <p:cNvPr id="38" name="Text 33"/>
          <p:cNvSpPr txBox="1"/>
          <p:nvPr/>
        </p:nvSpPr>
        <p:spPr>
          <a:xfrm>
            <a:off x="8686800" y="5413248"/>
            <a:ext cx="2788920" cy="82296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Même si l’écran était contourné, le serveur refuse.</a:t>
            </a:r>
            <a:endParaRPr lang="en-US" sz="1400" dirty="0"/>
          </a:p>
        </p:txBody>
      </p:sp>
      <p:sp>
        <p:nvSpPr>
          <p:cNvPr id="39" name="Text 34"/>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6</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LE TOURISTE · RECHERCHE</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Trouver sa sortie</a:t>
            </a:r>
            <a:endParaRPr lang="en-US" sz="2500" dirty="0"/>
          </a:p>
        </p:txBody>
      </p:sp>
      <p:sp>
        <p:nvSpPr>
          <p:cNvPr id="4" name="Shape 2"/>
          <p:cNvSpPr/>
          <p:nvPr/>
        </p:nvSpPr>
        <p:spPr>
          <a:xfrm>
            <a:off x="916834" y="1307592"/>
            <a:ext cx="5572972" cy="4197096"/>
          </a:xfrm>
          <a:prstGeom prst="roundRect">
            <a:avLst>
              <a:gd name="adj" fmla="val 2614"/>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pesca_cal.jpg"/>
          <p:cNvPicPr>
            <a:picLocks noChangeAspect="1"/>
          </p:cNvPicPr>
          <p:nvPr/>
        </p:nvPicPr>
        <p:blipFill>
          <a:blip r:embed="rId3"/>
          <a:stretch>
            <a:fillRect/>
          </a:stretch>
        </p:blipFill>
        <p:spPr>
          <a:xfrm>
            <a:off x="980842" y="1371600"/>
            <a:ext cx="5444956" cy="4069080"/>
          </a:xfrm>
          <a:prstGeom prst="rect">
            <a:avLst/>
          </a:prstGeom>
        </p:spPr>
      </p:pic>
      <p:sp>
        <p:nvSpPr>
          <p:cNvPr id="6" name="Text 3"/>
          <p:cNvSpPr txBox="1"/>
          <p:nvPr/>
        </p:nvSpPr>
        <p:spPr>
          <a:xfrm>
            <a:off x="548640" y="5715000"/>
            <a:ext cx="6309360" cy="731520"/>
          </a:xfrm>
          <a:prstGeom prst="rect">
            <a:avLst/>
          </a:prstGeom>
          <a:noFill/>
          <a:ln/>
        </p:spPr>
        <p:txBody>
          <a:bodyPr wrap="square" lIns="0" tIns="0" rIns="0" bIns="0" rtlCol="0" anchor="t"/>
          <a:lstStyle/>
          <a:p>
            <a:pPr marL="0" indent="0">
              <a:buNone/>
            </a:pPr>
            <a:r>
              <a:rPr lang="en-US" sz="1400" b="1" dirty="0">
                <a:solidFill>
                  <a:srgbClr val="0012B5"/>
                </a:solidFill>
                <a:latin typeface="Verdana" pitchFamily="34" charset="0"/>
                <a:ea typeface="Verdana" pitchFamily="34" charset="-122"/>
                <a:cs typeface="Verdana" pitchFamily="34" charset="-120"/>
              </a:rPr>
              <a:t>Places partagées : </a:t>
            </a:r>
            <a:r>
              <a:rPr lang="en-US" sz="1400" dirty="0">
                <a:solidFill>
                  <a:srgbClr val="3A4658"/>
                </a:solidFill>
                <a:latin typeface="Verdana" pitchFamily="34" charset="0"/>
                <a:ea typeface="Verdana" pitchFamily="34" charset="-122"/>
                <a:cs typeface="Verdana" pitchFamily="34" charset="-120"/>
              </a:rPr>
              <a:t>plusieurs groupes partagent une sortie tant qu’il reste de la place ; une demande en attente bloque ses places. Prix et capacité viennent de la base, jamais du navigateur.</a:t>
            </a:r>
            <a:endParaRPr lang="en-US" sz="1400" dirty="0"/>
          </a:p>
        </p:txBody>
      </p:sp>
      <p:sp>
        <p:nvSpPr>
          <p:cNvPr id="7" name="Shape 4"/>
          <p:cNvSpPr/>
          <p:nvPr/>
        </p:nvSpPr>
        <p:spPr>
          <a:xfrm>
            <a:off x="7269480" y="1371600"/>
            <a:ext cx="457200" cy="457200"/>
          </a:xfrm>
          <a:prstGeom prst="ellipse">
            <a:avLst/>
          </a:prstGeom>
          <a:solidFill>
            <a:srgbClr val="1F5BD6"/>
          </a:solidFill>
          <a:ln w="12700">
            <a:solidFill>
              <a:srgbClr val="1F5BD6"/>
            </a:solidFill>
            <a:prstDash val="solid"/>
          </a:ln>
        </p:spPr>
        <p:txBody>
          <a:bodyPr/>
          <a:lstStyle/>
          <a:p>
            <a:endParaRPr lang="fr-FR"/>
          </a:p>
        </p:txBody>
      </p:sp>
      <p:sp>
        <p:nvSpPr>
          <p:cNvPr id="8" name="Text 5"/>
          <p:cNvSpPr txBox="1"/>
          <p:nvPr/>
        </p:nvSpPr>
        <p:spPr>
          <a:xfrm>
            <a:off x="7269480" y="13716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1</a:t>
            </a:r>
            <a:endParaRPr lang="en-US" sz="1400" dirty="0"/>
          </a:p>
        </p:txBody>
      </p:sp>
      <p:sp>
        <p:nvSpPr>
          <p:cNvPr id="9" name="Text 6"/>
          <p:cNvSpPr txBox="1"/>
          <p:nvPr/>
        </p:nvSpPr>
        <p:spPr>
          <a:xfrm>
            <a:off x="7909560" y="1389888"/>
            <a:ext cx="374904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Vous êtes combien ?</a:t>
            </a:r>
            <a:endParaRPr lang="en-US" sz="1700" dirty="0"/>
          </a:p>
        </p:txBody>
      </p:sp>
      <p:sp>
        <p:nvSpPr>
          <p:cNvPr id="10" name="Text 7"/>
          <p:cNvSpPr txBox="1"/>
          <p:nvPr/>
        </p:nvSpPr>
        <p:spPr>
          <a:xfrm>
            <a:off x="7909560" y="1755648"/>
            <a:ext cx="3749040" cy="566928"/>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De 1 à 8 personnes, filtres pêche et port.</a:t>
            </a:r>
            <a:endParaRPr lang="en-US" sz="1400" dirty="0"/>
          </a:p>
        </p:txBody>
      </p:sp>
      <p:sp>
        <p:nvSpPr>
          <p:cNvPr id="11" name="Shape 8"/>
          <p:cNvSpPr/>
          <p:nvPr/>
        </p:nvSpPr>
        <p:spPr>
          <a:xfrm>
            <a:off x="7269480" y="2331720"/>
            <a:ext cx="457200" cy="457200"/>
          </a:xfrm>
          <a:prstGeom prst="ellipse">
            <a:avLst/>
          </a:prstGeom>
          <a:solidFill>
            <a:srgbClr val="1F5BD6"/>
          </a:solidFill>
          <a:ln w="12700">
            <a:solidFill>
              <a:srgbClr val="1F5BD6"/>
            </a:solidFill>
            <a:prstDash val="solid"/>
          </a:ln>
        </p:spPr>
        <p:txBody>
          <a:bodyPr/>
          <a:lstStyle/>
          <a:p>
            <a:endParaRPr lang="fr-FR"/>
          </a:p>
        </p:txBody>
      </p:sp>
      <p:sp>
        <p:nvSpPr>
          <p:cNvPr id="12" name="Text 9"/>
          <p:cNvSpPr txBox="1"/>
          <p:nvPr/>
        </p:nvSpPr>
        <p:spPr>
          <a:xfrm>
            <a:off x="7269480" y="23317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2</a:t>
            </a:r>
            <a:endParaRPr lang="en-US" sz="1400" dirty="0"/>
          </a:p>
        </p:txBody>
      </p:sp>
      <p:sp>
        <p:nvSpPr>
          <p:cNvPr id="13" name="Text 10"/>
          <p:cNvSpPr txBox="1"/>
          <p:nvPr/>
        </p:nvSpPr>
        <p:spPr>
          <a:xfrm>
            <a:off x="7909560" y="2350008"/>
            <a:ext cx="374904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Choisissez une date</a:t>
            </a:r>
            <a:endParaRPr lang="en-US" sz="1700" dirty="0"/>
          </a:p>
        </p:txBody>
      </p:sp>
      <p:sp>
        <p:nvSpPr>
          <p:cNvPr id="14" name="Text 11"/>
          <p:cNvSpPr txBox="1"/>
          <p:nvPr/>
        </p:nvSpPr>
        <p:spPr>
          <a:xfrm>
            <a:off x="7909560" y="2715768"/>
            <a:ext cx="3749040" cy="566928"/>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Seuls les jours où il reste assez de places.</a:t>
            </a:r>
            <a:endParaRPr lang="en-US" sz="1400" dirty="0"/>
          </a:p>
        </p:txBody>
      </p:sp>
      <p:sp>
        <p:nvSpPr>
          <p:cNvPr id="15" name="Shape 12"/>
          <p:cNvSpPr/>
          <p:nvPr/>
        </p:nvSpPr>
        <p:spPr>
          <a:xfrm>
            <a:off x="7269480" y="3291840"/>
            <a:ext cx="457200" cy="457200"/>
          </a:xfrm>
          <a:prstGeom prst="ellipse">
            <a:avLst/>
          </a:prstGeom>
          <a:solidFill>
            <a:srgbClr val="1F5BD6"/>
          </a:solidFill>
          <a:ln w="12700">
            <a:solidFill>
              <a:srgbClr val="1F5BD6"/>
            </a:solidFill>
            <a:prstDash val="solid"/>
          </a:ln>
        </p:spPr>
        <p:txBody>
          <a:bodyPr/>
          <a:lstStyle/>
          <a:p>
            <a:endParaRPr lang="fr-FR"/>
          </a:p>
        </p:txBody>
      </p:sp>
      <p:sp>
        <p:nvSpPr>
          <p:cNvPr id="16" name="Text 13"/>
          <p:cNvSpPr txBox="1"/>
          <p:nvPr/>
        </p:nvSpPr>
        <p:spPr>
          <a:xfrm>
            <a:off x="7269480" y="32918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3</a:t>
            </a:r>
            <a:endParaRPr lang="en-US" sz="1400" dirty="0"/>
          </a:p>
        </p:txBody>
      </p:sp>
      <p:sp>
        <p:nvSpPr>
          <p:cNvPr id="17" name="Text 14"/>
          <p:cNvSpPr txBox="1"/>
          <p:nvPr/>
        </p:nvSpPr>
        <p:spPr>
          <a:xfrm>
            <a:off x="7909560" y="3310128"/>
            <a:ext cx="374904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Choisissez votre pêcheur</a:t>
            </a:r>
            <a:endParaRPr lang="en-US" sz="1700" dirty="0"/>
          </a:p>
        </p:txBody>
      </p:sp>
      <p:sp>
        <p:nvSpPr>
          <p:cNvPr id="18" name="Text 15"/>
          <p:cNvSpPr txBox="1"/>
          <p:nvPr/>
        </p:nvSpPr>
        <p:spPr>
          <a:xfrm>
            <a:off x="7909560" y="3675888"/>
            <a:ext cx="3749040" cy="566928"/>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Photo, patron, techniques, note, prix.</a:t>
            </a:r>
            <a:endParaRPr lang="en-US" sz="1400" dirty="0"/>
          </a:p>
        </p:txBody>
      </p:sp>
      <p:sp>
        <p:nvSpPr>
          <p:cNvPr id="19" name="Shape 16"/>
          <p:cNvSpPr/>
          <p:nvPr/>
        </p:nvSpPr>
        <p:spPr>
          <a:xfrm>
            <a:off x="7893907" y="4279392"/>
            <a:ext cx="3140265" cy="2066544"/>
          </a:xfrm>
          <a:prstGeom prst="roundRect">
            <a:avLst>
              <a:gd name="adj" fmla="val 5310"/>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20" name="Image 1" descr="/home/claude/deck/img/pesca_results.jpg"/>
          <p:cNvPicPr>
            <a:picLocks noChangeAspect="1"/>
          </p:cNvPicPr>
          <p:nvPr/>
        </p:nvPicPr>
        <p:blipFill>
          <a:blip r:embed="rId4"/>
          <a:stretch>
            <a:fillRect/>
          </a:stretch>
        </p:blipFill>
        <p:spPr>
          <a:xfrm>
            <a:off x="7957915" y="4343400"/>
            <a:ext cx="3012249" cy="1938528"/>
          </a:xfrm>
          <a:prstGeom prst="rect">
            <a:avLst/>
          </a:prstGeom>
        </p:spPr>
      </p:pic>
      <p:sp>
        <p:nvSpPr>
          <p:cNvPr id="21" name="Text 17"/>
          <p:cNvSpPr txBox="1"/>
          <p:nvPr/>
        </p:nvSpPr>
        <p:spPr>
          <a:xfrm>
            <a:off x="7269480" y="6355080"/>
            <a:ext cx="4389120" cy="228600"/>
          </a:xfrm>
          <a:prstGeom prst="rect">
            <a:avLst/>
          </a:prstGeom>
          <a:noFill/>
          <a:ln/>
        </p:spPr>
        <p:txBody>
          <a:bodyPr wrap="square" lIns="0" tIns="0" rIns="0" bIns="0" rtlCol="0" anchor="t"/>
          <a:lstStyle/>
          <a:p>
            <a:pPr marL="0" indent="0" algn="ctr">
              <a:buNone/>
            </a:pPr>
            <a:r>
              <a:rPr lang="en-US" sz="1200" i="1" dirty="0">
                <a:solidFill>
                  <a:srgbClr val="66728A"/>
                </a:solidFill>
                <a:latin typeface="Verdana" pitchFamily="34" charset="0"/>
                <a:ea typeface="Verdana" pitchFamily="34" charset="-122"/>
                <a:cs typeface="Verdana" pitchFamily="34" charset="-120"/>
              </a:rPr>
              <a:t>Navires réellement en ligne aujourd’hui</a:t>
            </a:r>
            <a:endParaRPr lang="en-US" sz="1200" dirty="0"/>
          </a:p>
        </p:txBody>
      </p:sp>
      <p:sp>
        <p:nvSpPr>
          <p:cNvPr id="22" name="Text 18"/>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7</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LE TOURISTE · RÉSERVATION</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100" b="1" dirty="0">
                <a:solidFill>
                  <a:srgbClr val="0012B5"/>
                </a:solidFill>
                <a:latin typeface="Verdana" pitchFamily="34" charset="0"/>
                <a:ea typeface="Verdana" pitchFamily="34" charset="-122"/>
                <a:cs typeface="Verdana" pitchFamily="34" charset="-120"/>
              </a:rPr>
              <a:t>Réserver et payer : la carte est bloquée, pas débitée</a:t>
            </a:r>
            <a:endParaRPr lang="en-US" sz="2100" dirty="0"/>
          </a:p>
        </p:txBody>
      </p:sp>
      <p:sp>
        <p:nvSpPr>
          <p:cNvPr id="4" name="Shape 2"/>
          <p:cNvSpPr/>
          <p:nvPr/>
        </p:nvSpPr>
        <p:spPr>
          <a:xfrm>
            <a:off x="548640" y="1417320"/>
            <a:ext cx="2679192" cy="288036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5" name="Shape 3"/>
          <p:cNvSpPr/>
          <p:nvPr/>
        </p:nvSpPr>
        <p:spPr>
          <a:xfrm>
            <a:off x="749808" y="1618488"/>
            <a:ext cx="512064" cy="512064"/>
          </a:xfrm>
          <a:prstGeom prst="ellipse">
            <a:avLst/>
          </a:prstGeom>
          <a:solidFill>
            <a:srgbClr val="0012B5"/>
          </a:solidFill>
          <a:ln w="12700">
            <a:solidFill>
              <a:srgbClr val="0012B5"/>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877824" y="1746504"/>
            <a:ext cx="256032" cy="256032"/>
          </a:xfrm>
          <a:prstGeom prst="rect">
            <a:avLst/>
          </a:prstGeom>
        </p:spPr>
      </p:pic>
      <p:sp>
        <p:nvSpPr>
          <p:cNvPr id="7" name="Text 4"/>
          <p:cNvSpPr txBox="1"/>
          <p:nvPr/>
        </p:nvSpPr>
        <p:spPr>
          <a:xfrm>
            <a:off x="2587752" y="161848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1</a:t>
            </a:r>
            <a:endParaRPr lang="en-US" sz="1800" dirty="0"/>
          </a:p>
        </p:txBody>
      </p:sp>
      <p:sp>
        <p:nvSpPr>
          <p:cNvPr id="8" name="Text 5"/>
          <p:cNvSpPr txBox="1"/>
          <p:nvPr/>
        </p:nvSpPr>
        <p:spPr>
          <a:xfrm>
            <a:off x="749808" y="2258568"/>
            <a:ext cx="2276856" cy="457200"/>
          </a:xfrm>
          <a:prstGeom prst="rect">
            <a:avLst/>
          </a:prstGeom>
          <a:noFill/>
          <a:ln/>
        </p:spPr>
        <p:txBody>
          <a:bodyPr wrap="square" lIns="0" tIns="0" rIns="0" bIns="0" rtlCol="0" anchor="t"/>
          <a:lstStyle/>
          <a:p>
            <a:pPr marL="0" indent="0">
              <a:buNone/>
            </a:pPr>
            <a:r>
              <a:rPr lang="en-US" sz="1650" b="1" dirty="0">
                <a:solidFill>
                  <a:srgbClr val="0012B5"/>
                </a:solidFill>
                <a:latin typeface="Verdana" pitchFamily="34" charset="0"/>
                <a:ea typeface="Verdana" pitchFamily="34" charset="-122"/>
                <a:cs typeface="Verdana" pitchFamily="34" charset="-120"/>
              </a:rPr>
              <a:t>Le formulaire</a:t>
            </a:r>
            <a:endParaRPr lang="en-US" sz="1650" dirty="0"/>
          </a:p>
        </p:txBody>
      </p:sp>
      <p:sp>
        <p:nvSpPr>
          <p:cNvPr id="9" name="Text 6"/>
          <p:cNvSpPr txBox="1"/>
          <p:nvPr/>
        </p:nvSpPr>
        <p:spPr>
          <a:xfrm>
            <a:off x="749808" y="2761488"/>
            <a:ext cx="2276856" cy="141732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Coordonnées pré-remplies, date, nombre de personnes, message au patron. « Êtes-vous flexible sur la date ? » : montré au patron.</a:t>
            </a:r>
            <a:endParaRPr lang="en-US" sz="1400" dirty="0"/>
          </a:p>
        </p:txBody>
      </p:sp>
      <p:sp>
        <p:nvSpPr>
          <p:cNvPr id="10" name="Shape 7"/>
          <p:cNvSpPr/>
          <p:nvPr/>
        </p:nvSpPr>
        <p:spPr>
          <a:xfrm>
            <a:off x="3383280" y="1417320"/>
            <a:ext cx="2679192" cy="288036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1" name="Shape 8"/>
          <p:cNvSpPr/>
          <p:nvPr/>
        </p:nvSpPr>
        <p:spPr>
          <a:xfrm>
            <a:off x="3584448" y="1618488"/>
            <a:ext cx="512064" cy="512064"/>
          </a:xfrm>
          <a:prstGeom prst="ellipse">
            <a:avLst/>
          </a:prstGeom>
          <a:solidFill>
            <a:srgbClr val="1F5BD6"/>
          </a:solidFill>
          <a:ln w="12700">
            <a:solidFill>
              <a:srgbClr val="1F5BD6"/>
            </a:solidFill>
            <a:prstDash val="solid"/>
          </a:ln>
        </p:spPr>
        <p:txBody>
          <a:bodyPr/>
          <a:lstStyle/>
          <a:p>
            <a:endParaRPr lang="fr-FR"/>
          </a:p>
        </p:txBody>
      </p:sp>
      <p:pic>
        <p:nvPicPr>
          <p:cNvPr id="12" name="Image 1" descr="preencoded.png"/>
          <p:cNvPicPr>
            <a:picLocks noChangeAspect="1"/>
          </p:cNvPicPr>
          <p:nvPr/>
        </p:nvPicPr>
        <p:blipFill>
          <a:blip r:embed="rId4"/>
          <a:stretch>
            <a:fillRect/>
          </a:stretch>
        </p:blipFill>
        <p:spPr>
          <a:xfrm>
            <a:off x="3712464" y="1746504"/>
            <a:ext cx="256032" cy="256032"/>
          </a:xfrm>
          <a:prstGeom prst="rect">
            <a:avLst/>
          </a:prstGeom>
        </p:spPr>
      </p:pic>
      <p:sp>
        <p:nvSpPr>
          <p:cNvPr id="13" name="Text 9"/>
          <p:cNvSpPr txBox="1"/>
          <p:nvPr/>
        </p:nvSpPr>
        <p:spPr>
          <a:xfrm>
            <a:off x="5422392" y="161848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2</a:t>
            </a:r>
            <a:endParaRPr lang="en-US" sz="1800" dirty="0"/>
          </a:p>
        </p:txBody>
      </p:sp>
      <p:sp>
        <p:nvSpPr>
          <p:cNvPr id="14" name="Text 10"/>
          <p:cNvSpPr txBox="1"/>
          <p:nvPr/>
        </p:nvSpPr>
        <p:spPr>
          <a:xfrm>
            <a:off x="3584448" y="2258568"/>
            <a:ext cx="2276856" cy="457200"/>
          </a:xfrm>
          <a:prstGeom prst="rect">
            <a:avLst/>
          </a:prstGeom>
          <a:noFill/>
          <a:ln/>
        </p:spPr>
        <p:txBody>
          <a:bodyPr wrap="square" lIns="0" tIns="0" rIns="0" bIns="0" rtlCol="0" anchor="t"/>
          <a:lstStyle/>
          <a:p>
            <a:pPr marL="0" indent="0">
              <a:buNone/>
            </a:pPr>
            <a:r>
              <a:rPr lang="en-US" sz="1650" b="1" dirty="0">
                <a:solidFill>
                  <a:srgbClr val="0012B5"/>
                </a:solidFill>
                <a:latin typeface="Verdana" pitchFamily="34" charset="0"/>
                <a:ea typeface="Verdana" pitchFamily="34" charset="-122"/>
                <a:cs typeface="Verdana" pitchFamily="34" charset="-120"/>
              </a:rPr>
              <a:t>Le paiement</a:t>
            </a:r>
            <a:endParaRPr lang="en-US" sz="1650" dirty="0"/>
          </a:p>
        </p:txBody>
      </p:sp>
      <p:sp>
        <p:nvSpPr>
          <p:cNvPr id="15" name="Text 11"/>
          <p:cNvSpPr txBox="1"/>
          <p:nvPr/>
        </p:nvSpPr>
        <p:spPr>
          <a:xfrm>
            <a:off x="3584448" y="2761488"/>
            <a:ext cx="2276856" cy="141732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Page sécurisée Stripe. Montant = prix par personne × nombre de personnes. Empreinte bancaire : la somme est réservée, pas prélevée.</a:t>
            </a:r>
            <a:endParaRPr lang="en-US" sz="1400" dirty="0"/>
          </a:p>
        </p:txBody>
      </p:sp>
      <p:sp>
        <p:nvSpPr>
          <p:cNvPr id="16" name="Shape 12"/>
          <p:cNvSpPr/>
          <p:nvPr/>
        </p:nvSpPr>
        <p:spPr>
          <a:xfrm>
            <a:off x="6217920" y="1417320"/>
            <a:ext cx="2679192" cy="288036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7" name="Shape 13"/>
          <p:cNvSpPr/>
          <p:nvPr/>
        </p:nvSpPr>
        <p:spPr>
          <a:xfrm>
            <a:off x="6419088" y="1618488"/>
            <a:ext cx="512064" cy="512064"/>
          </a:xfrm>
          <a:prstGeom prst="ellipse">
            <a:avLst/>
          </a:prstGeom>
          <a:solidFill>
            <a:srgbClr val="00A7B5"/>
          </a:solidFill>
          <a:ln w="12700">
            <a:solidFill>
              <a:srgbClr val="00A7B5"/>
            </a:solidFill>
            <a:prstDash val="solid"/>
          </a:ln>
        </p:spPr>
        <p:txBody>
          <a:bodyPr/>
          <a:lstStyle/>
          <a:p>
            <a:endParaRPr lang="fr-FR"/>
          </a:p>
        </p:txBody>
      </p:sp>
      <p:pic>
        <p:nvPicPr>
          <p:cNvPr id="18" name="Image 2" descr="preencoded.png"/>
          <p:cNvPicPr>
            <a:picLocks noChangeAspect="1"/>
          </p:cNvPicPr>
          <p:nvPr/>
        </p:nvPicPr>
        <p:blipFill>
          <a:blip r:embed="rId5"/>
          <a:stretch>
            <a:fillRect/>
          </a:stretch>
        </p:blipFill>
        <p:spPr>
          <a:xfrm>
            <a:off x="6547104" y="1746504"/>
            <a:ext cx="256032" cy="256032"/>
          </a:xfrm>
          <a:prstGeom prst="rect">
            <a:avLst/>
          </a:prstGeom>
        </p:spPr>
      </p:pic>
      <p:sp>
        <p:nvSpPr>
          <p:cNvPr id="19" name="Text 14"/>
          <p:cNvSpPr txBox="1"/>
          <p:nvPr/>
        </p:nvSpPr>
        <p:spPr>
          <a:xfrm>
            <a:off x="8257032" y="161848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3</a:t>
            </a:r>
            <a:endParaRPr lang="en-US" sz="1800" dirty="0"/>
          </a:p>
        </p:txBody>
      </p:sp>
      <p:sp>
        <p:nvSpPr>
          <p:cNvPr id="20" name="Text 15"/>
          <p:cNvSpPr txBox="1"/>
          <p:nvPr/>
        </p:nvSpPr>
        <p:spPr>
          <a:xfrm>
            <a:off x="6419088" y="2258568"/>
            <a:ext cx="2276856" cy="457200"/>
          </a:xfrm>
          <a:prstGeom prst="rect">
            <a:avLst/>
          </a:prstGeom>
          <a:noFill/>
          <a:ln/>
        </p:spPr>
        <p:txBody>
          <a:bodyPr wrap="square" lIns="0" tIns="0" rIns="0" bIns="0" rtlCol="0" anchor="t"/>
          <a:lstStyle/>
          <a:p>
            <a:pPr marL="0" indent="0">
              <a:buNone/>
            </a:pPr>
            <a:r>
              <a:rPr lang="en-US" sz="1650" b="1" dirty="0">
                <a:solidFill>
                  <a:srgbClr val="0012B5"/>
                </a:solidFill>
                <a:latin typeface="Verdana" pitchFamily="34" charset="0"/>
                <a:ea typeface="Verdana" pitchFamily="34" charset="-122"/>
                <a:cs typeface="Verdana" pitchFamily="34" charset="-120"/>
              </a:rPr>
              <a:t>Les messages</a:t>
            </a:r>
            <a:endParaRPr lang="en-US" sz="1650" dirty="0"/>
          </a:p>
        </p:txBody>
      </p:sp>
      <p:sp>
        <p:nvSpPr>
          <p:cNvPr id="21" name="Text 16"/>
          <p:cNvSpPr txBox="1"/>
          <p:nvPr/>
        </p:nvSpPr>
        <p:spPr>
          <a:xfrm>
            <a:off x="6419088" y="2761488"/>
            <a:ext cx="2276856" cy="141732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Client : e-mail « Votre demande de sortie en mer » (récapitulatif, 72 h, rappel de la pièce). Patron : SMS. Équipe : e-mail.</a:t>
            </a:r>
            <a:endParaRPr lang="en-US" sz="1400" dirty="0"/>
          </a:p>
        </p:txBody>
      </p:sp>
      <p:sp>
        <p:nvSpPr>
          <p:cNvPr id="22" name="Shape 17"/>
          <p:cNvSpPr/>
          <p:nvPr/>
        </p:nvSpPr>
        <p:spPr>
          <a:xfrm>
            <a:off x="9052560" y="1417320"/>
            <a:ext cx="2679192" cy="288036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3" name="Shape 18"/>
          <p:cNvSpPr/>
          <p:nvPr/>
        </p:nvSpPr>
        <p:spPr>
          <a:xfrm>
            <a:off x="9253728" y="1618488"/>
            <a:ext cx="512064" cy="512064"/>
          </a:xfrm>
          <a:prstGeom prst="ellipse">
            <a:avLst/>
          </a:prstGeom>
          <a:solidFill>
            <a:srgbClr val="0E9F6E"/>
          </a:solidFill>
          <a:ln w="12700">
            <a:solidFill>
              <a:srgbClr val="0E9F6E"/>
            </a:solidFill>
            <a:prstDash val="solid"/>
          </a:ln>
        </p:spPr>
        <p:txBody>
          <a:bodyPr/>
          <a:lstStyle/>
          <a:p>
            <a:endParaRPr lang="fr-FR"/>
          </a:p>
        </p:txBody>
      </p:sp>
      <p:pic>
        <p:nvPicPr>
          <p:cNvPr id="24" name="Image 3" descr="preencoded.png"/>
          <p:cNvPicPr>
            <a:picLocks noChangeAspect="1"/>
          </p:cNvPicPr>
          <p:nvPr/>
        </p:nvPicPr>
        <p:blipFill>
          <a:blip r:embed="rId6"/>
          <a:stretch>
            <a:fillRect/>
          </a:stretch>
        </p:blipFill>
        <p:spPr>
          <a:xfrm>
            <a:off x="9381744" y="1746504"/>
            <a:ext cx="256032" cy="256032"/>
          </a:xfrm>
          <a:prstGeom prst="rect">
            <a:avLst/>
          </a:prstGeom>
        </p:spPr>
      </p:pic>
      <p:sp>
        <p:nvSpPr>
          <p:cNvPr id="25" name="Text 19"/>
          <p:cNvSpPr txBox="1"/>
          <p:nvPr/>
        </p:nvSpPr>
        <p:spPr>
          <a:xfrm>
            <a:off x="11091672" y="161848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4</a:t>
            </a:r>
            <a:endParaRPr lang="en-US" sz="1800" dirty="0"/>
          </a:p>
        </p:txBody>
      </p:sp>
      <p:sp>
        <p:nvSpPr>
          <p:cNvPr id="26" name="Text 20"/>
          <p:cNvSpPr txBox="1"/>
          <p:nvPr/>
        </p:nvSpPr>
        <p:spPr>
          <a:xfrm>
            <a:off x="9253728" y="2258568"/>
            <a:ext cx="2276856" cy="457200"/>
          </a:xfrm>
          <a:prstGeom prst="rect">
            <a:avLst/>
          </a:prstGeom>
          <a:noFill/>
          <a:ln/>
        </p:spPr>
        <p:txBody>
          <a:bodyPr wrap="square" lIns="0" tIns="0" rIns="0" bIns="0" rtlCol="0" anchor="t"/>
          <a:lstStyle/>
          <a:p>
            <a:pPr marL="0" indent="0">
              <a:buNone/>
            </a:pPr>
            <a:r>
              <a:rPr lang="en-US" sz="1650" b="1" dirty="0">
                <a:solidFill>
                  <a:srgbClr val="0012B5"/>
                </a:solidFill>
                <a:latin typeface="Verdana" pitchFamily="34" charset="0"/>
                <a:ea typeface="Verdana" pitchFamily="34" charset="-122"/>
                <a:cs typeface="Verdana" pitchFamily="34" charset="-120"/>
              </a:rPr>
              <a:t>Accompagnants</a:t>
            </a:r>
            <a:endParaRPr lang="en-US" sz="1650" dirty="0"/>
          </a:p>
        </p:txBody>
      </p:sp>
      <p:sp>
        <p:nvSpPr>
          <p:cNvPr id="27" name="Text 21"/>
          <p:cNvSpPr txBox="1"/>
          <p:nvPr/>
        </p:nvSpPr>
        <p:spPr>
          <a:xfrm>
            <a:off x="9253728" y="2761488"/>
            <a:ext cx="2276856" cy="141732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Depuis « Mes sorties », le réservant dépose le nom et la pièce de chaque accompagnant, jusqu’à la veille. Pas besoin de compte.</a:t>
            </a:r>
            <a:endParaRPr lang="en-US" sz="1400" dirty="0"/>
          </a:p>
        </p:txBody>
      </p:sp>
      <p:sp>
        <p:nvSpPr>
          <p:cNvPr id="28" name="Shape 22"/>
          <p:cNvSpPr/>
          <p:nvPr/>
        </p:nvSpPr>
        <p:spPr>
          <a:xfrm>
            <a:off x="548640" y="4572000"/>
            <a:ext cx="11094415" cy="1828800"/>
          </a:xfrm>
          <a:prstGeom prst="roundRect">
            <a:avLst>
              <a:gd name="adj" fmla="val 10000"/>
            </a:avLst>
          </a:prstGeom>
          <a:solidFill>
            <a:srgbClr val="FFFFFF"/>
          </a:solidFill>
          <a:ln w="9525">
            <a:solidFill>
              <a:srgbClr val="E1E9F5"/>
            </a:solidFill>
            <a:prstDash val="solid"/>
          </a:ln>
        </p:spPr>
        <p:txBody>
          <a:bodyPr/>
          <a:lstStyle/>
          <a:p>
            <a:endParaRPr lang="fr-FR"/>
          </a:p>
        </p:txBody>
      </p:sp>
      <p:sp>
        <p:nvSpPr>
          <p:cNvPr id="29" name="Text 23"/>
          <p:cNvSpPr txBox="1"/>
          <p:nvPr/>
        </p:nvSpPr>
        <p:spPr>
          <a:xfrm>
            <a:off x="822960" y="4663440"/>
            <a:ext cx="2194560" cy="1005840"/>
          </a:xfrm>
          <a:prstGeom prst="rect">
            <a:avLst/>
          </a:prstGeom>
          <a:noFill/>
          <a:ln/>
        </p:spPr>
        <p:txBody>
          <a:bodyPr wrap="square" lIns="0" tIns="0" rIns="0" bIns="0" rtlCol="0" anchor="t"/>
          <a:lstStyle/>
          <a:p>
            <a:pPr marL="0" indent="0">
              <a:buNone/>
            </a:pPr>
            <a:r>
              <a:rPr lang="en-US" sz="5400" b="1" dirty="0">
                <a:solidFill>
                  <a:srgbClr val="1F5BD6"/>
                </a:solidFill>
                <a:latin typeface="Verdana" pitchFamily="34" charset="0"/>
                <a:ea typeface="Verdana" pitchFamily="34" charset="-122"/>
                <a:cs typeface="Verdana" pitchFamily="34" charset="-120"/>
              </a:rPr>
              <a:t>0 €</a:t>
            </a:r>
            <a:endParaRPr lang="en-US" sz="5400" dirty="0"/>
          </a:p>
        </p:txBody>
      </p:sp>
      <p:sp>
        <p:nvSpPr>
          <p:cNvPr id="30" name="Text 24"/>
          <p:cNvSpPr txBox="1"/>
          <p:nvPr/>
        </p:nvSpPr>
        <p:spPr>
          <a:xfrm>
            <a:off x="822960" y="5669280"/>
            <a:ext cx="2377440" cy="640080"/>
          </a:xfrm>
          <a:prstGeom prst="rect">
            <a:avLst/>
          </a:prstGeom>
          <a:noFill/>
          <a:ln/>
        </p:spPr>
        <p:txBody>
          <a:bodyPr wrap="square" lIns="0" tIns="0" rIns="0" bIns="0" rtlCol="0" anchor="t"/>
          <a:lstStyle/>
          <a:p>
            <a:pPr marL="0" indent="0">
              <a:buNone/>
            </a:pPr>
            <a:r>
              <a:rPr lang="en-US" sz="1400" b="1" dirty="0">
                <a:solidFill>
                  <a:srgbClr val="0012B5"/>
                </a:solidFill>
                <a:latin typeface="Verdana" pitchFamily="34" charset="0"/>
                <a:ea typeface="Verdana" pitchFamily="34" charset="-122"/>
                <a:cs typeface="Verdana" pitchFamily="34" charset="-120"/>
              </a:rPr>
              <a:t>débité tant que le pêcheur n’a pas dit oui</a:t>
            </a:r>
            <a:endParaRPr lang="en-US" sz="1400" dirty="0"/>
          </a:p>
        </p:txBody>
      </p:sp>
      <p:sp>
        <p:nvSpPr>
          <p:cNvPr id="31" name="Text 25"/>
          <p:cNvSpPr txBox="1"/>
          <p:nvPr/>
        </p:nvSpPr>
        <p:spPr>
          <a:xfrm>
            <a:off x="3474720" y="4754880"/>
            <a:ext cx="7863840" cy="1508760"/>
          </a:xfrm>
          <a:prstGeom prst="rect">
            <a:avLst/>
          </a:prstGeom>
          <a:noFill/>
          <a:ln/>
        </p:spPr>
        <p:txBody>
          <a:bodyPr wrap="square" lIns="0" tIns="0" rIns="0" bIns="0" rtlCol="0" anchor="ctr"/>
          <a:lstStyle/>
          <a:p>
            <a:pPr marL="0" indent="0">
              <a:spcAft>
                <a:spcPts val="600"/>
              </a:spcAft>
              <a:buNone/>
            </a:pPr>
            <a:r>
              <a:rPr lang="en-US" sz="1700" b="1" dirty="0">
                <a:solidFill>
                  <a:srgbClr val="0012B5"/>
                </a:solidFill>
                <a:latin typeface="Verdana" pitchFamily="34" charset="0"/>
                <a:ea typeface="Verdana" pitchFamily="34" charset="-122"/>
                <a:cs typeface="Verdana" pitchFamily="34" charset="-120"/>
              </a:rPr>
              <a:t>Pourquoi une empreinte ?</a:t>
            </a:r>
            <a:endParaRPr lang="en-US" sz="1500" dirty="0"/>
          </a:p>
          <a:p>
            <a:pPr marL="0" indent="0">
              <a:spcAft>
                <a:spcPts val="600"/>
              </a:spcAft>
              <a:buNone/>
            </a:pPr>
            <a:r>
              <a:rPr lang="en-US" sz="1500" dirty="0">
                <a:solidFill>
                  <a:srgbClr val="3A4658"/>
                </a:solidFill>
                <a:latin typeface="Verdana" pitchFamily="34" charset="0"/>
                <a:ea typeface="Verdana" pitchFamily="34" charset="-122"/>
                <a:cs typeface="Verdana" pitchFamily="34" charset="-120"/>
              </a:rPr>
              <a:t>Le client n’est prélevé que si le patron accepte. S’il refuse ou ne répond pas, l’empreinte est levée : rien à rembourser, aucune avance de trésorerie. Chaque paiement est revérifié chez Stripe : pas de doublon.</a:t>
            </a:r>
            <a:endParaRPr lang="en-US" sz="1500" dirty="0"/>
          </a:p>
        </p:txBody>
      </p:sp>
      <p:sp>
        <p:nvSpPr>
          <p:cNvPr id="32" name="Text 26"/>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8</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LE TOURISTE · LA RÉPONSE DU PATRON</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Le circuit d’une réservation : le patron a 72 heures</a:t>
            </a:r>
            <a:endParaRPr lang="en-US" sz="2300" dirty="0"/>
          </a:p>
        </p:txBody>
      </p:sp>
      <p:sp>
        <p:nvSpPr>
          <p:cNvPr id="4" name="Shape 2"/>
          <p:cNvSpPr/>
          <p:nvPr/>
        </p:nvSpPr>
        <p:spPr>
          <a:xfrm>
            <a:off x="548640" y="2514600"/>
            <a:ext cx="2651760" cy="1783080"/>
          </a:xfrm>
          <a:prstGeom prst="roundRect">
            <a:avLst>
              <a:gd name="adj" fmla="val 10256"/>
            </a:avLst>
          </a:prstGeom>
          <a:solidFill>
            <a:srgbClr val="1F5BD6"/>
          </a:solidFill>
          <a:ln w="12700">
            <a:solidFill>
              <a:srgbClr val="1F5BD6"/>
            </a:solidFill>
            <a:prstDash val="solid"/>
          </a:ln>
        </p:spPr>
        <p:txBody>
          <a:bodyPr/>
          <a:lstStyle/>
          <a:p>
            <a:endParaRPr lang="fr-FR"/>
          </a:p>
        </p:txBody>
      </p:sp>
      <p:sp>
        <p:nvSpPr>
          <p:cNvPr id="5" name="Text 3"/>
          <p:cNvSpPr txBox="1"/>
          <p:nvPr/>
        </p:nvSpPr>
        <p:spPr>
          <a:xfrm>
            <a:off x="777240" y="2624328"/>
            <a:ext cx="2194560" cy="1563624"/>
          </a:xfrm>
          <a:prstGeom prst="rect">
            <a:avLst/>
          </a:prstGeom>
          <a:noFill/>
          <a:ln/>
        </p:spPr>
        <p:txBody>
          <a:bodyPr wrap="square" lIns="0" tIns="0" rIns="0" bIns="0" rtlCol="0" anchor="ctr"/>
          <a:lstStyle/>
          <a:p>
            <a:pPr marL="0" indent="0">
              <a:spcAft>
                <a:spcPts val="400"/>
              </a:spcAft>
              <a:buNone/>
            </a:pPr>
            <a:r>
              <a:rPr lang="en-US" sz="1650" b="1" dirty="0">
                <a:solidFill>
                  <a:srgbClr val="FFFFFF"/>
                </a:solidFill>
                <a:latin typeface="Verdana" pitchFamily="34" charset="0"/>
                <a:ea typeface="Verdana" pitchFamily="34" charset="-122"/>
                <a:cs typeface="Verdana" pitchFamily="34" charset="-120"/>
              </a:rPr>
              <a:t>Demande payée</a:t>
            </a:r>
            <a:endParaRPr lang="en-US" sz="1450" dirty="0"/>
          </a:p>
          <a:p>
            <a:pPr marL="0" indent="0">
              <a:spcAft>
                <a:spcPts val="400"/>
              </a:spcAft>
              <a:buNone/>
            </a:pPr>
            <a:r>
              <a:rPr lang="en-US" sz="1400" dirty="0">
                <a:solidFill>
                  <a:srgbClr val="FFFFFF"/>
                </a:solidFill>
                <a:latin typeface="Verdana" pitchFamily="34" charset="0"/>
                <a:ea typeface="Verdana" pitchFamily="34" charset="-122"/>
                <a:cs typeface="Verdana" pitchFamily="34" charset="-120"/>
              </a:rPr>
              <a:t>Empreinte posée. En attente de réponse, échéance à +72 h.</a:t>
            </a:r>
            <a:endParaRPr lang="en-US" sz="1450" dirty="0"/>
          </a:p>
        </p:txBody>
      </p:sp>
      <p:sp>
        <p:nvSpPr>
          <p:cNvPr id="6" name="Shape 4"/>
          <p:cNvSpPr/>
          <p:nvPr/>
        </p:nvSpPr>
        <p:spPr>
          <a:xfrm>
            <a:off x="3611880" y="2514600"/>
            <a:ext cx="2651760" cy="1783080"/>
          </a:xfrm>
          <a:prstGeom prst="roundRect">
            <a:avLst>
              <a:gd name="adj" fmla="val 10256"/>
            </a:avLst>
          </a:prstGeom>
          <a:solidFill>
            <a:srgbClr val="EEF4FD"/>
          </a:solidFill>
          <a:ln w="12700">
            <a:solidFill>
              <a:srgbClr val="EEF4FD"/>
            </a:solidFill>
            <a:prstDash val="solid"/>
          </a:ln>
        </p:spPr>
        <p:txBody>
          <a:bodyPr/>
          <a:lstStyle/>
          <a:p>
            <a:endParaRPr lang="fr-FR"/>
          </a:p>
        </p:txBody>
      </p:sp>
      <p:sp>
        <p:nvSpPr>
          <p:cNvPr id="7" name="Text 5"/>
          <p:cNvSpPr txBox="1"/>
          <p:nvPr/>
        </p:nvSpPr>
        <p:spPr>
          <a:xfrm>
            <a:off x="3840480" y="2624328"/>
            <a:ext cx="2194560" cy="1563624"/>
          </a:xfrm>
          <a:prstGeom prst="rect">
            <a:avLst/>
          </a:prstGeom>
          <a:noFill/>
          <a:ln/>
        </p:spPr>
        <p:txBody>
          <a:bodyPr wrap="square" lIns="0" tIns="0" rIns="0" bIns="0" rtlCol="0" anchor="ctr"/>
          <a:lstStyle/>
          <a:p>
            <a:pPr marL="0" indent="0">
              <a:spcAft>
                <a:spcPts val="400"/>
              </a:spcAft>
              <a:buNone/>
            </a:pPr>
            <a:r>
              <a:rPr lang="en-US" sz="1650" b="1" dirty="0">
                <a:solidFill>
                  <a:srgbClr val="0012B5"/>
                </a:solidFill>
                <a:latin typeface="Verdana" pitchFamily="34" charset="0"/>
                <a:ea typeface="Verdana" pitchFamily="34" charset="-122"/>
                <a:cs typeface="Verdana" pitchFamily="34" charset="-120"/>
              </a:rPr>
              <a:t>Le patron est prévenu</a:t>
            </a:r>
            <a:endParaRPr lang="en-US" sz="1450" dirty="0"/>
          </a:p>
          <a:p>
            <a:pPr marL="0" indent="0">
              <a:spcAft>
                <a:spcPts val="400"/>
              </a:spcAft>
              <a:buNone/>
            </a:pPr>
            <a:r>
              <a:rPr lang="en-US" sz="1400" dirty="0">
                <a:solidFill>
                  <a:srgbClr val="3A4658"/>
                </a:solidFill>
                <a:latin typeface="Verdana" pitchFamily="34" charset="0"/>
                <a:ea typeface="Verdana" pitchFamily="34" charset="-122"/>
                <a:cs typeface="Verdana" pitchFamily="34" charset="-120"/>
              </a:rPr>
              <a:t>SMS immédiat. Demande « À traiter », pastille rouge et heure limite.</a:t>
            </a:r>
            <a:endParaRPr lang="en-US" sz="1450" dirty="0"/>
          </a:p>
        </p:txBody>
      </p:sp>
      <p:sp>
        <p:nvSpPr>
          <p:cNvPr id="8" name="Shape 6"/>
          <p:cNvSpPr/>
          <p:nvPr/>
        </p:nvSpPr>
        <p:spPr>
          <a:xfrm>
            <a:off x="3200400" y="3401568"/>
            <a:ext cx="411480" cy="914"/>
          </a:xfrm>
          <a:prstGeom prst="line">
            <a:avLst/>
          </a:prstGeom>
          <a:noFill/>
          <a:ln w="28575">
            <a:solidFill>
              <a:srgbClr val="1F5BD6"/>
            </a:solidFill>
            <a:prstDash val="solid"/>
            <a:tailEnd type="triangle"/>
          </a:ln>
        </p:spPr>
        <p:txBody>
          <a:bodyPr/>
          <a:lstStyle/>
          <a:p>
            <a:endParaRPr lang="fr-FR"/>
          </a:p>
        </p:txBody>
      </p:sp>
      <p:sp>
        <p:nvSpPr>
          <p:cNvPr id="9" name="Shape 7"/>
          <p:cNvSpPr/>
          <p:nvPr/>
        </p:nvSpPr>
        <p:spPr>
          <a:xfrm flipV="1">
            <a:off x="6263640" y="1920240"/>
            <a:ext cx="457200" cy="1481328"/>
          </a:xfrm>
          <a:prstGeom prst="line">
            <a:avLst/>
          </a:prstGeom>
          <a:noFill/>
          <a:ln w="28575">
            <a:solidFill>
              <a:srgbClr val="1B7A3D"/>
            </a:solidFill>
            <a:prstDash val="solid"/>
            <a:tailEnd type="triangle"/>
          </a:ln>
        </p:spPr>
        <p:txBody>
          <a:bodyPr/>
          <a:lstStyle/>
          <a:p>
            <a:endParaRPr lang="fr-FR"/>
          </a:p>
        </p:txBody>
      </p:sp>
      <p:sp>
        <p:nvSpPr>
          <p:cNvPr id="10" name="Shape 8"/>
          <p:cNvSpPr/>
          <p:nvPr/>
        </p:nvSpPr>
        <p:spPr>
          <a:xfrm>
            <a:off x="6263640" y="3401568"/>
            <a:ext cx="457200" cy="118872"/>
          </a:xfrm>
          <a:prstGeom prst="line">
            <a:avLst/>
          </a:prstGeom>
          <a:noFill/>
          <a:ln w="28575">
            <a:solidFill>
              <a:srgbClr val="B3312D"/>
            </a:solidFill>
            <a:prstDash val="solid"/>
            <a:tailEnd type="triangle"/>
          </a:ln>
        </p:spPr>
        <p:txBody>
          <a:bodyPr/>
          <a:lstStyle/>
          <a:p>
            <a:endParaRPr lang="fr-FR"/>
          </a:p>
        </p:txBody>
      </p:sp>
      <p:sp>
        <p:nvSpPr>
          <p:cNvPr id="11" name="Shape 9"/>
          <p:cNvSpPr/>
          <p:nvPr/>
        </p:nvSpPr>
        <p:spPr>
          <a:xfrm>
            <a:off x="6263640" y="3401568"/>
            <a:ext cx="457200" cy="1856232"/>
          </a:xfrm>
          <a:prstGeom prst="line">
            <a:avLst/>
          </a:prstGeom>
          <a:noFill/>
          <a:ln w="28575">
            <a:solidFill>
              <a:srgbClr val="B45309"/>
            </a:solidFill>
            <a:prstDash val="solid"/>
            <a:tailEnd type="triangle"/>
          </a:ln>
        </p:spPr>
        <p:txBody>
          <a:bodyPr/>
          <a:lstStyle/>
          <a:p>
            <a:endParaRPr lang="fr-FR"/>
          </a:p>
        </p:txBody>
      </p:sp>
      <p:sp>
        <p:nvSpPr>
          <p:cNvPr id="12" name="Shape 10"/>
          <p:cNvSpPr/>
          <p:nvPr/>
        </p:nvSpPr>
        <p:spPr>
          <a:xfrm>
            <a:off x="6720840" y="1371600"/>
            <a:ext cx="4937760" cy="1234440"/>
          </a:xfrm>
          <a:prstGeom prst="roundRect">
            <a:avLst>
              <a:gd name="adj" fmla="val 14815"/>
            </a:avLst>
          </a:prstGeom>
          <a:solidFill>
            <a:srgbClr val="E6F6EC"/>
          </a:solidFill>
          <a:ln w="12700">
            <a:solidFill>
              <a:srgbClr val="E6F6EC"/>
            </a:solidFill>
            <a:prstDash val="solid"/>
          </a:ln>
        </p:spPr>
        <p:txBody>
          <a:bodyPr/>
          <a:lstStyle/>
          <a:p>
            <a:endParaRPr lang="fr-FR"/>
          </a:p>
        </p:txBody>
      </p:sp>
      <p:sp>
        <p:nvSpPr>
          <p:cNvPr id="13" name="Text 11"/>
          <p:cNvSpPr txBox="1"/>
          <p:nvPr/>
        </p:nvSpPr>
        <p:spPr>
          <a:xfrm>
            <a:off x="6949440" y="1481328"/>
            <a:ext cx="4480560" cy="1014984"/>
          </a:xfrm>
          <a:prstGeom prst="rect">
            <a:avLst/>
          </a:prstGeom>
          <a:noFill/>
          <a:ln/>
        </p:spPr>
        <p:txBody>
          <a:bodyPr wrap="square" lIns="0" tIns="0" rIns="0" bIns="0" rtlCol="0" anchor="ctr"/>
          <a:lstStyle/>
          <a:p>
            <a:pPr marL="0" indent="0">
              <a:spcAft>
                <a:spcPts val="400"/>
              </a:spcAft>
              <a:buNone/>
            </a:pPr>
            <a:r>
              <a:rPr lang="en-US" sz="1650" b="1" dirty="0">
                <a:solidFill>
                  <a:srgbClr val="1B7A3D"/>
                </a:solidFill>
                <a:latin typeface="Verdana" pitchFamily="34" charset="0"/>
                <a:ea typeface="Verdana" pitchFamily="34" charset="-122"/>
                <a:cs typeface="Verdana" pitchFamily="34" charset="-120"/>
              </a:rPr>
              <a:t>Il accepte</a:t>
            </a:r>
            <a:endParaRPr lang="en-US" sz="1450" dirty="0"/>
          </a:p>
          <a:p>
            <a:pPr marL="0" indent="0">
              <a:spcAft>
                <a:spcPts val="400"/>
              </a:spcAft>
              <a:buNone/>
            </a:pPr>
            <a:r>
              <a:rPr lang="en-US" sz="1400" dirty="0">
                <a:solidFill>
                  <a:srgbClr val="3A4658"/>
                </a:solidFill>
                <a:latin typeface="Verdana" pitchFamily="34" charset="0"/>
                <a:ea typeface="Verdana" pitchFamily="34" charset="-122"/>
                <a:cs typeface="Verdana" pitchFamily="34" charset="-120"/>
              </a:rPr>
              <a:t>Client débité. E-mail « Sortie confirmée » : rendez-vous, horaires, téléphone du patron. Le patron voit alors les pièces.</a:t>
            </a:r>
            <a:endParaRPr lang="en-US" sz="1450" dirty="0"/>
          </a:p>
        </p:txBody>
      </p:sp>
      <p:sp>
        <p:nvSpPr>
          <p:cNvPr id="14" name="Shape 12"/>
          <p:cNvSpPr/>
          <p:nvPr/>
        </p:nvSpPr>
        <p:spPr>
          <a:xfrm>
            <a:off x="6720840" y="2926080"/>
            <a:ext cx="4937760" cy="1188720"/>
          </a:xfrm>
          <a:prstGeom prst="roundRect">
            <a:avLst>
              <a:gd name="adj" fmla="val 15385"/>
            </a:avLst>
          </a:prstGeom>
          <a:solidFill>
            <a:srgbClr val="FCEBE9"/>
          </a:solidFill>
          <a:ln w="12700">
            <a:solidFill>
              <a:srgbClr val="FCEBE9"/>
            </a:solidFill>
            <a:prstDash val="solid"/>
          </a:ln>
        </p:spPr>
        <p:txBody>
          <a:bodyPr/>
          <a:lstStyle/>
          <a:p>
            <a:endParaRPr lang="fr-FR"/>
          </a:p>
        </p:txBody>
      </p:sp>
      <p:sp>
        <p:nvSpPr>
          <p:cNvPr id="15" name="Text 13"/>
          <p:cNvSpPr txBox="1"/>
          <p:nvPr/>
        </p:nvSpPr>
        <p:spPr>
          <a:xfrm>
            <a:off x="6949440" y="3035808"/>
            <a:ext cx="4480560" cy="969264"/>
          </a:xfrm>
          <a:prstGeom prst="rect">
            <a:avLst/>
          </a:prstGeom>
          <a:noFill/>
          <a:ln/>
        </p:spPr>
        <p:txBody>
          <a:bodyPr wrap="square" lIns="0" tIns="0" rIns="0" bIns="0" rtlCol="0" anchor="ctr"/>
          <a:lstStyle/>
          <a:p>
            <a:pPr marL="0" indent="0">
              <a:spcAft>
                <a:spcPts val="400"/>
              </a:spcAft>
              <a:buNone/>
            </a:pPr>
            <a:r>
              <a:rPr lang="en-US" sz="1650" b="1" dirty="0">
                <a:solidFill>
                  <a:srgbClr val="B3312D"/>
                </a:solidFill>
                <a:latin typeface="Verdana" pitchFamily="34" charset="0"/>
                <a:ea typeface="Verdana" pitchFamily="34" charset="-122"/>
                <a:cs typeface="Verdana" pitchFamily="34" charset="-120"/>
              </a:rPr>
              <a:t>Il refuse</a:t>
            </a:r>
            <a:endParaRPr lang="en-US" sz="1450" dirty="0"/>
          </a:p>
          <a:p>
            <a:pPr marL="0" indent="0">
              <a:spcAft>
                <a:spcPts val="400"/>
              </a:spcAft>
              <a:buNone/>
            </a:pPr>
            <a:r>
              <a:rPr lang="en-US" sz="1400" dirty="0">
                <a:solidFill>
                  <a:srgbClr val="3A4658"/>
                </a:solidFill>
                <a:latin typeface="Verdana" pitchFamily="34" charset="0"/>
                <a:ea typeface="Verdana" pitchFamily="34" charset="-122"/>
                <a:cs typeface="Verdana" pitchFamily="34" charset="-120"/>
              </a:rPr>
              <a:t>Empreinte levée, client non débité, lien pour choisir une autre sortie.</a:t>
            </a:r>
            <a:endParaRPr lang="en-US" sz="1450" dirty="0"/>
          </a:p>
        </p:txBody>
      </p:sp>
      <p:sp>
        <p:nvSpPr>
          <p:cNvPr id="16" name="Shape 14"/>
          <p:cNvSpPr/>
          <p:nvPr/>
        </p:nvSpPr>
        <p:spPr>
          <a:xfrm>
            <a:off x="6720840" y="4434840"/>
            <a:ext cx="4937760" cy="1600200"/>
          </a:xfrm>
          <a:prstGeom prst="roundRect">
            <a:avLst>
              <a:gd name="adj" fmla="val 11429"/>
            </a:avLst>
          </a:prstGeom>
          <a:solidFill>
            <a:srgbClr val="FFF4DC"/>
          </a:solidFill>
          <a:ln w="12700">
            <a:solidFill>
              <a:srgbClr val="FFF4DC"/>
            </a:solidFill>
            <a:prstDash val="solid"/>
          </a:ln>
        </p:spPr>
        <p:txBody>
          <a:bodyPr/>
          <a:lstStyle/>
          <a:p>
            <a:endParaRPr lang="fr-FR"/>
          </a:p>
        </p:txBody>
      </p:sp>
      <p:sp>
        <p:nvSpPr>
          <p:cNvPr id="17" name="Text 15"/>
          <p:cNvSpPr txBox="1"/>
          <p:nvPr/>
        </p:nvSpPr>
        <p:spPr>
          <a:xfrm>
            <a:off x="6949440" y="4544568"/>
            <a:ext cx="4480560" cy="1380744"/>
          </a:xfrm>
          <a:prstGeom prst="rect">
            <a:avLst/>
          </a:prstGeom>
          <a:noFill/>
          <a:ln/>
        </p:spPr>
        <p:txBody>
          <a:bodyPr wrap="square" lIns="0" tIns="0" rIns="0" bIns="0" rtlCol="0" anchor="ctr"/>
          <a:lstStyle/>
          <a:p>
            <a:pPr marL="0" indent="0">
              <a:spcAft>
                <a:spcPts val="400"/>
              </a:spcAft>
              <a:buNone/>
            </a:pPr>
            <a:r>
              <a:rPr lang="en-US" sz="1650" b="1" dirty="0">
                <a:solidFill>
                  <a:srgbClr val="B45309"/>
                </a:solidFill>
                <a:latin typeface="Verdana" pitchFamily="34" charset="0"/>
                <a:ea typeface="Verdana" pitchFamily="34" charset="-122"/>
                <a:cs typeface="Verdana" pitchFamily="34" charset="-120"/>
              </a:rPr>
              <a:t>Il ne répond pas</a:t>
            </a:r>
            <a:endParaRPr lang="en-US" sz="1450" dirty="0"/>
          </a:p>
          <a:p>
            <a:pPr marL="0" indent="0">
              <a:spcAft>
                <a:spcPts val="400"/>
              </a:spcAft>
              <a:buNone/>
            </a:pPr>
            <a:r>
              <a:rPr lang="en-US" sz="1400" dirty="0">
                <a:solidFill>
                  <a:srgbClr val="3A4658"/>
                </a:solidFill>
                <a:latin typeface="Verdana" pitchFamily="34" charset="0"/>
                <a:ea typeface="Verdana" pitchFamily="34" charset="-122"/>
                <a:cs typeface="Verdana" pitchFamily="34" charset="-120"/>
              </a:rPr>
              <a:t>Dernier jour : SMS « DERNIER RAPPEL » et alerte à l’équipe. À l’échéance : expirée, empreinte levée, « vous n’êtes pas débité ».</a:t>
            </a:r>
            <a:endParaRPr lang="en-US" sz="1450" dirty="0"/>
          </a:p>
        </p:txBody>
      </p:sp>
      <p:sp>
        <p:nvSpPr>
          <p:cNvPr id="18" name="Text 16"/>
          <p:cNvSpPr txBox="1"/>
          <p:nvPr/>
        </p:nvSpPr>
        <p:spPr>
          <a:xfrm>
            <a:off x="548640" y="6217920"/>
            <a:ext cx="11064240" cy="320040"/>
          </a:xfrm>
          <a:prstGeom prst="rect">
            <a:avLst/>
          </a:prstGeom>
          <a:noFill/>
          <a:ln/>
        </p:spPr>
        <p:txBody>
          <a:bodyPr wrap="square" lIns="0" tIns="0" rIns="0" bIns="0" rtlCol="0" anchor="t"/>
          <a:lstStyle/>
          <a:p>
            <a:pPr marL="0" indent="0">
              <a:buNone/>
            </a:pPr>
            <a:r>
              <a:rPr lang="en-US" sz="1400" i="1" dirty="0">
                <a:solidFill>
                  <a:srgbClr val="1F5BD6"/>
                </a:solidFill>
                <a:latin typeface="Verdana" pitchFamily="34" charset="0"/>
                <a:ea typeface="Verdana" pitchFamily="34" charset="-122"/>
                <a:cs typeface="Verdana" pitchFamily="34" charset="-120"/>
              </a:rPr>
              <a:t>Chaque matin à 8 h, le site traite tout seul expirations, rappels, paiements en suspens et paniers abandonnés depuis plus de 24 h.</a:t>
            </a:r>
            <a:endParaRPr lang="en-US" sz="1400" dirty="0"/>
          </a:p>
        </p:txBody>
      </p:sp>
      <p:sp>
        <p:nvSpPr>
          <p:cNvPr id="19" name="Text 17"/>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9</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LE TOURISTE · LA SORTIE</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Le jour J, et après</a:t>
            </a:r>
            <a:endParaRPr lang="en-US" sz="2500" dirty="0"/>
          </a:p>
        </p:txBody>
      </p:sp>
      <p:sp>
        <p:nvSpPr>
          <p:cNvPr id="4" name="Shape 2"/>
          <p:cNvSpPr/>
          <p:nvPr/>
        </p:nvSpPr>
        <p:spPr>
          <a:xfrm>
            <a:off x="548640" y="1554480"/>
            <a:ext cx="2679192" cy="352044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5" name="Shape 3"/>
          <p:cNvSpPr/>
          <p:nvPr/>
        </p:nvSpPr>
        <p:spPr>
          <a:xfrm>
            <a:off x="1476756" y="1828800"/>
            <a:ext cx="822960" cy="822960"/>
          </a:xfrm>
          <a:prstGeom prst="ellipse">
            <a:avLst/>
          </a:prstGeom>
          <a:solidFill>
            <a:srgbClr val="0012B5"/>
          </a:solidFill>
          <a:ln w="12700">
            <a:solidFill>
              <a:srgbClr val="0012B5"/>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1682496" y="2034540"/>
            <a:ext cx="411480" cy="411480"/>
          </a:xfrm>
          <a:prstGeom prst="rect">
            <a:avLst/>
          </a:prstGeom>
        </p:spPr>
      </p:pic>
      <p:sp>
        <p:nvSpPr>
          <p:cNvPr id="7" name="Text 4"/>
          <p:cNvSpPr txBox="1"/>
          <p:nvPr/>
        </p:nvSpPr>
        <p:spPr>
          <a:xfrm>
            <a:off x="731520" y="2788920"/>
            <a:ext cx="2313432" cy="365760"/>
          </a:xfrm>
          <a:prstGeom prst="rect">
            <a:avLst/>
          </a:prstGeom>
          <a:noFill/>
          <a:ln/>
        </p:spPr>
        <p:txBody>
          <a:bodyPr wrap="square" lIns="0" tIns="0" rIns="0" bIns="0" rtlCol="0" anchor="t"/>
          <a:lstStyle/>
          <a:p>
            <a:pPr marL="0" indent="0" algn="ctr">
              <a:buNone/>
            </a:pPr>
            <a:r>
              <a:rPr lang="en-US" sz="1750" b="1" dirty="0">
                <a:solidFill>
                  <a:srgbClr val="0012B5"/>
                </a:solidFill>
                <a:latin typeface="Verdana" pitchFamily="34" charset="0"/>
                <a:ea typeface="Verdana" pitchFamily="34" charset="-122"/>
                <a:cs typeface="Verdana" pitchFamily="34" charset="-120"/>
              </a:rPr>
              <a:t>La veille</a:t>
            </a:r>
            <a:endParaRPr lang="en-US" sz="1750" dirty="0"/>
          </a:p>
        </p:txBody>
      </p:sp>
      <p:sp>
        <p:nvSpPr>
          <p:cNvPr id="8" name="Text 5"/>
          <p:cNvSpPr txBox="1"/>
          <p:nvPr/>
        </p:nvSpPr>
        <p:spPr>
          <a:xfrm>
            <a:off x="749808" y="3246120"/>
            <a:ext cx="2276856" cy="1691640"/>
          </a:xfrm>
          <a:prstGeom prst="rect">
            <a:avLst/>
          </a:prstGeom>
          <a:noFill/>
          <a:ln/>
        </p:spPr>
        <p:txBody>
          <a:bodyPr wrap="square" lIns="0" tIns="0" rIns="0" bIns="0" rtlCol="0" anchor="t"/>
          <a:lstStyle/>
          <a:p>
            <a:pPr marL="0" indent="0" algn="ctr">
              <a:buNone/>
            </a:pPr>
            <a:r>
              <a:rPr lang="en-US" sz="1450" dirty="0">
                <a:solidFill>
                  <a:srgbClr val="3A4658"/>
                </a:solidFill>
                <a:latin typeface="Verdana" pitchFamily="34" charset="0"/>
                <a:ea typeface="Verdana" pitchFamily="34" charset="-122"/>
                <a:cs typeface="Verdana" pitchFamily="34" charset="-120"/>
              </a:rPr>
              <a:t>Derniers dépôts de pièces. Le patron déclare la sortie au CROSS et à la SNSM (rappel 3 jours avant).</a:t>
            </a:r>
            <a:endParaRPr lang="en-US" sz="1450" dirty="0"/>
          </a:p>
        </p:txBody>
      </p:sp>
      <p:sp>
        <p:nvSpPr>
          <p:cNvPr id="9" name="Shape 6"/>
          <p:cNvSpPr/>
          <p:nvPr/>
        </p:nvSpPr>
        <p:spPr>
          <a:xfrm>
            <a:off x="3236976" y="2240280"/>
            <a:ext cx="137160" cy="914"/>
          </a:xfrm>
          <a:prstGeom prst="line">
            <a:avLst/>
          </a:prstGeom>
          <a:noFill/>
          <a:ln w="28575">
            <a:solidFill>
              <a:srgbClr val="1F5BD6"/>
            </a:solidFill>
            <a:prstDash val="solid"/>
            <a:tailEnd type="triangle"/>
          </a:ln>
        </p:spPr>
        <p:txBody>
          <a:bodyPr/>
          <a:lstStyle/>
          <a:p>
            <a:endParaRPr lang="fr-FR"/>
          </a:p>
        </p:txBody>
      </p:sp>
      <p:sp>
        <p:nvSpPr>
          <p:cNvPr id="10" name="Shape 7"/>
          <p:cNvSpPr/>
          <p:nvPr/>
        </p:nvSpPr>
        <p:spPr>
          <a:xfrm>
            <a:off x="3383280" y="1554480"/>
            <a:ext cx="2679192" cy="352044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1" name="Shape 8"/>
          <p:cNvSpPr/>
          <p:nvPr/>
        </p:nvSpPr>
        <p:spPr>
          <a:xfrm>
            <a:off x="4311396" y="1828800"/>
            <a:ext cx="822960" cy="822960"/>
          </a:xfrm>
          <a:prstGeom prst="ellipse">
            <a:avLst/>
          </a:prstGeom>
          <a:solidFill>
            <a:srgbClr val="1F5BD6"/>
          </a:solidFill>
          <a:ln w="12700">
            <a:solidFill>
              <a:srgbClr val="1F5BD6"/>
            </a:solidFill>
            <a:prstDash val="solid"/>
          </a:ln>
        </p:spPr>
        <p:txBody>
          <a:bodyPr/>
          <a:lstStyle/>
          <a:p>
            <a:endParaRPr lang="fr-FR"/>
          </a:p>
        </p:txBody>
      </p:sp>
      <p:pic>
        <p:nvPicPr>
          <p:cNvPr id="12" name="Image 1" descr="preencoded.png"/>
          <p:cNvPicPr>
            <a:picLocks noChangeAspect="1"/>
          </p:cNvPicPr>
          <p:nvPr/>
        </p:nvPicPr>
        <p:blipFill>
          <a:blip r:embed="rId4"/>
          <a:stretch>
            <a:fillRect/>
          </a:stretch>
        </p:blipFill>
        <p:spPr>
          <a:xfrm>
            <a:off x="4517136" y="2034540"/>
            <a:ext cx="411480" cy="411480"/>
          </a:xfrm>
          <a:prstGeom prst="rect">
            <a:avLst/>
          </a:prstGeom>
        </p:spPr>
      </p:pic>
      <p:sp>
        <p:nvSpPr>
          <p:cNvPr id="13" name="Text 9"/>
          <p:cNvSpPr txBox="1"/>
          <p:nvPr/>
        </p:nvSpPr>
        <p:spPr>
          <a:xfrm>
            <a:off x="3566160" y="2788920"/>
            <a:ext cx="2313432" cy="365760"/>
          </a:xfrm>
          <a:prstGeom prst="rect">
            <a:avLst/>
          </a:prstGeom>
          <a:noFill/>
          <a:ln/>
        </p:spPr>
        <p:txBody>
          <a:bodyPr wrap="square" lIns="0" tIns="0" rIns="0" bIns="0" rtlCol="0" anchor="t"/>
          <a:lstStyle/>
          <a:p>
            <a:pPr marL="0" indent="0" algn="ctr">
              <a:buNone/>
            </a:pPr>
            <a:r>
              <a:rPr lang="en-US" sz="1750" b="1" dirty="0">
                <a:solidFill>
                  <a:srgbClr val="0012B5"/>
                </a:solidFill>
                <a:latin typeface="Verdana" pitchFamily="34" charset="0"/>
                <a:ea typeface="Verdana" pitchFamily="34" charset="-122"/>
                <a:cs typeface="Verdana" pitchFamily="34" charset="-120"/>
              </a:rPr>
              <a:t>Le jour J</a:t>
            </a:r>
            <a:endParaRPr lang="en-US" sz="1750" dirty="0"/>
          </a:p>
        </p:txBody>
      </p:sp>
      <p:sp>
        <p:nvSpPr>
          <p:cNvPr id="14" name="Text 10"/>
          <p:cNvSpPr txBox="1"/>
          <p:nvPr/>
        </p:nvSpPr>
        <p:spPr>
          <a:xfrm>
            <a:off x="3584448" y="3246120"/>
            <a:ext cx="2276856" cy="1691640"/>
          </a:xfrm>
          <a:prstGeom prst="rect">
            <a:avLst/>
          </a:prstGeom>
          <a:noFill/>
          <a:ln/>
        </p:spPr>
        <p:txBody>
          <a:bodyPr wrap="square" lIns="0" tIns="0" rIns="0" bIns="0" rtlCol="0" anchor="t"/>
          <a:lstStyle/>
          <a:p>
            <a:pPr marL="0" indent="0" algn="ctr">
              <a:buNone/>
            </a:pPr>
            <a:r>
              <a:rPr lang="en-US" sz="1450" dirty="0">
                <a:solidFill>
                  <a:srgbClr val="3A4658"/>
                </a:solidFill>
                <a:latin typeface="Verdana" pitchFamily="34" charset="0"/>
                <a:ea typeface="Verdana" pitchFamily="34" charset="-122"/>
                <a:cs typeface="Verdana" pitchFamily="34" charset="-120"/>
              </a:rPr>
              <a:t>Pièce originale à l’embarquement. Absente ou fausse : pas d’embarquement, pas de remboursement.</a:t>
            </a:r>
            <a:endParaRPr lang="en-US" sz="1450" dirty="0"/>
          </a:p>
        </p:txBody>
      </p:sp>
      <p:sp>
        <p:nvSpPr>
          <p:cNvPr id="15" name="Shape 11"/>
          <p:cNvSpPr/>
          <p:nvPr/>
        </p:nvSpPr>
        <p:spPr>
          <a:xfrm>
            <a:off x="6071616" y="2240280"/>
            <a:ext cx="137160" cy="914"/>
          </a:xfrm>
          <a:prstGeom prst="line">
            <a:avLst/>
          </a:prstGeom>
          <a:noFill/>
          <a:ln w="28575">
            <a:solidFill>
              <a:srgbClr val="1F5BD6"/>
            </a:solidFill>
            <a:prstDash val="solid"/>
            <a:tailEnd type="triangle"/>
          </a:ln>
        </p:spPr>
        <p:txBody>
          <a:bodyPr/>
          <a:lstStyle/>
          <a:p>
            <a:endParaRPr lang="fr-FR"/>
          </a:p>
        </p:txBody>
      </p:sp>
      <p:sp>
        <p:nvSpPr>
          <p:cNvPr id="16" name="Shape 12"/>
          <p:cNvSpPr/>
          <p:nvPr/>
        </p:nvSpPr>
        <p:spPr>
          <a:xfrm>
            <a:off x="6217920" y="1554480"/>
            <a:ext cx="2679192" cy="352044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7" name="Shape 13"/>
          <p:cNvSpPr/>
          <p:nvPr/>
        </p:nvSpPr>
        <p:spPr>
          <a:xfrm>
            <a:off x="7146036" y="1828800"/>
            <a:ext cx="822960" cy="822960"/>
          </a:xfrm>
          <a:prstGeom prst="ellipse">
            <a:avLst/>
          </a:prstGeom>
          <a:solidFill>
            <a:srgbClr val="B45309"/>
          </a:solidFill>
          <a:ln w="12700">
            <a:solidFill>
              <a:srgbClr val="B45309"/>
            </a:solidFill>
            <a:prstDash val="solid"/>
          </a:ln>
        </p:spPr>
        <p:txBody>
          <a:bodyPr/>
          <a:lstStyle/>
          <a:p>
            <a:endParaRPr lang="fr-FR"/>
          </a:p>
        </p:txBody>
      </p:sp>
      <p:pic>
        <p:nvPicPr>
          <p:cNvPr id="18" name="Image 2" descr="preencoded.png"/>
          <p:cNvPicPr>
            <a:picLocks noChangeAspect="1"/>
          </p:cNvPicPr>
          <p:nvPr/>
        </p:nvPicPr>
        <p:blipFill>
          <a:blip r:embed="rId5"/>
          <a:stretch>
            <a:fillRect/>
          </a:stretch>
        </p:blipFill>
        <p:spPr>
          <a:xfrm>
            <a:off x="7351776" y="2034540"/>
            <a:ext cx="411480" cy="411480"/>
          </a:xfrm>
          <a:prstGeom prst="rect">
            <a:avLst/>
          </a:prstGeom>
        </p:spPr>
      </p:pic>
      <p:sp>
        <p:nvSpPr>
          <p:cNvPr id="19" name="Text 14"/>
          <p:cNvSpPr txBox="1"/>
          <p:nvPr/>
        </p:nvSpPr>
        <p:spPr>
          <a:xfrm>
            <a:off x="6400800" y="2788920"/>
            <a:ext cx="2313432" cy="365760"/>
          </a:xfrm>
          <a:prstGeom prst="rect">
            <a:avLst/>
          </a:prstGeom>
          <a:noFill/>
          <a:ln/>
        </p:spPr>
        <p:txBody>
          <a:bodyPr wrap="square" lIns="0" tIns="0" rIns="0" bIns="0" rtlCol="0" anchor="t"/>
          <a:lstStyle/>
          <a:p>
            <a:pPr marL="0" indent="0" algn="ctr">
              <a:buNone/>
            </a:pPr>
            <a:r>
              <a:rPr lang="en-US" sz="1750" b="1" dirty="0">
                <a:solidFill>
                  <a:srgbClr val="0012B5"/>
                </a:solidFill>
                <a:latin typeface="Verdana" pitchFamily="34" charset="0"/>
                <a:ea typeface="Verdana" pitchFamily="34" charset="-122"/>
                <a:cs typeface="Verdana" pitchFamily="34" charset="-120"/>
              </a:rPr>
              <a:t>Le lendemain</a:t>
            </a:r>
            <a:endParaRPr lang="en-US" sz="1750" dirty="0"/>
          </a:p>
        </p:txBody>
      </p:sp>
      <p:sp>
        <p:nvSpPr>
          <p:cNvPr id="20" name="Text 15"/>
          <p:cNvSpPr txBox="1"/>
          <p:nvPr/>
        </p:nvSpPr>
        <p:spPr>
          <a:xfrm>
            <a:off x="6419088" y="3246120"/>
            <a:ext cx="2276856" cy="1691640"/>
          </a:xfrm>
          <a:prstGeom prst="rect">
            <a:avLst/>
          </a:prstGeom>
          <a:noFill/>
          <a:ln/>
        </p:spPr>
        <p:txBody>
          <a:bodyPr wrap="square" lIns="0" tIns="0" rIns="0" bIns="0" rtlCol="0" anchor="t"/>
          <a:lstStyle/>
          <a:p>
            <a:pPr marL="0" indent="0" algn="ctr">
              <a:buNone/>
            </a:pPr>
            <a:r>
              <a:rPr lang="en-US" sz="1450" dirty="0">
                <a:solidFill>
                  <a:srgbClr val="3A4658"/>
                </a:solidFill>
                <a:latin typeface="Verdana" pitchFamily="34" charset="0"/>
                <a:ea typeface="Verdana" pitchFamily="34" charset="-122"/>
                <a:cs typeface="Verdana" pitchFamily="34" charset="-120"/>
              </a:rPr>
              <a:t>E-mail « Comment s’est passée votre sortie ? » : note de 1 à 5 étoiles et commentaire, publiés sur la fiche.</a:t>
            </a:r>
            <a:endParaRPr lang="en-US" sz="1450" dirty="0"/>
          </a:p>
        </p:txBody>
      </p:sp>
      <p:sp>
        <p:nvSpPr>
          <p:cNvPr id="21" name="Shape 16"/>
          <p:cNvSpPr/>
          <p:nvPr/>
        </p:nvSpPr>
        <p:spPr>
          <a:xfrm>
            <a:off x="8906256" y="2240280"/>
            <a:ext cx="137160" cy="914"/>
          </a:xfrm>
          <a:prstGeom prst="line">
            <a:avLst/>
          </a:prstGeom>
          <a:noFill/>
          <a:ln w="28575">
            <a:solidFill>
              <a:srgbClr val="1F5BD6"/>
            </a:solidFill>
            <a:prstDash val="solid"/>
            <a:tailEnd type="triangle"/>
          </a:ln>
        </p:spPr>
        <p:txBody>
          <a:bodyPr/>
          <a:lstStyle/>
          <a:p>
            <a:endParaRPr lang="fr-FR"/>
          </a:p>
        </p:txBody>
      </p:sp>
      <p:sp>
        <p:nvSpPr>
          <p:cNvPr id="22" name="Shape 17"/>
          <p:cNvSpPr/>
          <p:nvPr/>
        </p:nvSpPr>
        <p:spPr>
          <a:xfrm>
            <a:off x="9052560" y="1554480"/>
            <a:ext cx="2679192" cy="352044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3" name="Shape 18"/>
          <p:cNvSpPr/>
          <p:nvPr/>
        </p:nvSpPr>
        <p:spPr>
          <a:xfrm>
            <a:off x="9980676" y="1828800"/>
            <a:ext cx="822960" cy="822960"/>
          </a:xfrm>
          <a:prstGeom prst="ellipse">
            <a:avLst/>
          </a:prstGeom>
          <a:solidFill>
            <a:srgbClr val="00A7B5"/>
          </a:solidFill>
          <a:ln w="12700">
            <a:solidFill>
              <a:srgbClr val="00A7B5"/>
            </a:solidFill>
            <a:prstDash val="solid"/>
          </a:ln>
        </p:spPr>
        <p:txBody>
          <a:bodyPr/>
          <a:lstStyle/>
          <a:p>
            <a:endParaRPr lang="fr-FR"/>
          </a:p>
        </p:txBody>
      </p:sp>
      <p:pic>
        <p:nvPicPr>
          <p:cNvPr id="24" name="Image 3" descr="preencoded.png"/>
          <p:cNvPicPr>
            <a:picLocks noChangeAspect="1"/>
          </p:cNvPicPr>
          <p:nvPr/>
        </p:nvPicPr>
        <p:blipFill>
          <a:blip r:embed="rId6"/>
          <a:stretch>
            <a:fillRect/>
          </a:stretch>
        </p:blipFill>
        <p:spPr>
          <a:xfrm>
            <a:off x="10186416" y="2034540"/>
            <a:ext cx="411480" cy="411480"/>
          </a:xfrm>
          <a:prstGeom prst="rect">
            <a:avLst/>
          </a:prstGeom>
        </p:spPr>
      </p:pic>
      <p:sp>
        <p:nvSpPr>
          <p:cNvPr id="25" name="Text 19"/>
          <p:cNvSpPr txBox="1"/>
          <p:nvPr/>
        </p:nvSpPr>
        <p:spPr>
          <a:xfrm>
            <a:off x="9235440" y="2788920"/>
            <a:ext cx="2313432" cy="365760"/>
          </a:xfrm>
          <a:prstGeom prst="rect">
            <a:avLst/>
          </a:prstGeom>
          <a:noFill/>
          <a:ln/>
        </p:spPr>
        <p:txBody>
          <a:bodyPr wrap="square" lIns="0" tIns="0" rIns="0" bIns="0" rtlCol="0" anchor="t"/>
          <a:lstStyle/>
          <a:p>
            <a:pPr marL="0" indent="0" algn="ctr">
              <a:buNone/>
            </a:pPr>
            <a:r>
              <a:rPr lang="en-US" sz="1750" b="1" dirty="0">
                <a:solidFill>
                  <a:srgbClr val="0012B5"/>
                </a:solidFill>
                <a:latin typeface="Verdana" pitchFamily="34" charset="0"/>
                <a:ea typeface="Verdana" pitchFamily="34" charset="-122"/>
                <a:cs typeface="Verdana" pitchFamily="34" charset="-120"/>
              </a:rPr>
              <a:t>Après 7 jours</a:t>
            </a:r>
            <a:endParaRPr lang="en-US" sz="1750" dirty="0"/>
          </a:p>
        </p:txBody>
      </p:sp>
      <p:sp>
        <p:nvSpPr>
          <p:cNvPr id="26" name="Text 20"/>
          <p:cNvSpPr txBox="1"/>
          <p:nvPr/>
        </p:nvSpPr>
        <p:spPr>
          <a:xfrm>
            <a:off x="9253728" y="3246120"/>
            <a:ext cx="2276856" cy="1691640"/>
          </a:xfrm>
          <a:prstGeom prst="rect">
            <a:avLst/>
          </a:prstGeom>
          <a:noFill/>
          <a:ln/>
        </p:spPr>
        <p:txBody>
          <a:bodyPr wrap="square" lIns="0" tIns="0" rIns="0" bIns="0" rtlCol="0" anchor="t"/>
          <a:lstStyle/>
          <a:p>
            <a:pPr marL="0" indent="0" algn="ctr">
              <a:buNone/>
            </a:pPr>
            <a:r>
              <a:rPr lang="en-US" sz="1450" dirty="0">
                <a:solidFill>
                  <a:srgbClr val="3A4658"/>
                </a:solidFill>
                <a:latin typeface="Verdana" pitchFamily="34" charset="0"/>
                <a:ea typeface="Verdana" pitchFamily="34" charset="-122"/>
                <a:cs typeface="Verdana" pitchFamily="34" charset="-120"/>
              </a:rPr>
              <a:t>Les pièces d’identité de la sortie sont effacées automatiquement.</a:t>
            </a:r>
            <a:endParaRPr lang="en-US" sz="1450" dirty="0"/>
          </a:p>
        </p:txBody>
      </p:sp>
      <p:sp>
        <p:nvSpPr>
          <p:cNvPr id="27" name="Shape 21"/>
          <p:cNvSpPr/>
          <p:nvPr/>
        </p:nvSpPr>
        <p:spPr>
          <a:xfrm>
            <a:off x="548640" y="5349240"/>
            <a:ext cx="11094415" cy="868680"/>
          </a:xfrm>
          <a:prstGeom prst="roundRect">
            <a:avLst>
              <a:gd name="adj" fmla="val 21053"/>
            </a:avLst>
          </a:prstGeom>
          <a:solidFill>
            <a:srgbClr val="FFFFFF"/>
          </a:solidFill>
          <a:ln w="12700">
            <a:solidFill>
              <a:srgbClr val="FFFFFF"/>
            </a:solidFill>
            <a:prstDash val="solid"/>
          </a:ln>
        </p:spPr>
        <p:txBody>
          <a:bodyPr/>
          <a:lstStyle/>
          <a:p>
            <a:endParaRPr lang="fr-FR"/>
          </a:p>
        </p:txBody>
      </p:sp>
      <p:sp>
        <p:nvSpPr>
          <p:cNvPr id="28" name="Text 22"/>
          <p:cNvSpPr txBox="1"/>
          <p:nvPr/>
        </p:nvSpPr>
        <p:spPr>
          <a:xfrm>
            <a:off x="822960" y="5349240"/>
            <a:ext cx="10545775" cy="868680"/>
          </a:xfrm>
          <a:prstGeom prst="rect">
            <a:avLst/>
          </a:prstGeom>
          <a:noFill/>
          <a:ln/>
        </p:spPr>
        <p:txBody>
          <a:bodyPr wrap="square" lIns="0" tIns="0" rIns="0" bIns="0" rtlCol="0" anchor="ctr"/>
          <a:lstStyle/>
          <a:p>
            <a:pPr marL="0" indent="0">
              <a:buNone/>
            </a:pPr>
            <a:r>
              <a:rPr lang="en-US" sz="1500" dirty="0">
                <a:solidFill>
                  <a:srgbClr val="3A4658"/>
                </a:solidFill>
                <a:latin typeface="Verdana" pitchFamily="34" charset="0"/>
                <a:ea typeface="Verdana" pitchFamily="34" charset="-122"/>
                <a:cs typeface="Verdana" pitchFamily="34" charset="-120"/>
              </a:rPr>
              <a:t>Les avis sont publics : badge « ★ 4,5 — Voir les avis » sur chaque fiche. Le patron les retrouve dans son espace. Les organismes notent aussi leurs missions.</a:t>
            </a:r>
            <a:endParaRPr lang="en-US" sz="1500" dirty="0"/>
          </a:p>
        </p:txBody>
      </p:sp>
      <p:sp>
        <p:nvSpPr>
          <p:cNvPr id="29" name="Text 23"/>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10</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LE TOURISTE · ANNULATION</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Annuler une sortie : le client le fait lui-même</a:t>
            </a:r>
            <a:endParaRPr lang="en-US" sz="2300" dirty="0"/>
          </a:p>
        </p:txBody>
      </p:sp>
      <p:sp>
        <p:nvSpPr>
          <p:cNvPr id="4" name="Text 2"/>
          <p:cNvSpPr txBox="1"/>
          <p:nvPr/>
        </p:nvSpPr>
        <p:spPr>
          <a:xfrm>
            <a:off x="548640" y="1216152"/>
            <a:ext cx="11094415" cy="457200"/>
          </a:xfrm>
          <a:prstGeom prst="rect">
            <a:avLst/>
          </a:prstGeom>
          <a:noFill/>
          <a:ln/>
        </p:spPr>
        <p:txBody>
          <a:bodyPr wrap="square" lIns="0" tIns="0" rIns="0" bIns="0" rtlCol="0" anchor="t"/>
          <a:lstStyle/>
          <a:p>
            <a:pPr marL="0" indent="0">
              <a:buNone/>
            </a:pPr>
            <a:r>
              <a:rPr lang="en-US" sz="1550" dirty="0">
                <a:solidFill>
                  <a:srgbClr val="66728A"/>
                </a:solidFill>
                <a:latin typeface="Verdana" pitchFamily="34" charset="0"/>
                <a:ea typeface="Verdana" pitchFamily="34" charset="-122"/>
                <a:cs typeface="Verdana" pitchFamily="34" charset="-120"/>
              </a:rPr>
              <a:t>Bouton « Annuler ma sortie » dans « Mes sorties ». Le site calcule le délai et applique la règle.</a:t>
            </a:r>
            <a:endParaRPr lang="en-US" sz="1550" dirty="0"/>
          </a:p>
        </p:txBody>
      </p:sp>
      <p:sp>
        <p:nvSpPr>
          <p:cNvPr id="5" name="Shape 3"/>
          <p:cNvSpPr/>
          <p:nvPr/>
        </p:nvSpPr>
        <p:spPr>
          <a:xfrm>
            <a:off x="548640" y="1783080"/>
            <a:ext cx="5440680" cy="1783080"/>
          </a:xfrm>
          <a:prstGeom prst="roundRect">
            <a:avLst>
              <a:gd name="adj" fmla="val 10256"/>
            </a:avLst>
          </a:prstGeom>
          <a:solidFill>
            <a:srgbClr val="E6F6EC"/>
          </a:solidFill>
          <a:ln w="12700">
            <a:solidFill>
              <a:srgbClr val="E6F6EC"/>
            </a:solidFill>
            <a:prstDash val="solid"/>
          </a:ln>
        </p:spPr>
        <p:txBody>
          <a:bodyPr/>
          <a:lstStyle/>
          <a:p>
            <a:endParaRPr lang="fr-FR"/>
          </a:p>
        </p:txBody>
      </p:sp>
      <p:sp>
        <p:nvSpPr>
          <p:cNvPr id="6" name="Shape 4"/>
          <p:cNvSpPr/>
          <p:nvPr/>
        </p:nvSpPr>
        <p:spPr>
          <a:xfrm>
            <a:off x="822960" y="2103120"/>
            <a:ext cx="640080" cy="640080"/>
          </a:xfrm>
          <a:prstGeom prst="ellipse">
            <a:avLst/>
          </a:prstGeom>
          <a:solidFill>
            <a:srgbClr val="1B7A3D"/>
          </a:solidFill>
          <a:ln w="12700">
            <a:solidFill>
              <a:srgbClr val="1B7A3D"/>
            </a:solidFill>
            <a:prstDash val="solid"/>
          </a:ln>
        </p:spPr>
        <p:txBody>
          <a:bodyPr/>
          <a:lstStyle/>
          <a:p>
            <a:endParaRPr lang="fr-FR"/>
          </a:p>
        </p:txBody>
      </p:sp>
      <p:pic>
        <p:nvPicPr>
          <p:cNvPr id="7" name="Image 0" descr="preencoded.png"/>
          <p:cNvPicPr>
            <a:picLocks noChangeAspect="1"/>
          </p:cNvPicPr>
          <p:nvPr/>
        </p:nvPicPr>
        <p:blipFill>
          <a:blip r:embed="rId3"/>
          <a:stretch>
            <a:fillRect/>
          </a:stretch>
        </p:blipFill>
        <p:spPr>
          <a:xfrm>
            <a:off x="982980" y="2263140"/>
            <a:ext cx="320040" cy="320040"/>
          </a:xfrm>
          <a:prstGeom prst="rect">
            <a:avLst/>
          </a:prstGeom>
        </p:spPr>
      </p:pic>
      <p:sp>
        <p:nvSpPr>
          <p:cNvPr id="8" name="Text 5"/>
          <p:cNvSpPr txBox="1"/>
          <p:nvPr/>
        </p:nvSpPr>
        <p:spPr>
          <a:xfrm>
            <a:off x="1691640" y="2057400"/>
            <a:ext cx="4069080" cy="384048"/>
          </a:xfrm>
          <a:prstGeom prst="rect">
            <a:avLst/>
          </a:prstGeom>
          <a:noFill/>
          <a:ln/>
        </p:spPr>
        <p:txBody>
          <a:bodyPr wrap="square" lIns="0" tIns="0" rIns="0" bIns="0" rtlCol="0" anchor="t"/>
          <a:lstStyle/>
          <a:p>
            <a:pPr marL="0" indent="0">
              <a:buNone/>
            </a:pPr>
            <a:r>
              <a:rPr lang="en-US" sz="1750" b="1" dirty="0">
                <a:solidFill>
                  <a:srgbClr val="1B7A3D"/>
                </a:solidFill>
                <a:latin typeface="Verdana" pitchFamily="34" charset="0"/>
                <a:ea typeface="Verdana" pitchFamily="34" charset="-122"/>
                <a:cs typeface="Verdana" pitchFamily="34" charset="-120"/>
              </a:rPr>
              <a:t>Pas encore acceptée</a:t>
            </a:r>
            <a:endParaRPr lang="en-US" sz="1750" dirty="0"/>
          </a:p>
        </p:txBody>
      </p:sp>
      <p:sp>
        <p:nvSpPr>
          <p:cNvPr id="9" name="Text 6"/>
          <p:cNvSpPr txBox="1"/>
          <p:nvPr/>
        </p:nvSpPr>
        <p:spPr>
          <a:xfrm>
            <a:off x="1691640" y="2496312"/>
            <a:ext cx="4069080" cy="960120"/>
          </a:xfrm>
          <a:prstGeom prst="rect">
            <a:avLst/>
          </a:prstGeom>
          <a:noFill/>
          <a:ln/>
        </p:spPr>
        <p:txBody>
          <a:bodyPr wrap="square" lIns="0" tIns="0" rIns="0" bIns="0" rtlCol="0" anchor="t"/>
          <a:lstStyle/>
          <a:p>
            <a:pPr marL="0" indent="0">
              <a:buNone/>
            </a:pPr>
            <a:r>
              <a:rPr lang="en-US" sz="1500" dirty="0">
                <a:solidFill>
                  <a:srgbClr val="3A4658"/>
                </a:solidFill>
                <a:latin typeface="Verdana" pitchFamily="34" charset="0"/>
                <a:ea typeface="Verdana" pitchFamily="34" charset="-122"/>
                <a:cs typeface="Verdana" pitchFamily="34" charset="-120"/>
              </a:rPr>
              <a:t>Empreinte levée, jamais débité. Patron prévenu (e-mail + SMS).</a:t>
            </a:r>
            <a:endParaRPr lang="en-US" sz="1500" dirty="0"/>
          </a:p>
        </p:txBody>
      </p:sp>
      <p:sp>
        <p:nvSpPr>
          <p:cNvPr id="10" name="Shape 7"/>
          <p:cNvSpPr/>
          <p:nvPr/>
        </p:nvSpPr>
        <p:spPr>
          <a:xfrm>
            <a:off x="6199632" y="1783080"/>
            <a:ext cx="5440680" cy="1783080"/>
          </a:xfrm>
          <a:prstGeom prst="roundRect">
            <a:avLst>
              <a:gd name="adj" fmla="val 10256"/>
            </a:avLst>
          </a:prstGeom>
          <a:solidFill>
            <a:srgbClr val="E6F6EC"/>
          </a:solidFill>
          <a:ln w="12700">
            <a:solidFill>
              <a:srgbClr val="E6F6EC"/>
            </a:solidFill>
            <a:prstDash val="solid"/>
          </a:ln>
        </p:spPr>
        <p:txBody>
          <a:bodyPr/>
          <a:lstStyle/>
          <a:p>
            <a:endParaRPr lang="fr-FR"/>
          </a:p>
        </p:txBody>
      </p:sp>
      <p:sp>
        <p:nvSpPr>
          <p:cNvPr id="11" name="Shape 8"/>
          <p:cNvSpPr/>
          <p:nvPr/>
        </p:nvSpPr>
        <p:spPr>
          <a:xfrm>
            <a:off x="6473952" y="2103120"/>
            <a:ext cx="640080" cy="640080"/>
          </a:xfrm>
          <a:prstGeom prst="ellipse">
            <a:avLst/>
          </a:prstGeom>
          <a:solidFill>
            <a:srgbClr val="1B7A3D"/>
          </a:solidFill>
          <a:ln w="12700">
            <a:solidFill>
              <a:srgbClr val="1B7A3D"/>
            </a:solidFill>
            <a:prstDash val="solid"/>
          </a:ln>
        </p:spPr>
        <p:txBody>
          <a:bodyPr/>
          <a:lstStyle/>
          <a:p>
            <a:endParaRPr lang="fr-FR"/>
          </a:p>
        </p:txBody>
      </p:sp>
      <p:pic>
        <p:nvPicPr>
          <p:cNvPr id="12" name="Image 1" descr="preencoded.png"/>
          <p:cNvPicPr>
            <a:picLocks noChangeAspect="1"/>
          </p:cNvPicPr>
          <p:nvPr/>
        </p:nvPicPr>
        <p:blipFill>
          <a:blip r:embed="rId4"/>
          <a:stretch>
            <a:fillRect/>
          </a:stretch>
        </p:blipFill>
        <p:spPr>
          <a:xfrm>
            <a:off x="6633972" y="2263140"/>
            <a:ext cx="320040" cy="320040"/>
          </a:xfrm>
          <a:prstGeom prst="rect">
            <a:avLst/>
          </a:prstGeom>
        </p:spPr>
      </p:pic>
      <p:sp>
        <p:nvSpPr>
          <p:cNvPr id="13" name="Text 9"/>
          <p:cNvSpPr txBox="1"/>
          <p:nvPr/>
        </p:nvSpPr>
        <p:spPr>
          <a:xfrm>
            <a:off x="7342632" y="2057400"/>
            <a:ext cx="4069080" cy="384048"/>
          </a:xfrm>
          <a:prstGeom prst="rect">
            <a:avLst/>
          </a:prstGeom>
          <a:noFill/>
          <a:ln/>
        </p:spPr>
        <p:txBody>
          <a:bodyPr wrap="square" lIns="0" tIns="0" rIns="0" bIns="0" rtlCol="0" anchor="t"/>
          <a:lstStyle/>
          <a:p>
            <a:pPr marL="0" indent="0">
              <a:buNone/>
            </a:pPr>
            <a:r>
              <a:rPr lang="en-US" sz="1750" b="1" dirty="0">
                <a:solidFill>
                  <a:srgbClr val="1B7A3D"/>
                </a:solidFill>
                <a:latin typeface="Verdana" pitchFamily="34" charset="0"/>
                <a:ea typeface="Verdana" pitchFamily="34" charset="-122"/>
                <a:cs typeface="Verdana" pitchFamily="34" charset="-120"/>
              </a:rPr>
              <a:t>Plus de 48 h avant</a:t>
            </a:r>
            <a:endParaRPr lang="en-US" sz="1750" dirty="0"/>
          </a:p>
        </p:txBody>
      </p:sp>
      <p:sp>
        <p:nvSpPr>
          <p:cNvPr id="14" name="Text 10"/>
          <p:cNvSpPr txBox="1"/>
          <p:nvPr/>
        </p:nvSpPr>
        <p:spPr>
          <a:xfrm>
            <a:off x="7342632" y="2496312"/>
            <a:ext cx="4069080" cy="960120"/>
          </a:xfrm>
          <a:prstGeom prst="rect">
            <a:avLst/>
          </a:prstGeom>
          <a:noFill/>
          <a:ln/>
        </p:spPr>
        <p:txBody>
          <a:bodyPr wrap="square" lIns="0" tIns="0" rIns="0" bIns="0" rtlCol="0" anchor="t"/>
          <a:lstStyle/>
          <a:p>
            <a:pPr marL="0" indent="0">
              <a:buNone/>
            </a:pPr>
            <a:r>
              <a:rPr lang="en-US" sz="1500" dirty="0">
                <a:solidFill>
                  <a:srgbClr val="3A4658"/>
                </a:solidFill>
                <a:latin typeface="Verdana" pitchFamily="34" charset="0"/>
                <a:ea typeface="Verdana" pitchFamily="34" charset="-122"/>
                <a:cs typeface="Verdana" pitchFamily="34" charset="-120"/>
              </a:rPr>
              <a:t>Remboursement intégral, automatique. Places à nouveau réservables.</a:t>
            </a:r>
            <a:endParaRPr lang="en-US" sz="1500" dirty="0"/>
          </a:p>
        </p:txBody>
      </p:sp>
      <p:sp>
        <p:nvSpPr>
          <p:cNvPr id="15" name="Shape 11"/>
          <p:cNvSpPr/>
          <p:nvPr/>
        </p:nvSpPr>
        <p:spPr>
          <a:xfrm>
            <a:off x="548640" y="3749040"/>
            <a:ext cx="5440680" cy="1783080"/>
          </a:xfrm>
          <a:prstGeom prst="roundRect">
            <a:avLst>
              <a:gd name="adj" fmla="val 10256"/>
            </a:avLst>
          </a:prstGeom>
          <a:solidFill>
            <a:srgbClr val="FFF4DC"/>
          </a:solidFill>
          <a:ln w="12700">
            <a:solidFill>
              <a:srgbClr val="FFF4DC"/>
            </a:solidFill>
            <a:prstDash val="solid"/>
          </a:ln>
        </p:spPr>
        <p:txBody>
          <a:bodyPr/>
          <a:lstStyle/>
          <a:p>
            <a:endParaRPr lang="fr-FR"/>
          </a:p>
        </p:txBody>
      </p:sp>
      <p:sp>
        <p:nvSpPr>
          <p:cNvPr id="16" name="Shape 12"/>
          <p:cNvSpPr/>
          <p:nvPr/>
        </p:nvSpPr>
        <p:spPr>
          <a:xfrm>
            <a:off x="822960" y="4069080"/>
            <a:ext cx="640080" cy="640080"/>
          </a:xfrm>
          <a:prstGeom prst="ellipse">
            <a:avLst/>
          </a:prstGeom>
          <a:solidFill>
            <a:srgbClr val="B45309"/>
          </a:solidFill>
          <a:ln w="12700">
            <a:solidFill>
              <a:srgbClr val="B45309"/>
            </a:solidFill>
            <a:prstDash val="solid"/>
          </a:ln>
        </p:spPr>
        <p:txBody>
          <a:bodyPr/>
          <a:lstStyle/>
          <a:p>
            <a:endParaRPr lang="fr-FR"/>
          </a:p>
        </p:txBody>
      </p:sp>
      <p:pic>
        <p:nvPicPr>
          <p:cNvPr id="17" name="Image 2" descr="preencoded.png"/>
          <p:cNvPicPr>
            <a:picLocks noChangeAspect="1"/>
          </p:cNvPicPr>
          <p:nvPr/>
        </p:nvPicPr>
        <p:blipFill>
          <a:blip r:embed="rId5"/>
          <a:stretch>
            <a:fillRect/>
          </a:stretch>
        </p:blipFill>
        <p:spPr>
          <a:xfrm>
            <a:off x="982980" y="4229100"/>
            <a:ext cx="320040" cy="320040"/>
          </a:xfrm>
          <a:prstGeom prst="rect">
            <a:avLst/>
          </a:prstGeom>
        </p:spPr>
      </p:pic>
      <p:sp>
        <p:nvSpPr>
          <p:cNvPr id="18" name="Text 13"/>
          <p:cNvSpPr txBox="1"/>
          <p:nvPr/>
        </p:nvSpPr>
        <p:spPr>
          <a:xfrm>
            <a:off x="1691640" y="4023360"/>
            <a:ext cx="4069080" cy="384048"/>
          </a:xfrm>
          <a:prstGeom prst="rect">
            <a:avLst/>
          </a:prstGeom>
          <a:noFill/>
          <a:ln/>
        </p:spPr>
        <p:txBody>
          <a:bodyPr wrap="square" lIns="0" tIns="0" rIns="0" bIns="0" rtlCol="0" anchor="t"/>
          <a:lstStyle/>
          <a:p>
            <a:pPr marL="0" indent="0">
              <a:buNone/>
            </a:pPr>
            <a:r>
              <a:rPr lang="en-US" sz="1750" b="1" dirty="0">
                <a:solidFill>
                  <a:srgbClr val="B45309"/>
                </a:solidFill>
                <a:latin typeface="Verdana" pitchFamily="34" charset="0"/>
                <a:ea typeface="Verdana" pitchFamily="34" charset="-122"/>
                <a:cs typeface="Verdana" pitchFamily="34" charset="-120"/>
              </a:rPr>
              <a:t>Moins de 48 h avant</a:t>
            </a:r>
            <a:endParaRPr lang="en-US" sz="1750" dirty="0"/>
          </a:p>
        </p:txBody>
      </p:sp>
      <p:sp>
        <p:nvSpPr>
          <p:cNvPr id="19" name="Text 14"/>
          <p:cNvSpPr txBox="1"/>
          <p:nvPr/>
        </p:nvSpPr>
        <p:spPr>
          <a:xfrm>
            <a:off x="1691640" y="4462272"/>
            <a:ext cx="4069080" cy="960120"/>
          </a:xfrm>
          <a:prstGeom prst="rect">
            <a:avLst/>
          </a:prstGeom>
          <a:noFill/>
          <a:ln/>
        </p:spPr>
        <p:txBody>
          <a:bodyPr wrap="square" lIns="0" tIns="0" rIns="0" bIns="0" rtlCol="0" anchor="t"/>
          <a:lstStyle/>
          <a:p>
            <a:pPr marL="0" indent="0">
              <a:buNone/>
            </a:pPr>
            <a:r>
              <a:rPr lang="en-US" sz="1500" dirty="0">
                <a:solidFill>
                  <a:srgbClr val="3A4658"/>
                </a:solidFill>
                <a:latin typeface="Verdana" pitchFamily="34" charset="0"/>
                <a:ea typeface="Verdana" pitchFamily="34" charset="-122"/>
                <a:cs typeface="Verdana" pitchFamily="34" charset="-120"/>
              </a:rPr>
              <a:t>Possible, mais non remboursée : le client coche une case pour confirmer.</a:t>
            </a:r>
            <a:endParaRPr lang="en-US" sz="1500" dirty="0"/>
          </a:p>
        </p:txBody>
      </p:sp>
      <p:sp>
        <p:nvSpPr>
          <p:cNvPr id="20" name="Shape 15"/>
          <p:cNvSpPr/>
          <p:nvPr/>
        </p:nvSpPr>
        <p:spPr>
          <a:xfrm>
            <a:off x="6199632" y="3749040"/>
            <a:ext cx="5440680" cy="1783080"/>
          </a:xfrm>
          <a:prstGeom prst="roundRect">
            <a:avLst>
              <a:gd name="adj" fmla="val 10256"/>
            </a:avLst>
          </a:prstGeom>
          <a:solidFill>
            <a:srgbClr val="E6F0FA"/>
          </a:solidFill>
          <a:ln w="12700">
            <a:solidFill>
              <a:srgbClr val="E6F0FA"/>
            </a:solidFill>
            <a:prstDash val="solid"/>
          </a:ln>
        </p:spPr>
        <p:txBody>
          <a:bodyPr/>
          <a:lstStyle/>
          <a:p>
            <a:endParaRPr lang="fr-FR"/>
          </a:p>
        </p:txBody>
      </p:sp>
      <p:sp>
        <p:nvSpPr>
          <p:cNvPr id="21" name="Shape 16"/>
          <p:cNvSpPr/>
          <p:nvPr/>
        </p:nvSpPr>
        <p:spPr>
          <a:xfrm>
            <a:off x="6473952" y="4069080"/>
            <a:ext cx="640080" cy="640080"/>
          </a:xfrm>
          <a:prstGeom prst="ellipse">
            <a:avLst/>
          </a:prstGeom>
          <a:solidFill>
            <a:srgbClr val="0074B5"/>
          </a:solidFill>
          <a:ln w="12700">
            <a:solidFill>
              <a:srgbClr val="0074B5"/>
            </a:solidFill>
            <a:prstDash val="solid"/>
          </a:ln>
        </p:spPr>
        <p:txBody>
          <a:bodyPr/>
          <a:lstStyle/>
          <a:p>
            <a:endParaRPr lang="fr-FR"/>
          </a:p>
        </p:txBody>
      </p:sp>
      <p:pic>
        <p:nvPicPr>
          <p:cNvPr id="22" name="Image 3" descr="preencoded.png"/>
          <p:cNvPicPr>
            <a:picLocks noChangeAspect="1"/>
          </p:cNvPicPr>
          <p:nvPr/>
        </p:nvPicPr>
        <p:blipFill>
          <a:blip r:embed="rId6"/>
          <a:stretch>
            <a:fillRect/>
          </a:stretch>
        </p:blipFill>
        <p:spPr>
          <a:xfrm>
            <a:off x="6633972" y="4229100"/>
            <a:ext cx="320040" cy="320040"/>
          </a:xfrm>
          <a:prstGeom prst="rect">
            <a:avLst/>
          </a:prstGeom>
        </p:spPr>
      </p:pic>
      <p:sp>
        <p:nvSpPr>
          <p:cNvPr id="23" name="Text 17"/>
          <p:cNvSpPr txBox="1"/>
          <p:nvPr/>
        </p:nvSpPr>
        <p:spPr>
          <a:xfrm>
            <a:off x="7342632" y="4023360"/>
            <a:ext cx="4069080" cy="384048"/>
          </a:xfrm>
          <a:prstGeom prst="rect">
            <a:avLst/>
          </a:prstGeom>
          <a:noFill/>
          <a:ln/>
        </p:spPr>
        <p:txBody>
          <a:bodyPr wrap="square" lIns="0" tIns="0" rIns="0" bIns="0" rtlCol="0" anchor="t"/>
          <a:lstStyle/>
          <a:p>
            <a:pPr marL="0" indent="0">
              <a:buNone/>
            </a:pPr>
            <a:r>
              <a:rPr lang="en-US" sz="1750" b="1" dirty="0">
                <a:solidFill>
                  <a:srgbClr val="0074B5"/>
                </a:solidFill>
                <a:latin typeface="Verdana" pitchFamily="34" charset="0"/>
                <a:ea typeface="Verdana" pitchFamily="34" charset="-122"/>
                <a:cs typeface="Verdana" pitchFamily="34" charset="-120"/>
              </a:rPr>
              <a:t>Le patron annule ou reporte</a:t>
            </a:r>
            <a:endParaRPr lang="en-US" sz="1750" dirty="0"/>
          </a:p>
        </p:txBody>
      </p:sp>
      <p:sp>
        <p:nvSpPr>
          <p:cNvPr id="24" name="Text 18"/>
          <p:cNvSpPr txBox="1"/>
          <p:nvPr/>
        </p:nvSpPr>
        <p:spPr>
          <a:xfrm>
            <a:off x="7342632" y="4462272"/>
            <a:ext cx="4069080" cy="960120"/>
          </a:xfrm>
          <a:prstGeom prst="rect">
            <a:avLst/>
          </a:prstGeom>
          <a:noFill/>
          <a:ln/>
        </p:spPr>
        <p:txBody>
          <a:bodyPr wrap="square" lIns="0" tIns="0" rIns="0" bIns="0" rtlCol="0" anchor="t"/>
          <a:lstStyle/>
          <a:p>
            <a:pPr marL="0" indent="0">
              <a:buNone/>
            </a:pPr>
            <a:r>
              <a:rPr lang="en-US" sz="1500" dirty="0">
                <a:solidFill>
                  <a:srgbClr val="3A4658"/>
                </a:solidFill>
                <a:latin typeface="Verdana" pitchFamily="34" charset="0"/>
                <a:ea typeface="Verdana" pitchFamily="34" charset="-122"/>
                <a:cs typeface="Verdana" pitchFamily="34" charset="-120"/>
              </a:rPr>
              <a:t>Météo, sécurité, imprévu : remboursement intégral. Report refusé : le client annule, remboursé quel que soit le délai.</a:t>
            </a:r>
            <a:endParaRPr lang="en-US" sz="1500" dirty="0"/>
          </a:p>
        </p:txBody>
      </p:sp>
      <p:sp>
        <p:nvSpPr>
          <p:cNvPr id="25" name="Text 19"/>
          <p:cNvSpPr txBox="1"/>
          <p:nvPr/>
        </p:nvSpPr>
        <p:spPr>
          <a:xfrm>
            <a:off x="548640" y="5742432"/>
            <a:ext cx="11094415" cy="685800"/>
          </a:xfrm>
          <a:prstGeom prst="rect">
            <a:avLst/>
          </a:prstGeom>
          <a:noFill/>
          <a:ln/>
        </p:spPr>
        <p:txBody>
          <a:bodyPr wrap="square" lIns="0" tIns="0" rIns="0" bIns="0" rtlCol="0" anchor="t"/>
          <a:lstStyle/>
          <a:p>
            <a:pPr marL="0" indent="0">
              <a:buNone/>
            </a:pPr>
            <a:r>
              <a:rPr lang="en-US" sz="1300" i="1" dirty="0">
                <a:solidFill>
                  <a:srgbClr val="66728A"/>
                </a:solidFill>
                <a:latin typeface="Verdana" pitchFamily="34" charset="0"/>
                <a:ea typeface="Verdana" pitchFamily="34" charset="-122"/>
                <a:cs typeface="Verdana" pitchFamily="34" charset="-120"/>
              </a:rPr>
              <a:t>Chaque annulation : e-mail au client, copie à Mare Durabilis. Pas de droit de rétractation (art. L221-28 12° du Code de la consommation) ; politique à faire valider juridiquement.</a:t>
            </a:r>
            <a:endParaRPr lang="en-US" sz="1300" dirty="0"/>
          </a:p>
        </p:txBody>
      </p:sp>
      <p:sp>
        <p:nvSpPr>
          <p:cNvPr id="26" name="Text 20"/>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11</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LE TOURISTE · CHANGEMENT DE DATE</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Déplacer une sortie : le client garde la main</a:t>
            </a:r>
            <a:endParaRPr lang="en-US" sz="2300" dirty="0"/>
          </a:p>
        </p:txBody>
      </p:sp>
      <p:sp>
        <p:nvSpPr>
          <p:cNvPr id="4" name="Text 2"/>
          <p:cNvSpPr txBox="1"/>
          <p:nvPr/>
        </p:nvSpPr>
        <p:spPr>
          <a:xfrm>
            <a:off x="548640" y="1216152"/>
            <a:ext cx="11094415" cy="457200"/>
          </a:xfrm>
          <a:prstGeom prst="rect">
            <a:avLst/>
          </a:prstGeom>
          <a:noFill/>
          <a:ln/>
        </p:spPr>
        <p:txBody>
          <a:bodyPr wrap="square" lIns="0" tIns="0" rIns="0" bIns="0" rtlCol="0" anchor="t"/>
          <a:lstStyle/>
          <a:p>
            <a:pPr marL="0" indent="0">
              <a:buNone/>
            </a:pPr>
            <a:r>
              <a:rPr lang="en-US" sz="1550" dirty="0">
                <a:solidFill>
                  <a:srgbClr val="66728A"/>
                </a:solidFill>
                <a:latin typeface="Verdana" pitchFamily="34" charset="0"/>
                <a:ea typeface="Verdana" pitchFamily="34" charset="-122"/>
                <a:cs typeface="Verdana" pitchFamily="34" charset="-120"/>
              </a:rPr>
              <a:t>Météo, avarie, imprévu : le patron propose une date, le client décide. Rien ne change sans lui.</a:t>
            </a:r>
            <a:endParaRPr lang="en-US" sz="1550" dirty="0"/>
          </a:p>
        </p:txBody>
      </p:sp>
      <p:sp>
        <p:nvSpPr>
          <p:cNvPr id="5" name="Shape 3"/>
          <p:cNvSpPr/>
          <p:nvPr/>
        </p:nvSpPr>
        <p:spPr>
          <a:xfrm>
            <a:off x="548640" y="2377440"/>
            <a:ext cx="3108960" cy="2103120"/>
          </a:xfrm>
          <a:prstGeom prst="roundRect">
            <a:avLst>
              <a:gd name="adj" fmla="val 8696"/>
            </a:avLst>
          </a:prstGeom>
          <a:solidFill>
            <a:srgbClr val="1F5BD6"/>
          </a:solidFill>
          <a:ln w="12700">
            <a:solidFill>
              <a:srgbClr val="1F5BD6"/>
            </a:solidFill>
            <a:prstDash val="solid"/>
          </a:ln>
        </p:spPr>
        <p:txBody>
          <a:bodyPr/>
          <a:lstStyle/>
          <a:p>
            <a:endParaRPr lang="fr-FR"/>
          </a:p>
        </p:txBody>
      </p:sp>
      <p:sp>
        <p:nvSpPr>
          <p:cNvPr id="6" name="Text 4"/>
          <p:cNvSpPr txBox="1"/>
          <p:nvPr/>
        </p:nvSpPr>
        <p:spPr>
          <a:xfrm>
            <a:off x="777240" y="2487168"/>
            <a:ext cx="2651760" cy="1883664"/>
          </a:xfrm>
          <a:prstGeom prst="rect">
            <a:avLst/>
          </a:prstGeom>
          <a:noFill/>
          <a:ln/>
        </p:spPr>
        <p:txBody>
          <a:bodyPr wrap="square" lIns="0" tIns="0" rIns="0" bIns="0" rtlCol="0" anchor="ctr"/>
          <a:lstStyle/>
          <a:p>
            <a:pPr marL="0" indent="0">
              <a:spcAft>
                <a:spcPts val="400"/>
              </a:spcAft>
              <a:buNone/>
            </a:pPr>
            <a:r>
              <a:rPr lang="en-US" sz="1650" b="1" dirty="0">
                <a:solidFill>
                  <a:srgbClr val="FFFFFF"/>
                </a:solidFill>
                <a:latin typeface="Verdana" pitchFamily="34" charset="0"/>
                <a:ea typeface="Verdana" pitchFamily="34" charset="-122"/>
                <a:cs typeface="Verdana" pitchFamily="34" charset="-120"/>
              </a:rPr>
              <a:t>1. Le patron propose</a:t>
            </a:r>
            <a:endParaRPr lang="en-US" sz="1450" dirty="0"/>
          </a:p>
          <a:p>
            <a:pPr marL="0" indent="0">
              <a:spcAft>
                <a:spcPts val="400"/>
              </a:spcAft>
              <a:buNone/>
            </a:pPr>
            <a:r>
              <a:rPr lang="en-US" sz="1400" dirty="0">
                <a:solidFill>
                  <a:srgbClr val="FFFFFF"/>
                </a:solidFill>
                <a:latin typeface="Verdana" pitchFamily="34" charset="0"/>
                <a:ea typeface="Verdana" pitchFamily="34" charset="-122"/>
                <a:cs typeface="Verdana" pitchFamily="34" charset="-120"/>
              </a:rPr>
              <a:t>« Changer la date » sur une sortie confirmée, puis un jour libre. L’ancienne date tient en attendant.</a:t>
            </a:r>
            <a:endParaRPr lang="en-US" sz="1450" dirty="0"/>
          </a:p>
        </p:txBody>
      </p:sp>
      <p:sp>
        <p:nvSpPr>
          <p:cNvPr id="7" name="Shape 5"/>
          <p:cNvSpPr/>
          <p:nvPr/>
        </p:nvSpPr>
        <p:spPr>
          <a:xfrm>
            <a:off x="4069080" y="2377440"/>
            <a:ext cx="3108960" cy="2103120"/>
          </a:xfrm>
          <a:prstGeom prst="roundRect">
            <a:avLst>
              <a:gd name="adj" fmla="val 8696"/>
            </a:avLst>
          </a:prstGeom>
          <a:solidFill>
            <a:srgbClr val="EEF4FD"/>
          </a:solidFill>
          <a:ln w="12700">
            <a:solidFill>
              <a:srgbClr val="EEF4FD"/>
            </a:solidFill>
            <a:prstDash val="solid"/>
          </a:ln>
        </p:spPr>
        <p:txBody>
          <a:bodyPr/>
          <a:lstStyle/>
          <a:p>
            <a:endParaRPr lang="fr-FR"/>
          </a:p>
        </p:txBody>
      </p:sp>
      <p:sp>
        <p:nvSpPr>
          <p:cNvPr id="8" name="Text 6"/>
          <p:cNvSpPr txBox="1"/>
          <p:nvPr/>
        </p:nvSpPr>
        <p:spPr>
          <a:xfrm>
            <a:off x="4297680" y="2487168"/>
            <a:ext cx="2651760" cy="1883664"/>
          </a:xfrm>
          <a:prstGeom prst="rect">
            <a:avLst/>
          </a:prstGeom>
          <a:noFill/>
          <a:ln/>
        </p:spPr>
        <p:txBody>
          <a:bodyPr wrap="square" lIns="0" tIns="0" rIns="0" bIns="0" rtlCol="0" anchor="ctr"/>
          <a:lstStyle/>
          <a:p>
            <a:pPr marL="0" indent="0">
              <a:spcAft>
                <a:spcPts val="400"/>
              </a:spcAft>
              <a:buNone/>
            </a:pPr>
            <a:r>
              <a:rPr lang="en-US" sz="1650" b="1" dirty="0">
                <a:solidFill>
                  <a:srgbClr val="0012B5"/>
                </a:solidFill>
                <a:latin typeface="Verdana" pitchFamily="34" charset="0"/>
                <a:ea typeface="Verdana" pitchFamily="34" charset="-122"/>
                <a:cs typeface="Verdana" pitchFamily="34" charset="-120"/>
              </a:rPr>
              <a:t>2. Le client reçoit un e-mail</a:t>
            </a:r>
            <a:endParaRPr lang="en-US" sz="1450" dirty="0"/>
          </a:p>
          <a:p>
            <a:pPr marL="0" indent="0">
              <a:spcAft>
                <a:spcPts val="400"/>
              </a:spcAft>
              <a:buNone/>
            </a:pPr>
            <a:r>
              <a:rPr lang="en-US" sz="1400" dirty="0">
                <a:solidFill>
                  <a:srgbClr val="3A4658"/>
                </a:solidFill>
                <a:latin typeface="Verdana" pitchFamily="34" charset="0"/>
                <a:ea typeface="Verdana" pitchFamily="34" charset="-122"/>
                <a:cs typeface="Verdana" pitchFamily="34" charset="-120"/>
              </a:rPr>
              <a:t>Boutons « J’accepte la nouvelle date » / « Je refuse ». Téléphone du patron indiqué. L’équipe est informée.</a:t>
            </a:r>
            <a:endParaRPr lang="en-US" sz="1450" dirty="0"/>
          </a:p>
        </p:txBody>
      </p:sp>
      <p:sp>
        <p:nvSpPr>
          <p:cNvPr id="9" name="Shape 7"/>
          <p:cNvSpPr/>
          <p:nvPr/>
        </p:nvSpPr>
        <p:spPr>
          <a:xfrm>
            <a:off x="3657600" y="3429000"/>
            <a:ext cx="411480" cy="914"/>
          </a:xfrm>
          <a:prstGeom prst="line">
            <a:avLst/>
          </a:prstGeom>
          <a:noFill/>
          <a:ln w="28575">
            <a:solidFill>
              <a:srgbClr val="1F5BD6"/>
            </a:solidFill>
            <a:prstDash val="solid"/>
            <a:tailEnd type="triangle"/>
          </a:ln>
        </p:spPr>
        <p:txBody>
          <a:bodyPr/>
          <a:lstStyle/>
          <a:p>
            <a:endParaRPr lang="fr-FR"/>
          </a:p>
        </p:txBody>
      </p:sp>
      <p:sp>
        <p:nvSpPr>
          <p:cNvPr id="10" name="Shape 8"/>
          <p:cNvSpPr/>
          <p:nvPr/>
        </p:nvSpPr>
        <p:spPr>
          <a:xfrm flipV="1">
            <a:off x="7178040" y="2514600"/>
            <a:ext cx="411480" cy="914400"/>
          </a:xfrm>
          <a:prstGeom prst="line">
            <a:avLst/>
          </a:prstGeom>
          <a:noFill/>
          <a:ln w="28575">
            <a:solidFill>
              <a:srgbClr val="1B7A3D"/>
            </a:solidFill>
            <a:prstDash val="solid"/>
            <a:tailEnd type="triangle"/>
          </a:ln>
        </p:spPr>
        <p:txBody>
          <a:bodyPr/>
          <a:lstStyle/>
          <a:p>
            <a:endParaRPr lang="fr-FR"/>
          </a:p>
        </p:txBody>
      </p:sp>
      <p:sp>
        <p:nvSpPr>
          <p:cNvPr id="11" name="Shape 9"/>
          <p:cNvSpPr/>
          <p:nvPr/>
        </p:nvSpPr>
        <p:spPr>
          <a:xfrm>
            <a:off x="7178040" y="3429000"/>
            <a:ext cx="411480" cy="1097280"/>
          </a:xfrm>
          <a:prstGeom prst="line">
            <a:avLst/>
          </a:prstGeom>
          <a:noFill/>
          <a:ln w="28575">
            <a:solidFill>
              <a:srgbClr val="B3312D"/>
            </a:solidFill>
            <a:prstDash val="solid"/>
            <a:tailEnd type="triangle"/>
          </a:ln>
        </p:spPr>
        <p:txBody>
          <a:bodyPr/>
          <a:lstStyle/>
          <a:p>
            <a:endParaRPr lang="fr-FR"/>
          </a:p>
        </p:txBody>
      </p:sp>
      <p:sp>
        <p:nvSpPr>
          <p:cNvPr id="12" name="Shape 10"/>
          <p:cNvSpPr/>
          <p:nvPr/>
        </p:nvSpPr>
        <p:spPr>
          <a:xfrm>
            <a:off x="7589520" y="1783080"/>
            <a:ext cx="4069080" cy="1600200"/>
          </a:xfrm>
          <a:prstGeom prst="roundRect">
            <a:avLst>
              <a:gd name="adj" fmla="val 11429"/>
            </a:avLst>
          </a:prstGeom>
          <a:solidFill>
            <a:srgbClr val="E6F6EC"/>
          </a:solidFill>
          <a:ln w="12700">
            <a:solidFill>
              <a:srgbClr val="E6F6EC"/>
            </a:solidFill>
            <a:prstDash val="solid"/>
          </a:ln>
        </p:spPr>
        <p:txBody>
          <a:bodyPr/>
          <a:lstStyle/>
          <a:p>
            <a:endParaRPr lang="fr-FR"/>
          </a:p>
        </p:txBody>
      </p:sp>
      <p:sp>
        <p:nvSpPr>
          <p:cNvPr id="13" name="Text 11"/>
          <p:cNvSpPr txBox="1"/>
          <p:nvPr/>
        </p:nvSpPr>
        <p:spPr>
          <a:xfrm>
            <a:off x="7818120" y="1892808"/>
            <a:ext cx="3611880" cy="1380744"/>
          </a:xfrm>
          <a:prstGeom prst="rect">
            <a:avLst/>
          </a:prstGeom>
          <a:noFill/>
          <a:ln/>
        </p:spPr>
        <p:txBody>
          <a:bodyPr wrap="square" lIns="0" tIns="0" rIns="0" bIns="0" rtlCol="0" anchor="ctr"/>
          <a:lstStyle/>
          <a:p>
            <a:pPr marL="0" indent="0">
              <a:spcAft>
                <a:spcPts val="400"/>
              </a:spcAft>
              <a:buNone/>
            </a:pPr>
            <a:r>
              <a:rPr lang="en-US" sz="1650" b="1" dirty="0">
                <a:solidFill>
                  <a:srgbClr val="1B7A3D"/>
                </a:solidFill>
                <a:latin typeface="Verdana" pitchFamily="34" charset="0"/>
                <a:ea typeface="Verdana" pitchFamily="34" charset="-122"/>
                <a:cs typeface="Verdana" pitchFamily="34" charset="-120"/>
              </a:rPr>
              <a:t>Il accepte</a:t>
            </a:r>
            <a:endParaRPr lang="en-US" sz="1450" dirty="0"/>
          </a:p>
          <a:p>
            <a:pPr marL="0" indent="0">
              <a:spcAft>
                <a:spcPts val="400"/>
              </a:spcAft>
              <a:buNone/>
            </a:pPr>
            <a:r>
              <a:rPr lang="en-US" sz="1400" dirty="0">
                <a:solidFill>
                  <a:srgbClr val="3A4658"/>
                </a:solidFill>
                <a:latin typeface="Verdana" pitchFamily="34" charset="0"/>
                <a:ea typeface="Verdana" pitchFamily="34" charset="-122"/>
                <a:cs typeface="Verdana" pitchFamily="34" charset="-120"/>
              </a:rPr>
              <a:t>Nouvelle date, même montant. Patron prévenu par e-mail et SMS, équipe par e-mail.</a:t>
            </a:r>
            <a:endParaRPr lang="en-US" sz="1450" dirty="0"/>
          </a:p>
        </p:txBody>
      </p:sp>
      <p:sp>
        <p:nvSpPr>
          <p:cNvPr id="14" name="Shape 12"/>
          <p:cNvSpPr/>
          <p:nvPr/>
        </p:nvSpPr>
        <p:spPr>
          <a:xfrm>
            <a:off x="7589520" y="3703320"/>
            <a:ext cx="4069080" cy="1783080"/>
          </a:xfrm>
          <a:prstGeom prst="roundRect">
            <a:avLst>
              <a:gd name="adj" fmla="val 10256"/>
            </a:avLst>
          </a:prstGeom>
          <a:solidFill>
            <a:srgbClr val="FCEBE9"/>
          </a:solidFill>
          <a:ln w="12700">
            <a:solidFill>
              <a:srgbClr val="FCEBE9"/>
            </a:solidFill>
            <a:prstDash val="solid"/>
          </a:ln>
        </p:spPr>
        <p:txBody>
          <a:bodyPr/>
          <a:lstStyle/>
          <a:p>
            <a:endParaRPr lang="fr-FR"/>
          </a:p>
        </p:txBody>
      </p:sp>
      <p:sp>
        <p:nvSpPr>
          <p:cNvPr id="15" name="Text 13"/>
          <p:cNvSpPr txBox="1"/>
          <p:nvPr/>
        </p:nvSpPr>
        <p:spPr>
          <a:xfrm>
            <a:off x="7818120" y="3813048"/>
            <a:ext cx="3611880" cy="1563624"/>
          </a:xfrm>
          <a:prstGeom prst="rect">
            <a:avLst/>
          </a:prstGeom>
          <a:noFill/>
          <a:ln/>
        </p:spPr>
        <p:txBody>
          <a:bodyPr wrap="square" lIns="0" tIns="0" rIns="0" bIns="0" rtlCol="0" anchor="ctr"/>
          <a:lstStyle/>
          <a:p>
            <a:pPr marL="0" indent="0">
              <a:spcAft>
                <a:spcPts val="400"/>
              </a:spcAft>
              <a:buNone/>
            </a:pPr>
            <a:r>
              <a:rPr lang="en-US" sz="1650" b="1" dirty="0">
                <a:solidFill>
                  <a:srgbClr val="B3312D"/>
                </a:solidFill>
                <a:latin typeface="Verdana" pitchFamily="34" charset="0"/>
                <a:ea typeface="Verdana" pitchFamily="34" charset="-122"/>
                <a:cs typeface="Verdana" pitchFamily="34" charset="-120"/>
              </a:rPr>
              <a:t>Il refuse</a:t>
            </a:r>
            <a:endParaRPr lang="en-US" sz="1450" dirty="0"/>
          </a:p>
          <a:p>
            <a:pPr marL="0" indent="0">
              <a:spcAft>
                <a:spcPts val="400"/>
              </a:spcAft>
              <a:buNone/>
            </a:pPr>
            <a:r>
              <a:rPr lang="en-US" sz="1400" dirty="0">
                <a:solidFill>
                  <a:srgbClr val="3A4658"/>
                </a:solidFill>
                <a:latin typeface="Verdana" pitchFamily="34" charset="0"/>
                <a:ea typeface="Verdana" pitchFamily="34" charset="-122"/>
                <a:cs typeface="Verdana" pitchFamily="34" charset="-120"/>
              </a:rPr>
              <a:t>Le patron propose une autre date ou annule. Le client peut annuler : remboursé en totalité.</a:t>
            </a:r>
            <a:endParaRPr lang="en-US" sz="1450" dirty="0"/>
          </a:p>
        </p:txBody>
      </p:sp>
      <p:sp>
        <p:nvSpPr>
          <p:cNvPr id="16" name="Shape 14"/>
          <p:cNvSpPr/>
          <p:nvPr/>
        </p:nvSpPr>
        <p:spPr>
          <a:xfrm>
            <a:off x="548640" y="5760720"/>
            <a:ext cx="11094415" cy="640080"/>
          </a:xfrm>
          <a:prstGeom prst="roundRect">
            <a:avLst>
              <a:gd name="adj" fmla="val 28571"/>
            </a:avLst>
          </a:prstGeom>
          <a:solidFill>
            <a:srgbClr val="EEF4FD"/>
          </a:solidFill>
          <a:ln w="12700">
            <a:solidFill>
              <a:srgbClr val="EEF4FD"/>
            </a:solidFill>
            <a:prstDash val="solid"/>
          </a:ln>
        </p:spPr>
        <p:txBody>
          <a:bodyPr/>
          <a:lstStyle/>
          <a:p>
            <a:endParaRPr lang="fr-FR"/>
          </a:p>
        </p:txBody>
      </p:sp>
      <p:sp>
        <p:nvSpPr>
          <p:cNvPr id="17" name="Text 15"/>
          <p:cNvSpPr txBox="1"/>
          <p:nvPr/>
        </p:nvSpPr>
        <p:spPr>
          <a:xfrm>
            <a:off x="822960" y="5760720"/>
            <a:ext cx="10545775" cy="640080"/>
          </a:xfrm>
          <a:prstGeom prst="rect">
            <a:avLst/>
          </a:prstGeom>
          <a:noFill/>
          <a:ln/>
        </p:spPr>
        <p:txBody>
          <a:bodyPr wrap="square" lIns="0" tIns="0" rIns="0" bIns="0" rtlCol="0" anchor="ctr"/>
          <a:lstStyle/>
          <a:p>
            <a:pPr marL="0" indent="0">
              <a:buNone/>
            </a:pPr>
            <a:r>
              <a:rPr lang="en-US" sz="1450" dirty="0">
                <a:solidFill>
                  <a:srgbClr val="3A4658"/>
                </a:solidFill>
                <a:latin typeface="Verdana" pitchFamily="34" charset="0"/>
                <a:ea typeface="Verdana" pitchFamily="34" charset="-122"/>
                <a:cs typeface="Verdana" pitchFamily="34" charset="-120"/>
              </a:rPr>
              <a:t>Le patron suit le report dans son espace : « en attente », « accepté » ou « refusé ».</a:t>
            </a:r>
            <a:endParaRPr lang="en-US" sz="1450" dirty="0"/>
          </a:p>
        </p:txBody>
      </p:sp>
      <p:sp>
        <p:nvSpPr>
          <p:cNvPr id="18" name="Text 16"/>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12</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home/claude/deck/crop3/sp-decouverte_697_35_50_30_.jpg"/>
          <p:cNvPicPr>
            <a:picLocks noChangeAspect="1"/>
          </p:cNvPicPr>
          <p:nvPr/>
        </p:nvPicPr>
        <p:blipFill>
          <a:blip r:embed="rId3"/>
          <a:stretch>
            <a:fillRect/>
          </a:stretch>
        </p:blipFill>
        <p:spPr>
          <a:xfrm>
            <a:off x="411480" y="411480"/>
            <a:ext cx="4206240" cy="6035040"/>
          </a:xfrm>
          <a:prstGeom prst="rect">
            <a:avLst/>
          </a:prstGeom>
        </p:spPr>
      </p:pic>
      <p:sp>
        <p:nvSpPr>
          <p:cNvPr id="3" name="Text 0"/>
          <p:cNvSpPr txBox="1"/>
          <p:nvPr/>
        </p:nvSpPr>
        <p:spPr>
          <a:xfrm>
            <a:off x="507492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SCIENCE PARTICIPATIVE</a:t>
            </a:r>
            <a:endParaRPr lang="en-US" sz="1200" dirty="0"/>
          </a:p>
        </p:txBody>
      </p:sp>
      <p:sp>
        <p:nvSpPr>
          <p:cNvPr id="4" name="Text 1"/>
          <p:cNvSpPr txBox="1"/>
          <p:nvPr/>
        </p:nvSpPr>
        <p:spPr>
          <a:xfrm>
            <a:off x="5074920" y="621792"/>
            <a:ext cx="6583680"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Les sorties découverte</a:t>
            </a:r>
            <a:endParaRPr lang="en-US" sz="2500" dirty="0"/>
          </a:p>
        </p:txBody>
      </p:sp>
      <p:sp>
        <p:nvSpPr>
          <p:cNvPr id="5" name="Text 2"/>
          <p:cNvSpPr txBox="1"/>
          <p:nvPr/>
        </p:nvSpPr>
        <p:spPr>
          <a:xfrm>
            <a:off x="5074920" y="1216152"/>
            <a:ext cx="6583680" cy="411480"/>
          </a:xfrm>
          <a:prstGeom prst="rect">
            <a:avLst/>
          </a:prstGeom>
          <a:noFill/>
          <a:ln/>
        </p:spPr>
        <p:txBody>
          <a:bodyPr wrap="square" lIns="0" tIns="0" rIns="0" bIns="0" rtlCol="0" anchor="t"/>
          <a:lstStyle/>
          <a:p>
            <a:pPr marL="0" indent="0">
              <a:buNone/>
            </a:pPr>
            <a:r>
              <a:rPr lang="en-US" sz="1550" dirty="0">
                <a:solidFill>
                  <a:srgbClr val="66728A"/>
                </a:solidFill>
                <a:latin typeface="Verdana" pitchFamily="34" charset="0"/>
                <a:ea typeface="Verdana" pitchFamily="34" charset="-122"/>
                <a:cs typeface="Verdana" pitchFamily="34" charset="-120"/>
              </a:rPr>
              <a:t>Le grand public embarque aux côtés d’une mission scientifique.</a:t>
            </a:r>
            <a:endParaRPr lang="en-US" sz="1550" dirty="0"/>
          </a:p>
        </p:txBody>
      </p:sp>
      <p:sp>
        <p:nvSpPr>
          <p:cNvPr id="6" name="Shape 3"/>
          <p:cNvSpPr/>
          <p:nvPr/>
        </p:nvSpPr>
        <p:spPr>
          <a:xfrm>
            <a:off x="5074920" y="1874520"/>
            <a:ext cx="457200" cy="457200"/>
          </a:xfrm>
          <a:prstGeom prst="ellipse">
            <a:avLst/>
          </a:prstGeom>
          <a:solidFill>
            <a:srgbClr val="0012B5"/>
          </a:solidFill>
          <a:ln w="12700">
            <a:solidFill>
              <a:srgbClr val="0012B5"/>
            </a:solidFill>
            <a:prstDash val="solid"/>
          </a:ln>
        </p:spPr>
        <p:txBody>
          <a:bodyPr/>
          <a:lstStyle/>
          <a:p>
            <a:endParaRPr lang="fr-FR"/>
          </a:p>
        </p:txBody>
      </p:sp>
      <p:sp>
        <p:nvSpPr>
          <p:cNvPr id="7" name="Text 4"/>
          <p:cNvSpPr txBox="1"/>
          <p:nvPr/>
        </p:nvSpPr>
        <p:spPr>
          <a:xfrm>
            <a:off x="5074920" y="18745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1</a:t>
            </a:r>
            <a:endParaRPr lang="en-US" sz="1400" dirty="0"/>
          </a:p>
        </p:txBody>
      </p:sp>
      <p:sp>
        <p:nvSpPr>
          <p:cNvPr id="8" name="Text 5"/>
          <p:cNvSpPr txBox="1"/>
          <p:nvPr/>
        </p:nvSpPr>
        <p:spPr>
          <a:xfrm>
            <a:off x="5715000" y="1892808"/>
            <a:ext cx="594360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Quand ?</a:t>
            </a:r>
            <a:endParaRPr lang="en-US" sz="1700" dirty="0"/>
          </a:p>
        </p:txBody>
      </p:sp>
      <p:sp>
        <p:nvSpPr>
          <p:cNvPr id="9" name="Text 6"/>
          <p:cNvSpPr txBox="1"/>
          <p:nvPr/>
        </p:nvSpPr>
        <p:spPr>
          <a:xfrm>
            <a:off x="5715000" y="2258568"/>
            <a:ext cx="5943600" cy="64008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Les jours d’une mission scientifique déjà attribuée par tirage au sort.</a:t>
            </a:r>
            <a:endParaRPr lang="en-US" sz="1450" dirty="0"/>
          </a:p>
        </p:txBody>
      </p:sp>
      <p:sp>
        <p:nvSpPr>
          <p:cNvPr id="10" name="Shape 7"/>
          <p:cNvSpPr/>
          <p:nvPr/>
        </p:nvSpPr>
        <p:spPr>
          <a:xfrm>
            <a:off x="5074920" y="2990088"/>
            <a:ext cx="457200" cy="457200"/>
          </a:xfrm>
          <a:prstGeom prst="ellipse">
            <a:avLst/>
          </a:prstGeom>
          <a:solidFill>
            <a:srgbClr val="1F5BD6"/>
          </a:solidFill>
          <a:ln w="12700">
            <a:solidFill>
              <a:srgbClr val="1F5BD6"/>
            </a:solidFill>
            <a:prstDash val="solid"/>
          </a:ln>
        </p:spPr>
        <p:txBody>
          <a:bodyPr/>
          <a:lstStyle/>
          <a:p>
            <a:endParaRPr lang="fr-FR"/>
          </a:p>
        </p:txBody>
      </p:sp>
      <p:sp>
        <p:nvSpPr>
          <p:cNvPr id="11" name="Text 8"/>
          <p:cNvSpPr txBox="1"/>
          <p:nvPr/>
        </p:nvSpPr>
        <p:spPr>
          <a:xfrm>
            <a:off x="5074920" y="299008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2</a:t>
            </a:r>
            <a:endParaRPr lang="en-US" sz="1400" dirty="0"/>
          </a:p>
        </p:txBody>
      </p:sp>
      <p:sp>
        <p:nvSpPr>
          <p:cNvPr id="12" name="Text 9"/>
          <p:cNvSpPr txBox="1"/>
          <p:nvPr/>
        </p:nvSpPr>
        <p:spPr>
          <a:xfrm>
            <a:off x="5715000" y="3008376"/>
            <a:ext cx="594360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Combien de places ?</a:t>
            </a:r>
            <a:endParaRPr lang="en-US" sz="1700" dirty="0"/>
          </a:p>
        </p:txBody>
      </p:sp>
      <p:sp>
        <p:nvSpPr>
          <p:cNvPr id="13" name="Text 10"/>
          <p:cNvSpPr txBox="1"/>
          <p:nvPr/>
        </p:nvSpPr>
        <p:spPr>
          <a:xfrm>
            <a:off x="5715000" y="3374136"/>
            <a:ext cx="5943600" cy="64008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Ce qui reste une fois l’équipage et les scientifiques comptés, dans la limite des passagers autorisés.</a:t>
            </a:r>
            <a:endParaRPr lang="en-US" sz="1450" dirty="0"/>
          </a:p>
        </p:txBody>
      </p:sp>
      <p:sp>
        <p:nvSpPr>
          <p:cNvPr id="14" name="Shape 11"/>
          <p:cNvSpPr/>
          <p:nvPr/>
        </p:nvSpPr>
        <p:spPr>
          <a:xfrm>
            <a:off x="5074920" y="4105656"/>
            <a:ext cx="457200" cy="457200"/>
          </a:xfrm>
          <a:prstGeom prst="ellipse">
            <a:avLst/>
          </a:prstGeom>
          <a:solidFill>
            <a:srgbClr val="00A7B5"/>
          </a:solidFill>
          <a:ln w="12700">
            <a:solidFill>
              <a:srgbClr val="00A7B5"/>
            </a:solidFill>
            <a:prstDash val="solid"/>
          </a:ln>
        </p:spPr>
        <p:txBody>
          <a:bodyPr/>
          <a:lstStyle/>
          <a:p>
            <a:endParaRPr lang="fr-FR"/>
          </a:p>
        </p:txBody>
      </p:sp>
      <p:sp>
        <p:nvSpPr>
          <p:cNvPr id="15" name="Text 12"/>
          <p:cNvSpPr txBox="1"/>
          <p:nvPr/>
        </p:nvSpPr>
        <p:spPr>
          <a:xfrm>
            <a:off x="5074920" y="410565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3</a:t>
            </a:r>
            <a:endParaRPr lang="en-US" sz="1400" dirty="0"/>
          </a:p>
        </p:txBody>
      </p:sp>
      <p:sp>
        <p:nvSpPr>
          <p:cNvPr id="16" name="Text 13"/>
          <p:cNvSpPr txBox="1"/>
          <p:nvPr/>
        </p:nvSpPr>
        <p:spPr>
          <a:xfrm>
            <a:off x="5715000" y="4123944"/>
            <a:ext cx="594360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Comment réserver ?</a:t>
            </a:r>
            <a:endParaRPr lang="en-US" sz="1700" dirty="0"/>
          </a:p>
        </p:txBody>
      </p:sp>
      <p:sp>
        <p:nvSpPr>
          <p:cNvPr id="17" name="Text 14"/>
          <p:cNvSpPr txBox="1"/>
          <p:nvPr/>
        </p:nvSpPr>
        <p:spPr>
          <a:xfrm>
            <a:off x="5715000" y="4489704"/>
            <a:ext cx="5943600" cy="64008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Comme le pesca-tourisme : compte, pièce, empreinte, réponse sous 72 h.</a:t>
            </a:r>
            <a:endParaRPr lang="en-US" sz="1450" dirty="0"/>
          </a:p>
        </p:txBody>
      </p:sp>
      <p:sp>
        <p:nvSpPr>
          <p:cNvPr id="18" name="Shape 15"/>
          <p:cNvSpPr/>
          <p:nvPr/>
        </p:nvSpPr>
        <p:spPr>
          <a:xfrm>
            <a:off x="5074920" y="5221224"/>
            <a:ext cx="457200" cy="457200"/>
          </a:xfrm>
          <a:prstGeom prst="ellipse">
            <a:avLst/>
          </a:prstGeom>
          <a:solidFill>
            <a:srgbClr val="0E9F6E"/>
          </a:solidFill>
          <a:ln w="12700">
            <a:solidFill>
              <a:srgbClr val="0E9F6E"/>
            </a:solidFill>
            <a:prstDash val="solid"/>
          </a:ln>
        </p:spPr>
        <p:txBody>
          <a:bodyPr/>
          <a:lstStyle/>
          <a:p>
            <a:endParaRPr lang="fr-FR"/>
          </a:p>
        </p:txBody>
      </p:sp>
      <p:sp>
        <p:nvSpPr>
          <p:cNvPr id="19" name="Text 16"/>
          <p:cNvSpPr txBox="1"/>
          <p:nvPr/>
        </p:nvSpPr>
        <p:spPr>
          <a:xfrm>
            <a:off x="5074920" y="52212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4</a:t>
            </a:r>
            <a:endParaRPr lang="en-US" sz="1400" dirty="0"/>
          </a:p>
        </p:txBody>
      </p:sp>
      <p:sp>
        <p:nvSpPr>
          <p:cNvPr id="20" name="Text 17"/>
          <p:cNvSpPr txBox="1"/>
          <p:nvPr/>
        </p:nvSpPr>
        <p:spPr>
          <a:xfrm>
            <a:off x="5715000" y="5239512"/>
            <a:ext cx="594360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Côté patron</a:t>
            </a:r>
            <a:endParaRPr lang="en-US" sz="1700" dirty="0"/>
          </a:p>
        </p:txBody>
      </p:sp>
      <p:sp>
        <p:nvSpPr>
          <p:cNvPr id="21" name="Text 18"/>
          <p:cNvSpPr txBox="1"/>
          <p:nvPr/>
        </p:nvSpPr>
        <p:spPr>
          <a:xfrm>
            <a:off x="5715000" y="5605272"/>
            <a:ext cx="5943600" cy="64008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Un SMS « sortie DÉCOUVERTE », traitée comme les autres demandes.</a:t>
            </a:r>
            <a:endParaRPr lang="en-US" sz="1450" dirty="0"/>
          </a:p>
        </p:txBody>
      </p:sp>
      <p:sp>
        <p:nvSpPr>
          <p:cNvPr id="22" name="Text 19"/>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13</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claude/deck/crop3/hero-sci_1778_50_50_0_.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3FC4">
              <a:alpha val="54000"/>
            </a:srgbClr>
          </a:solidFill>
          <a:ln w="12700">
            <a:solidFill>
              <a:srgbClr val="0B3FC4"/>
            </a:solidFill>
            <a:prstDash val="solid"/>
          </a:ln>
        </p:spPr>
        <p:txBody>
          <a:bodyPr/>
          <a:lstStyle/>
          <a:p>
            <a:endParaRPr lang="fr-FR"/>
          </a:p>
        </p:txBody>
      </p:sp>
      <p:pic>
        <p:nvPicPr>
          <p:cNvPr id="4" name="Image 1" descr="/home/claude/deck/logo-projet-blanc.png"/>
          <p:cNvPicPr>
            <a:picLocks noChangeAspect="1"/>
          </p:cNvPicPr>
          <p:nvPr/>
        </p:nvPicPr>
        <p:blipFill>
          <a:blip r:embed="rId4"/>
          <a:stretch>
            <a:fillRect/>
          </a:stretch>
        </p:blipFill>
        <p:spPr>
          <a:xfrm>
            <a:off x="10088575" y="320040"/>
            <a:ext cx="1600200" cy="647462"/>
          </a:xfrm>
          <a:prstGeom prst="rect">
            <a:avLst/>
          </a:prstGeom>
        </p:spPr>
      </p:pic>
      <p:sp>
        <p:nvSpPr>
          <p:cNvPr id="5" name="Shape 1"/>
          <p:cNvSpPr/>
          <p:nvPr/>
        </p:nvSpPr>
        <p:spPr>
          <a:xfrm>
            <a:off x="731520" y="2377440"/>
            <a:ext cx="2377440" cy="384048"/>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6" name="Text 2"/>
          <p:cNvSpPr txBox="1"/>
          <p:nvPr/>
        </p:nvSpPr>
        <p:spPr>
          <a:xfrm>
            <a:off x="731520" y="2377440"/>
            <a:ext cx="2377440" cy="384048"/>
          </a:xfrm>
          <a:prstGeom prst="rect">
            <a:avLst/>
          </a:prstGeom>
          <a:noFill/>
          <a:ln/>
        </p:spPr>
        <p:txBody>
          <a:bodyPr wrap="square" lIns="0" tIns="0" rIns="0" bIns="0" rtlCol="0" anchor="ctr"/>
          <a:lstStyle/>
          <a:p>
            <a:pPr marL="0" indent="0" algn="ctr">
              <a:buNone/>
            </a:pPr>
            <a:r>
              <a:rPr lang="en-US" sz="1400" b="1" dirty="0">
                <a:solidFill>
                  <a:srgbClr val="0012B5"/>
                </a:solidFill>
                <a:latin typeface="Verdana" pitchFamily="34" charset="0"/>
                <a:ea typeface="Verdana" pitchFamily="34" charset="-122"/>
                <a:cs typeface="Verdana" pitchFamily="34" charset="-120"/>
              </a:rPr>
              <a:t>Deuxième partie</a:t>
            </a:r>
            <a:endParaRPr lang="en-US" sz="1400" dirty="0"/>
          </a:p>
        </p:txBody>
      </p:sp>
      <p:sp>
        <p:nvSpPr>
          <p:cNvPr id="7" name="Text 3"/>
          <p:cNvSpPr txBox="1"/>
          <p:nvPr/>
        </p:nvSpPr>
        <p:spPr>
          <a:xfrm>
            <a:off x="731520" y="2926080"/>
            <a:ext cx="10058400" cy="1371600"/>
          </a:xfrm>
          <a:prstGeom prst="rect">
            <a:avLst/>
          </a:prstGeom>
          <a:noFill/>
          <a:ln/>
        </p:spPr>
        <p:txBody>
          <a:bodyPr wrap="square" lIns="0" tIns="0" rIns="0" bIns="0" rtlCol="0" anchor="ctr"/>
          <a:lstStyle/>
          <a:p>
            <a:pPr marL="0" indent="0">
              <a:buNone/>
            </a:pPr>
            <a:r>
              <a:rPr lang="en-US" sz="3200" b="1" dirty="0">
                <a:solidFill>
                  <a:srgbClr val="FFFFFF"/>
                </a:solidFill>
                <a:latin typeface="Verdana" pitchFamily="34" charset="0"/>
                <a:ea typeface="Verdana" pitchFamily="34" charset="-122"/>
                <a:cs typeface="Verdana" pitchFamily="34" charset="-120"/>
              </a:rPr>
              <a:t>Le parcours de l’organisme scientifique</a:t>
            </a:r>
            <a:endParaRPr lang="en-US" sz="3200" dirty="0"/>
          </a:p>
        </p:txBody>
      </p:sp>
      <p:sp>
        <p:nvSpPr>
          <p:cNvPr id="8" name="Text 4"/>
          <p:cNvSpPr txBox="1"/>
          <p:nvPr/>
        </p:nvSpPr>
        <p:spPr>
          <a:xfrm>
            <a:off x="731520" y="4434840"/>
            <a:ext cx="10058400" cy="640080"/>
          </a:xfrm>
          <a:prstGeom prst="rect">
            <a:avLst/>
          </a:prstGeom>
          <a:noFill/>
          <a:ln/>
        </p:spPr>
        <p:txBody>
          <a:bodyPr wrap="square" lIns="0" tIns="0" rIns="0" bIns="0" rtlCol="0" anchor="t"/>
          <a:lstStyle/>
          <a:p>
            <a:pPr marL="0" indent="0">
              <a:buNone/>
            </a:pPr>
            <a:r>
              <a:rPr lang="en-US" sz="1900" dirty="0">
                <a:solidFill>
                  <a:srgbClr val="FFFFFF"/>
                </a:solidFill>
                <a:latin typeface="Verdana" pitchFamily="34" charset="0"/>
                <a:ea typeface="Verdana" pitchFamily="34" charset="-122"/>
                <a:cs typeface="Verdana" pitchFamily="34" charset="-120"/>
              </a:rPr>
              <a:t>S’inscrire, être validé, lancer un appel, tirer au sort, embarquer son équipe.</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L’ORGANISME · INSCRIPTION</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Aucun organisme n’agit sans validation</a:t>
            </a:r>
            <a:endParaRPr lang="en-US" sz="2500" dirty="0"/>
          </a:p>
        </p:txBody>
      </p:sp>
      <p:sp>
        <p:nvSpPr>
          <p:cNvPr id="4" name="Text 2"/>
          <p:cNvSpPr txBox="1"/>
          <p:nvPr/>
        </p:nvSpPr>
        <p:spPr>
          <a:xfrm>
            <a:off x="548640" y="1216152"/>
            <a:ext cx="11094415" cy="457200"/>
          </a:xfrm>
          <a:prstGeom prst="rect">
            <a:avLst/>
          </a:prstGeom>
          <a:noFill/>
          <a:ln/>
        </p:spPr>
        <p:txBody>
          <a:bodyPr wrap="square" lIns="0" tIns="0" rIns="0" bIns="0" rtlCol="0" anchor="t"/>
          <a:lstStyle/>
          <a:p>
            <a:pPr marL="0" indent="0">
              <a:buNone/>
            </a:pPr>
            <a:r>
              <a:rPr lang="en-US" sz="1550" dirty="0">
                <a:solidFill>
                  <a:srgbClr val="66728A"/>
                </a:solidFill>
                <a:latin typeface="Verdana" pitchFamily="34" charset="0"/>
                <a:ea typeface="Verdana" pitchFamily="34" charset="-122"/>
                <a:cs typeface="Verdana" pitchFamily="34" charset="-120"/>
              </a:rPr>
              <a:t>Embarquements et missions sont réservés aux structures identifiées et validées par Mare Durabilis.</a:t>
            </a:r>
            <a:endParaRPr lang="en-US" sz="1550" dirty="0"/>
          </a:p>
        </p:txBody>
      </p:sp>
      <p:sp>
        <p:nvSpPr>
          <p:cNvPr id="5" name="Shape 3"/>
          <p:cNvSpPr/>
          <p:nvPr/>
        </p:nvSpPr>
        <p:spPr>
          <a:xfrm>
            <a:off x="548640" y="1783080"/>
            <a:ext cx="2130552" cy="2788920"/>
          </a:xfrm>
          <a:prstGeom prst="roundRect">
            <a:avLst>
              <a:gd name="adj" fmla="val 8584"/>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6" name="Shape 4"/>
          <p:cNvSpPr/>
          <p:nvPr/>
        </p:nvSpPr>
        <p:spPr>
          <a:xfrm>
            <a:off x="749808" y="1984248"/>
            <a:ext cx="512064" cy="512064"/>
          </a:xfrm>
          <a:prstGeom prst="ellipse">
            <a:avLst/>
          </a:prstGeom>
          <a:solidFill>
            <a:srgbClr val="0012B5"/>
          </a:solidFill>
          <a:ln w="12700">
            <a:solidFill>
              <a:srgbClr val="0012B5"/>
            </a:solidFill>
            <a:prstDash val="solid"/>
          </a:ln>
        </p:spPr>
        <p:txBody>
          <a:bodyPr/>
          <a:lstStyle/>
          <a:p>
            <a:endParaRPr lang="fr-FR"/>
          </a:p>
        </p:txBody>
      </p:sp>
      <p:pic>
        <p:nvPicPr>
          <p:cNvPr id="7" name="Image 0" descr="preencoded.png"/>
          <p:cNvPicPr>
            <a:picLocks noChangeAspect="1"/>
          </p:cNvPicPr>
          <p:nvPr/>
        </p:nvPicPr>
        <p:blipFill>
          <a:blip r:embed="rId3"/>
          <a:stretch>
            <a:fillRect/>
          </a:stretch>
        </p:blipFill>
        <p:spPr>
          <a:xfrm>
            <a:off x="877824" y="2112264"/>
            <a:ext cx="256032" cy="256032"/>
          </a:xfrm>
          <a:prstGeom prst="rect">
            <a:avLst/>
          </a:prstGeom>
        </p:spPr>
      </p:pic>
      <p:sp>
        <p:nvSpPr>
          <p:cNvPr id="8" name="Text 5"/>
          <p:cNvSpPr txBox="1"/>
          <p:nvPr/>
        </p:nvSpPr>
        <p:spPr>
          <a:xfrm>
            <a:off x="2039112" y="198424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1</a:t>
            </a:r>
            <a:endParaRPr lang="en-US" sz="1800" dirty="0"/>
          </a:p>
        </p:txBody>
      </p:sp>
      <p:sp>
        <p:nvSpPr>
          <p:cNvPr id="9" name="Text 6"/>
          <p:cNvSpPr txBox="1"/>
          <p:nvPr/>
        </p:nvSpPr>
        <p:spPr>
          <a:xfrm>
            <a:off x="749808" y="2624328"/>
            <a:ext cx="1728216" cy="502920"/>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Le formulaire</a:t>
            </a:r>
            <a:endParaRPr lang="en-US" sz="1550" dirty="0"/>
          </a:p>
        </p:txBody>
      </p:sp>
      <p:sp>
        <p:nvSpPr>
          <p:cNvPr id="10" name="Text 7"/>
          <p:cNvSpPr txBox="1"/>
          <p:nvPr/>
        </p:nvSpPr>
        <p:spPr>
          <a:xfrm>
            <a:off x="749808" y="3172968"/>
            <a:ext cx="1728216" cy="128016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Organisme, SIREN ou SIRET, fonction, téléphone, e-mail pro.</a:t>
            </a:r>
            <a:endParaRPr lang="en-US" sz="1400" dirty="0"/>
          </a:p>
        </p:txBody>
      </p:sp>
      <p:sp>
        <p:nvSpPr>
          <p:cNvPr id="11" name="Shape 8"/>
          <p:cNvSpPr/>
          <p:nvPr/>
        </p:nvSpPr>
        <p:spPr>
          <a:xfrm>
            <a:off x="2798064" y="1783080"/>
            <a:ext cx="2130552" cy="2788920"/>
          </a:xfrm>
          <a:prstGeom prst="roundRect">
            <a:avLst>
              <a:gd name="adj" fmla="val 8584"/>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2" name="Shape 9"/>
          <p:cNvSpPr/>
          <p:nvPr/>
        </p:nvSpPr>
        <p:spPr>
          <a:xfrm>
            <a:off x="2999232" y="1984248"/>
            <a:ext cx="512064" cy="512064"/>
          </a:xfrm>
          <a:prstGeom prst="ellipse">
            <a:avLst/>
          </a:prstGeom>
          <a:solidFill>
            <a:srgbClr val="1F5BD6"/>
          </a:solidFill>
          <a:ln w="12700">
            <a:solidFill>
              <a:srgbClr val="1F5BD6"/>
            </a:solidFill>
            <a:prstDash val="solid"/>
          </a:ln>
        </p:spPr>
        <p:txBody>
          <a:bodyPr/>
          <a:lstStyle/>
          <a:p>
            <a:endParaRPr lang="fr-FR"/>
          </a:p>
        </p:txBody>
      </p:sp>
      <p:pic>
        <p:nvPicPr>
          <p:cNvPr id="13" name="Image 1" descr="preencoded.png"/>
          <p:cNvPicPr>
            <a:picLocks noChangeAspect="1"/>
          </p:cNvPicPr>
          <p:nvPr/>
        </p:nvPicPr>
        <p:blipFill>
          <a:blip r:embed="rId4"/>
          <a:stretch>
            <a:fillRect/>
          </a:stretch>
        </p:blipFill>
        <p:spPr>
          <a:xfrm>
            <a:off x="3127248" y="2112264"/>
            <a:ext cx="256032" cy="256032"/>
          </a:xfrm>
          <a:prstGeom prst="rect">
            <a:avLst/>
          </a:prstGeom>
        </p:spPr>
      </p:pic>
      <p:sp>
        <p:nvSpPr>
          <p:cNvPr id="14" name="Text 10"/>
          <p:cNvSpPr txBox="1"/>
          <p:nvPr/>
        </p:nvSpPr>
        <p:spPr>
          <a:xfrm>
            <a:off x="4288536" y="198424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2</a:t>
            </a:r>
            <a:endParaRPr lang="en-US" sz="1800" dirty="0"/>
          </a:p>
        </p:txBody>
      </p:sp>
      <p:sp>
        <p:nvSpPr>
          <p:cNvPr id="15" name="Text 11"/>
          <p:cNvSpPr txBox="1"/>
          <p:nvPr/>
        </p:nvSpPr>
        <p:spPr>
          <a:xfrm>
            <a:off x="2999232" y="2624328"/>
            <a:ext cx="1728216" cy="502920"/>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Adresse confirmée</a:t>
            </a:r>
            <a:endParaRPr lang="en-US" sz="1550" dirty="0"/>
          </a:p>
        </p:txBody>
      </p:sp>
      <p:sp>
        <p:nvSpPr>
          <p:cNvPr id="16" name="Text 12"/>
          <p:cNvSpPr txBox="1"/>
          <p:nvPr/>
        </p:nvSpPr>
        <p:spPr>
          <a:xfrm>
            <a:off x="2999232" y="3172968"/>
            <a:ext cx="1728216" cy="128016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Un clic dans l’e-mail. Accès activé après validation.</a:t>
            </a:r>
            <a:endParaRPr lang="en-US" sz="1400" dirty="0"/>
          </a:p>
        </p:txBody>
      </p:sp>
      <p:sp>
        <p:nvSpPr>
          <p:cNvPr id="17" name="Shape 13"/>
          <p:cNvSpPr/>
          <p:nvPr/>
        </p:nvSpPr>
        <p:spPr>
          <a:xfrm>
            <a:off x="5047488" y="1783080"/>
            <a:ext cx="2130552" cy="2788920"/>
          </a:xfrm>
          <a:prstGeom prst="roundRect">
            <a:avLst>
              <a:gd name="adj" fmla="val 8584"/>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8" name="Shape 14"/>
          <p:cNvSpPr/>
          <p:nvPr/>
        </p:nvSpPr>
        <p:spPr>
          <a:xfrm>
            <a:off x="5248656" y="1984248"/>
            <a:ext cx="512064" cy="512064"/>
          </a:xfrm>
          <a:prstGeom prst="ellipse">
            <a:avLst/>
          </a:prstGeom>
          <a:solidFill>
            <a:srgbClr val="00A7B5"/>
          </a:solidFill>
          <a:ln w="12700">
            <a:solidFill>
              <a:srgbClr val="00A7B5"/>
            </a:solidFill>
            <a:prstDash val="solid"/>
          </a:ln>
        </p:spPr>
        <p:txBody>
          <a:bodyPr/>
          <a:lstStyle/>
          <a:p>
            <a:endParaRPr lang="fr-FR"/>
          </a:p>
        </p:txBody>
      </p:sp>
      <p:pic>
        <p:nvPicPr>
          <p:cNvPr id="19" name="Image 2" descr="preencoded.png"/>
          <p:cNvPicPr>
            <a:picLocks noChangeAspect="1"/>
          </p:cNvPicPr>
          <p:nvPr/>
        </p:nvPicPr>
        <p:blipFill>
          <a:blip r:embed="rId5"/>
          <a:stretch>
            <a:fillRect/>
          </a:stretch>
        </p:blipFill>
        <p:spPr>
          <a:xfrm>
            <a:off x="5376672" y="2112264"/>
            <a:ext cx="256032" cy="256032"/>
          </a:xfrm>
          <a:prstGeom prst="rect">
            <a:avLst/>
          </a:prstGeom>
        </p:spPr>
      </p:pic>
      <p:sp>
        <p:nvSpPr>
          <p:cNvPr id="20" name="Text 15"/>
          <p:cNvSpPr txBox="1"/>
          <p:nvPr/>
        </p:nvSpPr>
        <p:spPr>
          <a:xfrm>
            <a:off x="6537960" y="198424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3</a:t>
            </a:r>
            <a:endParaRPr lang="en-US" sz="1800" dirty="0"/>
          </a:p>
        </p:txBody>
      </p:sp>
      <p:sp>
        <p:nvSpPr>
          <p:cNvPr id="21" name="Text 16"/>
          <p:cNvSpPr txBox="1"/>
          <p:nvPr/>
        </p:nvSpPr>
        <p:spPr>
          <a:xfrm>
            <a:off x="5248656" y="2624328"/>
            <a:ext cx="1728216" cy="502920"/>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L’équipe alertée</a:t>
            </a:r>
            <a:endParaRPr lang="en-US" sz="1550" dirty="0"/>
          </a:p>
        </p:txBody>
      </p:sp>
      <p:sp>
        <p:nvSpPr>
          <p:cNvPr id="22" name="Text 17"/>
          <p:cNvSpPr txBox="1"/>
          <p:nvPr/>
        </p:nvSpPr>
        <p:spPr>
          <a:xfrm>
            <a:off x="5248656" y="3172968"/>
            <a:ext cx="1728216" cy="128016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E-mail immédiat « à valider » : identité, SIREN, lien vers l’annuaire des entreprises.</a:t>
            </a:r>
            <a:endParaRPr lang="en-US" sz="1400" dirty="0"/>
          </a:p>
        </p:txBody>
      </p:sp>
      <p:sp>
        <p:nvSpPr>
          <p:cNvPr id="23" name="Shape 18"/>
          <p:cNvSpPr/>
          <p:nvPr/>
        </p:nvSpPr>
        <p:spPr>
          <a:xfrm>
            <a:off x="7296912" y="1783080"/>
            <a:ext cx="2130552" cy="2788920"/>
          </a:xfrm>
          <a:prstGeom prst="roundRect">
            <a:avLst>
              <a:gd name="adj" fmla="val 8584"/>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4" name="Shape 19"/>
          <p:cNvSpPr/>
          <p:nvPr/>
        </p:nvSpPr>
        <p:spPr>
          <a:xfrm>
            <a:off x="7498080" y="1984248"/>
            <a:ext cx="512064" cy="512064"/>
          </a:xfrm>
          <a:prstGeom prst="ellipse">
            <a:avLst/>
          </a:prstGeom>
          <a:solidFill>
            <a:srgbClr val="0E9F6E"/>
          </a:solidFill>
          <a:ln w="12700">
            <a:solidFill>
              <a:srgbClr val="0E9F6E"/>
            </a:solidFill>
            <a:prstDash val="solid"/>
          </a:ln>
        </p:spPr>
        <p:txBody>
          <a:bodyPr/>
          <a:lstStyle/>
          <a:p>
            <a:endParaRPr lang="fr-FR"/>
          </a:p>
        </p:txBody>
      </p:sp>
      <p:pic>
        <p:nvPicPr>
          <p:cNvPr id="25" name="Image 3" descr="preencoded.png"/>
          <p:cNvPicPr>
            <a:picLocks noChangeAspect="1"/>
          </p:cNvPicPr>
          <p:nvPr/>
        </p:nvPicPr>
        <p:blipFill>
          <a:blip r:embed="rId6"/>
          <a:stretch>
            <a:fillRect/>
          </a:stretch>
        </p:blipFill>
        <p:spPr>
          <a:xfrm>
            <a:off x="7626096" y="2112264"/>
            <a:ext cx="256032" cy="256032"/>
          </a:xfrm>
          <a:prstGeom prst="rect">
            <a:avLst/>
          </a:prstGeom>
        </p:spPr>
      </p:pic>
      <p:sp>
        <p:nvSpPr>
          <p:cNvPr id="26" name="Text 20"/>
          <p:cNvSpPr txBox="1"/>
          <p:nvPr/>
        </p:nvSpPr>
        <p:spPr>
          <a:xfrm>
            <a:off x="8787384" y="198424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4</a:t>
            </a:r>
            <a:endParaRPr lang="en-US" sz="1800" dirty="0"/>
          </a:p>
        </p:txBody>
      </p:sp>
      <p:sp>
        <p:nvSpPr>
          <p:cNvPr id="27" name="Text 21"/>
          <p:cNvSpPr txBox="1"/>
          <p:nvPr/>
        </p:nvSpPr>
        <p:spPr>
          <a:xfrm>
            <a:off x="7498080" y="2624328"/>
            <a:ext cx="1728216" cy="502920"/>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Accepter, refuser</a:t>
            </a:r>
            <a:endParaRPr lang="en-US" sz="1550" dirty="0"/>
          </a:p>
        </p:txBody>
      </p:sp>
      <p:sp>
        <p:nvSpPr>
          <p:cNvPr id="28" name="Text 22"/>
          <p:cNvSpPr txBox="1"/>
          <p:nvPr/>
        </p:nvSpPr>
        <p:spPr>
          <a:xfrm>
            <a:off x="7498080" y="3172968"/>
            <a:ext cx="1728216" cy="128016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Deux boutons dans l’e-mail, chacun avec une page de confirmation.</a:t>
            </a:r>
            <a:endParaRPr lang="en-US" sz="1400" dirty="0"/>
          </a:p>
        </p:txBody>
      </p:sp>
      <p:sp>
        <p:nvSpPr>
          <p:cNvPr id="29" name="Shape 23"/>
          <p:cNvSpPr/>
          <p:nvPr/>
        </p:nvSpPr>
        <p:spPr>
          <a:xfrm>
            <a:off x="9546336" y="1783080"/>
            <a:ext cx="2130552" cy="2788920"/>
          </a:xfrm>
          <a:prstGeom prst="roundRect">
            <a:avLst>
              <a:gd name="adj" fmla="val 8584"/>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30" name="Shape 24"/>
          <p:cNvSpPr/>
          <p:nvPr/>
        </p:nvSpPr>
        <p:spPr>
          <a:xfrm>
            <a:off x="9747504" y="1984248"/>
            <a:ext cx="512064" cy="512064"/>
          </a:xfrm>
          <a:prstGeom prst="ellipse">
            <a:avLst/>
          </a:prstGeom>
          <a:solidFill>
            <a:srgbClr val="0012B5"/>
          </a:solidFill>
          <a:ln w="12700">
            <a:solidFill>
              <a:srgbClr val="0012B5"/>
            </a:solidFill>
            <a:prstDash val="solid"/>
          </a:ln>
        </p:spPr>
        <p:txBody>
          <a:bodyPr/>
          <a:lstStyle/>
          <a:p>
            <a:endParaRPr lang="fr-FR"/>
          </a:p>
        </p:txBody>
      </p:sp>
      <p:pic>
        <p:nvPicPr>
          <p:cNvPr id="31" name="Image 4" descr="preencoded.png"/>
          <p:cNvPicPr>
            <a:picLocks noChangeAspect="1"/>
          </p:cNvPicPr>
          <p:nvPr/>
        </p:nvPicPr>
        <p:blipFill>
          <a:blip r:embed="rId7"/>
          <a:stretch>
            <a:fillRect/>
          </a:stretch>
        </p:blipFill>
        <p:spPr>
          <a:xfrm>
            <a:off x="9875520" y="2112264"/>
            <a:ext cx="256032" cy="256032"/>
          </a:xfrm>
          <a:prstGeom prst="rect">
            <a:avLst/>
          </a:prstGeom>
        </p:spPr>
      </p:pic>
      <p:sp>
        <p:nvSpPr>
          <p:cNvPr id="32" name="Text 25"/>
          <p:cNvSpPr txBox="1"/>
          <p:nvPr/>
        </p:nvSpPr>
        <p:spPr>
          <a:xfrm>
            <a:off x="11036808" y="198424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5</a:t>
            </a:r>
            <a:endParaRPr lang="en-US" sz="1800" dirty="0"/>
          </a:p>
        </p:txBody>
      </p:sp>
      <p:sp>
        <p:nvSpPr>
          <p:cNvPr id="33" name="Text 26"/>
          <p:cNvSpPr txBox="1"/>
          <p:nvPr/>
        </p:nvSpPr>
        <p:spPr>
          <a:xfrm>
            <a:off x="9747504" y="2624328"/>
            <a:ext cx="1728216" cy="502920"/>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L’organisme prévenu</a:t>
            </a:r>
            <a:endParaRPr lang="en-US" sz="1550" dirty="0"/>
          </a:p>
        </p:txBody>
      </p:sp>
      <p:sp>
        <p:nvSpPr>
          <p:cNvPr id="34" name="Text 27"/>
          <p:cNvSpPr txBox="1"/>
          <p:nvPr/>
        </p:nvSpPr>
        <p:spPr>
          <a:xfrm>
            <a:off x="9747504" y="3172968"/>
            <a:ext cx="1728216" cy="128016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E-mail « validée » (ou « non retenue ») : l’outil d’appel s’ouvre.</a:t>
            </a:r>
            <a:endParaRPr lang="en-US" sz="1400" dirty="0"/>
          </a:p>
        </p:txBody>
      </p:sp>
      <p:sp>
        <p:nvSpPr>
          <p:cNvPr id="35" name="Shape 28"/>
          <p:cNvSpPr/>
          <p:nvPr/>
        </p:nvSpPr>
        <p:spPr>
          <a:xfrm>
            <a:off x="548640" y="4800600"/>
            <a:ext cx="5440680" cy="1600200"/>
          </a:xfrm>
          <a:prstGeom prst="roundRect">
            <a:avLst>
              <a:gd name="adj" fmla="val 11429"/>
            </a:avLst>
          </a:prstGeom>
          <a:solidFill>
            <a:srgbClr val="FFFFFF"/>
          </a:solidFill>
          <a:ln w="9525">
            <a:solidFill>
              <a:srgbClr val="E1E9F5"/>
            </a:solidFill>
            <a:prstDash val="solid"/>
          </a:ln>
        </p:spPr>
        <p:txBody>
          <a:bodyPr/>
          <a:lstStyle/>
          <a:p>
            <a:endParaRPr lang="fr-FR"/>
          </a:p>
        </p:txBody>
      </p:sp>
      <p:sp>
        <p:nvSpPr>
          <p:cNvPr id="36" name="Text 29"/>
          <p:cNvSpPr txBox="1"/>
          <p:nvPr/>
        </p:nvSpPr>
        <p:spPr>
          <a:xfrm>
            <a:off x="777240" y="4892040"/>
            <a:ext cx="5029200" cy="1417320"/>
          </a:xfrm>
          <a:prstGeom prst="rect">
            <a:avLst/>
          </a:prstGeom>
          <a:noFill/>
          <a:ln/>
        </p:spPr>
        <p:txBody>
          <a:bodyPr wrap="square" lIns="0" tIns="0" rIns="0" bIns="0" rtlCol="0" anchor="t"/>
          <a:lstStyle/>
          <a:p>
            <a:pPr marL="0" indent="0">
              <a:spcAft>
                <a:spcPts val="300"/>
              </a:spcAft>
              <a:buNone/>
            </a:pPr>
            <a:r>
              <a:rPr lang="en-US" sz="1650" b="1" dirty="0">
                <a:solidFill>
                  <a:srgbClr val="0012B5"/>
                </a:solidFill>
                <a:latin typeface="Verdana" pitchFamily="34" charset="0"/>
                <a:ea typeface="Verdana" pitchFamily="34" charset="-122"/>
                <a:cs typeface="Verdana" pitchFamily="34" charset="-120"/>
              </a:rPr>
              <a:t>En attente, il peut…</a:t>
            </a:r>
            <a:endParaRPr lang="en-US" sz="1400" dirty="0"/>
          </a:p>
          <a:p>
            <a:pPr marL="177800" indent="-177800">
              <a:spcAft>
                <a:spcPts val="300"/>
              </a:spcAft>
              <a:buSzPct val="100000"/>
              <a:buChar char="•"/>
            </a:pPr>
            <a:r>
              <a:rPr lang="en-US" sz="1400" dirty="0">
                <a:solidFill>
                  <a:srgbClr val="3A4658"/>
                </a:solidFill>
                <a:latin typeface="Verdana" pitchFamily="34" charset="0"/>
                <a:ea typeface="Verdana" pitchFamily="34" charset="-122"/>
                <a:cs typeface="Verdana" pitchFamily="34" charset="-120"/>
              </a:rPr>
              <a:t>voir « En attente de validation »</a:t>
            </a:r>
            <a:endParaRPr lang="en-US" sz="1400" dirty="0"/>
          </a:p>
          <a:p>
            <a:pPr marL="177800" indent="-177800">
              <a:spcAft>
                <a:spcPts val="300"/>
              </a:spcAft>
              <a:buSzPct val="100000"/>
              <a:buChar char="•"/>
            </a:pPr>
            <a:r>
              <a:rPr lang="en-US" sz="1400" dirty="0">
                <a:solidFill>
                  <a:srgbClr val="3A4658"/>
                </a:solidFill>
                <a:latin typeface="Verdana" pitchFamily="34" charset="0"/>
                <a:ea typeface="Verdana" pitchFamily="34" charset="-122"/>
                <a:cs typeface="Verdana" pitchFamily="34" charset="-120"/>
              </a:rPr>
              <a:t>relancer sa demande de validation</a:t>
            </a:r>
            <a:endParaRPr lang="en-US" sz="1400" dirty="0"/>
          </a:p>
          <a:p>
            <a:pPr marL="177800" indent="-177800">
              <a:spcAft>
                <a:spcPts val="300"/>
              </a:spcAft>
              <a:buSzPct val="100000"/>
              <a:buChar char="•"/>
            </a:pPr>
            <a:r>
              <a:rPr lang="en-US" sz="1400" dirty="0">
                <a:solidFill>
                  <a:srgbClr val="3A4658"/>
                </a:solidFill>
                <a:latin typeface="Verdana" pitchFamily="34" charset="0"/>
                <a:ea typeface="Verdana" pitchFamily="34" charset="-122"/>
                <a:cs typeface="Verdana" pitchFamily="34" charset="-120"/>
              </a:rPr>
              <a:t>utiliser les formulaires scolaires et contact</a:t>
            </a:r>
            <a:endParaRPr lang="en-US" sz="1400" dirty="0"/>
          </a:p>
        </p:txBody>
      </p:sp>
      <p:sp>
        <p:nvSpPr>
          <p:cNvPr id="37" name="Shape 30"/>
          <p:cNvSpPr/>
          <p:nvPr/>
        </p:nvSpPr>
        <p:spPr>
          <a:xfrm>
            <a:off x="6217920" y="4800600"/>
            <a:ext cx="5440680" cy="1600200"/>
          </a:xfrm>
          <a:prstGeom prst="roundRect">
            <a:avLst>
              <a:gd name="adj" fmla="val 11429"/>
            </a:avLst>
          </a:prstGeom>
          <a:solidFill>
            <a:srgbClr val="FCEBE9"/>
          </a:solidFill>
          <a:ln w="12700">
            <a:solidFill>
              <a:srgbClr val="FCEBE9"/>
            </a:solidFill>
            <a:prstDash val="solid"/>
          </a:ln>
        </p:spPr>
        <p:txBody>
          <a:bodyPr/>
          <a:lstStyle/>
          <a:p>
            <a:endParaRPr lang="fr-FR"/>
          </a:p>
        </p:txBody>
      </p:sp>
      <p:sp>
        <p:nvSpPr>
          <p:cNvPr id="38" name="Text 31"/>
          <p:cNvSpPr txBox="1"/>
          <p:nvPr/>
        </p:nvSpPr>
        <p:spPr>
          <a:xfrm>
            <a:off x="6446520" y="4892040"/>
            <a:ext cx="5029200" cy="1417320"/>
          </a:xfrm>
          <a:prstGeom prst="rect">
            <a:avLst/>
          </a:prstGeom>
          <a:noFill/>
          <a:ln/>
        </p:spPr>
        <p:txBody>
          <a:bodyPr wrap="square" lIns="0" tIns="0" rIns="0" bIns="0" rtlCol="0" anchor="t"/>
          <a:lstStyle/>
          <a:p>
            <a:pPr marL="0" indent="0">
              <a:spcAft>
                <a:spcPts val="300"/>
              </a:spcAft>
              <a:buNone/>
            </a:pPr>
            <a:r>
              <a:rPr lang="en-US" sz="1650" b="1" dirty="0">
                <a:solidFill>
                  <a:srgbClr val="B3312D"/>
                </a:solidFill>
                <a:latin typeface="Verdana" pitchFamily="34" charset="0"/>
                <a:ea typeface="Verdana" pitchFamily="34" charset="-122"/>
                <a:cs typeface="Verdana" pitchFamily="34" charset="-120"/>
              </a:rPr>
              <a:t>… mais il ne peut pas</a:t>
            </a:r>
            <a:endParaRPr lang="en-US" sz="1400" dirty="0"/>
          </a:p>
          <a:p>
            <a:pPr marL="177800" indent="-177800">
              <a:spcAft>
                <a:spcPts val="300"/>
              </a:spcAft>
              <a:buSzPct val="100000"/>
              <a:buChar char="•"/>
            </a:pPr>
            <a:r>
              <a:rPr lang="en-US" sz="1400" dirty="0">
                <a:solidFill>
                  <a:srgbClr val="3A4658"/>
                </a:solidFill>
                <a:latin typeface="Verdana" pitchFamily="34" charset="0"/>
                <a:ea typeface="Verdana" pitchFamily="34" charset="-122"/>
                <a:cs typeface="Verdana" pitchFamily="34" charset="-120"/>
              </a:rPr>
              <a:t>voir ni utiliser l’outil d’appel</a:t>
            </a:r>
            <a:endParaRPr lang="en-US" sz="1400" dirty="0"/>
          </a:p>
          <a:p>
            <a:pPr marL="177800" indent="-177800">
              <a:spcAft>
                <a:spcPts val="300"/>
              </a:spcAft>
              <a:buSzPct val="100000"/>
              <a:buChar char="•"/>
            </a:pPr>
            <a:r>
              <a:rPr lang="en-US" sz="1400" dirty="0">
                <a:solidFill>
                  <a:srgbClr val="3A4658"/>
                </a:solidFill>
                <a:latin typeface="Verdana" pitchFamily="34" charset="0"/>
                <a:ea typeface="Verdana" pitchFamily="34" charset="-122"/>
                <a:cs typeface="Verdana" pitchFamily="34" charset="-120"/>
              </a:rPr>
              <a:t>envoyer un appel (le serveur refuse)</a:t>
            </a:r>
            <a:endParaRPr lang="en-US" sz="1400" dirty="0"/>
          </a:p>
          <a:p>
            <a:pPr marL="177800" indent="-177800">
              <a:spcAft>
                <a:spcPts val="300"/>
              </a:spcAft>
              <a:buSzPct val="100000"/>
              <a:buChar char="•"/>
            </a:pPr>
            <a:r>
              <a:rPr lang="en-US" sz="1400" dirty="0">
                <a:solidFill>
                  <a:srgbClr val="3A4658"/>
                </a:solidFill>
                <a:latin typeface="Verdana" pitchFamily="34" charset="0"/>
                <a:ea typeface="Verdana" pitchFamily="34" charset="-122"/>
                <a:cs typeface="Verdana" pitchFamily="34" charset="-120"/>
              </a:rPr>
              <a:t>réserver une sortie touristique</a:t>
            </a:r>
            <a:endParaRPr lang="en-US" sz="1400" dirty="0"/>
          </a:p>
        </p:txBody>
      </p:sp>
      <p:sp>
        <p:nvSpPr>
          <p:cNvPr id="39" name="Text 32"/>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15</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L’ORGANISME · APPEL À CANDIDATURE</a:t>
            </a:r>
            <a:endParaRPr lang="en-US" sz="1200" dirty="0"/>
          </a:p>
        </p:txBody>
      </p:sp>
      <p:sp>
        <p:nvSpPr>
          <p:cNvPr id="3" name="Text 1"/>
          <p:cNvSpPr txBox="1"/>
          <p:nvPr/>
        </p:nvSpPr>
        <p:spPr>
          <a:xfrm>
            <a:off x="548640" y="621792"/>
            <a:ext cx="5760720"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Lancer un appel en 4 étapes</a:t>
            </a:r>
            <a:endParaRPr lang="en-US" sz="2500" dirty="0"/>
          </a:p>
        </p:txBody>
      </p:sp>
      <p:sp>
        <p:nvSpPr>
          <p:cNvPr id="4" name="Shape 2"/>
          <p:cNvSpPr/>
          <p:nvPr/>
        </p:nvSpPr>
        <p:spPr>
          <a:xfrm>
            <a:off x="548640" y="1417320"/>
            <a:ext cx="457200" cy="457200"/>
          </a:xfrm>
          <a:prstGeom prst="ellipse">
            <a:avLst/>
          </a:prstGeom>
          <a:solidFill>
            <a:srgbClr val="1F5BD6"/>
          </a:solidFill>
          <a:ln w="12700">
            <a:solidFill>
              <a:srgbClr val="1F5BD6"/>
            </a:solidFill>
            <a:prstDash val="solid"/>
          </a:ln>
        </p:spPr>
        <p:txBody>
          <a:bodyPr/>
          <a:lstStyle/>
          <a:p>
            <a:endParaRPr lang="fr-FR"/>
          </a:p>
        </p:txBody>
      </p:sp>
      <p:sp>
        <p:nvSpPr>
          <p:cNvPr id="5" name="Text 3"/>
          <p:cNvSpPr txBox="1"/>
          <p:nvPr/>
        </p:nvSpPr>
        <p:spPr>
          <a:xfrm>
            <a:off x="548640" y="14173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1</a:t>
            </a:r>
            <a:endParaRPr lang="en-US" sz="1400" dirty="0"/>
          </a:p>
        </p:txBody>
      </p:sp>
      <p:sp>
        <p:nvSpPr>
          <p:cNvPr id="6" name="Text 4"/>
          <p:cNvSpPr txBox="1"/>
          <p:nvPr/>
        </p:nvSpPr>
        <p:spPr>
          <a:xfrm>
            <a:off x="1188720" y="1435608"/>
            <a:ext cx="48463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Critères</a:t>
            </a:r>
            <a:endParaRPr lang="en-US" sz="1700" dirty="0"/>
          </a:p>
        </p:txBody>
      </p:sp>
      <p:sp>
        <p:nvSpPr>
          <p:cNvPr id="7" name="Text 5"/>
          <p:cNvSpPr txBox="1"/>
          <p:nvPr/>
        </p:nvSpPr>
        <p:spPr>
          <a:xfrm>
            <a:off x="1188720" y="1801368"/>
            <a:ext cx="4846320" cy="77724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Distance (5 à 200 milles), temps en mer, nombre de scientifiques, port, filtres techniques (équipage, longueur, jauge…).</a:t>
            </a:r>
            <a:endParaRPr lang="en-US" sz="1450" dirty="0"/>
          </a:p>
        </p:txBody>
      </p:sp>
      <p:sp>
        <p:nvSpPr>
          <p:cNvPr id="8" name="Shape 6"/>
          <p:cNvSpPr/>
          <p:nvPr/>
        </p:nvSpPr>
        <p:spPr>
          <a:xfrm>
            <a:off x="548640" y="2651760"/>
            <a:ext cx="457200" cy="457200"/>
          </a:xfrm>
          <a:prstGeom prst="ellipse">
            <a:avLst/>
          </a:prstGeom>
          <a:solidFill>
            <a:srgbClr val="1F5BD6"/>
          </a:solidFill>
          <a:ln w="12700">
            <a:solidFill>
              <a:srgbClr val="1F5BD6"/>
            </a:solidFill>
            <a:prstDash val="solid"/>
          </a:ln>
        </p:spPr>
        <p:txBody>
          <a:bodyPr/>
          <a:lstStyle/>
          <a:p>
            <a:endParaRPr lang="fr-FR"/>
          </a:p>
        </p:txBody>
      </p:sp>
      <p:sp>
        <p:nvSpPr>
          <p:cNvPr id="9" name="Text 7"/>
          <p:cNvSpPr txBox="1"/>
          <p:nvPr/>
        </p:nvSpPr>
        <p:spPr>
          <a:xfrm>
            <a:off x="548640" y="26517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2</a:t>
            </a:r>
            <a:endParaRPr lang="en-US" sz="1400" dirty="0"/>
          </a:p>
        </p:txBody>
      </p:sp>
      <p:sp>
        <p:nvSpPr>
          <p:cNvPr id="10" name="Text 8"/>
          <p:cNvSpPr txBox="1"/>
          <p:nvPr/>
        </p:nvSpPr>
        <p:spPr>
          <a:xfrm>
            <a:off x="1188720" y="2670048"/>
            <a:ext cx="48463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Dates</a:t>
            </a:r>
            <a:endParaRPr lang="en-US" sz="1700" dirty="0"/>
          </a:p>
        </p:txBody>
      </p:sp>
      <p:sp>
        <p:nvSpPr>
          <p:cNvPr id="11" name="Text 9"/>
          <p:cNvSpPr txBox="1"/>
          <p:nvPr/>
        </p:nvSpPr>
        <p:spPr>
          <a:xfrm>
            <a:off x="1188720" y="3035808"/>
            <a:ext cx="4846320" cy="77724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Une période ou une date unique, sur le calendrier des navires.</a:t>
            </a:r>
            <a:endParaRPr lang="en-US" sz="1450" dirty="0"/>
          </a:p>
        </p:txBody>
      </p:sp>
      <p:sp>
        <p:nvSpPr>
          <p:cNvPr id="12" name="Shape 10"/>
          <p:cNvSpPr/>
          <p:nvPr/>
        </p:nvSpPr>
        <p:spPr>
          <a:xfrm>
            <a:off x="548640" y="3886200"/>
            <a:ext cx="457200" cy="457200"/>
          </a:xfrm>
          <a:prstGeom prst="ellipse">
            <a:avLst/>
          </a:prstGeom>
          <a:solidFill>
            <a:srgbClr val="1F5BD6"/>
          </a:solidFill>
          <a:ln w="12700">
            <a:solidFill>
              <a:srgbClr val="1F5BD6"/>
            </a:solidFill>
            <a:prstDash val="solid"/>
          </a:ln>
        </p:spPr>
        <p:txBody>
          <a:bodyPr/>
          <a:lstStyle/>
          <a:p>
            <a:endParaRPr lang="fr-FR"/>
          </a:p>
        </p:txBody>
      </p:sp>
      <p:sp>
        <p:nvSpPr>
          <p:cNvPr id="13" name="Text 11"/>
          <p:cNvSpPr txBox="1"/>
          <p:nvPr/>
        </p:nvSpPr>
        <p:spPr>
          <a:xfrm>
            <a:off x="548640" y="38862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3</a:t>
            </a:r>
            <a:endParaRPr lang="en-US" sz="1400" dirty="0"/>
          </a:p>
        </p:txBody>
      </p:sp>
      <p:sp>
        <p:nvSpPr>
          <p:cNvPr id="14" name="Text 12"/>
          <p:cNvSpPr txBox="1"/>
          <p:nvPr/>
        </p:nvSpPr>
        <p:spPr>
          <a:xfrm>
            <a:off x="1188720" y="3904488"/>
            <a:ext cx="48463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Navires</a:t>
            </a:r>
            <a:endParaRPr lang="en-US" sz="1700" dirty="0"/>
          </a:p>
        </p:txBody>
      </p:sp>
      <p:sp>
        <p:nvSpPr>
          <p:cNvPr id="15" name="Text 13"/>
          <p:cNvSpPr txBox="1"/>
          <p:nvPr/>
        </p:nvSpPr>
        <p:spPr>
          <a:xfrm>
            <a:off x="1188720" y="4270248"/>
            <a:ext cx="4846320" cy="77724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L’organisme coche ceux qui l’intéressent. Seuls ceux-là sont sollicités.</a:t>
            </a:r>
            <a:endParaRPr lang="en-US" sz="1450" dirty="0"/>
          </a:p>
        </p:txBody>
      </p:sp>
      <p:sp>
        <p:nvSpPr>
          <p:cNvPr id="16" name="Shape 14"/>
          <p:cNvSpPr/>
          <p:nvPr/>
        </p:nvSpPr>
        <p:spPr>
          <a:xfrm>
            <a:off x="548640" y="5120640"/>
            <a:ext cx="457200" cy="457200"/>
          </a:xfrm>
          <a:prstGeom prst="ellipse">
            <a:avLst/>
          </a:prstGeom>
          <a:solidFill>
            <a:srgbClr val="1F5BD6"/>
          </a:solidFill>
          <a:ln w="12700">
            <a:solidFill>
              <a:srgbClr val="1F5BD6"/>
            </a:solidFill>
            <a:prstDash val="solid"/>
          </a:ln>
        </p:spPr>
        <p:txBody>
          <a:bodyPr/>
          <a:lstStyle/>
          <a:p>
            <a:endParaRPr lang="fr-FR"/>
          </a:p>
        </p:txBody>
      </p:sp>
      <p:sp>
        <p:nvSpPr>
          <p:cNvPr id="17" name="Text 15"/>
          <p:cNvSpPr txBox="1"/>
          <p:nvPr/>
        </p:nvSpPr>
        <p:spPr>
          <a:xfrm>
            <a:off x="548640" y="51206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4</a:t>
            </a:r>
            <a:endParaRPr lang="en-US" sz="1400" dirty="0"/>
          </a:p>
        </p:txBody>
      </p:sp>
      <p:sp>
        <p:nvSpPr>
          <p:cNvPr id="18" name="Text 16"/>
          <p:cNvSpPr txBox="1"/>
          <p:nvPr/>
        </p:nvSpPr>
        <p:spPr>
          <a:xfrm>
            <a:off x="1188720" y="5138928"/>
            <a:ext cx="48463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Projet</a:t>
            </a:r>
            <a:endParaRPr lang="en-US" sz="1700" dirty="0"/>
          </a:p>
        </p:txBody>
      </p:sp>
      <p:sp>
        <p:nvSpPr>
          <p:cNvPr id="19" name="Text 17"/>
          <p:cNvSpPr txBox="1"/>
          <p:nvPr/>
        </p:nvSpPr>
        <p:spPr>
          <a:xfrm>
            <a:off x="1188720" y="5504688"/>
            <a:ext cx="4846320" cy="77724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Description, cahier des charges joint (PDF, Word, ODT, 3 Mo max), engagement sur le tirage au sort.</a:t>
            </a:r>
            <a:endParaRPr lang="en-US" sz="1450" dirty="0"/>
          </a:p>
        </p:txBody>
      </p:sp>
      <p:sp>
        <p:nvSpPr>
          <p:cNvPr id="20" name="Shape 18"/>
          <p:cNvSpPr/>
          <p:nvPr/>
        </p:nvSpPr>
        <p:spPr>
          <a:xfrm>
            <a:off x="6355080" y="411480"/>
            <a:ext cx="5303520" cy="6035040"/>
          </a:xfrm>
          <a:prstGeom prst="roundRect">
            <a:avLst>
              <a:gd name="adj" fmla="val 3448"/>
            </a:avLst>
          </a:prstGeom>
          <a:solidFill>
            <a:srgbClr val="EEF4FD"/>
          </a:solidFill>
          <a:ln w="12700">
            <a:solidFill>
              <a:srgbClr val="EEF4FD"/>
            </a:solidFill>
            <a:prstDash val="solid"/>
          </a:ln>
        </p:spPr>
        <p:txBody>
          <a:bodyPr/>
          <a:lstStyle/>
          <a:p>
            <a:endParaRPr lang="fr-FR"/>
          </a:p>
        </p:txBody>
      </p:sp>
      <p:pic>
        <p:nvPicPr>
          <p:cNvPr id="21" name="Image 0" descr="/home/claude/deck/crop3/hero-embarquement_3314_50_30_20_h.jpg"/>
          <p:cNvPicPr>
            <a:picLocks noChangeAspect="1"/>
          </p:cNvPicPr>
          <p:nvPr/>
        </p:nvPicPr>
        <p:blipFill>
          <a:blip r:embed="rId3"/>
          <a:stretch>
            <a:fillRect/>
          </a:stretch>
        </p:blipFill>
        <p:spPr>
          <a:xfrm>
            <a:off x="6355080" y="411480"/>
            <a:ext cx="5303520" cy="1600200"/>
          </a:xfrm>
          <a:prstGeom prst="rect">
            <a:avLst/>
          </a:prstGeom>
        </p:spPr>
      </p:pic>
      <p:sp>
        <p:nvSpPr>
          <p:cNvPr id="22" name="Text 19"/>
          <p:cNvSpPr txBox="1"/>
          <p:nvPr/>
        </p:nvSpPr>
        <p:spPr>
          <a:xfrm>
            <a:off x="6629400" y="2148840"/>
            <a:ext cx="4572000" cy="365760"/>
          </a:xfrm>
          <a:prstGeom prst="rect">
            <a:avLst/>
          </a:prstGeom>
          <a:noFill/>
          <a:ln/>
        </p:spPr>
        <p:txBody>
          <a:bodyPr wrap="square" lIns="0" tIns="0" rIns="0" bIns="0" rtlCol="0" anchor="t"/>
          <a:lstStyle/>
          <a:p>
            <a:pPr marL="0" indent="0">
              <a:buNone/>
            </a:pPr>
            <a:r>
              <a:rPr lang="en-US" sz="1750" b="1" dirty="0">
                <a:solidFill>
                  <a:srgbClr val="0012B5"/>
                </a:solidFill>
                <a:latin typeface="Verdana" pitchFamily="34" charset="0"/>
                <a:ea typeface="Verdana" pitchFamily="34" charset="-122"/>
                <a:cs typeface="Verdana" pitchFamily="34" charset="-120"/>
              </a:rPr>
              <a:t>À l’envoi</a:t>
            </a:r>
            <a:endParaRPr lang="en-US" sz="1750" dirty="0"/>
          </a:p>
        </p:txBody>
      </p:sp>
      <p:sp>
        <p:nvSpPr>
          <p:cNvPr id="23" name="Shape 20"/>
          <p:cNvSpPr/>
          <p:nvPr/>
        </p:nvSpPr>
        <p:spPr>
          <a:xfrm>
            <a:off x="6629400" y="2651760"/>
            <a:ext cx="475488" cy="475488"/>
          </a:xfrm>
          <a:prstGeom prst="ellipse">
            <a:avLst/>
          </a:prstGeom>
          <a:solidFill>
            <a:srgbClr val="0012B5"/>
          </a:solidFill>
          <a:ln w="12700">
            <a:solidFill>
              <a:srgbClr val="0012B5"/>
            </a:solidFill>
            <a:prstDash val="solid"/>
          </a:ln>
        </p:spPr>
        <p:txBody>
          <a:bodyPr/>
          <a:lstStyle/>
          <a:p>
            <a:endParaRPr lang="fr-FR"/>
          </a:p>
        </p:txBody>
      </p:sp>
      <p:pic>
        <p:nvPicPr>
          <p:cNvPr id="24" name="Image 1" descr="preencoded.png"/>
          <p:cNvPicPr>
            <a:picLocks noChangeAspect="1"/>
          </p:cNvPicPr>
          <p:nvPr/>
        </p:nvPicPr>
        <p:blipFill>
          <a:blip r:embed="rId4"/>
          <a:stretch>
            <a:fillRect/>
          </a:stretch>
        </p:blipFill>
        <p:spPr>
          <a:xfrm>
            <a:off x="6748272" y="2770632"/>
            <a:ext cx="237744" cy="237744"/>
          </a:xfrm>
          <a:prstGeom prst="rect">
            <a:avLst/>
          </a:prstGeom>
        </p:spPr>
      </p:pic>
      <p:sp>
        <p:nvSpPr>
          <p:cNvPr id="25" name="Text 21"/>
          <p:cNvSpPr txBox="1"/>
          <p:nvPr/>
        </p:nvSpPr>
        <p:spPr>
          <a:xfrm>
            <a:off x="7269480" y="2624328"/>
            <a:ext cx="4206240" cy="292608"/>
          </a:xfrm>
          <a:prstGeom prst="rect">
            <a:avLst/>
          </a:prstGeom>
          <a:noFill/>
          <a:ln/>
        </p:spPr>
        <p:txBody>
          <a:bodyPr wrap="square" lIns="0" tIns="0" rIns="0" bIns="0" rtlCol="0" anchor="t"/>
          <a:lstStyle/>
          <a:p>
            <a:pPr marL="0" indent="0">
              <a:buNone/>
            </a:pPr>
            <a:r>
              <a:rPr lang="en-US" sz="1500" b="1" dirty="0">
                <a:solidFill>
                  <a:srgbClr val="0012B5"/>
                </a:solidFill>
                <a:latin typeface="Verdana" pitchFamily="34" charset="0"/>
                <a:ea typeface="Verdana" pitchFamily="34" charset="-122"/>
                <a:cs typeface="Verdana" pitchFamily="34" charset="-120"/>
              </a:rPr>
              <a:t>Chaque patron coché reçoit un e-mail</a:t>
            </a:r>
            <a:endParaRPr lang="en-US" sz="1500" dirty="0"/>
          </a:p>
        </p:txBody>
      </p:sp>
      <p:sp>
        <p:nvSpPr>
          <p:cNvPr id="26" name="Text 22"/>
          <p:cNvSpPr txBox="1"/>
          <p:nvPr/>
        </p:nvSpPr>
        <p:spPr>
          <a:xfrm>
            <a:off x="7269480" y="2926080"/>
            <a:ext cx="4206240" cy="50292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Mission, période, projet, cahier des charges, boutons « J’accepte » / « Je décline ».</a:t>
            </a:r>
            <a:endParaRPr lang="en-US" sz="1400" dirty="0"/>
          </a:p>
        </p:txBody>
      </p:sp>
      <p:sp>
        <p:nvSpPr>
          <p:cNvPr id="27" name="Shape 23"/>
          <p:cNvSpPr/>
          <p:nvPr/>
        </p:nvSpPr>
        <p:spPr>
          <a:xfrm>
            <a:off x="6629400" y="3584448"/>
            <a:ext cx="475488" cy="475488"/>
          </a:xfrm>
          <a:prstGeom prst="ellipse">
            <a:avLst/>
          </a:prstGeom>
          <a:solidFill>
            <a:srgbClr val="1F5BD6"/>
          </a:solidFill>
          <a:ln w="12700">
            <a:solidFill>
              <a:srgbClr val="1F5BD6"/>
            </a:solidFill>
            <a:prstDash val="solid"/>
          </a:ln>
        </p:spPr>
        <p:txBody>
          <a:bodyPr/>
          <a:lstStyle/>
          <a:p>
            <a:endParaRPr lang="fr-FR"/>
          </a:p>
        </p:txBody>
      </p:sp>
      <p:pic>
        <p:nvPicPr>
          <p:cNvPr id="28" name="Image 2" descr="preencoded.png"/>
          <p:cNvPicPr>
            <a:picLocks noChangeAspect="1"/>
          </p:cNvPicPr>
          <p:nvPr/>
        </p:nvPicPr>
        <p:blipFill>
          <a:blip r:embed="rId5"/>
          <a:stretch>
            <a:fillRect/>
          </a:stretch>
        </p:blipFill>
        <p:spPr>
          <a:xfrm>
            <a:off x="6748272" y="3703320"/>
            <a:ext cx="237744" cy="237744"/>
          </a:xfrm>
          <a:prstGeom prst="rect">
            <a:avLst/>
          </a:prstGeom>
        </p:spPr>
      </p:pic>
      <p:sp>
        <p:nvSpPr>
          <p:cNvPr id="29" name="Text 24"/>
          <p:cNvSpPr txBox="1"/>
          <p:nvPr/>
        </p:nvSpPr>
        <p:spPr>
          <a:xfrm>
            <a:off x="7269480" y="3557016"/>
            <a:ext cx="4206240" cy="292608"/>
          </a:xfrm>
          <a:prstGeom prst="rect">
            <a:avLst/>
          </a:prstGeom>
          <a:noFill/>
          <a:ln/>
        </p:spPr>
        <p:txBody>
          <a:bodyPr wrap="square" lIns="0" tIns="0" rIns="0" bIns="0" rtlCol="0" anchor="t"/>
          <a:lstStyle/>
          <a:p>
            <a:pPr marL="0" indent="0">
              <a:buNone/>
            </a:pPr>
            <a:r>
              <a:rPr lang="en-US" sz="1500" b="1" dirty="0">
                <a:solidFill>
                  <a:srgbClr val="0012B5"/>
                </a:solidFill>
                <a:latin typeface="Verdana" pitchFamily="34" charset="0"/>
                <a:ea typeface="Verdana" pitchFamily="34" charset="-122"/>
                <a:cs typeface="Verdana" pitchFamily="34" charset="-120"/>
              </a:rPr>
              <a:t>… et un SMS</a:t>
            </a:r>
            <a:endParaRPr lang="en-US" sz="1500" dirty="0"/>
          </a:p>
        </p:txBody>
      </p:sp>
      <p:sp>
        <p:nvSpPr>
          <p:cNvPr id="30" name="Text 25"/>
          <p:cNvSpPr txBox="1"/>
          <p:nvPr/>
        </p:nvSpPr>
        <p:spPr>
          <a:xfrm>
            <a:off x="7269480" y="3858768"/>
            <a:ext cx="4206240" cy="50292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Il répond depuis l’e-mail ou son espace.</a:t>
            </a:r>
            <a:endParaRPr lang="en-US" sz="1400" dirty="0"/>
          </a:p>
        </p:txBody>
      </p:sp>
      <p:sp>
        <p:nvSpPr>
          <p:cNvPr id="31" name="Shape 26"/>
          <p:cNvSpPr/>
          <p:nvPr/>
        </p:nvSpPr>
        <p:spPr>
          <a:xfrm>
            <a:off x="6629400" y="4517136"/>
            <a:ext cx="475488" cy="475488"/>
          </a:xfrm>
          <a:prstGeom prst="ellipse">
            <a:avLst/>
          </a:prstGeom>
          <a:solidFill>
            <a:srgbClr val="00A7B5"/>
          </a:solidFill>
          <a:ln w="12700">
            <a:solidFill>
              <a:srgbClr val="00A7B5"/>
            </a:solidFill>
            <a:prstDash val="solid"/>
          </a:ln>
        </p:spPr>
        <p:txBody>
          <a:bodyPr/>
          <a:lstStyle/>
          <a:p>
            <a:endParaRPr lang="fr-FR"/>
          </a:p>
        </p:txBody>
      </p:sp>
      <p:pic>
        <p:nvPicPr>
          <p:cNvPr id="32" name="Image 3" descr="preencoded.png"/>
          <p:cNvPicPr>
            <a:picLocks noChangeAspect="1"/>
          </p:cNvPicPr>
          <p:nvPr/>
        </p:nvPicPr>
        <p:blipFill>
          <a:blip r:embed="rId6"/>
          <a:stretch>
            <a:fillRect/>
          </a:stretch>
        </p:blipFill>
        <p:spPr>
          <a:xfrm>
            <a:off x="6748272" y="4636008"/>
            <a:ext cx="237744" cy="237744"/>
          </a:xfrm>
          <a:prstGeom prst="rect">
            <a:avLst/>
          </a:prstGeom>
        </p:spPr>
      </p:pic>
      <p:sp>
        <p:nvSpPr>
          <p:cNvPr id="33" name="Text 27"/>
          <p:cNvSpPr txBox="1"/>
          <p:nvPr/>
        </p:nvSpPr>
        <p:spPr>
          <a:xfrm>
            <a:off x="7269480" y="4489704"/>
            <a:ext cx="4206240" cy="292608"/>
          </a:xfrm>
          <a:prstGeom prst="rect">
            <a:avLst/>
          </a:prstGeom>
          <a:noFill/>
          <a:ln/>
        </p:spPr>
        <p:txBody>
          <a:bodyPr wrap="square" lIns="0" tIns="0" rIns="0" bIns="0" rtlCol="0" anchor="t"/>
          <a:lstStyle/>
          <a:p>
            <a:pPr marL="0" indent="0">
              <a:buNone/>
            </a:pPr>
            <a:r>
              <a:rPr lang="en-US" sz="1500" b="1" dirty="0">
                <a:solidFill>
                  <a:srgbClr val="0012B5"/>
                </a:solidFill>
                <a:latin typeface="Verdana" pitchFamily="34" charset="0"/>
                <a:ea typeface="Verdana" pitchFamily="34" charset="-122"/>
                <a:cs typeface="Verdana" pitchFamily="34" charset="-120"/>
              </a:rPr>
              <a:t>L’équipe reçoit une copie</a:t>
            </a:r>
            <a:endParaRPr lang="en-US" sz="1500" dirty="0"/>
          </a:p>
        </p:txBody>
      </p:sp>
      <p:sp>
        <p:nvSpPr>
          <p:cNvPr id="34" name="Text 28"/>
          <p:cNvSpPr txBox="1"/>
          <p:nvPr/>
        </p:nvSpPr>
        <p:spPr>
          <a:xfrm>
            <a:off x="7269480" y="4791456"/>
            <a:ext cx="4206240" cy="50292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Nombre de navires, e-mails et SMS partis.</a:t>
            </a:r>
            <a:endParaRPr lang="en-US" sz="1400" dirty="0"/>
          </a:p>
        </p:txBody>
      </p:sp>
      <p:sp>
        <p:nvSpPr>
          <p:cNvPr id="35" name="Shape 29"/>
          <p:cNvSpPr/>
          <p:nvPr/>
        </p:nvSpPr>
        <p:spPr>
          <a:xfrm>
            <a:off x="6629400" y="5449824"/>
            <a:ext cx="475488" cy="475488"/>
          </a:xfrm>
          <a:prstGeom prst="ellipse">
            <a:avLst/>
          </a:prstGeom>
          <a:solidFill>
            <a:srgbClr val="0E9F6E"/>
          </a:solidFill>
          <a:ln w="12700">
            <a:solidFill>
              <a:srgbClr val="0E9F6E"/>
            </a:solidFill>
            <a:prstDash val="solid"/>
          </a:ln>
        </p:spPr>
        <p:txBody>
          <a:bodyPr/>
          <a:lstStyle/>
          <a:p>
            <a:endParaRPr lang="fr-FR"/>
          </a:p>
        </p:txBody>
      </p:sp>
      <p:pic>
        <p:nvPicPr>
          <p:cNvPr id="36" name="Image 4" descr="preencoded.png"/>
          <p:cNvPicPr>
            <a:picLocks noChangeAspect="1"/>
          </p:cNvPicPr>
          <p:nvPr/>
        </p:nvPicPr>
        <p:blipFill>
          <a:blip r:embed="rId7"/>
          <a:stretch>
            <a:fillRect/>
          </a:stretch>
        </p:blipFill>
        <p:spPr>
          <a:xfrm>
            <a:off x="6748272" y="5568696"/>
            <a:ext cx="237744" cy="237744"/>
          </a:xfrm>
          <a:prstGeom prst="rect">
            <a:avLst/>
          </a:prstGeom>
        </p:spPr>
      </p:pic>
      <p:sp>
        <p:nvSpPr>
          <p:cNvPr id="37" name="Text 30"/>
          <p:cNvSpPr txBox="1"/>
          <p:nvPr/>
        </p:nvSpPr>
        <p:spPr>
          <a:xfrm>
            <a:off x="7269480" y="5422392"/>
            <a:ext cx="4206240" cy="292608"/>
          </a:xfrm>
          <a:prstGeom prst="rect">
            <a:avLst/>
          </a:prstGeom>
          <a:noFill/>
          <a:ln/>
        </p:spPr>
        <p:txBody>
          <a:bodyPr wrap="square" lIns="0" tIns="0" rIns="0" bIns="0" rtlCol="0" anchor="t"/>
          <a:lstStyle/>
          <a:p>
            <a:pPr marL="0" indent="0">
              <a:buNone/>
            </a:pPr>
            <a:r>
              <a:rPr lang="en-US" sz="1500" b="1" dirty="0">
                <a:solidFill>
                  <a:srgbClr val="0012B5"/>
                </a:solidFill>
                <a:latin typeface="Verdana" pitchFamily="34" charset="0"/>
                <a:ea typeface="Verdana" pitchFamily="34" charset="-122"/>
                <a:cs typeface="Verdana" pitchFamily="34" charset="-120"/>
              </a:rPr>
              <a:t>L’organisme suit, anonymement</a:t>
            </a:r>
            <a:endParaRPr lang="en-US" sz="1500" dirty="0"/>
          </a:p>
        </p:txBody>
      </p:sp>
      <p:sp>
        <p:nvSpPr>
          <p:cNvPr id="38" name="Text 31"/>
          <p:cNvSpPr txBox="1"/>
          <p:nvPr/>
        </p:nvSpPr>
        <p:spPr>
          <a:xfrm>
            <a:off x="7269480" y="5724144"/>
            <a:ext cx="4206240" cy="50292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 3 navires ont accepté sur 5 » : identités cachées.</a:t>
            </a:r>
            <a:endParaRPr lang="en-US" sz="1400" dirty="0"/>
          </a:p>
        </p:txBody>
      </p:sp>
      <p:sp>
        <p:nvSpPr>
          <p:cNvPr id="39" name="Text 32"/>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16</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L’ORGANISME · ÉTAPE 3 DE L’APPEL</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100" b="1" dirty="0">
                <a:solidFill>
                  <a:srgbClr val="0012B5"/>
                </a:solidFill>
                <a:latin typeface="Verdana" pitchFamily="34" charset="0"/>
                <a:ea typeface="Verdana" pitchFamily="34" charset="-122"/>
                <a:cs typeface="Verdana" pitchFamily="34" charset="-120"/>
              </a:rPr>
              <a:t>Cocher ses navires : seuls les cochés sont sollicités</a:t>
            </a:r>
            <a:endParaRPr lang="en-US" sz="2100" dirty="0"/>
          </a:p>
        </p:txBody>
      </p:sp>
      <p:sp>
        <p:nvSpPr>
          <p:cNvPr id="4" name="Shape 2"/>
          <p:cNvSpPr/>
          <p:nvPr/>
        </p:nvSpPr>
        <p:spPr>
          <a:xfrm>
            <a:off x="484632" y="1353312"/>
            <a:ext cx="6437376" cy="4992329"/>
          </a:xfrm>
          <a:prstGeom prst="roundRect">
            <a:avLst>
              <a:gd name="adj" fmla="val 2198"/>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sci_navires.jpg"/>
          <p:cNvPicPr>
            <a:picLocks noChangeAspect="1"/>
          </p:cNvPicPr>
          <p:nvPr/>
        </p:nvPicPr>
        <p:blipFill>
          <a:blip r:embed="rId3"/>
          <a:stretch>
            <a:fillRect/>
          </a:stretch>
        </p:blipFill>
        <p:spPr>
          <a:xfrm>
            <a:off x="548640" y="1417320"/>
            <a:ext cx="6309360" cy="4864313"/>
          </a:xfrm>
          <a:prstGeom prst="rect">
            <a:avLst/>
          </a:prstGeom>
        </p:spPr>
      </p:pic>
      <p:sp>
        <p:nvSpPr>
          <p:cNvPr id="6" name="Shape 3"/>
          <p:cNvSpPr/>
          <p:nvPr/>
        </p:nvSpPr>
        <p:spPr>
          <a:xfrm>
            <a:off x="7269480" y="1463040"/>
            <a:ext cx="457200" cy="457200"/>
          </a:xfrm>
          <a:prstGeom prst="ellipse">
            <a:avLst/>
          </a:prstGeom>
          <a:solidFill>
            <a:srgbClr val="0012B5"/>
          </a:solidFill>
          <a:ln w="12700">
            <a:solidFill>
              <a:srgbClr val="0012B5"/>
            </a:solidFill>
            <a:prstDash val="solid"/>
          </a:ln>
        </p:spPr>
        <p:txBody>
          <a:bodyPr/>
          <a:lstStyle/>
          <a:p>
            <a:endParaRPr lang="fr-FR"/>
          </a:p>
        </p:txBody>
      </p:sp>
      <p:sp>
        <p:nvSpPr>
          <p:cNvPr id="7" name="Text 4"/>
          <p:cNvSpPr txBox="1"/>
          <p:nvPr/>
        </p:nvSpPr>
        <p:spPr>
          <a:xfrm>
            <a:off x="7269480" y="14630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1</a:t>
            </a:r>
            <a:endParaRPr lang="en-US" sz="1400" dirty="0"/>
          </a:p>
        </p:txBody>
      </p:sp>
      <p:sp>
        <p:nvSpPr>
          <p:cNvPr id="8" name="Text 5"/>
          <p:cNvSpPr txBox="1"/>
          <p:nvPr/>
        </p:nvSpPr>
        <p:spPr>
          <a:xfrm>
            <a:off x="7909560" y="1481328"/>
            <a:ext cx="374904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La liste</a:t>
            </a:r>
            <a:endParaRPr lang="en-US" sz="1700" dirty="0"/>
          </a:p>
        </p:txBody>
      </p:sp>
      <p:sp>
        <p:nvSpPr>
          <p:cNvPr id="9" name="Text 6"/>
          <p:cNvSpPr txBox="1"/>
          <p:nvPr/>
        </p:nvSpPr>
        <p:spPr>
          <a:xfrm>
            <a:off x="7909560" y="1847088"/>
            <a:ext cx="3749040" cy="73152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Les navires en ligne qui répondent aux critères et sont libres aux dates.</a:t>
            </a:r>
            <a:endParaRPr lang="en-US" sz="1450" dirty="0"/>
          </a:p>
        </p:txBody>
      </p:sp>
      <p:sp>
        <p:nvSpPr>
          <p:cNvPr id="10" name="Shape 7"/>
          <p:cNvSpPr/>
          <p:nvPr/>
        </p:nvSpPr>
        <p:spPr>
          <a:xfrm>
            <a:off x="7269480" y="2651760"/>
            <a:ext cx="457200" cy="457200"/>
          </a:xfrm>
          <a:prstGeom prst="ellipse">
            <a:avLst/>
          </a:prstGeom>
          <a:solidFill>
            <a:srgbClr val="0E9F6E"/>
          </a:solidFill>
          <a:ln w="12700">
            <a:solidFill>
              <a:srgbClr val="0E9F6E"/>
            </a:solidFill>
            <a:prstDash val="solid"/>
          </a:ln>
        </p:spPr>
        <p:txBody>
          <a:bodyPr/>
          <a:lstStyle/>
          <a:p>
            <a:endParaRPr lang="fr-FR"/>
          </a:p>
        </p:txBody>
      </p:sp>
      <p:sp>
        <p:nvSpPr>
          <p:cNvPr id="11" name="Text 8"/>
          <p:cNvSpPr txBox="1"/>
          <p:nvPr/>
        </p:nvSpPr>
        <p:spPr>
          <a:xfrm>
            <a:off x="7269480" y="26517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2</a:t>
            </a:r>
            <a:endParaRPr lang="en-US" sz="1400" dirty="0"/>
          </a:p>
        </p:txBody>
      </p:sp>
      <p:sp>
        <p:nvSpPr>
          <p:cNvPr id="12" name="Text 9"/>
          <p:cNvSpPr txBox="1"/>
          <p:nvPr/>
        </p:nvSpPr>
        <p:spPr>
          <a:xfrm>
            <a:off x="7909560" y="2670048"/>
            <a:ext cx="374904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Coché = sollicité</a:t>
            </a:r>
            <a:endParaRPr lang="en-US" sz="1700" dirty="0"/>
          </a:p>
        </p:txBody>
      </p:sp>
      <p:sp>
        <p:nvSpPr>
          <p:cNvPr id="13" name="Text 10"/>
          <p:cNvSpPr txBox="1"/>
          <p:nvPr/>
        </p:nvSpPr>
        <p:spPr>
          <a:xfrm>
            <a:off x="7909560" y="3035808"/>
            <a:ext cx="3749040" cy="73152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Carte encadrée : ce patron recevra l’appel par e-mail et SMS.</a:t>
            </a:r>
            <a:endParaRPr lang="en-US" sz="1450" dirty="0"/>
          </a:p>
        </p:txBody>
      </p:sp>
      <p:sp>
        <p:nvSpPr>
          <p:cNvPr id="14" name="Shape 11"/>
          <p:cNvSpPr/>
          <p:nvPr/>
        </p:nvSpPr>
        <p:spPr>
          <a:xfrm>
            <a:off x="7269480" y="3840480"/>
            <a:ext cx="457200" cy="457200"/>
          </a:xfrm>
          <a:prstGeom prst="ellipse">
            <a:avLst/>
          </a:prstGeom>
          <a:solidFill>
            <a:srgbClr val="66728A"/>
          </a:solidFill>
          <a:ln w="12700">
            <a:solidFill>
              <a:srgbClr val="66728A"/>
            </a:solidFill>
            <a:prstDash val="solid"/>
          </a:ln>
        </p:spPr>
        <p:txBody>
          <a:bodyPr/>
          <a:lstStyle/>
          <a:p>
            <a:endParaRPr lang="fr-FR"/>
          </a:p>
        </p:txBody>
      </p:sp>
      <p:sp>
        <p:nvSpPr>
          <p:cNvPr id="15" name="Text 12"/>
          <p:cNvSpPr txBox="1"/>
          <p:nvPr/>
        </p:nvSpPr>
        <p:spPr>
          <a:xfrm>
            <a:off x="7269480" y="38404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3</a:t>
            </a:r>
            <a:endParaRPr lang="en-US" sz="1400" dirty="0"/>
          </a:p>
        </p:txBody>
      </p:sp>
      <p:sp>
        <p:nvSpPr>
          <p:cNvPr id="16" name="Text 13"/>
          <p:cNvSpPr txBox="1"/>
          <p:nvPr/>
        </p:nvSpPr>
        <p:spPr>
          <a:xfrm>
            <a:off x="7909560" y="3858768"/>
            <a:ext cx="374904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Non coché = rien</a:t>
            </a:r>
            <a:endParaRPr lang="en-US" sz="1700" dirty="0"/>
          </a:p>
        </p:txBody>
      </p:sp>
      <p:sp>
        <p:nvSpPr>
          <p:cNvPr id="17" name="Text 14"/>
          <p:cNvSpPr txBox="1"/>
          <p:nvPr/>
        </p:nvSpPr>
        <p:spPr>
          <a:xfrm>
            <a:off x="7909560" y="4224528"/>
            <a:ext cx="3749040" cy="73152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Le patron n’est pas dérangé.</a:t>
            </a:r>
            <a:endParaRPr lang="en-US" sz="1450" dirty="0"/>
          </a:p>
        </p:txBody>
      </p:sp>
      <p:sp>
        <p:nvSpPr>
          <p:cNvPr id="18" name="Shape 15"/>
          <p:cNvSpPr/>
          <p:nvPr/>
        </p:nvSpPr>
        <p:spPr>
          <a:xfrm>
            <a:off x="7269480" y="5029200"/>
            <a:ext cx="457200" cy="457200"/>
          </a:xfrm>
          <a:prstGeom prst="ellipse">
            <a:avLst/>
          </a:prstGeom>
          <a:solidFill>
            <a:srgbClr val="00A7B5"/>
          </a:solidFill>
          <a:ln w="12700">
            <a:solidFill>
              <a:srgbClr val="00A7B5"/>
            </a:solidFill>
            <a:prstDash val="solid"/>
          </a:ln>
        </p:spPr>
        <p:txBody>
          <a:bodyPr/>
          <a:lstStyle/>
          <a:p>
            <a:endParaRPr lang="fr-FR"/>
          </a:p>
        </p:txBody>
      </p:sp>
      <p:sp>
        <p:nvSpPr>
          <p:cNvPr id="19" name="Text 16"/>
          <p:cNvSpPr txBox="1"/>
          <p:nvPr/>
        </p:nvSpPr>
        <p:spPr>
          <a:xfrm>
            <a:off x="7269480" y="50292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4</a:t>
            </a:r>
            <a:endParaRPr lang="en-US" sz="1400" dirty="0"/>
          </a:p>
        </p:txBody>
      </p:sp>
      <p:sp>
        <p:nvSpPr>
          <p:cNvPr id="20" name="Text 17"/>
          <p:cNvSpPr txBox="1"/>
          <p:nvPr/>
        </p:nvSpPr>
        <p:spPr>
          <a:xfrm>
            <a:off x="7909560" y="5047488"/>
            <a:ext cx="374904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La fiche technique</a:t>
            </a:r>
            <a:endParaRPr lang="en-US" sz="1700" dirty="0"/>
          </a:p>
        </p:txBody>
      </p:sp>
      <p:sp>
        <p:nvSpPr>
          <p:cNvPr id="21" name="Text 18"/>
          <p:cNvSpPr txBox="1"/>
          <p:nvPr/>
        </p:nvSpPr>
        <p:spPr>
          <a:xfrm>
            <a:off x="7909560" y="5413248"/>
            <a:ext cx="3749040" cy="73152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Un clic : équipage, catégorie, longueur, jauge, capacité.</a:t>
            </a:r>
            <a:endParaRPr lang="en-US" sz="1450" dirty="0"/>
          </a:p>
        </p:txBody>
      </p:sp>
      <p:sp>
        <p:nvSpPr>
          <p:cNvPr id="22" name="Text 19"/>
          <p:cNvSpPr txBox="1"/>
          <p:nvPr/>
        </p:nvSpPr>
        <p:spPr>
          <a:xfrm>
            <a:off x="7269480" y="6172200"/>
            <a:ext cx="4389120" cy="274320"/>
          </a:xfrm>
          <a:prstGeom prst="rect">
            <a:avLst/>
          </a:prstGeom>
          <a:noFill/>
          <a:ln/>
        </p:spPr>
        <p:txBody>
          <a:bodyPr wrap="square" lIns="0" tIns="0" rIns="0" bIns="0" rtlCol="0" anchor="t"/>
          <a:lstStyle/>
          <a:p>
            <a:pPr marL="0" indent="0">
              <a:buNone/>
            </a:pPr>
            <a:r>
              <a:rPr lang="en-US" sz="1200" i="1" dirty="0">
                <a:solidFill>
                  <a:srgbClr val="66728A"/>
                </a:solidFill>
                <a:latin typeface="Verdana" pitchFamily="34" charset="0"/>
                <a:ea typeface="Verdana" pitchFamily="34" charset="-122"/>
                <a:cs typeface="Verdana" pitchFamily="34" charset="-120"/>
              </a:rPr>
              <a:t>Capture réalisée avec les navires actuellement en ligne.</a:t>
            </a:r>
            <a:endParaRPr lang="en-US" sz="1200" dirty="0"/>
          </a:p>
        </p:txBody>
      </p:sp>
      <p:sp>
        <p:nvSpPr>
          <p:cNvPr id="23" name="Text 20"/>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17</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L’ORGANISME · TIRAGE AU SORT</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Réponses des patrons et tirage au sort équitable</a:t>
            </a:r>
            <a:endParaRPr lang="en-US" sz="2300" dirty="0"/>
          </a:p>
        </p:txBody>
      </p:sp>
      <p:sp>
        <p:nvSpPr>
          <p:cNvPr id="4" name="Shape 2"/>
          <p:cNvSpPr/>
          <p:nvPr/>
        </p:nvSpPr>
        <p:spPr>
          <a:xfrm>
            <a:off x="548640" y="1463040"/>
            <a:ext cx="457200" cy="457200"/>
          </a:xfrm>
          <a:prstGeom prst="ellipse">
            <a:avLst/>
          </a:prstGeom>
          <a:solidFill>
            <a:srgbClr val="1F5BD6"/>
          </a:solidFill>
          <a:ln w="12700">
            <a:solidFill>
              <a:srgbClr val="1F5BD6"/>
            </a:solidFill>
            <a:prstDash val="solid"/>
          </a:ln>
        </p:spPr>
        <p:txBody>
          <a:bodyPr/>
          <a:lstStyle/>
          <a:p>
            <a:endParaRPr lang="fr-FR"/>
          </a:p>
        </p:txBody>
      </p:sp>
      <p:sp>
        <p:nvSpPr>
          <p:cNvPr id="5" name="Text 3"/>
          <p:cNvSpPr txBox="1"/>
          <p:nvPr/>
        </p:nvSpPr>
        <p:spPr>
          <a:xfrm>
            <a:off x="548640" y="14630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1</a:t>
            </a:r>
            <a:endParaRPr lang="en-US" sz="1400" dirty="0"/>
          </a:p>
        </p:txBody>
      </p:sp>
      <p:sp>
        <p:nvSpPr>
          <p:cNvPr id="6" name="Text 4"/>
          <p:cNvSpPr txBox="1"/>
          <p:nvPr/>
        </p:nvSpPr>
        <p:spPr>
          <a:xfrm>
            <a:off x="1188720" y="1481328"/>
            <a:ext cx="48463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Le patron répond</a:t>
            </a:r>
            <a:endParaRPr lang="en-US" sz="1700" dirty="0"/>
          </a:p>
        </p:txBody>
      </p:sp>
      <p:sp>
        <p:nvSpPr>
          <p:cNvPr id="7" name="Text 5"/>
          <p:cNvSpPr txBox="1"/>
          <p:nvPr/>
        </p:nvSpPr>
        <p:spPr>
          <a:xfrm>
            <a:off x="1188720" y="1847088"/>
            <a:ext cx="4846320" cy="77724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Depuis l’e-mail ou son espace : « Je suis candidat » / « Non merci ». Réponse définitive. L’organisme ne voit jamais qui a décliné.</a:t>
            </a:r>
            <a:endParaRPr lang="en-US" sz="1450" dirty="0"/>
          </a:p>
        </p:txBody>
      </p:sp>
      <p:sp>
        <p:nvSpPr>
          <p:cNvPr id="8" name="Shape 6"/>
          <p:cNvSpPr/>
          <p:nvPr/>
        </p:nvSpPr>
        <p:spPr>
          <a:xfrm>
            <a:off x="548640" y="2697480"/>
            <a:ext cx="457200" cy="457200"/>
          </a:xfrm>
          <a:prstGeom prst="ellipse">
            <a:avLst/>
          </a:prstGeom>
          <a:solidFill>
            <a:srgbClr val="1F5BD6"/>
          </a:solidFill>
          <a:ln w="12700">
            <a:solidFill>
              <a:srgbClr val="1F5BD6"/>
            </a:solidFill>
            <a:prstDash val="solid"/>
          </a:ln>
        </p:spPr>
        <p:txBody>
          <a:bodyPr/>
          <a:lstStyle/>
          <a:p>
            <a:endParaRPr lang="fr-FR"/>
          </a:p>
        </p:txBody>
      </p:sp>
      <p:sp>
        <p:nvSpPr>
          <p:cNvPr id="9" name="Text 7"/>
          <p:cNvSpPr txBox="1"/>
          <p:nvPr/>
        </p:nvSpPr>
        <p:spPr>
          <a:xfrm>
            <a:off x="548640" y="26974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2</a:t>
            </a:r>
            <a:endParaRPr lang="en-US" sz="1400" dirty="0"/>
          </a:p>
        </p:txBody>
      </p:sp>
      <p:sp>
        <p:nvSpPr>
          <p:cNvPr id="10" name="Text 8"/>
          <p:cNvSpPr txBox="1"/>
          <p:nvPr/>
        </p:nvSpPr>
        <p:spPr>
          <a:xfrm>
            <a:off x="1188720" y="2715768"/>
            <a:ext cx="48463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L’organisme lance le tirage</a:t>
            </a:r>
            <a:endParaRPr lang="en-US" sz="1700" dirty="0"/>
          </a:p>
        </p:txBody>
      </p:sp>
      <p:sp>
        <p:nvSpPr>
          <p:cNvPr id="11" name="Text 9"/>
          <p:cNvSpPr txBox="1"/>
          <p:nvPr/>
        </p:nvSpPr>
        <p:spPr>
          <a:xfrm>
            <a:off x="1188720" y="3081528"/>
            <a:ext cx="4846320" cy="59436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Dès qu’au moins un navire a accepté. Action définitive, confirmée avant exécution.</a:t>
            </a:r>
            <a:endParaRPr lang="en-US" sz="1450" dirty="0"/>
          </a:p>
        </p:txBody>
      </p:sp>
      <p:sp>
        <p:nvSpPr>
          <p:cNvPr id="12" name="Shape 10"/>
          <p:cNvSpPr/>
          <p:nvPr/>
        </p:nvSpPr>
        <p:spPr>
          <a:xfrm>
            <a:off x="548640" y="3840480"/>
            <a:ext cx="5486400" cy="2560320"/>
          </a:xfrm>
          <a:prstGeom prst="roundRect">
            <a:avLst>
              <a:gd name="adj" fmla="val 7143"/>
            </a:avLst>
          </a:prstGeom>
          <a:solidFill>
            <a:srgbClr val="EEF4FD"/>
          </a:solidFill>
          <a:ln w="12700">
            <a:solidFill>
              <a:srgbClr val="EEF4FD"/>
            </a:solidFill>
            <a:prstDash val="solid"/>
          </a:ln>
        </p:spPr>
        <p:txBody>
          <a:bodyPr/>
          <a:lstStyle/>
          <a:p>
            <a:endParaRPr lang="fr-FR"/>
          </a:p>
        </p:txBody>
      </p:sp>
      <p:sp>
        <p:nvSpPr>
          <p:cNvPr id="13" name="Text 11"/>
          <p:cNvSpPr txBox="1"/>
          <p:nvPr/>
        </p:nvSpPr>
        <p:spPr>
          <a:xfrm>
            <a:off x="822960" y="3977640"/>
            <a:ext cx="5029200" cy="347472"/>
          </a:xfrm>
          <a:prstGeom prst="rect">
            <a:avLst/>
          </a:prstGeom>
          <a:noFill/>
          <a:ln/>
        </p:spPr>
        <p:txBody>
          <a:bodyPr wrap="square" lIns="0" tIns="0" rIns="0" bIns="0" rtlCol="0" anchor="t"/>
          <a:lstStyle/>
          <a:p>
            <a:pPr marL="0" indent="0">
              <a:buNone/>
            </a:pPr>
            <a:r>
              <a:rPr lang="en-US" sz="1750" b="1" dirty="0">
                <a:solidFill>
                  <a:srgbClr val="0012B5"/>
                </a:solidFill>
                <a:latin typeface="Verdana" pitchFamily="34" charset="0"/>
                <a:ea typeface="Verdana" pitchFamily="34" charset="-122"/>
                <a:cs typeface="Verdana" pitchFamily="34" charset="-120"/>
              </a:rPr>
              <a:t>La règle</a:t>
            </a:r>
            <a:endParaRPr lang="en-US" sz="1750" dirty="0"/>
          </a:p>
        </p:txBody>
      </p:sp>
      <p:sp>
        <p:nvSpPr>
          <p:cNvPr id="14" name="Text 12"/>
          <p:cNvSpPr txBox="1"/>
          <p:nvPr/>
        </p:nvSpPr>
        <p:spPr>
          <a:xfrm>
            <a:off x="822960" y="4389120"/>
            <a:ext cx="4983480" cy="187452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500" dirty="0">
                <a:solidFill>
                  <a:srgbClr val="1D2838"/>
                </a:solidFill>
                <a:latin typeface="Verdana" pitchFamily="34" charset="0"/>
                <a:ea typeface="Verdana" pitchFamily="34" charset="-122"/>
                <a:cs typeface="Verdana" pitchFamily="34" charset="-120"/>
              </a:rPr>
              <a:t>On garde les navires qui ont eu le moins de missions jusqu’ici.</a:t>
            </a:r>
            <a:endParaRPr lang="en-US" sz="1500" dirty="0"/>
          </a:p>
          <a:p>
            <a:pPr marL="342900" indent="-342900">
              <a:spcAft>
                <a:spcPts val="800"/>
              </a:spcAft>
              <a:buSzPct val="100000"/>
              <a:buFont typeface="+mj-lt"/>
              <a:buAutoNum type="arabicPeriod"/>
            </a:pPr>
            <a:r>
              <a:rPr lang="en-US" sz="1500" dirty="0">
                <a:solidFill>
                  <a:srgbClr val="1D2838"/>
                </a:solidFill>
                <a:latin typeface="Verdana" pitchFamily="34" charset="0"/>
                <a:ea typeface="Verdana" pitchFamily="34" charset="-122"/>
                <a:cs typeface="Verdana" pitchFamily="34" charset="-120"/>
              </a:rPr>
              <a:t>Entre ex æquo, le hasard décide (tirage cryptographique).</a:t>
            </a:r>
            <a:endParaRPr lang="en-US" sz="1500" dirty="0"/>
          </a:p>
          <a:p>
            <a:pPr marL="342900" indent="-342900">
              <a:spcAft>
                <a:spcPts val="800"/>
              </a:spcAft>
              <a:buSzPct val="100000"/>
              <a:buFont typeface="+mj-lt"/>
              <a:buAutoNum type="arabicPeriod"/>
            </a:pPr>
            <a:r>
              <a:rPr lang="en-US" sz="1500" dirty="0">
                <a:solidFill>
                  <a:srgbClr val="1D2838"/>
                </a:solidFill>
                <a:latin typeface="Verdana" pitchFamily="34" charset="0"/>
                <a:ea typeface="Verdana" pitchFamily="34" charset="-122"/>
                <a:cs typeface="Verdana" pitchFamily="34" charset="-120"/>
              </a:rPr>
              <a:t>Résultat : les missions tournent dans la flotte, personne ne les capte.</a:t>
            </a:r>
            <a:endParaRPr lang="en-US" sz="1500" dirty="0"/>
          </a:p>
        </p:txBody>
      </p:sp>
      <p:sp>
        <p:nvSpPr>
          <p:cNvPr id="15" name="Text 13"/>
          <p:cNvSpPr txBox="1"/>
          <p:nvPr/>
        </p:nvSpPr>
        <p:spPr>
          <a:xfrm>
            <a:off x="6400800" y="1417320"/>
            <a:ext cx="5257800" cy="347472"/>
          </a:xfrm>
          <a:prstGeom prst="rect">
            <a:avLst/>
          </a:prstGeom>
          <a:noFill/>
          <a:ln/>
        </p:spPr>
        <p:txBody>
          <a:bodyPr wrap="square" lIns="0" tIns="0" rIns="0" bIns="0" rtlCol="0" anchor="t"/>
          <a:lstStyle/>
          <a:p>
            <a:pPr marL="0" indent="0">
              <a:buNone/>
            </a:pPr>
            <a:r>
              <a:rPr lang="en-US" sz="1750" b="1" dirty="0">
                <a:solidFill>
                  <a:srgbClr val="0012B5"/>
                </a:solidFill>
                <a:latin typeface="Verdana" pitchFamily="34" charset="0"/>
                <a:ea typeface="Verdana" pitchFamily="34" charset="-122"/>
                <a:cs typeface="Verdana" pitchFamily="34" charset="-120"/>
              </a:rPr>
              <a:t>Qui est prévenu, et comment</a:t>
            </a:r>
            <a:endParaRPr lang="en-US" sz="17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0" y="1874520"/>
          <a:ext cx="5257800" cy="2560320"/>
        </p:xfrm>
        <a:graphic>
          <a:graphicData uri="http://schemas.openxmlformats.org/drawingml/2006/table">
            <a:tbl>
              <a:tblPr/>
              <a:tblGrid>
                <a:gridCol w="155448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tblGrid>
              <a:tr h="512064">
                <a:tc>
                  <a:txBody>
                    <a:bodyPr/>
                    <a:lstStyle/>
                    <a:p>
                      <a:pPr marL="0" indent="0">
                        <a:buNone/>
                      </a:pPr>
                      <a:r>
                        <a:rPr lang="en-US" sz="1050" b="1" dirty="0">
                          <a:solidFill>
                            <a:srgbClr val="FFFFFF"/>
                          </a:solidFill>
                          <a:latin typeface="Verdana" pitchFamily="34" charset="0"/>
                          <a:ea typeface="Verdana" pitchFamily="34" charset="-122"/>
                          <a:cs typeface="Verdana" pitchFamily="34" charset="-120"/>
                        </a:rPr>
                        <a:t>Qui</a:t>
                      </a:r>
                      <a:endParaRPr lang="en-US" sz="1050" dirty="0">
                        <a:latin typeface="Verdana" charset="0"/>
                        <a:ea typeface="Verdana" charset="0"/>
                        <a:cs typeface="Verdana" charset="0"/>
                      </a:endParaRPr>
                    </a:p>
                  </a:txBody>
                  <a:tcPr marL="76200" marR="762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tc>
                  <a:txBody>
                    <a:bodyPr/>
                    <a:lstStyle/>
                    <a:p>
                      <a:pPr marL="0" indent="0">
                        <a:buNone/>
                      </a:pPr>
                      <a:r>
                        <a:rPr lang="en-US" sz="1050" b="1" dirty="0">
                          <a:solidFill>
                            <a:srgbClr val="FFFFFF"/>
                          </a:solidFill>
                          <a:latin typeface="Verdana" pitchFamily="34" charset="0"/>
                          <a:ea typeface="Verdana" pitchFamily="34" charset="-122"/>
                          <a:cs typeface="Verdana" pitchFamily="34" charset="-120"/>
                        </a:rPr>
                        <a:t>Message</a:t>
                      </a:r>
                      <a:endParaRPr lang="en-US" sz="1050" dirty="0">
                        <a:latin typeface="Verdana" charset="0"/>
                        <a:ea typeface="Verdana" charset="0"/>
                        <a:cs typeface="Verdana" charset="0"/>
                      </a:endParaRPr>
                    </a:p>
                  </a:txBody>
                  <a:tcPr marL="76200" marR="762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extLst>
                  <a:ext uri="{0D108BD9-81ED-4DB2-BD59-A6C34878D82A}">
                    <a16:rowId xmlns:a16="http://schemas.microsoft.com/office/drawing/2014/main" val="10000"/>
                  </a:ext>
                </a:extLst>
              </a:tr>
              <a:tr h="512064">
                <a:tc>
                  <a:txBody>
                    <a:bodyPr/>
                    <a:lstStyle/>
                    <a:p>
                      <a:pPr marL="0" indent="0">
                        <a:buNone/>
                      </a:pPr>
                      <a:r>
                        <a:rPr lang="en-US" sz="1050" dirty="0">
                          <a:solidFill>
                            <a:srgbClr val="1D2838"/>
                          </a:solidFill>
                          <a:latin typeface="Verdana" pitchFamily="34" charset="0"/>
                          <a:ea typeface="Verdana" pitchFamily="34" charset="-122"/>
                          <a:cs typeface="Verdana" pitchFamily="34" charset="-120"/>
                        </a:rPr>
                        <a:t>Patron retenu</a:t>
                      </a:r>
                      <a:endParaRPr lang="en-US" sz="1050" dirty="0">
                        <a:latin typeface="Verdana" charset="0"/>
                        <a:ea typeface="Verdana" charset="0"/>
                        <a:cs typeface="Verdana" charset="0"/>
                      </a:endParaRPr>
                    </a:p>
                  </a:txBody>
                  <a:tcPr marL="76200" marR="762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50" dirty="0">
                          <a:solidFill>
                            <a:srgbClr val="1D2838"/>
                          </a:solidFill>
                          <a:latin typeface="Verdana" pitchFamily="34" charset="0"/>
                          <a:ea typeface="Verdana" pitchFamily="34" charset="-122"/>
                          <a:cs typeface="Verdana" pitchFamily="34" charset="-120"/>
                        </a:rPr>
                        <a:t>E-mail + SMS « RETENU ». Coordonnées de l’organisme.</a:t>
                      </a:r>
                      <a:endParaRPr lang="en-US" sz="1050" dirty="0">
                        <a:latin typeface="Verdana" charset="0"/>
                        <a:ea typeface="Verdana" charset="0"/>
                        <a:cs typeface="Verdana" charset="0"/>
                      </a:endParaRPr>
                    </a:p>
                  </a:txBody>
                  <a:tcPr marL="76200" marR="762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buNone/>
                      </a:pPr>
                      <a:r>
                        <a:rPr lang="en-US" sz="1050" dirty="0">
                          <a:solidFill>
                            <a:srgbClr val="1D2838"/>
                          </a:solidFill>
                          <a:latin typeface="Verdana" pitchFamily="34" charset="0"/>
                          <a:ea typeface="Verdana" pitchFamily="34" charset="-122"/>
                          <a:cs typeface="Verdana" pitchFamily="34" charset="-120"/>
                        </a:rPr>
                        <a:t>Autres candidats</a:t>
                      </a:r>
                      <a:endParaRPr lang="en-US" sz="1050" dirty="0">
                        <a:latin typeface="Verdana" charset="0"/>
                        <a:ea typeface="Verdana" charset="0"/>
                        <a:cs typeface="Verdana" charset="0"/>
                      </a:endParaRPr>
                    </a:p>
                  </a:txBody>
                  <a:tcPr marL="76200" marR="762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50" dirty="0">
                          <a:solidFill>
                            <a:srgbClr val="1D2838"/>
                          </a:solidFill>
                          <a:latin typeface="Verdana" pitchFamily="34" charset="0"/>
                          <a:ea typeface="Verdana" pitchFamily="34" charset="-122"/>
                          <a:cs typeface="Verdana" pitchFamily="34" charset="-120"/>
                        </a:rPr>
                        <a:t>E-mail : pas cette fois, priorité la prochaine.</a:t>
                      </a:r>
                      <a:endParaRPr lang="en-US" sz="1050" dirty="0">
                        <a:latin typeface="Verdana" charset="0"/>
                        <a:ea typeface="Verdana" charset="0"/>
                        <a:cs typeface="Verdana" charset="0"/>
                      </a:endParaRPr>
                    </a:p>
                  </a:txBody>
                  <a:tcPr marL="76200" marR="762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buNone/>
                      </a:pPr>
                      <a:r>
                        <a:rPr lang="en-US" sz="1050" dirty="0">
                          <a:solidFill>
                            <a:srgbClr val="1D2838"/>
                          </a:solidFill>
                          <a:latin typeface="Verdana" pitchFamily="34" charset="0"/>
                          <a:ea typeface="Verdana" pitchFamily="34" charset="-122"/>
                          <a:cs typeface="Verdana" pitchFamily="34" charset="-120"/>
                        </a:rPr>
                        <a:t>Organisme</a:t>
                      </a:r>
                      <a:endParaRPr lang="en-US" sz="1050" dirty="0">
                        <a:latin typeface="Verdana" charset="0"/>
                        <a:ea typeface="Verdana" charset="0"/>
                        <a:cs typeface="Verdana" charset="0"/>
                      </a:endParaRPr>
                    </a:p>
                  </a:txBody>
                  <a:tcPr marL="76200" marR="762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50" dirty="0">
                          <a:solidFill>
                            <a:srgbClr val="1D2838"/>
                          </a:solidFill>
                          <a:latin typeface="Verdana" pitchFamily="34" charset="0"/>
                          <a:ea typeface="Verdana" pitchFamily="34" charset="-122"/>
                          <a:cs typeface="Verdana" pitchFamily="34" charset="-120"/>
                        </a:rPr>
                        <a:t>E-mail « Navire retenu » : navire, patron, e-mail et téléphone.</a:t>
                      </a:r>
                      <a:endParaRPr lang="en-US" sz="1050" dirty="0">
                        <a:latin typeface="Verdana" charset="0"/>
                        <a:ea typeface="Verdana" charset="0"/>
                        <a:cs typeface="Verdana" charset="0"/>
                      </a:endParaRPr>
                    </a:p>
                  </a:txBody>
                  <a:tcPr marL="76200" marR="762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1050" dirty="0">
                          <a:solidFill>
                            <a:srgbClr val="1D2838"/>
                          </a:solidFill>
                          <a:latin typeface="Verdana" pitchFamily="34" charset="0"/>
                          <a:ea typeface="Verdana" pitchFamily="34" charset="-122"/>
                          <a:cs typeface="Verdana" pitchFamily="34" charset="-120"/>
                        </a:rPr>
                        <a:t>Mare Durabilis</a:t>
                      </a:r>
                      <a:endParaRPr lang="en-US" sz="1050" dirty="0">
                        <a:latin typeface="Verdana" charset="0"/>
                        <a:ea typeface="Verdana" charset="0"/>
                        <a:cs typeface="Verdana" charset="0"/>
                      </a:endParaRPr>
                    </a:p>
                  </a:txBody>
                  <a:tcPr marL="76200" marR="762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50" dirty="0">
                          <a:solidFill>
                            <a:srgbClr val="1D2838"/>
                          </a:solidFill>
                          <a:latin typeface="Verdana" pitchFamily="34" charset="0"/>
                          <a:ea typeface="Verdana" pitchFamily="34" charset="-122"/>
                          <a:cs typeface="Verdana" pitchFamily="34" charset="-120"/>
                        </a:rPr>
                        <a:t>E-mail « Tirage effectué » : candidats, missions déjà obtenues.</a:t>
                      </a:r>
                      <a:endParaRPr lang="en-US" sz="1050" dirty="0">
                        <a:latin typeface="Verdana" charset="0"/>
                        <a:ea typeface="Verdana" charset="0"/>
                        <a:cs typeface="Verdana" charset="0"/>
                      </a:endParaRPr>
                    </a:p>
                  </a:txBody>
                  <a:tcPr marL="76200" marR="762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7" name="Shape 14"/>
          <p:cNvSpPr/>
          <p:nvPr/>
        </p:nvSpPr>
        <p:spPr>
          <a:xfrm>
            <a:off x="6400800" y="4892040"/>
            <a:ext cx="5257800" cy="1508760"/>
          </a:xfrm>
          <a:prstGeom prst="roundRect">
            <a:avLst>
              <a:gd name="adj" fmla="val 12121"/>
            </a:avLst>
          </a:prstGeom>
          <a:solidFill>
            <a:srgbClr val="FFF7EC"/>
          </a:solidFill>
          <a:ln w="12700">
            <a:solidFill>
              <a:srgbClr val="FFF7EC"/>
            </a:solidFill>
            <a:prstDash val="solid"/>
          </a:ln>
        </p:spPr>
        <p:txBody>
          <a:bodyPr/>
          <a:lstStyle/>
          <a:p>
            <a:endParaRPr lang="fr-FR"/>
          </a:p>
        </p:txBody>
      </p:sp>
      <p:sp>
        <p:nvSpPr>
          <p:cNvPr id="18" name="Text 15"/>
          <p:cNvSpPr txBox="1"/>
          <p:nvPr/>
        </p:nvSpPr>
        <p:spPr>
          <a:xfrm>
            <a:off x="6675120" y="4892040"/>
            <a:ext cx="4709160" cy="1508760"/>
          </a:xfrm>
          <a:prstGeom prst="rect">
            <a:avLst/>
          </a:prstGeom>
          <a:noFill/>
          <a:ln/>
        </p:spPr>
        <p:txBody>
          <a:bodyPr wrap="square" lIns="0" tIns="0" rIns="0" bIns="0" rtlCol="0" anchor="ctr"/>
          <a:lstStyle/>
          <a:p>
            <a:pPr marL="0" indent="0">
              <a:buNone/>
            </a:pPr>
            <a:r>
              <a:rPr lang="en-US" sz="1400" dirty="0">
                <a:solidFill>
                  <a:srgbClr val="3A4658"/>
                </a:solidFill>
                <a:latin typeface="Verdana" pitchFamily="34" charset="0"/>
                <a:ea typeface="Verdana" pitchFamily="34" charset="-122"/>
                <a:cs typeface="Verdana" pitchFamily="34" charset="-120"/>
              </a:rPr>
              <a:t>Ensuite : devis au cas par cas avec Mare Durabilis, puis note de 1 à 5 étoiles. L’organisme peut annuler son appel ou la mission : patrons prévenus par e-mail et SMS.</a:t>
            </a:r>
            <a:endParaRPr lang="en-US" sz="1400" dirty="0"/>
          </a:p>
        </p:txBody>
      </p:sp>
      <p:sp>
        <p:nvSpPr>
          <p:cNvPr id="16" name="Text 16"/>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18</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L’ORGANISME · À BORD ET À DISTANCE</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L’équipe à bord et les autres missions</a:t>
            </a:r>
            <a:endParaRPr lang="en-US" sz="2500" dirty="0"/>
          </a:p>
        </p:txBody>
      </p:sp>
      <p:sp>
        <p:nvSpPr>
          <p:cNvPr id="4" name="Shape 2"/>
          <p:cNvSpPr/>
          <p:nvPr/>
        </p:nvSpPr>
        <p:spPr>
          <a:xfrm>
            <a:off x="548640" y="1417320"/>
            <a:ext cx="3611880" cy="4983480"/>
          </a:xfrm>
          <a:prstGeom prst="roundRect">
            <a:avLst>
              <a:gd name="adj" fmla="val 5063"/>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5" name="Shape 3"/>
          <p:cNvSpPr/>
          <p:nvPr/>
        </p:nvSpPr>
        <p:spPr>
          <a:xfrm>
            <a:off x="777240" y="1645920"/>
            <a:ext cx="566928" cy="566928"/>
          </a:xfrm>
          <a:prstGeom prst="ellipse">
            <a:avLst/>
          </a:prstGeom>
          <a:solidFill>
            <a:srgbClr val="0012B5"/>
          </a:solidFill>
          <a:ln w="12700">
            <a:solidFill>
              <a:srgbClr val="0012B5"/>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918972" y="1787652"/>
            <a:ext cx="283464" cy="283464"/>
          </a:xfrm>
          <a:prstGeom prst="rect">
            <a:avLst/>
          </a:prstGeom>
        </p:spPr>
      </p:pic>
      <p:sp>
        <p:nvSpPr>
          <p:cNvPr id="7" name="Text 4"/>
          <p:cNvSpPr txBox="1"/>
          <p:nvPr/>
        </p:nvSpPr>
        <p:spPr>
          <a:xfrm>
            <a:off x="1481328" y="1645920"/>
            <a:ext cx="2514600" cy="566928"/>
          </a:xfrm>
          <a:prstGeom prst="rect">
            <a:avLst/>
          </a:prstGeom>
          <a:noFill/>
          <a:ln/>
        </p:spPr>
        <p:txBody>
          <a:bodyPr wrap="square" lIns="0" tIns="0" rIns="0" bIns="0" rtlCol="0" anchor="ctr"/>
          <a:lstStyle/>
          <a:p>
            <a:pPr marL="0" indent="0">
              <a:buNone/>
            </a:pPr>
            <a:r>
              <a:rPr lang="en-US" sz="1750" b="1" dirty="0">
                <a:solidFill>
                  <a:srgbClr val="0012B5"/>
                </a:solidFill>
                <a:latin typeface="Verdana" pitchFamily="34" charset="0"/>
                <a:ea typeface="Verdana" pitchFamily="34" charset="-122"/>
                <a:cs typeface="Verdana" pitchFamily="34" charset="-120"/>
              </a:rPr>
              <a:t>L’équipe embarquée</a:t>
            </a:r>
            <a:endParaRPr lang="en-US" sz="1750" dirty="0"/>
          </a:p>
        </p:txBody>
      </p:sp>
      <p:sp>
        <p:nvSpPr>
          <p:cNvPr id="8" name="Text 5"/>
          <p:cNvSpPr txBox="1"/>
          <p:nvPr/>
        </p:nvSpPr>
        <p:spPr>
          <a:xfrm>
            <a:off x="749808" y="2423160"/>
            <a:ext cx="3209544" cy="384048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3A4658"/>
                </a:solidFill>
                <a:latin typeface="Verdana" pitchFamily="34" charset="0"/>
                <a:ea typeface="Verdana" pitchFamily="34" charset="-122"/>
                <a:cs typeface="Verdana" pitchFamily="34" charset="-120"/>
              </a:rPr>
              <a:t>Après le tirage, l’organisme déclare qui embarque, chacun avec sa pièce d’identité.</a:t>
            </a:r>
            <a:endParaRPr lang="en-US" sz="1400" dirty="0"/>
          </a:p>
          <a:p>
            <a:pPr marL="177800" indent="-177800">
              <a:spcAft>
                <a:spcPts val="900"/>
              </a:spcAft>
              <a:buSzPct val="100000"/>
              <a:buChar char="•"/>
            </a:pPr>
            <a:r>
              <a:rPr lang="en-US" sz="1400" dirty="0">
                <a:solidFill>
                  <a:srgbClr val="3A4658"/>
                </a:solidFill>
                <a:latin typeface="Verdana" pitchFamily="34" charset="0"/>
                <a:ea typeface="Verdana" pitchFamily="34" charset="-122"/>
                <a:cs typeface="Verdana" pitchFamily="34" charset="-120"/>
              </a:rPr>
              <a:t>Au maximum les places « personnels spéciaux » du navire.</a:t>
            </a:r>
            <a:endParaRPr lang="en-US" sz="1400" dirty="0"/>
          </a:p>
          <a:p>
            <a:pPr marL="177800" indent="-177800">
              <a:spcAft>
                <a:spcPts val="900"/>
              </a:spcAft>
              <a:buSzPct val="100000"/>
              <a:buChar char="•"/>
            </a:pPr>
            <a:r>
              <a:rPr lang="en-US" sz="1400" dirty="0">
                <a:solidFill>
                  <a:srgbClr val="3A4658"/>
                </a:solidFill>
                <a:latin typeface="Verdana" pitchFamily="34" charset="0"/>
                <a:ea typeface="Verdana" pitchFamily="34" charset="-122"/>
                <a:cs typeface="Verdana" pitchFamily="34" charset="-120"/>
              </a:rPr>
              <a:t>Dépôt la veille au plus tard ; originaux à bord.</a:t>
            </a:r>
            <a:endParaRPr lang="en-US" sz="1400" dirty="0"/>
          </a:p>
          <a:p>
            <a:pPr marL="177800" indent="-177800">
              <a:spcAft>
                <a:spcPts val="900"/>
              </a:spcAft>
              <a:buSzPct val="100000"/>
              <a:buChar char="•"/>
            </a:pPr>
            <a:r>
              <a:rPr lang="en-US" sz="1400" dirty="0">
                <a:solidFill>
                  <a:srgbClr val="3A4658"/>
                </a:solidFill>
                <a:latin typeface="Verdana" pitchFamily="34" charset="0"/>
                <a:ea typeface="Verdana" pitchFamily="34" charset="-122"/>
                <a:cs typeface="Verdana" pitchFamily="34" charset="-120"/>
              </a:rPr>
              <a:t>Le patron voit chaque pièce jusqu’à 48 h après la mission et les joint à sa déclaration CROSS.</a:t>
            </a:r>
            <a:endParaRPr lang="en-US" sz="1400" dirty="0"/>
          </a:p>
          <a:p>
            <a:pPr marL="177800" indent="-177800">
              <a:spcAft>
                <a:spcPts val="900"/>
              </a:spcAft>
              <a:buSzPct val="100000"/>
              <a:buChar char="•"/>
            </a:pPr>
            <a:r>
              <a:rPr lang="en-US" sz="1400" dirty="0">
                <a:solidFill>
                  <a:srgbClr val="3A4658"/>
                </a:solidFill>
                <a:latin typeface="Verdana" pitchFamily="34" charset="0"/>
                <a:ea typeface="Verdana" pitchFamily="34" charset="-122"/>
                <a:cs typeface="Verdana" pitchFamily="34" charset="-120"/>
              </a:rPr>
              <a:t>Pièces effacées 7 jours après la mission.</a:t>
            </a:r>
            <a:endParaRPr lang="en-US" sz="1400" dirty="0"/>
          </a:p>
        </p:txBody>
      </p:sp>
      <p:sp>
        <p:nvSpPr>
          <p:cNvPr id="9" name="Shape 6"/>
          <p:cNvSpPr/>
          <p:nvPr/>
        </p:nvSpPr>
        <p:spPr>
          <a:xfrm>
            <a:off x="4343400" y="1417320"/>
            <a:ext cx="3611880" cy="4983480"/>
          </a:xfrm>
          <a:prstGeom prst="roundRect">
            <a:avLst>
              <a:gd name="adj" fmla="val 5063"/>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0" name="Shape 7"/>
          <p:cNvSpPr/>
          <p:nvPr/>
        </p:nvSpPr>
        <p:spPr>
          <a:xfrm>
            <a:off x="4572000" y="1645920"/>
            <a:ext cx="566928" cy="566928"/>
          </a:xfrm>
          <a:prstGeom prst="ellipse">
            <a:avLst/>
          </a:prstGeom>
          <a:solidFill>
            <a:srgbClr val="00A7B5"/>
          </a:solidFill>
          <a:ln w="12700">
            <a:solidFill>
              <a:srgbClr val="00A7B5"/>
            </a:solidFill>
            <a:prstDash val="solid"/>
          </a:ln>
        </p:spPr>
        <p:txBody>
          <a:bodyPr/>
          <a:lstStyle/>
          <a:p>
            <a:endParaRPr lang="fr-FR"/>
          </a:p>
        </p:txBody>
      </p:sp>
      <p:pic>
        <p:nvPicPr>
          <p:cNvPr id="11" name="Image 1" descr="preencoded.png"/>
          <p:cNvPicPr>
            <a:picLocks noChangeAspect="1"/>
          </p:cNvPicPr>
          <p:nvPr/>
        </p:nvPicPr>
        <p:blipFill>
          <a:blip r:embed="rId4"/>
          <a:stretch>
            <a:fillRect/>
          </a:stretch>
        </p:blipFill>
        <p:spPr>
          <a:xfrm>
            <a:off x="4713732" y="1787652"/>
            <a:ext cx="283464" cy="283464"/>
          </a:xfrm>
          <a:prstGeom prst="rect">
            <a:avLst/>
          </a:prstGeom>
        </p:spPr>
      </p:pic>
      <p:sp>
        <p:nvSpPr>
          <p:cNvPr id="12" name="Text 8"/>
          <p:cNvSpPr txBox="1"/>
          <p:nvPr/>
        </p:nvSpPr>
        <p:spPr>
          <a:xfrm>
            <a:off x="5276088" y="1645920"/>
            <a:ext cx="2514600" cy="566928"/>
          </a:xfrm>
          <a:prstGeom prst="rect">
            <a:avLst/>
          </a:prstGeom>
          <a:noFill/>
          <a:ln/>
        </p:spPr>
        <p:txBody>
          <a:bodyPr wrap="square" lIns="0" tIns="0" rIns="0" bIns="0" rtlCol="0" anchor="ctr"/>
          <a:lstStyle/>
          <a:p>
            <a:pPr marL="0" indent="0">
              <a:buNone/>
            </a:pPr>
            <a:r>
              <a:rPr lang="en-US" sz="1750" b="1" dirty="0">
                <a:solidFill>
                  <a:srgbClr val="0012B5"/>
                </a:solidFill>
                <a:latin typeface="Verdana" pitchFamily="34" charset="0"/>
                <a:ea typeface="Verdana" pitchFamily="34" charset="-122"/>
                <a:cs typeface="Verdana" pitchFamily="34" charset="-120"/>
              </a:rPr>
              <a:t>Les missions autonomes</a:t>
            </a:r>
            <a:endParaRPr lang="en-US" sz="1750" dirty="0"/>
          </a:p>
        </p:txBody>
      </p:sp>
      <p:sp>
        <p:nvSpPr>
          <p:cNvPr id="13" name="Text 9"/>
          <p:cNvSpPr txBox="1"/>
          <p:nvPr/>
        </p:nvSpPr>
        <p:spPr>
          <a:xfrm>
            <a:off x="4544568" y="2423160"/>
            <a:ext cx="3209544" cy="384048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3A4658"/>
                </a:solidFill>
                <a:latin typeface="Verdana" pitchFamily="34" charset="0"/>
                <a:ea typeface="Verdana" pitchFamily="34" charset="-122"/>
                <a:cs typeface="Verdana" pitchFamily="34" charset="-120"/>
              </a:rPr>
              <a:t>Le patron réalise seul la mission, pendant sa marée.</a:t>
            </a:r>
            <a:endParaRPr lang="en-US" sz="1400" dirty="0"/>
          </a:p>
          <a:p>
            <a:pPr marL="177800" indent="-177800">
              <a:spcAft>
                <a:spcPts val="900"/>
              </a:spcAft>
              <a:buSzPct val="100000"/>
              <a:buChar char="•"/>
            </a:pPr>
            <a:r>
              <a:rPr lang="en-US" sz="1400" dirty="0">
                <a:solidFill>
                  <a:srgbClr val="3A4658"/>
                </a:solidFill>
                <a:latin typeface="Verdana" pitchFamily="34" charset="0"/>
                <a:ea typeface="Verdana" pitchFamily="34" charset="-122"/>
                <a:cs typeface="Verdana" pitchFamily="34" charset="-120"/>
              </a:rPr>
              <a:t>Signalements : pollutions, échouages, engins dérivants, espèces inhabituelles.</a:t>
            </a:r>
            <a:endParaRPr lang="en-US" sz="1400" dirty="0"/>
          </a:p>
          <a:p>
            <a:pPr marL="177800" indent="-177800">
              <a:spcAft>
                <a:spcPts val="900"/>
              </a:spcAft>
              <a:buSzPct val="100000"/>
              <a:buChar char="•"/>
            </a:pPr>
            <a:r>
              <a:rPr lang="en-US" sz="1400" dirty="0">
                <a:solidFill>
                  <a:srgbClr val="3A4658"/>
                </a:solidFill>
                <a:latin typeface="Verdana" pitchFamily="34" charset="0"/>
                <a:ea typeface="Verdana" pitchFamily="34" charset="-122"/>
                <a:cs typeface="Verdana" pitchFamily="34" charset="-120"/>
              </a:rPr>
              <a:t>Protocoles légers : relevés, prélèvements, capteurs.</a:t>
            </a:r>
            <a:endParaRPr lang="en-US" sz="1400" dirty="0"/>
          </a:p>
          <a:p>
            <a:pPr marL="177800" indent="-177800">
              <a:spcAft>
                <a:spcPts val="900"/>
              </a:spcAft>
              <a:buSzPct val="100000"/>
              <a:buChar char="•"/>
            </a:pPr>
            <a:r>
              <a:rPr lang="en-US" sz="1400" dirty="0">
                <a:solidFill>
                  <a:srgbClr val="3A4658"/>
                </a:solidFill>
                <a:latin typeface="Verdana" pitchFamily="34" charset="0"/>
                <a:ea typeface="Verdana" pitchFamily="34" charset="-122"/>
                <a:cs typeface="Verdana" pitchFamily="34" charset="-120"/>
              </a:rPr>
              <a:t>Même outil d’appel, même tirage.</a:t>
            </a:r>
            <a:endParaRPr lang="en-US" sz="1400" dirty="0"/>
          </a:p>
        </p:txBody>
      </p:sp>
      <p:sp>
        <p:nvSpPr>
          <p:cNvPr id="14" name="Shape 10"/>
          <p:cNvSpPr/>
          <p:nvPr/>
        </p:nvSpPr>
        <p:spPr>
          <a:xfrm>
            <a:off x="8138160" y="1417320"/>
            <a:ext cx="3611880" cy="4983480"/>
          </a:xfrm>
          <a:prstGeom prst="roundRect">
            <a:avLst>
              <a:gd name="adj" fmla="val 5063"/>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5" name="Shape 11"/>
          <p:cNvSpPr/>
          <p:nvPr/>
        </p:nvSpPr>
        <p:spPr>
          <a:xfrm>
            <a:off x="8366760" y="1645920"/>
            <a:ext cx="566928" cy="566928"/>
          </a:xfrm>
          <a:prstGeom prst="ellipse">
            <a:avLst/>
          </a:prstGeom>
          <a:solidFill>
            <a:srgbClr val="1F5BD6"/>
          </a:solidFill>
          <a:ln w="12700">
            <a:solidFill>
              <a:srgbClr val="1F5BD6"/>
            </a:solidFill>
            <a:prstDash val="solid"/>
          </a:ln>
        </p:spPr>
        <p:txBody>
          <a:bodyPr/>
          <a:lstStyle/>
          <a:p>
            <a:endParaRPr lang="fr-FR"/>
          </a:p>
        </p:txBody>
      </p:sp>
      <p:pic>
        <p:nvPicPr>
          <p:cNvPr id="16" name="Image 2" descr="preencoded.png"/>
          <p:cNvPicPr>
            <a:picLocks noChangeAspect="1"/>
          </p:cNvPicPr>
          <p:nvPr/>
        </p:nvPicPr>
        <p:blipFill>
          <a:blip r:embed="rId5"/>
          <a:stretch>
            <a:fillRect/>
          </a:stretch>
        </p:blipFill>
        <p:spPr>
          <a:xfrm>
            <a:off x="8508492" y="1787652"/>
            <a:ext cx="283464" cy="283464"/>
          </a:xfrm>
          <a:prstGeom prst="rect">
            <a:avLst/>
          </a:prstGeom>
        </p:spPr>
      </p:pic>
      <p:sp>
        <p:nvSpPr>
          <p:cNvPr id="17" name="Text 12"/>
          <p:cNvSpPr txBox="1"/>
          <p:nvPr/>
        </p:nvSpPr>
        <p:spPr>
          <a:xfrm>
            <a:off x="9070848" y="1645920"/>
            <a:ext cx="2514600" cy="566928"/>
          </a:xfrm>
          <a:prstGeom prst="rect">
            <a:avLst/>
          </a:prstGeom>
          <a:noFill/>
          <a:ln/>
        </p:spPr>
        <p:txBody>
          <a:bodyPr wrap="square" lIns="0" tIns="0" rIns="0" bIns="0" rtlCol="0" anchor="ctr"/>
          <a:lstStyle/>
          <a:p>
            <a:pPr marL="0" indent="0">
              <a:buNone/>
            </a:pPr>
            <a:r>
              <a:rPr lang="en-US" sz="1750" b="1" dirty="0">
                <a:solidFill>
                  <a:srgbClr val="0012B5"/>
                </a:solidFill>
                <a:latin typeface="Verdana" pitchFamily="34" charset="0"/>
                <a:ea typeface="Verdana" pitchFamily="34" charset="-122"/>
                <a:cs typeface="Verdana" pitchFamily="34" charset="-120"/>
              </a:rPr>
              <a:t>La science participative</a:t>
            </a:r>
            <a:endParaRPr lang="en-US" sz="1750" dirty="0"/>
          </a:p>
        </p:txBody>
      </p:sp>
      <p:sp>
        <p:nvSpPr>
          <p:cNvPr id="18" name="Text 13"/>
          <p:cNvSpPr txBox="1"/>
          <p:nvPr/>
        </p:nvSpPr>
        <p:spPr>
          <a:xfrm>
            <a:off x="8339328" y="2423160"/>
            <a:ext cx="3209544" cy="384048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3A4658"/>
                </a:solidFill>
                <a:latin typeface="Verdana" pitchFamily="34" charset="0"/>
                <a:ea typeface="Verdana" pitchFamily="34" charset="-122"/>
                <a:cs typeface="Verdana" pitchFamily="34" charset="-120"/>
              </a:rPr>
              <a:t>Scolaires : formulaire « Déposer un cahier des charges », transmis à l’équipe.</a:t>
            </a:r>
            <a:endParaRPr lang="en-US" sz="1400" dirty="0"/>
          </a:p>
          <a:p>
            <a:pPr marL="177800" indent="-177800">
              <a:spcAft>
                <a:spcPts val="900"/>
              </a:spcAft>
              <a:buSzPct val="100000"/>
              <a:buChar char="•"/>
            </a:pPr>
            <a:r>
              <a:rPr lang="en-US" sz="1400" dirty="0">
                <a:solidFill>
                  <a:srgbClr val="3A4658"/>
                </a:solidFill>
                <a:latin typeface="Verdana" pitchFamily="34" charset="0"/>
                <a:ea typeface="Verdana" pitchFamily="34" charset="-122"/>
                <a:cs typeface="Verdana" pitchFamily="34" charset="-120"/>
              </a:rPr>
              <a:t>Académiques : calendrier des navires volontaires et formulaire dédié.</a:t>
            </a:r>
            <a:endParaRPr lang="en-US" sz="1400" dirty="0"/>
          </a:p>
          <a:p>
            <a:pPr marL="177800" indent="-177800">
              <a:spcAft>
                <a:spcPts val="900"/>
              </a:spcAft>
              <a:buSzPct val="100000"/>
              <a:buChar char="•"/>
            </a:pPr>
            <a:r>
              <a:rPr lang="en-US" sz="1400" dirty="0">
                <a:solidFill>
                  <a:srgbClr val="3A4658"/>
                </a:solidFill>
                <a:latin typeface="Verdana" pitchFamily="34" charset="0"/>
                <a:ea typeface="Verdana" pitchFamily="34" charset="-122"/>
                <a:cs typeface="Verdana" pitchFamily="34" charset="-120"/>
              </a:rPr>
              <a:t>Grand public : sorties découverte pendant les missions.</a:t>
            </a:r>
            <a:endParaRPr lang="en-US" sz="1400" dirty="0"/>
          </a:p>
        </p:txBody>
      </p:sp>
      <p:sp>
        <p:nvSpPr>
          <p:cNvPr id="19" name="Text 14"/>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19</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home/claude/deck/crop3/fdd_image45_1778_50_50_0_.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3FC4">
              <a:alpha val="54000"/>
            </a:srgbClr>
          </a:solidFill>
          <a:ln w="12700">
            <a:solidFill>
              <a:srgbClr val="0B3FC4"/>
            </a:solidFill>
            <a:prstDash val="solid"/>
          </a:ln>
        </p:spPr>
        <p:txBody>
          <a:bodyPr/>
          <a:lstStyle/>
          <a:p>
            <a:endParaRPr lang="fr-FR"/>
          </a:p>
        </p:txBody>
      </p:sp>
      <p:pic>
        <p:nvPicPr>
          <p:cNvPr id="4" name="Image 1" descr="/home/claude/deck/logo-projet-blanc.png"/>
          <p:cNvPicPr>
            <a:picLocks noChangeAspect="1"/>
          </p:cNvPicPr>
          <p:nvPr/>
        </p:nvPicPr>
        <p:blipFill>
          <a:blip r:embed="rId4"/>
          <a:stretch>
            <a:fillRect/>
          </a:stretch>
        </p:blipFill>
        <p:spPr>
          <a:xfrm>
            <a:off x="10088575" y="320040"/>
            <a:ext cx="1600200" cy="647462"/>
          </a:xfrm>
          <a:prstGeom prst="rect">
            <a:avLst/>
          </a:prstGeom>
        </p:spPr>
      </p:pic>
      <p:sp>
        <p:nvSpPr>
          <p:cNvPr id="5" name="Shape 1"/>
          <p:cNvSpPr/>
          <p:nvPr/>
        </p:nvSpPr>
        <p:spPr>
          <a:xfrm>
            <a:off x="731520" y="2377440"/>
            <a:ext cx="2377440" cy="384048"/>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6" name="Text 2"/>
          <p:cNvSpPr txBox="1"/>
          <p:nvPr/>
        </p:nvSpPr>
        <p:spPr>
          <a:xfrm>
            <a:off x="731520" y="2377440"/>
            <a:ext cx="2377440" cy="384048"/>
          </a:xfrm>
          <a:prstGeom prst="rect">
            <a:avLst/>
          </a:prstGeom>
          <a:noFill/>
          <a:ln/>
        </p:spPr>
        <p:txBody>
          <a:bodyPr wrap="square" lIns="0" tIns="0" rIns="0" bIns="0" rtlCol="0" anchor="ctr"/>
          <a:lstStyle/>
          <a:p>
            <a:pPr marL="0" indent="0" algn="ctr">
              <a:buNone/>
            </a:pPr>
            <a:r>
              <a:rPr lang="en-US" sz="1400" b="1" dirty="0">
                <a:solidFill>
                  <a:srgbClr val="0012B5"/>
                </a:solidFill>
                <a:latin typeface="Verdana" pitchFamily="34" charset="0"/>
                <a:ea typeface="Verdana" pitchFamily="34" charset="-122"/>
                <a:cs typeface="Verdana" pitchFamily="34" charset="-120"/>
              </a:rPr>
              <a:t>Troisième partie</a:t>
            </a:r>
            <a:endParaRPr lang="en-US" sz="1400" dirty="0"/>
          </a:p>
        </p:txBody>
      </p:sp>
      <p:sp>
        <p:nvSpPr>
          <p:cNvPr id="7" name="Text 3"/>
          <p:cNvSpPr txBox="1"/>
          <p:nvPr/>
        </p:nvSpPr>
        <p:spPr>
          <a:xfrm>
            <a:off x="731520" y="2926080"/>
            <a:ext cx="10058400" cy="868680"/>
          </a:xfrm>
          <a:prstGeom prst="rect">
            <a:avLst/>
          </a:prstGeom>
          <a:noFill/>
          <a:ln/>
        </p:spPr>
        <p:txBody>
          <a:bodyPr wrap="square" lIns="0" tIns="0" rIns="0" bIns="0" rtlCol="0" anchor="ctr"/>
          <a:lstStyle/>
          <a:p>
            <a:pPr marL="0" indent="0">
              <a:buNone/>
            </a:pPr>
            <a:r>
              <a:rPr lang="en-US" sz="4000" b="1" dirty="0">
                <a:solidFill>
                  <a:srgbClr val="FFFFFF"/>
                </a:solidFill>
                <a:latin typeface="Verdana" pitchFamily="34" charset="0"/>
                <a:ea typeface="Verdana" pitchFamily="34" charset="-122"/>
                <a:cs typeface="Verdana" pitchFamily="34" charset="-120"/>
              </a:rPr>
              <a:t>Le parcours du pêcheur</a:t>
            </a:r>
            <a:endParaRPr lang="en-US" sz="4000" dirty="0"/>
          </a:p>
        </p:txBody>
      </p:sp>
      <p:sp>
        <p:nvSpPr>
          <p:cNvPr id="8" name="Text 4"/>
          <p:cNvSpPr txBox="1"/>
          <p:nvPr/>
        </p:nvSpPr>
        <p:spPr>
          <a:xfrm>
            <a:off x="731520" y="3931920"/>
            <a:ext cx="10058400" cy="640080"/>
          </a:xfrm>
          <a:prstGeom prst="rect">
            <a:avLst/>
          </a:prstGeom>
          <a:noFill/>
          <a:ln/>
        </p:spPr>
        <p:txBody>
          <a:bodyPr wrap="square" lIns="0" tIns="0" rIns="0" bIns="0" rtlCol="0" anchor="t"/>
          <a:lstStyle/>
          <a:p>
            <a:pPr marL="0" indent="0">
              <a:buNone/>
            </a:pPr>
            <a:r>
              <a:rPr lang="en-US" sz="1900" dirty="0">
                <a:solidFill>
                  <a:srgbClr val="FFFFFF"/>
                </a:solidFill>
                <a:latin typeface="Verdana" pitchFamily="34" charset="0"/>
                <a:ea typeface="Verdana" pitchFamily="34" charset="-122"/>
                <a:cs typeface="Verdana" pitchFamily="34" charset="-120"/>
              </a:rPr>
              <a:t>Entrer dans le réseau, passer les contrôles, régler ses offres, traiter ses demandes.</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home/claude/deck/crop3/fdd_image5_644_30_50_30_.jpg"/>
          <p:cNvPicPr>
            <a:picLocks noChangeAspect="1"/>
          </p:cNvPicPr>
          <p:nvPr/>
        </p:nvPicPr>
        <p:blipFill>
          <a:blip r:embed="rId3"/>
          <a:stretch>
            <a:fillRect/>
          </a:stretch>
        </p:blipFill>
        <p:spPr>
          <a:xfrm>
            <a:off x="7772400" y="411480"/>
            <a:ext cx="3886200" cy="6035040"/>
          </a:xfrm>
          <a:prstGeom prst="rect">
            <a:avLst/>
          </a:prstGeom>
        </p:spPr>
      </p:pic>
      <p:sp>
        <p:nvSpPr>
          <p:cNvPr id="3"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LE PÊCHEUR · INSCRIPTION</a:t>
            </a:r>
            <a:endParaRPr lang="en-US" sz="1200" dirty="0"/>
          </a:p>
        </p:txBody>
      </p:sp>
      <p:sp>
        <p:nvSpPr>
          <p:cNvPr id="4" name="Text 1"/>
          <p:cNvSpPr txBox="1"/>
          <p:nvPr/>
        </p:nvSpPr>
        <p:spPr>
          <a:xfrm>
            <a:off x="548640" y="621792"/>
            <a:ext cx="6858000"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Entrer dans le réseau</a:t>
            </a:r>
            <a:endParaRPr lang="en-US" sz="2500" dirty="0"/>
          </a:p>
        </p:txBody>
      </p:sp>
      <p:sp>
        <p:nvSpPr>
          <p:cNvPr id="5" name="Text 2"/>
          <p:cNvSpPr txBox="1"/>
          <p:nvPr/>
        </p:nvSpPr>
        <p:spPr>
          <a:xfrm>
            <a:off x="548640" y="1216152"/>
            <a:ext cx="6858000" cy="411480"/>
          </a:xfrm>
          <a:prstGeom prst="rect">
            <a:avLst/>
          </a:prstGeom>
          <a:noFill/>
          <a:ln/>
        </p:spPr>
        <p:txBody>
          <a:bodyPr wrap="square" lIns="0" tIns="0" rIns="0" bIns="0" rtlCol="0" anchor="t"/>
          <a:lstStyle/>
          <a:p>
            <a:pPr marL="0" indent="0">
              <a:buNone/>
            </a:pPr>
            <a:r>
              <a:rPr lang="en-US" sz="1550" dirty="0">
                <a:solidFill>
                  <a:srgbClr val="66728A"/>
                </a:solidFill>
                <a:latin typeface="Verdana" pitchFamily="34" charset="0"/>
                <a:ea typeface="Verdana" pitchFamily="34" charset="-122"/>
                <a:cs typeface="Verdana" pitchFamily="34" charset="-120"/>
              </a:rPr>
              <a:t>Deux portes d’entrée, un même contrôle ensuite.</a:t>
            </a:r>
            <a:endParaRPr lang="en-US" sz="1550" dirty="0"/>
          </a:p>
        </p:txBody>
      </p:sp>
      <p:sp>
        <p:nvSpPr>
          <p:cNvPr id="6" name="Shape 3"/>
          <p:cNvSpPr/>
          <p:nvPr/>
        </p:nvSpPr>
        <p:spPr>
          <a:xfrm>
            <a:off x="548640" y="1783080"/>
            <a:ext cx="457200" cy="457200"/>
          </a:xfrm>
          <a:prstGeom prst="ellipse">
            <a:avLst/>
          </a:prstGeom>
          <a:solidFill>
            <a:srgbClr val="1F5BD6"/>
          </a:solidFill>
          <a:ln w="12700">
            <a:solidFill>
              <a:srgbClr val="1F5BD6"/>
            </a:solidFill>
            <a:prstDash val="solid"/>
          </a:ln>
        </p:spPr>
        <p:txBody>
          <a:bodyPr/>
          <a:lstStyle/>
          <a:p>
            <a:endParaRPr lang="fr-FR"/>
          </a:p>
        </p:txBody>
      </p:sp>
      <p:sp>
        <p:nvSpPr>
          <p:cNvPr id="7" name="Text 4"/>
          <p:cNvSpPr txBox="1"/>
          <p:nvPr/>
        </p:nvSpPr>
        <p:spPr>
          <a:xfrm>
            <a:off x="548640" y="17830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1</a:t>
            </a:r>
            <a:endParaRPr lang="en-US" sz="1400" dirty="0"/>
          </a:p>
        </p:txBody>
      </p:sp>
      <p:sp>
        <p:nvSpPr>
          <p:cNvPr id="8" name="Text 5"/>
          <p:cNvSpPr txBox="1"/>
          <p:nvPr/>
        </p:nvSpPr>
        <p:spPr>
          <a:xfrm>
            <a:off x="1188720" y="1801368"/>
            <a:ext cx="62179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Seul, en ligne</a:t>
            </a:r>
            <a:endParaRPr lang="en-US" sz="1700" dirty="0"/>
          </a:p>
        </p:txBody>
      </p:sp>
      <p:sp>
        <p:nvSpPr>
          <p:cNvPr id="9" name="Text 6"/>
          <p:cNvSpPr txBox="1"/>
          <p:nvPr/>
        </p:nvSpPr>
        <p:spPr>
          <a:xfrm>
            <a:off x="1188720" y="2167128"/>
            <a:ext cx="6217920" cy="96012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 Créer mon compte pêcheur » : patron, portable, e-mail, puis le premier navire. Immatriculation déjà connue : refus. E-mail de confirmation ; l’équipe est prévenue.</a:t>
            </a:r>
            <a:endParaRPr lang="en-US" sz="1450" dirty="0"/>
          </a:p>
        </p:txBody>
      </p:sp>
      <p:sp>
        <p:nvSpPr>
          <p:cNvPr id="10" name="Shape 7"/>
          <p:cNvSpPr/>
          <p:nvPr/>
        </p:nvSpPr>
        <p:spPr>
          <a:xfrm>
            <a:off x="548640" y="3246120"/>
            <a:ext cx="457200" cy="457200"/>
          </a:xfrm>
          <a:prstGeom prst="ellipse">
            <a:avLst/>
          </a:prstGeom>
          <a:solidFill>
            <a:srgbClr val="1F5BD6"/>
          </a:solidFill>
          <a:ln w="12700">
            <a:solidFill>
              <a:srgbClr val="1F5BD6"/>
            </a:solidFill>
            <a:prstDash val="solid"/>
          </a:ln>
        </p:spPr>
        <p:txBody>
          <a:bodyPr/>
          <a:lstStyle/>
          <a:p>
            <a:endParaRPr lang="fr-FR"/>
          </a:p>
        </p:txBody>
      </p:sp>
      <p:sp>
        <p:nvSpPr>
          <p:cNvPr id="11" name="Text 8"/>
          <p:cNvSpPr txBox="1"/>
          <p:nvPr/>
        </p:nvSpPr>
        <p:spPr>
          <a:xfrm>
            <a:off x="548640" y="32461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2</a:t>
            </a:r>
            <a:endParaRPr lang="en-US" sz="1400" dirty="0"/>
          </a:p>
        </p:txBody>
      </p:sp>
      <p:sp>
        <p:nvSpPr>
          <p:cNvPr id="12" name="Text 9"/>
          <p:cNvSpPr txBox="1"/>
          <p:nvPr/>
        </p:nvSpPr>
        <p:spPr>
          <a:xfrm>
            <a:off x="1188720" y="3264408"/>
            <a:ext cx="62179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Avec nous, au port</a:t>
            </a:r>
            <a:endParaRPr lang="en-US" sz="1700" dirty="0"/>
          </a:p>
        </p:txBody>
      </p:sp>
      <p:sp>
        <p:nvSpPr>
          <p:cNvPr id="13" name="Text 10"/>
          <p:cNvSpPr txBox="1"/>
          <p:nvPr/>
        </p:nvSpPr>
        <p:spPr>
          <a:xfrm>
            <a:off x="1188720" y="3630168"/>
            <a:ext cx="6217920" cy="54864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Mare Durabilis crée le compte avec le patron et le rattache à son navire.</a:t>
            </a:r>
            <a:endParaRPr lang="en-US" sz="1450" dirty="0"/>
          </a:p>
        </p:txBody>
      </p:sp>
      <p:sp>
        <p:nvSpPr>
          <p:cNvPr id="14" name="Shape 11"/>
          <p:cNvSpPr/>
          <p:nvPr/>
        </p:nvSpPr>
        <p:spPr>
          <a:xfrm>
            <a:off x="548640" y="4251960"/>
            <a:ext cx="457200" cy="457200"/>
          </a:xfrm>
          <a:prstGeom prst="ellipse">
            <a:avLst/>
          </a:prstGeom>
          <a:solidFill>
            <a:srgbClr val="1F5BD6"/>
          </a:solidFill>
          <a:ln w="12700">
            <a:solidFill>
              <a:srgbClr val="1F5BD6"/>
            </a:solidFill>
            <a:prstDash val="solid"/>
          </a:ln>
        </p:spPr>
        <p:txBody>
          <a:bodyPr/>
          <a:lstStyle/>
          <a:p>
            <a:endParaRPr lang="fr-FR"/>
          </a:p>
        </p:txBody>
      </p:sp>
      <p:sp>
        <p:nvSpPr>
          <p:cNvPr id="15" name="Text 12"/>
          <p:cNvSpPr txBox="1"/>
          <p:nvPr/>
        </p:nvSpPr>
        <p:spPr>
          <a:xfrm>
            <a:off x="548640" y="42519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3</a:t>
            </a:r>
            <a:endParaRPr lang="en-US" sz="1400" dirty="0"/>
          </a:p>
        </p:txBody>
      </p:sp>
      <p:sp>
        <p:nvSpPr>
          <p:cNvPr id="16" name="Text 13"/>
          <p:cNvSpPr txBox="1"/>
          <p:nvPr/>
        </p:nvSpPr>
        <p:spPr>
          <a:xfrm>
            <a:off x="1188720" y="4270248"/>
            <a:ext cx="62179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Plusieurs navires ?</a:t>
            </a:r>
            <a:endParaRPr lang="en-US" sz="1700" dirty="0"/>
          </a:p>
        </p:txBody>
      </p:sp>
      <p:sp>
        <p:nvSpPr>
          <p:cNvPr id="17" name="Text 14"/>
          <p:cNvSpPr txBox="1"/>
          <p:nvPr/>
        </p:nvSpPr>
        <p:spPr>
          <a:xfrm>
            <a:off x="1188720" y="4636008"/>
            <a:ext cx="6217920" cy="73152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 Ajouter un navire » et un sélecteur « Mes navires » : chaque navire a sa fiche, ses offres, son calendrier.</a:t>
            </a:r>
            <a:endParaRPr lang="en-US" sz="1450" dirty="0"/>
          </a:p>
        </p:txBody>
      </p:sp>
      <p:sp>
        <p:nvSpPr>
          <p:cNvPr id="18" name="Shape 15"/>
          <p:cNvSpPr/>
          <p:nvPr/>
        </p:nvSpPr>
        <p:spPr>
          <a:xfrm>
            <a:off x="548640" y="5715000"/>
            <a:ext cx="6858000" cy="548640"/>
          </a:xfrm>
          <a:prstGeom prst="roundRect">
            <a:avLst>
              <a:gd name="adj" fmla="val 33333"/>
            </a:avLst>
          </a:prstGeom>
          <a:solidFill>
            <a:srgbClr val="FFF4DC"/>
          </a:solidFill>
          <a:ln w="12700">
            <a:solidFill>
              <a:srgbClr val="FFF4DC"/>
            </a:solidFill>
            <a:prstDash val="solid"/>
          </a:ln>
        </p:spPr>
        <p:txBody>
          <a:bodyPr/>
          <a:lstStyle/>
          <a:p>
            <a:endParaRPr lang="fr-FR"/>
          </a:p>
        </p:txBody>
      </p:sp>
      <p:sp>
        <p:nvSpPr>
          <p:cNvPr id="19" name="Text 16"/>
          <p:cNvSpPr txBox="1"/>
          <p:nvPr/>
        </p:nvSpPr>
        <p:spPr>
          <a:xfrm>
            <a:off x="822960" y="5715000"/>
            <a:ext cx="6309360" cy="548640"/>
          </a:xfrm>
          <a:prstGeom prst="rect">
            <a:avLst/>
          </a:prstGeom>
          <a:noFill/>
          <a:ln/>
        </p:spPr>
        <p:txBody>
          <a:bodyPr wrap="square" lIns="0" tIns="0" rIns="0" bIns="0" rtlCol="0" anchor="ctr"/>
          <a:lstStyle/>
          <a:p>
            <a:pPr marL="0" indent="0">
              <a:buNone/>
            </a:pPr>
            <a:r>
              <a:rPr lang="en-US" sz="1500" b="1" dirty="0">
                <a:solidFill>
                  <a:srgbClr val="B45309"/>
                </a:solidFill>
                <a:latin typeface="Verdana" pitchFamily="34" charset="0"/>
                <a:ea typeface="Verdana" pitchFamily="34" charset="-122"/>
                <a:cs typeface="Verdana" pitchFamily="34" charset="-120"/>
              </a:rPr>
              <a:t>À ce stade, le navire n’est visible nulle part.</a:t>
            </a:r>
            <a:endParaRPr lang="en-US" sz="1500" dirty="0"/>
          </a:p>
        </p:txBody>
      </p:sp>
      <p:sp>
        <p:nvSpPr>
          <p:cNvPr id="20" name="Text 17"/>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21</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LE PÊCHEUR · MISE EN LIGNE</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Mise en ligne d’un navire : le verrou anti-fraude</a:t>
            </a:r>
            <a:endParaRPr lang="en-US" sz="2300" dirty="0"/>
          </a:p>
        </p:txBody>
      </p:sp>
      <p:sp>
        <p:nvSpPr>
          <p:cNvPr id="4" name="Text 2"/>
          <p:cNvSpPr txBox="1"/>
          <p:nvPr/>
        </p:nvSpPr>
        <p:spPr>
          <a:xfrm>
            <a:off x="548640" y="1216152"/>
            <a:ext cx="11094415" cy="457200"/>
          </a:xfrm>
          <a:prstGeom prst="rect">
            <a:avLst/>
          </a:prstGeom>
          <a:noFill/>
          <a:ln/>
        </p:spPr>
        <p:txBody>
          <a:bodyPr wrap="square" lIns="0" tIns="0" rIns="0" bIns="0" rtlCol="0" anchor="t"/>
          <a:lstStyle/>
          <a:p>
            <a:pPr marL="0" indent="0">
              <a:buNone/>
            </a:pPr>
            <a:r>
              <a:rPr lang="en-US" sz="1550" dirty="0">
                <a:solidFill>
                  <a:srgbClr val="66728A"/>
                </a:solidFill>
                <a:latin typeface="Verdana" pitchFamily="34" charset="0"/>
                <a:ea typeface="Verdana" pitchFamily="34" charset="-122"/>
                <a:cs typeface="Verdana" pitchFamily="34" charset="-120"/>
              </a:rPr>
              <a:t>Un navire n’apparaît qu’après deux accords : celui du patron et celui de Mare Durabilis, documents vérifiés.</a:t>
            </a:r>
            <a:endParaRPr lang="en-US" sz="1550" dirty="0"/>
          </a:p>
        </p:txBody>
      </p:sp>
      <p:sp>
        <p:nvSpPr>
          <p:cNvPr id="5" name="Shape 3"/>
          <p:cNvSpPr/>
          <p:nvPr/>
        </p:nvSpPr>
        <p:spPr>
          <a:xfrm>
            <a:off x="548640" y="1783080"/>
            <a:ext cx="2130552" cy="2834640"/>
          </a:xfrm>
          <a:prstGeom prst="roundRect">
            <a:avLst>
              <a:gd name="adj" fmla="val 8584"/>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6" name="Shape 4"/>
          <p:cNvSpPr/>
          <p:nvPr/>
        </p:nvSpPr>
        <p:spPr>
          <a:xfrm>
            <a:off x="749808" y="1984248"/>
            <a:ext cx="512064" cy="512064"/>
          </a:xfrm>
          <a:prstGeom prst="ellipse">
            <a:avLst/>
          </a:prstGeom>
          <a:solidFill>
            <a:srgbClr val="66728A"/>
          </a:solidFill>
          <a:ln w="12700">
            <a:solidFill>
              <a:srgbClr val="66728A"/>
            </a:solidFill>
            <a:prstDash val="solid"/>
          </a:ln>
        </p:spPr>
        <p:txBody>
          <a:bodyPr/>
          <a:lstStyle/>
          <a:p>
            <a:endParaRPr lang="fr-FR"/>
          </a:p>
        </p:txBody>
      </p:sp>
      <p:pic>
        <p:nvPicPr>
          <p:cNvPr id="7" name="Image 0" descr="preencoded.png"/>
          <p:cNvPicPr>
            <a:picLocks noChangeAspect="1"/>
          </p:cNvPicPr>
          <p:nvPr/>
        </p:nvPicPr>
        <p:blipFill>
          <a:blip r:embed="rId3"/>
          <a:stretch>
            <a:fillRect/>
          </a:stretch>
        </p:blipFill>
        <p:spPr>
          <a:xfrm>
            <a:off x="877824" y="2112264"/>
            <a:ext cx="256032" cy="256032"/>
          </a:xfrm>
          <a:prstGeom prst="rect">
            <a:avLst/>
          </a:prstGeom>
        </p:spPr>
      </p:pic>
      <p:sp>
        <p:nvSpPr>
          <p:cNvPr id="8" name="Text 5"/>
          <p:cNvSpPr txBox="1"/>
          <p:nvPr/>
        </p:nvSpPr>
        <p:spPr>
          <a:xfrm>
            <a:off x="2039112" y="198424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1</a:t>
            </a:r>
            <a:endParaRPr lang="en-US" sz="1800" dirty="0"/>
          </a:p>
        </p:txBody>
      </p:sp>
      <p:sp>
        <p:nvSpPr>
          <p:cNvPr id="9" name="Text 6"/>
          <p:cNvSpPr txBox="1"/>
          <p:nvPr/>
        </p:nvSpPr>
        <p:spPr>
          <a:xfrm>
            <a:off x="749808" y="2624328"/>
            <a:ext cx="1728216" cy="502920"/>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Inscription</a:t>
            </a:r>
            <a:endParaRPr lang="en-US" sz="1550" dirty="0"/>
          </a:p>
        </p:txBody>
      </p:sp>
      <p:sp>
        <p:nvSpPr>
          <p:cNvPr id="10" name="Text 7"/>
          <p:cNvSpPr txBox="1"/>
          <p:nvPr/>
        </p:nvSpPr>
        <p:spPr>
          <a:xfrm>
            <a:off x="749808" y="3172968"/>
            <a:ext cx="1728216" cy="13258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Compte et navire créés. Rien n’est publié. Immatriculation unique.</a:t>
            </a:r>
            <a:endParaRPr lang="en-US" sz="1400" dirty="0"/>
          </a:p>
        </p:txBody>
      </p:sp>
      <p:sp>
        <p:nvSpPr>
          <p:cNvPr id="11" name="Shape 8"/>
          <p:cNvSpPr/>
          <p:nvPr/>
        </p:nvSpPr>
        <p:spPr>
          <a:xfrm>
            <a:off x="2798064" y="1783080"/>
            <a:ext cx="2130552" cy="2834640"/>
          </a:xfrm>
          <a:prstGeom prst="roundRect">
            <a:avLst>
              <a:gd name="adj" fmla="val 8584"/>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2" name="Shape 9"/>
          <p:cNvSpPr/>
          <p:nvPr/>
        </p:nvSpPr>
        <p:spPr>
          <a:xfrm>
            <a:off x="2999232" y="1984248"/>
            <a:ext cx="512064" cy="512064"/>
          </a:xfrm>
          <a:prstGeom prst="ellipse">
            <a:avLst/>
          </a:prstGeom>
          <a:solidFill>
            <a:srgbClr val="1F5BD6"/>
          </a:solidFill>
          <a:ln w="12700">
            <a:solidFill>
              <a:srgbClr val="1F5BD6"/>
            </a:solidFill>
            <a:prstDash val="solid"/>
          </a:ln>
        </p:spPr>
        <p:txBody>
          <a:bodyPr/>
          <a:lstStyle/>
          <a:p>
            <a:endParaRPr lang="fr-FR"/>
          </a:p>
        </p:txBody>
      </p:sp>
      <p:pic>
        <p:nvPicPr>
          <p:cNvPr id="13" name="Image 1" descr="preencoded.png"/>
          <p:cNvPicPr>
            <a:picLocks noChangeAspect="1"/>
          </p:cNvPicPr>
          <p:nvPr/>
        </p:nvPicPr>
        <p:blipFill>
          <a:blip r:embed="rId4"/>
          <a:stretch>
            <a:fillRect/>
          </a:stretch>
        </p:blipFill>
        <p:spPr>
          <a:xfrm>
            <a:off x="3127248" y="2112264"/>
            <a:ext cx="256032" cy="256032"/>
          </a:xfrm>
          <a:prstGeom prst="rect">
            <a:avLst/>
          </a:prstGeom>
        </p:spPr>
      </p:pic>
      <p:sp>
        <p:nvSpPr>
          <p:cNvPr id="14" name="Text 10"/>
          <p:cNvSpPr txBox="1"/>
          <p:nvPr/>
        </p:nvSpPr>
        <p:spPr>
          <a:xfrm>
            <a:off x="4288536" y="198424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2</a:t>
            </a:r>
            <a:endParaRPr lang="en-US" sz="1800" dirty="0"/>
          </a:p>
        </p:txBody>
      </p:sp>
      <p:sp>
        <p:nvSpPr>
          <p:cNvPr id="15" name="Text 11"/>
          <p:cNvSpPr txBox="1"/>
          <p:nvPr/>
        </p:nvSpPr>
        <p:spPr>
          <a:xfrm>
            <a:off x="2999232" y="2624328"/>
            <a:ext cx="1728216" cy="502920"/>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Documents hors site</a:t>
            </a:r>
            <a:endParaRPr lang="en-US" sz="1550" dirty="0"/>
          </a:p>
        </p:txBody>
      </p:sp>
      <p:sp>
        <p:nvSpPr>
          <p:cNvPr id="16" name="Text 12"/>
          <p:cNvSpPr txBox="1"/>
          <p:nvPr/>
        </p:nvSpPr>
        <p:spPr>
          <a:xfrm>
            <a:off x="2999232" y="3172968"/>
            <a:ext cx="1728216" cy="13258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RIB et permis remis en main propre ou par e-mail. Le RIB n’est jamais sur le site.</a:t>
            </a:r>
            <a:endParaRPr lang="en-US" sz="1400" dirty="0"/>
          </a:p>
        </p:txBody>
      </p:sp>
      <p:sp>
        <p:nvSpPr>
          <p:cNvPr id="17" name="Shape 13"/>
          <p:cNvSpPr/>
          <p:nvPr/>
        </p:nvSpPr>
        <p:spPr>
          <a:xfrm>
            <a:off x="5047488" y="1783080"/>
            <a:ext cx="2130552" cy="2834640"/>
          </a:xfrm>
          <a:prstGeom prst="roundRect">
            <a:avLst>
              <a:gd name="adj" fmla="val 8584"/>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8" name="Shape 14"/>
          <p:cNvSpPr/>
          <p:nvPr/>
        </p:nvSpPr>
        <p:spPr>
          <a:xfrm>
            <a:off x="5248656" y="1984248"/>
            <a:ext cx="512064" cy="512064"/>
          </a:xfrm>
          <a:prstGeom prst="ellipse">
            <a:avLst/>
          </a:prstGeom>
          <a:solidFill>
            <a:srgbClr val="00A7B5"/>
          </a:solidFill>
          <a:ln w="12700">
            <a:solidFill>
              <a:srgbClr val="00A7B5"/>
            </a:solidFill>
            <a:prstDash val="solid"/>
          </a:ln>
        </p:spPr>
        <p:txBody>
          <a:bodyPr/>
          <a:lstStyle/>
          <a:p>
            <a:endParaRPr lang="fr-FR"/>
          </a:p>
        </p:txBody>
      </p:sp>
      <p:pic>
        <p:nvPicPr>
          <p:cNvPr id="19" name="Image 2" descr="preencoded.png"/>
          <p:cNvPicPr>
            <a:picLocks noChangeAspect="1"/>
          </p:cNvPicPr>
          <p:nvPr/>
        </p:nvPicPr>
        <p:blipFill>
          <a:blip r:embed="rId5"/>
          <a:stretch>
            <a:fillRect/>
          </a:stretch>
        </p:blipFill>
        <p:spPr>
          <a:xfrm>
            <a:off x="5376672" y="2112264"/>
            <a:ext cx="256032" cy="256032"/>
          </a:xfrm>
          <a:prstGeom prst="rect">
            <a:avLst/>
          </a:prstGeom>
        </p:spPr>
      </p:pic>
      <p:sp>
        <p:nvSpPr>
          <p:cNvPr id="20" name="Text 15"/>
          <p:cNvSpPr txBox="1"/>
          <p:nvPr/>
        </p:nvSpPr>
        <p:spPr>
          <a:xfrm>
            <a:off x="6537960" y="198424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3</a:t>
            </a:r>
            <a:endParaRPr lang="en-US" sz="1800" dirty="0"/>
          </a:p>
        </p:txBody>
      </p:sp>
      <p:sp>
        <p:nvSpPr>
          <p:cNvPr id="21" name="Text 16"/>
          <p:cNvSpPr txBox="1"/>
          <p:nvPr/>
        </p:nvSpPr>
        <p:spPr>
          <a:xfrm>
            <a:off x="5248656" y="2624328"/>
            <a:ext cx="1728216" cy="502920"/>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Vérification</a:t>
            </a:r>
            <a:endParaRPr lang="en-US" sz="1550" dirty="0"/>
          </a:p>
        </p:txBody>
      </p:sp>
      <p:sp>
        <p:nvSpPr>
          <p:cNvPr id="22" name="Text 17"/>
          <p:cNvSpPr txBox="1"/>
          <p:nvPr/>
        </p:nvSpPr>
        <p:spPr>
          <a:xfrm>
            <a:off x="5248656" y="3172968"/>
            <a:ext cx="1728216" cy="13258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L’équipe coche « documents vérifiés ». Avant : offres grisées.</a:t>
            </a:r>
            <a:endParaRPr lang="en-US" sz="1400" dirty="0"/>
          </a:p>
        </p:txBody>
      </p:sp>
      <p:sp>
        <p:nvSpPr>
          <p:cNvPr id="23" name="Shape 18"/>
          <p:cNvSpPr/>
          <p:nvPr/>
        </p:nvSpPr>
        <p:spPr>
          <a:xfrm>
            <a:off x="7296912" y="1783080"/>
            <a:ext cx="2130552" cy="2834640"/>
          </a:xfrm>
          <a:prstGeom prst="roundRect">
            <a:avLst>
              <a:gd name="adj" fmla="val 8584"/>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4" name="Shape 19"/>
          <p:cNvSpPr/>
          <p:nvPr/>
        </p:nvSpPr>
        <p:spPr>
          <a:xfrm>
            <a:off x="7498080" y="1984248"/>
            <a:ext cx="512064" cy="512064"/>
          </a:xfrm>
          <a:prstGeom prst="ellipse">
            <a:avLst/>
          </a:prstGeom>
          <a:solidFill>
            <a:srgbClr val="0E9F6E"/>
          </a:solidFill>
          <a:ln w="12700">
            <a:solidFill>
              <a:srgbClr val="0E9F6E"/>
            </a:solidFill>
            <a:prstDash val="solid"/>
          </a:ln>
        </p:spPr>
        <p:txBody>
          <a:bodyPr/>
          <a:lstStyle/>
          <a:p>
            <a:endParaRPr lang="fr-FR"/>
          </a:p>
        </p:txBody>
      </p:sp>
      <p:pic>
        <p:nvPicPr>
          <p:cNvPr id="25" name="Image 3" descr="preencoded.png"/>
          <p:cNvPicPr>
            <a:picLocks noChangeAspect="1"/>
          </p:cNvPicPr>
          <p:nvPr/>
        </p:nvPicPr>
        <p:blipFill>
          <a:blip r:embed="rId6"/>
          <a:stretch>
            <a:fillRect/>
          </a:stretch>
        </p:blipFill>
        <p:spPr>
          <a:xfrm>
            <a:off x="7626096" y="2112264"/>
            <a:ext cx="256032" cy="256032"/>
          </a:xfrm>
          <a:prstGeom prst="rect">
            <a:avLst/>
          </a:prstGeom>
        </p:spPr>
      </p:pic>
      <p:sp>
        <p:nvSpPr>
          <p:cNvPr id="26" name="Text 20"/>
          <p:cNvSpPr txBox="1"/>
          <p:nvPr/>
        </p:nvSpPr>
        <p:spPr>
          <a:xfrm>
            <a:off x="8787384" y="198424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4</a:t>
            </a:r>
            <a:endParaRPr lang="en-US" sz="1800" dirty="0"/>
          </a:p>
        </p:txBody>
      </p:sp>
      <p:sp>
        <p:nvSpPr>
          <p:cNvPr id="27" name="Text 21"/>
          <p:cNvSpPr txBox="1"/>
          <p:nvPr/>
        </p:nvSpPr>
        <p:spPr>
          <a:xfrm>
            <a:off x="7498080" y="2624328"/>
            <a:ext cx="1728216" cy="502920"/>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Le patron active</a:t>
            </a:r>
            <a:endParaRPr lang="en-US" sz="1550" dirty="0"/>
          </a:p>
        </p:txBody>
      </p:sp>
      <p:sp>
        <p:nvSpPr>
          <p:cNvPr id="28" name="Text 22"/>
          <p:cNvSpPr txBox="1"/>
          <p:nvPr/>
        </p:nvSpPr>
        <p:spPr>
          <a:xfrm>
            <a:off x="7498080" y="3172968"/>
            <a:ext cx="1728216" cy="13258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Il coche « Je propose cette activité » et règle prix, jours, saison.</a:t>
            </a:r>
            <a:endParaRPr lang="en-US" sz="1400" dirty="0"/>
          </a:p>
        </p:txBody>
      </p:sp>
      <p:sp>
        <p:nvSpPr>
          <p:cNvPr id="29" name="Shape 23"/>
          <p:cNvSpPr/>
          <p:nvPr/>
        </p:nvSpPr>
        <p:spPr>
          <a:xfrm>
            <a:off x="9546336" y="1783080"/>
            <a:ext cx="2130552" cy="2834640"/>
          </a:xfrm>
          <a:prstGeom prst="roundRect">
            <a:avLst>
              <a:gd name="adj" fmla="val 8584"/>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30" name="Shape 24"/>
          <p:cNvSpPr/>
          <p:nvPr/>
        </p:nvSpPr>
        <p:spPr>
          <a:xfrm>
            <a:off x="9747504" y="1984248"/>
            <a:ext cx="512064" cy="512064"/>
          </a:xfrm>
          <a:prstGeom prst="ellipse">
            <a:avLst/>
          </a:prstGeom>
          <a:solidFill>
            <a:srgbClr val="0012B5"/>
          </a:solidFill>
          <a:ln w="12700">
            <a:solidFill>
              <a:srgbClr val="0012B5"/>
            </a:solidFill>
            <a:prstDash val="solid"/>
          </a:ln>
        </p:spPr>
        <p:txBody>
          <a:bodyPr/>
          <a:lstStyle/>
          <a:p>
            <a:endParaRPr lang="fr-FR"/>
          </a:p>
        </p:txBody>
      </p:sp>
      <p:pic>
        <p:nvPicPr>
          <p:cNvPr id="31" name="Image 4" descr="preencoded.png"/>
          <p:cNvPicPr>
            <a:picLocks noChangeAspect="1"/>
          </p:cNvPicPr>
          <p:nvPr/>
        </p:nvPicPr>
        <p:blipFill>
          <a:blip r:embed="rId7"/>
          <a:stretch>
            <a:fillRect/>
          </a:stretch>
        </p:blipFill>
        <p:spPr>
          <a:xfrm>
            <a:off x="9875520" y="2112264"/>
            <a:ext cx="256032" cy="256032"/>
          </a:xfrm>
          <a:prstGeom prst="rect">
            <a:avLst/>
          </a:prstGeom>
        </p:spPr>
      </p:pic>
      <p:sp>
        <p:nvSpPr>
          <p:cNvPr id="32" name="Text 25"/>
          <p:cNvSpPr txBox="1"/>
          <p:nvPr/>
        </p:nvSpPr>
        <p:spPr>
          <a:xfrm>
            <a:off x="11036808" y="1984248"/>
            <a:ext cx="457200" cy="411480"/>
          </a:xfrm>
          <a:prstGeom prst="rect">
            <a:avLst/>
          </a:prstGeom>
          <a:noFill/>
          <a:ln/>
        </p:spPr>
        <p:txBody>
          <a:bodyPr wrap="square" lIns="0" tIns="0" rIns="0" bIns="0" rtlCol="0" anchor="t"/>
          <a:lstStyle/>
          <a:p>
            <a:pPr marL="0" indent="0" algn="r">
              <a:buNone/>
            </a:pPr>
            <a:r>
              <a:rPr lang="en-US" sz="1800" b="1" dirty="0">
                <a:solidFill>
                  <a:srgbClr val="E2ECFB"/>
                </a:solidFill>
                <a:latin typeface="Verdana" pitchFamily="34" charset="0"/>
                <a:ea typeface="Verdana" pitchFamily="34" charset="-122"/>
                <a:cs typeface="Verdana" pitchFamily="34" charset="-120"/>
              </a:rPr>
              <a:t>5</a:t>
            </a:r>
            <a:endParaRPr lang="en-US" sz="1800" dirty="0"/>
          </a:p>
        </p:txBody>
      </p:sp>
      <p:sp>
        <p:nvSpPr>
          <p:cNvPr id="33" name="Text 26"/>
          <p:cNvSpPr txBox="1"/>
          <p:nvPr/>
        </p:nvSpPr>
        <p:spPr>
          <a:xfrm>
            <a:off x="9747504" y="2624328"/>
            <a:ext cx="1728216" cy="502920"/>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L’équipe autorise</a:t>
            </a:r>
            <a:endParaRPr lang="en-US" sz="1550" dirty="0"/>
          </a:p>
        </p:txBody>
      </p:sp>
      <p:sp>
        <p:nvSpPr>
          <p:cNvPr id="34" name="Text 27"/>
          <p:cNvSpPr txBox="1"/>
          <p:nvPr/>
        </p:nvSpPr>
        <p:spPr>
          <a:xfrm>
            <a:off x="9747504" y="3172968"/>
            <a:ext cx="1728216" cy="13258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Activité cochée, capacité réglementaire fixée : le navire est en ligne.</a:t>
            </a:r>
            <a:endParaRPr lang="en-US" sz="1400" dirty="0"/>
          </a:p>
        </p:txBody>
      </p:sp>
      <p:sp>
        <p:nvSpPr>
          <p:cNvPr id="35" name="Shape 28"/>
          <p:cNvSpPr/>
          <p:nvPr/>
        </p:nvSpPr>
        <p:spPr>
          <a:xfrm>
            <a:off x="548640" y="4846320"/>
            <a:ext cx="11094415" cy="1554480"/>
          </a:xfrm>
          <a:prstGeom prst="roundRect">
            <a:avLst>
              <a:gd name="adj" fmla="val 11765"/>
            </a:avLst>
          </a:prstGeom>
          <a:solidFill>
            <a:srgbClr val="EEF4FD"/>
          </a:solidFill>
          <a:ln w="12700">
            <a:solidFill>
              <a:srgbClr val="EEF4FD"/>
            </a:solidFill>
            <a:prstDash val="solid"/>
          </a:ln>
        </p:spPr>
        <p:txBody>
          <a:bodyPr/>
          <a:lstStyle/>
          <a:p>
            <a:endParaRPr lang="fr-FR"/>
          </a:p>
        </p:txBody>
      </p:sp>
      <p:sp>
        <p:nvSpPr>
          <p:cNvPr id="36" name="Shape 29"/>
          <p:cNvSpPr/>
          <p:nvPr/>
        </p:nvSpPr>
        <p:spPr>
          <a:xfrm>
            <a:off x="822960" y="5047488"/>
            <a:ext cx="512064" cy="512064"/>
          </a:xfrm>
          <a:prstGeom prst="ellipse">
            <a:avLst/>
          </a:prstGeom>
          <a:solidFill>
            <a:srgbClr val="1F5BD6"/>
          </a:solidFill>
          <a:ln w="12700">
            <a:solidFill>
              <a:srgbClr val="1F5BD6"/>
            </a:solidFill>
            <a:prstDash val="solid"/>
          </a:ln>
        </p:spPr>
        <p:txBody>
          <a:bodyPr/>
          <a:lstStyle/>
          <a:p>
            <a:endParaRPr lang="fr-FR"/>
          </a:p>
        </p:txBody>
      </p:sp>
      <p:pic>
        <p:nvPicPr>
          <p:cNvPr id="37" name="Image 5" descr="preencoded.png"/>
          <p:cNvPicPr>
            <a:picLocks noChangeAspect="1"/>
          </p:cNvPicPr>
          <p:nvPr/>
        </p:nvPicPr>
        <p:blipFill>
          <a:blip r:embed="rId8"/>
          <a:stretch>
            <a:fillRect/>
          </a:stretch>
        </p:blipFill>
        <p:spPr>
          <a:xfrm>
            <a:off x="950976" y="5175504"/>
            <a:ext cx="256032" cy="256032"/>
          </a:xfrm>
          <a:prstGeom prst="rect">
            <a:avLst/>
          </a:prstGeom>
        </p:spPr>
      </p:pic>
      <p:sp>
        <p:nvSpPr>
          <p:cNvPr id="38" name="Text 30"/>
          <p:cNvSpPr txBox="1"/>
          <p:nvPr/>
        </p:nvSpPr>
        <p:spPr>
          <a:xfrm>
            <a:off x="1536192" y="5001768"/>
            <a:ext cx="4526280" cy="320040"/>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Permis de navigation expiré ?</a:t>
            </a:r>
            <a:endParaRPr lang="en-US" sz="1550" dirty="0"/>
          </a:p>
        </p:txBody>
      </p:sp>
      <p:sp>
        <p:nvSpPr>
          <p:cNvPr id="39" name="Text 31"/>
          <p:cNvSpPr txBox="1"/>
          <p:nvPr/>
        </p:nvSpPr>
        <p:spPr>
          <a:xfrm>
            <a:off x="1536192" y="5349240"/>
            <a:ext cx="4526280" cy="96012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Date saisie par l’équipe. Dépassée : le navire disparaît du site, le patron est invité à le mettre à jour.</a:t>
            </a:r>
            <a:endParaRPr lang="en-US" sz="1400" dirty="0"/>
          </a:p>
        </p:txBody>
      </p:sp>
      <p:sp>
        <p:nvSpPr>
          <p:cNvPr id="40" name="Shape 32"/>
          <p:cNvSpPr/>
          <p:nvPr/>
        </p:nvSpPr>
        <p:spPr>
          <a:xfrm>
            <a:off x="6355080" y="5047488"/>
            <a:ext cx="512064" cy="512064"/>
          </a:xfrm>
          <a:prstGeom prst="ellipse">
            <a:avLst/>
          </a:prstGeom>
          <a:solidFill>
            <a:srgbClr val="1F5BD6"/>
          </a:solidFill>
          <a:ln w="12700">
            <a:solidFill>
              <a:srgbClr val="1F5BD6"/>
            </a:solidFill>
            <a:prstDash val="solid"/>
          </a:ln>
        </p:spPr>
        <p:txBody>
          <a:bodyPr/>
          <a:lstStyle/>
          <a:p>
            <a:endParaRPr lang="fr-FR"/>
          </a:p>
        </p:txBody>
      </p:sp>
      <p:pic>
        <p:nvPicPr>
          <p:cNvPr id="41" name="Image 6" descr="preencoded.png"/>
          <p:cNvPicPr>
            <a:picLocks noChangeAspect="1"/>
          </p:cNvPicPr>
          <p:nvPr/>
        </p:nvPicPr>
        <p:blipFill>
          <a:blip r:embed="rId9"/>
          <a:stretch>
            <a:fillRect/>
          </a:stretch>
        </p:blipFill>
        <p:spPr>
          <a:xfrm>
            <a:off x="6483096" y="5175504"/>
            <a:ext cx="256032" cy="256032"/>
          </a:xfrm>
          <a:prstGeom prst="rect">
            <a:avLst/>
          </a:prstGeom>
        </p:spPr>
      </p:pic>
      <p:sp>
        <p:nvSpPr>
          <p:cNvPr id="42" name="Text 33"/>
          <p:cNvSpPr txBox="1"/>
          <p:nvPr/>
        </p:nvSpPr>
        <p:spPr>
          <a:xfrm>
            <a:off x="7068312" y="5001768"/>
            <a:ext cx="4526280" cy="320040"/>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Contrôlé aussi par le serveur</a:t>
            </a:r>
            <a:endParaRPr lang="en-US" sz="1550" dirty="0"/>
          </a:p>
        </p:txBody>
      </p:sp>
      <p:sp>
        <p:nvSpPr>
          <p:cNvPr id="43" name="Text 34"/>
          <p:cNvSpPr txBox="1"/>
          <p:nvPr/>
        </p:nvSpPr>
        <p:spPr>
          <a:xfrm>
            <a:off x="7068312" y="5349240"/>
            <a:ext cx="4526280" cy="96012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Navire non autorisé ou capacité absente : toute réservation payante est refusée.</a:t>
            </a:r>
            <a:endParaRPr lang="en-US" sz="1400" dirty="0"/>
          </a:p>
        </p:txBody>
      </p:sp>
      <p:sp>
        <p:nvSpPr>
          <p:cNvPr id="44" name="Text 35"/>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22</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LE PÊCHEUR · SES OFFRES</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Régler ses offres : le patron décide</a:t>
            </a:r>
            <a:endParaRPr lang="en-US" sz="2500" dirty="0"/>
          </a:p>
        </p:txBody>
      </p:sp>
      <p:sp>
        <p:nvSpPr>
          <p:cNvPr id="4" name="Shape 2"/>
          <p:cNvSpPr/>
          <p:nvPr/>
        </p:nvSpPr>
        <p:spPr>
          <a:xfrm>
            <a:off x="484632" y="1384931"/>
            <a:ext cx="5797296" cy="5002537"/>
          </a:xfrm>
          <a:prstGeom prst="roundRect">
            <a:avLst>
              <a:gd name="adj" fmla="val 2193"/>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ep_offres.jpg"/>
          <p:cNvPicPr>
            <a:picLocks noChangeAspect="1"/>
          </p:cNvPicPr>
          <p:nvPr/>
        </p:nvPicPr>
        <p:blipFill>
          <a:blip r:embed="rId3"/>
          <a:stretch>
            <a:fillRect/>
          </a:stretch>
        </p:blipFill>
        <p:spPr>
          <a:xfrm>
            <a:off x="548640" y="1448939"/>
            <a:ext cx="5669280" cy="4874521"/>
          </a:xfrm>
          <a:prstGeom prst="rect">
            <a:avLst/>
          </a:prstGeom>
        </p:spPr>
      </p:pic>
      <p:sp>
        <p:nvSpPr>
          <p:cNvPr id="6" name="Shape 3"/>
          <p:cNvSpPr/>
          <p:nvPr/>
        </p:nvSpPr>
        <p:spPr>
          <a:xfrm>
            <a:off x="6583680" y="1371600"/>
            <a:ext cx="457200" cy="457200"/>
          </a:xfrm>
          <a:prstGeom prst="ellipse">
            <a:avLst/>
          </a:prstGeom>
          <a:solidFill>
            <a:srgbClr val="0012B5"/>
          </a:solidFill>
          <a:ln w="12700">
            <a:solidFill>
              <a:srgbClr val="0012B5"/>
            </a:solidFill>
            <a:prstDash val="solid"/>
          </a:ln>
        </p:spPr>
        <p:txBody>
          <a:bodyPr/>
          <a:lstStyle/>
          <a:p>
            <a:endParaRPr lang="fr-FR"/>
          </a:p>
        </p:txBody>
      </p:sp>
      <p:sp>
        <p:nvSpPr>
          <p:cNvPr id="7" name="Text 4"/>
          <p:cNvSpPr txBox="1"/>
          <p:nvPr/>
        </p:nvSpPr>
        <p:spPr>
          <a:xfrm>
            <a:off x="6583680" y="13716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1</a:t>
            </a:r>
            <a:endParaRPr lang="en-US" sz="1400" dirty="0"/>
          </a:p>
        </p:txBody>
      </p:sp>
      <p:sp>
        <p:nvSpPr>
          <p:cNvPr id="8" name="Text 5"/>
          <p:cNvSpPr txBox="1"/>
          <p:nvPr/>
        </p:nvSpPr>
        <p:spPr>
          <a:xfrm>
            <a:off x="7223760" y="1389888"/>
            <a:ext cx="4434840" cy="310896"/>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Son prix</a:t>
            </a:r>
            <a:endParaRPr lang="en-US" sz="1550" dirty="0"/>
          </a:p>
        </p:txBody>
      </p:sp>
      <p:sp>
        <p:nvSpPr>
          <p:cNvPr id="9" name="Text 6"/>
          <p:cNvSpPr txBox="1"/>
          <p:nvPr/>
        </p:nvSpPr>
        <p:spPr>
          <a:xfrm>
            <a:off x="7223760" y="1755648"/>
            <a:ext cx="4434840" cy="384048"/>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Par personne ; sciences : sur devis.</a:t>
            </a:r>
            <a:endParaRPr lang="en-US" sz="1400" dirty="0"/>
          </a:p>
        </p:txBody>
      </p:sp>
      <p:sp>
        <p:nvSpPr>
          <p:cNvPr id="10" name="Shape 7"/>
          <p:cNvSpPr/>
          <p:nvPr/>
        </p:nvSpPr>
        <p:spPr>
          <a:xfrm>
            <a:off x="6583680" y="2157984"/>
            <a:ext cx="457200" cy="457200"/>
          </a:xfrm>
          <a:prstGeom prst="ellipse">
            <a:avLst/>
          </a:prstGeom>
          <a:solidFill>
            <a:srgbClr val="1F5BD6"/>
          </a:solidFill>
          <a:ln w="12700">
            <a:solidFill>
              <a:srgbClr val="1F5BD6"/>
            </a:solidFill>
            <a:prstDash val="solid"/>
          </a:ln>
        </p:spPr>
        <p:txBody>
          <a:bodyPr/>
          <a:lstStyle/>
          <a:p>
            <a:endParaRPr lang="fr-FR"/>
          </a:p>
        </p:txBody>
      </p:sp>
      <p:sp>
        <p:nvSpPr>
          <p:cNvPr id="11" name="Text 8"/>
          <p:cNvSpPr txBox="1"/>
          <p:nvPr/>
        </p:nvSpPr>
        <p:spPr>
          <a:xfrm>
            <a:off x="6583680" y="215798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2</a:t>
            </a:r>
            <a:endParaRPr lang="en-US" sz="1400" dirty="0"/>
          </a:p>
        </p:txBody>
      </p:sp>
      <p:sp>
        <p:nvSpPr>
          <p:cNvPr id="12" name="Text 9"/>
          <p:cNvSpPr txBox="1"/>
          <p:nvPr/>
        </p:nvSpPr>
        <p:spPr>
          <a:xfrm>
            <a:off x="7223760" y="2176272"/>
            <a:ext cx="4434840" cy="310896"/>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Ses jours et sa saison</a:t>
            </a:r>
            <a:endParaRPr lang="en-US" sz="1550" dirty="0"/>
          </a:p>
        </p:txBody>
      </p:sp>
      <p:sp>
        <p:nvSpPr>
          <p:cNvPr id="13" name="Text 10"/>
          <p:cNvSpPr txBox="1"/>
          <p:nvPr/>
        </p:nvSpPr>
        <p:spPr>
          <a:xfrm>
            <a:off x="7223760" y="2542032"/>
            <a:ext cx="4434840" cy="384048"/>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Jours, saison, jours retirés en un clic.</a:t>
            </a:r>
            <a:endParaRPr lang="en-US" sz="1400" dirty="0"/>
          </a:p>
        </p:txBody>
      </p:sp>
      <p:sp>
        <p:nvSpPr>
          <p:cNvPr id="14" name="Shape 11"/>
          <p:cNvSpPr/>
          <p:nvPr/>
        </p:nvSpPr>
        <p:spPr>
          <a:xfrm>
            <a:off x="6583680" y="2944368"/>
            <a:ext cx="457200" cy="457200"/>
          </a:xfrm>
          <a:prstGeom prst="ellipse">
            <a:avLst/>
          </a:prstGeom>
          <a:solidFill>
            <a:srgbClr val="00A7B5"/>
          </a:solidFill>
          <a:ln w="12700">
            <a:solidFill>
              <a:srgbClr val="00A7B5"/>
            </a:solidFill>
            <a:prstDash val="solid"/>
          </a:ln>
        </p:spPr>
        <p:txBody>
          <a:bodyPr/>
          <a:lstStyle/>
          <a:p>
            <a:endParaRPr lang="fr-FR"/>
          </a:p>
        </p:txBody>
      </p:sp>
      <p:sp>
        <p:nvSpPr>
          <p:cNvPr id="15" name="Text 12"/>
          <p:cNvSpPr txBox="1"/>
          <p:nvPr/>
        </p:nvSpPr>
        <p:spPr>
          <a:xfrm>
            <a:off x="6583680" y="294436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3</a:t>
            </a:r>
            <a:endParaRPr lang="en-US" sz="1400" dirty="0"/>
          </a:p>
        </p:txBody>
      </p:sp>
      <p:sp>
        <p:nvSpPr>
          <p:cNvPr id="16" name="Text 13"/>
          <p:cNvSpPr txBox="1"/>
          <p:nvPr/>
        </p:nvSpPr>
        <p:spPr>
          <a:xfrm>
            <a:off x="7223760" y="2962656"/>
            <a:ext cx="4434840" cy="310896"/>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Ses horaires et ses ports</a:t>
            </a:r>
            <a:endParaRPr lang="en-US" sz="1550" dirty="0"/>
          </a:p>
        </p:txBody>
      </p:sp>
      <p:sp>
        <p:nvSpPr>
          <p:cNvPr id="17" name="Text 14"/>
          <p:cNvSpPr txBox="1"/>
          <p:nvPr/>
        </p:nvSpPr>
        <p:spPr>
          <a:xfrm>
            <a:off x="7223760" y="3328416"/>
            <a:ext cx="4434840" cy="384048"/>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Départ, retour, ports.</a:t>
            </a:r>
            <a:endParaRPr lang="en-US" sz="1400" dirty="0"/>
          </a:p>
        </p:txBody>
      </p:sp>
      <p:sp>
        <p:nvSpPr>
          <p:cNvPr id="18" name="Shape 15"/>
          <p:cNvSpPr/>
          <p:nvPr/>
        </p:nvSpPr>
        <p:spPr>
          <a:xfrm>
            <a:off x="6583680" y="3730752"/>
            <a:ext cx="457200" cy="457200"/>
          </a:xfrm>
          <a:prstGeom prst="ellipse">
            <a:avLst/>
          </a:prstGeom>
          <a:solidFill>
            <a:srgbClr val="0E9F6E"/>
          </a:solidFill>
          <a:ln w="12700">
            <a:solidFill>
              <a:srgbClr val="0E9F6E"/>
            </a:solidFill>
            <a:prstDash val="solid"/>
          </a:ln>
        </p:spPr>
        <p:txBody>
          <a:bodyPr/>
          <a:lstStyle/>
          <a:p>
            <a:endParaRPr lang="fr-FR"/>
          </a:p>
        </p:txBody>
      </p:sp>
      <p:sp>
        <p:nvSpPr>
          <p:cNvPr id="19" name="Text 16"/>
          <p:cNvSpPr txBox="1"/>
          <p:nvPr/>
        </p:nvSpPr>
        <p:spPr>
          <a:xfrm>
            <a:off x="6583680" y="373075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4</a:t>
            </a:r>
            <a:endParaRPr lang="en-US" sz="1400" dirty="0"/>
          </a:p>
        </p:txBody>
      </p:sp>
      <p:sp>
        <p:nvSpPr>
          <p:cNvPr id="20" name="Text 17"/>
          <p:cNvSpPr txBox="1"/>
          <p:nvPr/>
        </p:nvSpPr>
        <p:spPr>
          <a:xfrm>
            <a:off x="7223760" y="3749040"/>
            <a:ext cx="4434840" cy="310896"/>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Ses techniques</a:t>
            </a:r>
            <a:endParaRPr lang="en-US" sz="1550" dirty="0"/>
          </a:p>
        </p:txBody>
      </p:sp>
      <p:sp>
        <p:nvSpPr>
          <p:cNvPr id="21" name="Text 18"/>
          <p:cNvSpPr txBox="1"/>
          <p:nvPr/>
        </p:nvSpPr>
        <p:spPr>
          <a:xfrm>
            <a:off x="7223760" y="4114800"/>
            <a:ext cx="4434840" cy="384048"/>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Palangre, canne, thon rouge, casier, filet.</a:t>
            </a:r>
            <a:endParaRPr lang="en-US" sz="1400" dirty="0"/>
          </a:p>
        </p:txBody>
      </p:sp>
      <p:sp>
        <p:nvSpPr>
          <p:cNvPr id="22" name="Shape 19"/>
          <p:cNvSpPr/>
          <p:nvPr/>
        </p:nvSpPr>
        <p:spPr>
          <a:xfrm>
            <a:off x="6583680" y="4517136"/>
            <a:ext cx="457200" cy="457200"/>
          </a:xfrm>
          <a:prstGeom prst="ellipse">
            <a:avLst/>
          </a:prstGeom>
          <a:solidFill>
            <a:srgbClr val="0074B5"/>
          </a:solidFill>
          <a:ln w="12700">
            <a:solidFill>
              <a:srgbClr val="0074B5"/>
            </a:solidFill>
            <a:prstDash val="solid"/>
          </a:ln>
        </p:spPr>
        <p:txBody>
          <a:bodyPr/>
          <a:lstStyle/>
          <a:p>
            <a:endParaRPr lang="fr-FR"/>
          </a:p>
        </p:txBody>
      </p:sp>
      <p:sp>
        <p:nvSpPr>
          <p:cNvPr id="23" name="Text 20"/>
          <p:cNvSpPr txBox="1"/>
          <p:nvPr/>
        </p:nvSpPr>
        <p:spPr>
          <a:xfrm>
            <a:off x="6583680" y="451713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5</a:t>
            </a:r>
            <a:endParaRPr lang="en-US" sz="1400" dirty="0"/>
          </a:p>
        </p:txBody>
      </p:sp>
      <p:sp>
        <p:nvSpPr>
          <p:cNvPr id="24" name="Text 21"/>
          <p:cNvSpPr txBox="1"/>
          <p:nvPr/>
        </p:nvSpPr>
        <p:spPr>
          <a:xfrm>
            <a:off x="7223760" y="4535424"/>
            <a:ext cx="4434840" cy="310896"/>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Sa vitrine</a:t>
            </a:r>
            <a:endParaRPr lang="en-US" sz="1550" dirty="0"/>
          </a:p>
        </p:txBody>
      </p:sp>
      <p:sp>
        <p:nvSpPr>
          <p:cNvPr id="25" name="Text 22"/>
          <p:cNvSpPr txBox="1"/>
          <p:nvPr/>
        </p:nvSpPr>
        <p:spPr>
          <a:xfrm>
            <a:off x="7223760" y="4901184"/>
            <a:ext cx="4434840" cy="384048"/>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Photos du patron, du bateau, présentation.</a:t>
            </a:r>
            <a:endParaRPr lang="en-US" sz="1400" dirty="0"/>
          </a:p>
        </p:txBody>
      </p:sp>
      <p:sp>
        <p:nvSpPr>
          <p:cNvPr id="26" name="Shape 23"/>
          <p:cNvSpPr/>
          <p:nvPr/>
        </p:nvSpPr>
        <p:spPr>
          <a:xfrm>
            <a:off x="6583680" y="5303520"/>
            <a:ext cx="457200" cy="457200"/>
          </a:xfrm>
          <a:prstGeom prst="ellipse">
            <a:avLst/>
          </a:prstGeom>
          <a:solidFill>
            <a:srgbClr val="B45309"/>
          </a:solidFill>
          <a:ln w="12700">
            <a:solidFill>
              <a:srgbClr val="B45309"/>
            </a:solidFill>
            <a:prstDash val="solid"/>
          </a:ln>
        </p:spPr>
        <p:txBody>
          <a:bodyPr/>
          <a:lstStyle/>
          <a:p>
            <a:endParaRPr lang="fr-FR"/>
          </a:p>
        </p:txBody>
      </p:sp>
      <p:sp>
        <p:nvSpPr>
          <p:cNvPr id="27" name="Text 24"/>
          <p:cNvSpPr txBox="1"/>
          <p:nvPr/>
        </p:nvSpPr>
        <p:spPr>
          <a:xfrm>
            <a:off x="6583680" y="53035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6</a:t>
            </a:r>
            <a:endParaRPr lang="en-US" sz="1400" dirty="0"/>
          </a:p>
        </p:txBody>
      </p:sp>
      <p:sp>
        <p:nvSpPr>
          <p:cNvPr id="28" name="Text 25"/>
          <p:cNvSpPr txBox="1"/>
          <p:nvPr/>
        </p:nvSpPr>
        <p:spPr>
          <a:xfrm>
            <a:off x="7223760" y="5321808"/>
            <a:ext cx="4434840" cy="310896"/>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Ses indisponibilités</a:t>
            </a:r>
            <a:endParaRPr lang="en-US" sz="1550" dirty="0"/>
          </a:p>
        </p:txBody>
      </p:sp>
      <p:sp>
        <p:nvSpPr>
          <p:cNvPr id="29" name="Text 26"/>
          <p:cNvSpPr txBox="1"/>
          <p:nvPr/>
        </p:nvSpPr>
        <p:spPr>
          <a:xfrm>
            <a:off x="7223760" y="5687568"/>
            <a:ext cx="4434840" cy="384048"/>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Jours pris ailleurs : bloqués.</a:t>
            </a:r>
            <a:endParaRPr lang="en-US" sz="1400" dirty="0"/>
          </a:p>
        </p:txBody>
      </p:sp>
      <p:sp>
        <p:nvSpPr>
          <p:cNvPr id="30" name="Text 27"/>
          <p:cNvSpPr txBox="1"/>
          <p:nvPr/>
        </p:nvSpPr>
        <p:spPr>
          <a:xfrm>
            <a:off x="6583680" y="6144768"/>
            <a:ext cx="5074920" cy="365760"/>
          </a:xfrm>
          <a:prstGeom prst="rect">
            <a:avLst/>
          </a:prstGeom>
          <a:noFill/>
          <a:ln/>
        </p:spPr>
        <p:txBody>
          <a:bodyPr wrap="square" lIns="0" tIns="0" rIns="0" bIns="0" rtlCol="0" anchor="t"/>
          <a:lstStyle/>
          <a:p>
            <a:pPr marL="0" indent="0">
              <a:buNone/>
            </a:pPr>
            <a:r>
              <a:rPr lang="en-US" sz="1250" i="1" dirty="0">
                <a:solidFill>
                  <a:srgbClr val="66728A"/>
                </a:solidFill>
                <a:latin typeface="Verdana" pitchFamily="34" charset="0"/>
                <a:ea typeface="Verdana" pitchFamily="34" charset="-122"/>
                <a:cs typeface="Verdana" pitchFamily="34" charset="-120"/>
              </a:rPr>
              <a:t>Capacités et caractéristiques techniques : fixées par Mare Durabilis uniquement.</a:t>
            </a:r>
            <a:endParaRPr lang="en-US" sz="1250" dirty="0"/>
          </a:p>
        </p:txBody>
      </p:sp>
      <p:sp>
        <p:nvSpPr>
          <p:cNvPr id="31" name="Text 28"/>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23</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LE PÊCHEUR · SES DEMANDES</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Traiter ses demandes</a:t>
            </a:r>
            <a:endParaRPr lang="en-US" sz="2500" dirty="0"/>
          </a:p>
        </p:txBody>
      </p:sp>
      <p:sp>
        <p:nvSpPr>
          <p:cNvPr id="4" name="Text 2"/>
          <p:cNvSpPr txBox="1"/>
          <p:nvPr/>
        </p:nvSpPr>
        <p:spPr>
          <a:xfrm>
            <a:off x="548640" y="1216152"/>
            <a:ext cx="11094415" cy="457200"/>
          </a:xfrm>
          <a:prstGeom prst="rect">
            <a:avLst/>
          </a:prstGeom>
          <a:noFill/>
          <a:ln/>
        </p:spPr>
        <p:txBody>
          <a:bodyPr wrap="square" lIns="0" tIns="0" rIns="0" bIns="0" rtlCol="0" anchor="t"/>
          <a:lstStyle/>
          <a:p>
            <a:pPr marL="0" indent="0">
              <a:buNone/>
            </a:pPr>
            <a:r>
              <a:rPr lang="en-US" sz="1550" dirty="0">
                <a:solidFill>
                  <a:srgbClr val="66728A"/>
                </a:solidFill>
                <a:latin typeface="Verdana" pitchFamily="34" charset="0"/>
                <a:ea typeface="Verdana" pitchFamily="34" charset="-122"/>
                <a:cs typeface="Verdana" pitchFamily="34" charset="-120"/>
              </a:rPr>
              <a:t>Tout au même endroit : pesca-tourisme, sorties découverte, appels scientifiques, missions autonomes.</a:t>
            </a:r>
            <a:endParaRPr lang="en-US" sz="1550" dirty="0"/>
          </a:p>
        </p:txBody>
      </p:sp>
      <p:sp>
        <p:nvSpPr>
          <p:cNvPr id="5" name="Shape 3"/>
          <p:cNvSpPr/>
          <p:nvPr/>
        </p:nvSpPr>
        <p:spPr>
          <a:xfrm>
            <a:off x="548640" y="1783080"/>
            <a:ext cx="1353312" cy="310896"/>
          </a:xfrm>
          <a:prstGeom prst="roundRect">
            <a:avLst>
              <a:gd name="adj" fmla="val 50000"/>
            </a:avLst>
          </a:prstGeom>
          <a:solidFill>
            <a:srgbClr val="B45309"/>
          </a:solidFill>
          <a:ln w="12700">
            <a:solidFill>
              <a:srgbClr val="B45309"/>
            </a:solidFill>
            <a:prstDash val="solid"/>
          </a:ln>
        </p:spPr>
        <p:txBody>
          <a:bodyPr/>
          <a:lstStyle/>
          <a:p>
            <a:endParaRPr lang="fr-FR"/>
          </a:p>
        </p:txBody>
      </p:sp>
      <p:sp>
        <p:nvSpPr>
          <p:cNvPr id="6" name="Text 4"/>
          <p:cNvSpPr txBox="1"/>
          <p:nvPr/>
        </p:nvSpPr>
        <p:spPr>
          <a:xfrm>
            <a:off x="548640" y="1783080"/>
            <a:ext cx="1353312"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À traiter</a:t>
            </a:r>
            <a:endParaRPr lang="en-US" sz="1400" dirty="0"/>
          </a:p>
        </p:txBody>
      </p:sp>
      <p:sp>
        <p:nvSpPr>
          <p:cNvPr id="7" name="Shape 5"/>
          <p:cNvSpPr/>
          <p:nvPr/>
        </p:nvSpPr>
        <p:spPr>
          <a:xfrm>
            <a:off x="2029968" y="1783080"/>
            <a:ext cx="1353312" cy="310896"/>
          </a:xfrm>
          <a:prstGeom prst="roundRect">
            <a:avLst>
              <a:gd name="adj" fmla="val 50000"/>
            </a:avLst>
          </a:prstGeom>
          <a:solidFill>
            <a:srgbClr val="0E9F6E"/>
          </a:solidFill>
          <a:ln w="12700">
            <a:solidFill>
              <a:srgbClr val="0E9F6E"/>
            </a:solidFill>
            <a:prstDash val="solid"/>
          </a:ln>
        </p:spPr>
        <p:txBody>
          <a:bodyPr/>
          <a:lstStyle/>
          <a:p>
            <a:endParaRPr lang="fr-FR"/>
          </a:p>
        </p:txBody>
      </p:sp>
      <p:sp>
        <p:nvSpPr>
          <p:cNvPr id="8" name="Text 6"/>
          <p:cNvSpPr txBox="1"/>
          <p:nvPr/>
        </p:nvSpPr>
        <p:spPr>
          <a:xfrm>
            <a:off x="2029968" y="1783080"/>
            <a:ext cx="1353312"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À venir</a:t>
            </a:r>
            <a:endParaRPr lang="en-US" sz="1400" dirty="0"/>
          </a:p>
        </p:txBody>
      </p:sp>
      <p:sp>
        <p:nvSpPr>
          <p:cNvPr id="9" name="Shape 7"/>
          <p:cNvSpPr/>
          <p:nvPr/>
        </p:nvSpPr>
        <p:spPr>
          <a:xfrm>
            <a:off x="3511296" y="1783080"/>
            <a:ext cx="1353312" cy="310896"/>
          </a:xfrm>
          <a:prstGeom prst="roundRect">
            <a:avLst>
              <a:gd name="adj" fmla="val 50000"/>
            </a:avLst>
          </a:prstGeom>
          <a:solidFill>
            <a:srgbClr val="1F5BD6"/>
          </a:solidFill>
          <a:ln w="12700">
            <a:solidFill>
              <a:srgbClr val="1F5BD6"/>
            </a:solidFill>
            <a:prstDash val="solid"/>
          </a:ln>
        </p:spPr>
        <p:txBody>
          <a:bodyPr/>
          <a:lstStyle/>
          <a:p>
            <a:endParaRPr lang="fr-FR"/>
          </a:p>
        </p:txBody>
      </p:sp>
      <p:sp>
        <p:nvSpPr>
          <p:cNvPr id="10" name="Text 8"/>
          <p:cNvSpPr txBox="1"/>
          <p:nvPr/>
        </p:nvSpPr>
        <p:spPr>
          <a:xfrm>
            <a:off x="3511296" y="1783080"/>
            <a:ext cx="1353312"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Passées</a:t>
            </a:r>
            <a:endParaRPr lang="en-US" sz="1400" dirty="0"/>
          </a:p>
        </p:txBody>
      </p:sp>
      <p:sp>
        <p:nvSpPr>
          <p:cNvPr id="11" name="Shape 9"/>
          <p:cNvSpPr/>
          <p:nvPr/>
        </p:nvSpPr>
        <p:spPr>
          <a:xfrm>
            <a:off x="4992624" y="1783080"/>
            <a:ext cx="1353312" cy="310896"/>
          </a:xfrm>
          <a:prstGeom prst="roundRect">
            <a:avLst>
              <a:gd name="adj" fmla="val 50000"/>
            </a:avLst>
          </a:prstGeom>
          <a:solidFill>
            <a:srgbClr val="66728A"/>
          </a:solidFill>
          <a:ln w="12700">
            <a:solidFill>
              <a:srgbClr val="66728A"/>
            </a:solidFill>
            <a:prstDash val="solid"/>
          </a:ln>
        </p:spPr>
        <p:txBody>
          <a:bodyPr/>
          <a:lstStyle/>
          <a:p>
            <a:endParaRPr lang="fr-FR"/>
          </a:p>
        </p:txBody>
      </p:sp>
      <p:sp>
        <p:nvSpPr>
          <p:cNvPr id="12" name="Text 10"/>
          <p:cNvSpPr txBox="1"/>
          <p:nvPr/>
        </p:nvSpPr>
        <p:spPr>
          <a:xfrm>
            <a:off x="4992624" y="1783080"/>
            <a:ext cx="1353312"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Archives</a:t>
            </a:r>
            <a:endParaRPr lang="en-US" sz="1400" dirty="0"/>
          </a:p>
        </p:txBody>
      </p:sp>
      <p:sp>
        <p:nvSpPr>
          <p:cNvPr id="13" name="Text 11"/>
          <p:cNvSpPr txBox="1"/>
          <p:nvPr/>
        </p:nvSpPr>
        <p:spPr>
          <a:xfrm>
            <a:off x="6583680" y="1783080"/>
            <a:ext cx="5074920" cy="310896"/>
          </a:xfrm>
          <a:prstGeom prst="rect">
            <a:avLst/>
          </a:prstGeom>
          <a:noFill/>
          <a:ln/>
        </p:spPr>
        <p:txBody>
          <a:bodyPr wrap="square" lIns="0" tIns="0" rIns="0" bIns="0" rtlCol="0" anchor="ctr"/>
          <a:lstStyle/>
          <a:p>
            <a:pPr marL="0" indent="0">
              <a:buNone/>
            </a:pPr>
            <a:r>
              <a:rPr lang="en-US" sz="1400" dirty="0">
                <a:solidFill>
                  <a:srgbClr val="66728A"/>
                </a:solidFill>
                <a:latin typeface="Verdana" pitchFamily="34" charset="0"/>
                <a:ea typeface="Verdana" pitchFamily="34" charset="-122"/>
                <a:cs typeface="Verdana" pitchFamily="34" charset="-120"/>
              </a:rPr>
              <a:t>Une pastille rouge compte les demandes à traiter, sur tous ses navires.</a:t>
            </a:r>
            <a:endParaRPr lang="en-US" sz="1400" dirty="0"/>
          </a:p>
        </p:txBody>
      </p:sp>
      <p:sp>
        <p:nvSpPr>
          <p:cNvPr id="14" name="Shape 12"/>
          <p:cNvSpPr/>
          <p:nvPr/>
        </p:nvSpPr>
        <p:spPr>
          <a:xfrm>
            <a:off x="548640" y="2331720"/>
            <a:ext cx="5577840" cy="4069080"/>
          </a:xfrm>
          <a:prstGeom prst="roundRect">
            <a:avLst>
              <a:gd name="adj" fmla="val 4494"/>
            </a:avLst>
          </a:prstGeom>
          <a:solidFill>
            <a:srgbClr val="EEF4FD"/>
          </a:solidFill>
          <a:ln w="12700">
            <a:solidFill>
              <a:srgbClr val="EEF4FD"/>
            </a:solidFill>
            <a:prstDash val="solid"/>
          </a:ln>
        </p:spPr>
        <p:txBody>
          <a:bodyPr/>
          <a:lstStyle/>
          <a:p>
            <a:endParaRPr lang="fr-FR"/>
          </a:p>
        </p:txBody>
      </p:sp>
      <p:sp>
        <p:nvSpPr>
          <p:cNvPr id="15" name="Text 13"/>
          <p:cNvSpPr txBox="1"/>
          <p:nvPr/>
        </p:nvSpPr>
        <p:spPr>
          <a:xfrm>
            <a:off x="822960" y="2487168"/>
            <a:ext cx="5120640" cy="347472"/>
          </a:xfrm>
          <a:prstGeom prst="rect">
            <a:avLst/>
          </a:prstGeom>
          <a:noFill/>
          <a:ln/>
        </p:spPr>
        <p:txBody>
          <a:bodyPr wrap="square" lIns="0" tIns="0" rIns="0" bIns="0" rtlCol="0" anchor="t"/>
          <a:lstStyle/>
          <a:p>
            <a:pPr marL="0" indent="0">
              <a:buNone/>
            </a:pPr>
            <a:r>
              <a:rPr lang="en-US" sz="1750" b="1" dirty="0">
                <a:solidFill>
                  <a:srgbClr val="0012B5"/>
                </a:solidFill>
                <a:latin typeface="Verdana" pitchFamily="34" charset="0"/>
                <a:ea typeface="Verdana" pitchFamily="34" charset="-122"/>
                <a:cs typeface="Verdana" pitchFamily="34" charset="-120"/>
              </a:rPr>
              <a:t>Ce qu’il voit sur chaque demande</a:t>
            </a:r>
            <a:endParaRPr lang="en-US" sz="1750" dirty="0"/>
          </a:p>
        </p:txBody>
      </p:sp>
      <p:sp>
        <p:nvSpPr>
          <p:cNvPr id="16" name="Text 14"/>
          <p:cNvSpPr txBox="1"/>
          <p:nvPr/>
        </p:nvSpPr>
        <p:spPr>
          <a:xfrm>
            <a:off x="822960" y="2926080"/>
            <a:ext cx="5120640" cy="260604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1D2838"/>
                </a:solidFill>
                <a:latin typeface="Verdana" pitchFamily="34" charset="0"/>
                <a:ea typeface="Verdana" pitchFamily="34" charset="-122"/>
                <a:cs typeface="Verdana" pitchFamily="34" charset="-120"/>
              </a:rPr>
              <a:t>Type, date, nombre de personnes, montant</a:t>
            </a:r>
            <a:endParaRPr lang="en-US" sz="1450" dirty="0"/>
          </a:p>
          <a:p>
            <a:pPr marL="177800" indent="-177800">
              <a:spcAft>
                <a:spcPts val="600"/>
              </a:spcAft>
              <a:buSzPct val="100000"/>
              <a:buChar char="•"/>
            </a:pPr>
            <a:r>
              <a:rPr lang="en-US" sz="1450" dirty="0">
                <a:solidFill>
                  <a:srgbClr val="1D2838"/>
                </a:solidFill>
                <a:latin typeface="Verdana" pitchFamily="34" charset="0"/>
                <a:ea typeface="Verdana" pitchFamily="34" charset="-122"/>
                <a:cs typeface="Verdana" pitchFamily="34" charset="-120"/>
              </a:rPr>
              <a:t>Prénom du client (nom complet une fois confirmée)</a:t>
            </a:r>
            <a:endParaRPr lang="en-US" sz="1450" dirty="0"/>
          </a:p>
          <a:p>
            <a:pPr marL="177800" indent="-177800">
              <a:spcAft>
                <a:spcPts val="600"/>
              </a:spcAft>
              <a:buSzPct val="100000"/>
              <a:buChar char="•"/>
            </a:pPr>
            <a:r>
              <a:rPr lang="en-US" sz="1450" dirty="0">
                <a:solidFill>
                  <a:srgbClr val="1D2838"/>
                </a:solidFill>
                <a:latin typeface="Verdana" pitchFamily="34" charset="0"/>
                <a:ea typeface="Verdana" pitchFamily="34" charset="-122"/>
                <a:cs typeface="Verdana" pitchFamily="34" charset="-120"/>
              </a:rPr>
              <a:t>« Répondez avant le … »</a:t>
            </a:r>
            <a:endParaRPr lang="en-US" sz="1450" dirty="0"/>
          </a:p>
          <a:p>
            <a:pPr marL="177800" indent="-177800">
              <a:spcAft>
                <a:spcPts val="600"/>
              </a:spcAft>
              <a:buSzPct val="100000"/>
              <a:buChar char="•"/>
            </a:pPr>
            <a:r>
              <a:rPr lang="en-US" sz="1450" dirty="0">
                <a:solidFill>
                  <a:srgbClr val="1D2838"/>
                </a:solidFill>
                <a:latin typeface="Verdana" pitchFamily="34" charset="0"/>
                <a:ea typeface="Verdana" pitchFamily="34" charset="-122"/>
                <a:cs typeface="Verdana" pitchFamily="34" charset="-120"/>
              </a:rPr>
              <a:t>Client flexible sur la date ?</a:t>
            </a:r>
            <a:endParaRPr lang="en-US" sz="1450" dirty="0"/>
          </a:p>
          <a:p>
            <a:pPr marL="177800" indent="-177800">
              <a:spcAft>
                <a:spcPts val="600"/>
              </a:spcAft>
              <a:buSzPct val="100000"/>
              <a:buChar char="•"/>
            </a:pPr>
            <a:r>
              <a:rPr lang="en-US" sz="1450" dirty="0">
                <a:solidFill>
                  <a:srgbClr val="1D2838"/>
                </a:solidFill>
                <a:latin typeface="Verdana" pitchFamily="34" charset="0"/>
                <a:ea typeface="Verdana" pitchFamily="34" charset="-122"/>
                <a:cs typeface="Verdana" pitchFamily="34" charset="-120"/>
              </a:rPr>
              <a:t>Son message</a:t>
            </a:r>
            <a:endParaRPr lang="en-US" sz="1450" dirty="0"/>
          </a:p>
          <a:p>
            <a:pPr marL="177800" indent="-177800">
              <a:spcAft>
                <a:spcPts val="600"/>
              </a:spcAft>
              <a:buSzPct val="100000"/>
              <a:buChar char="•"/>
            </a:pPr>
            <a:r>
              <a:rPr lang="en-US" sz="1450" dirty="0">
                <a:solidFill>
                  <a:srgbClr val="1D2838"/>
                </a:solidFill>
                <a:latin typeface="Verdana" pitchFamily="34" charset="0"/>
                <a:ea typeface="Verdana" pitchFamily="34" charset="-122"/>
                <a:cs typeface="Verdana" pitchFamily="34" charset="-120"/>
              </a:rPr>
              <a:t>Sortie confirmée : la pièce de chaque passager (jusqu’à 48 h après la sortie)</a:t>
            </a:r>
            <a:endParaRPr lang="en-US" sz="1450" dirty="0"/>
          </a:p>
        </p:txBody>
      </p:sp>
      <p:sp>
        <p:nvSpPr>
          <p:cNvPr id="17" name="Text 15"/>
          <p:cNvSpPr txBox="1"/>
          <p:nvPr/>
        </p:nvSpPr>
        <p:spPr>
          <a:xfrm>
            <a:off x="822960" y="5760720"/>
            <a:ext cx="5120640" cy="457200"/>
          </a:xfrm>
          <a:prstGeom prst="rect">
            <a:avLst/>
          </a:prstGeom>
          <a:noFill/>
          <a:ln/>
        </p:spPr>
        <p:txBody>
          <a:bodyPr wrap="square" lIns="0" tIns="0" rIns="0" bIns="0" rtlCol="0" anchor="t"/>
          <a:lstStyle/>
          <a:p>
            <a:pPr marL="0" indent="0">
              <a:buNone/>
            </a:pPr>
            <a:r>
              <a:rPr lang="en-US" sz="1500" b="1" dirty="0">
                <a:solidFill>
                  <a:srgbClr val="B3312D"/>
                </a:solidFill>
                <a:latin typeface="Verdana" pitchFamily="34" charset="0"/>
                <a:ea typeface="Verdana" pitchFamily="34" charset="-122"/>
                <a:cs typeface="Verdana" pitchFamily="34" charset="-120"/>
              </a:rPr>
              <a:t>Jamais l’e-mail ni le téléphone du client.</a:t>
            </a:r>
            <a:endParaRPr lang="en-US" sz="1500" dirty="0"/>
          </a:p>
        </p:txBody>
      </p:sp>
      <p:sp>
        <p:nvSpPr>
          <p:cNvPr id="18" name="Shape 16"/>
          <p:cNvSpPr/>
          <p:nvPr/>
        </p:nvSpPr>
        <p:spPr>
          <a:xfrm>
            <a:off x="6446520" y="2377440"/>
            <a:ext cx="493776" cy="493776"/>
          </a:xfrm>
          <a:prstGeom prst="ellipse">
            <a:avLst/>
          </a:prstGeom>
          <a:solidFill>
            <a:srgbClr val="1B7A3D"/>
          </a:solidFill>
          <a:ln w="12700">
            <a:solidFill>
              <a:srgbClr val="1B7A3D"/>
            </a:solidFill>
            <a:prstDash val="solid"/>
          </a:ln>
        </p:spPr>
        <p:txBody>
          <a:bodyPr/>
          <a:lstStyle/>
          <a:p>
            <a:endParaRPr lang="fr-FR"/>
          </a:p>
        </p:txBody>
      </p:sp>
      <p:pic>
        <p:nvPicPr>
          <p:cNvPr id="19" name="Image 0" descr="preencoded.png"/>
          <p:cNvPicPr>
            <a:picLocks noChangeAspect="1"/>
          </p:cNvPicPr>
          <p:nvPr/>
        </p:nvPicPr>
        <p:blipFill>
          <a:blip r:embed="rId3"/>
          <a:stretch>
            <a:fillRect/>
          </a:stretch>
        </p:blipFill>
        <p:spPr>
          <a:xfrm>
            <a:off x="6569964" y="2500884"/>
            <a:ext cx="246888" cy="246888"/>
          </a:xfrm>
          <a:prstGeom prst="rect">
            <a:avLst/>
          </a:prstGeom>
        </p:spPr>
      </p:pic>
      <p:sp>
        <p:nvSpPr>
          <p:cNvPr id="20" name="Text 17"/>
          <p:cNvSpPr txBox="1"/>
          <p:nvPr/>
        </p:nvSpPr>
        <p:spPr>
          <a:xfrm>
            <a:off x="7132320" y="2340864"/>
            <a:ext cx="4526280" cy="301752"/>
          </a:xfrm>
          <a:prstGeom prst="rect">
            <a:avLst/>
          </a:prstGeom>
          <a:noFill/>
          <a:ln/>
        </p:spPr>
        <p:txBody>
          <a:bodyPr wrap="square" lIns="0" tIns="0" rIns="0" bIns="0" rtlCol="0" anchor="t"/>
          <a:lstStyle/>
          <a:p>
            <a:pPr marL="0" indent="0">
              <a:buNone/>
            </a:pPr>
            <a:r>
              <a:rPr lang="en-US" sz="1650" b="1" dirty="0">
                <a:solidFill>
                  <a:srgbClr val="0012B5"/>
                </a:solidFill>
                <a:latin typeface="Verdana" pitchFamily="34" charset="0"/>
                <a:ea typeface="Verdana" pitchFamily="34" charset="-122"/>
                <a:cs typeface="Verdana" pitchFamily="34" charset="-120"/>
              </a:rPr>
              <a:t>J’accepte</a:t>
            </a:r>
            <a:endParaRPr lang="en-US" sz="1650" dirty="0"/>
          </a:p>
        </p:txBody>
      </p:sp>
      <p:sp>
        <p:nvSpPr>
          <p:cNvPr id="21" name="Text 18"/>
          <p:cNvSpPr txBox="1"/>
          <p:nvPr/>
        </p:nvSpPr>
        <p:spPr>
          <a:xfrm>
            <a:off x="7132320" y="2651760"/>
            <a:ext cx="4526280" cy="4114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Client débité, confirmation avec le téléphone du patron.</a:t>
            </a:r>
            <a:endParaRPr lang="en-US" sz="1400" dirty="0"/>
          </a:p>
        </p:txBody>
      </p:sp>
      <p:sp>
        <p:nvSpPr>
          <p:cNvPr id="22" name="Shape 19"/>
          <p:cNvSpPr/>
          <p:nvPr/>
        </p:nvSpPr>
        <p:spPr>
          <a:xfrm>
            <a:off x="6446520" y="3182112"/>
            <a:ext cx="493776" cy="493776"/>
          </a:xfrm>
          <a:prstGeom prst="ellipse">
            <a:avLst/>
          </a:prstGeom>
          <a:solidFill>
            <a:srgbClr val="B3312D"/>
          </a:solidFill>
          <a:ln w="12700">
            <a:solidFill>
              <a:srgbClr val="B3312D"/>
            </a:solidFill>
            <a:prstDash val="solid"/>
          </a:ln>
        </p:spPr>
        <p:txBody>
          <a:bodyPr/>
          <a:lstStyle/>
          <a:p>
            <a:endParaRPr lang="fr-FR"/>
          </a:p>
        </p:txBody>
      </p:sp>
      <p:pic>
        <p:nvPicPr>
          <p:cNvPr id="23" name="Image 1" descr="preencoded.png"/>
          <p:cNvPicPr>
            <a:picLocks noChangeAspect="1"/>
          </p:cNvPicPr>
          <p:nvPr/>
        </p:nvPicPr>
        <p:blipFill>
          <a:blip r:embed="rId4"/>
          <a:stretch>
            <a:fillRect/>
          </a:stretch>
        </p:blipFill>
        <p:spPr>
          <a:xfrm>
            <a:off x="6569964" y="3305556"/>
            <a:ext cx="246888" cy="246888"/>
          </a:xfrm>
          <a:prstGeom prst="rect">
            <a:avLst/>
          </a:prstGeom>
        </p:spPr>
      </p:pic>
      <p:sp>
        <p:nvSpPr>
          <p:cNvPr id="24" name="Text 20"/>
          <p:cNvSpPr txBox="1"/>
          <p:nvPr/>
        </p:nvSpPr>
        <p:spPr>
          <a:xfrm>
            <a:off x="7132320" y="3145536"/>
            <a:ext cx="4526280" cy="301752"/>
          </a:xfrm>
          <a:prstGeom prst="rect">
            <a:avLst/>
          </a:prstGeom>
          <a:noFill/>
          <a:ln/>
        </p:spPr>
        <p:txBody>
          <a:bodyPr wrap="square" lIns="0" tIns="0" rIns="0" bIns="0" rtlCol="0" anchor="t"/>
          <a:lstStyle/>
          <a:p>
            <a:pPr marL="0" indent="0">
              <a:buNone/>
            </a:pPr>
            <a:r>
              <a:rPr lang="en-US" sz="1650" b="1" dirty="0">
                <a:solidFill>
                  <a:srgbClr val="0012B5"/>
                </a:solidFill>
                <a:latin typeface="Verdana" pitchFamily="34" charset="0"/>
                <a:ea typeface="Verdana" pitchFamily="34" charset="-122"/>
                <a:cs typeface="Verdana" pitchFamily="34" charset="-120"/>
              </a:rPr>
              <a:t>Je refuse</a:t>
            </a:r>
            <a:endParaRPr lang="en-US" sz="1650" dirty="0"/>
          </a:p>
        </p:txBody>
      </p:sp>
      <p:sp>
        <p:nvSpPr>
          <p:cNvPr id="25" name="Text 21"/>
          <p:cNvSpPr txBox="1"/>
          <p:nvPr/>
        </p:nvSpPr>
        <p:spPr>
          <a:xfrm>
            <a:off x="7132320" y="3456432"/>
            <a:ext cx="4526280" cy="4114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Empreinte levée, client prévenu.</a:t>
            </a:r>
            <a:endParaRPr lang="en-US" sz="1400" dirty="0"/>
          </a:p>
        </p:txBody>
      </p:sp>
      <p:sp>
        <p:nvSpPr>
          <p:cNvPr id="26" name="Shape 22"/>
          <p:cNvSpPr/>
          <p:nvPr/>
        </p:nvSpPr>
        <p:spPr>
          <a:xfrm>
            <a:off x="6446520" y="3986784"/>
            <a:ext cx="493776" cy="493776"/>
          </a:xfrm>
          <a:prstGeom prst="ellipse">
            <a:avLst/>
          </a:prstGeom>
          <a:solidFill>
            <a:srgbClr val="1F5BD6"/>
          </a:solidFill>
          <a:ln w="12700">
            <a:solidFill>
              <a:srgbClr val="1F5BD6"/>
            </a:solidFill>
            <a:prstDash val="solid"/>
          </a:ln>
        </p:spPr>
        <p:txBody>
          <a:bodyPr/>
          <a:lstStyle/>
          <a:p>
            <a:endParaRPr lang="fr-FR"/>
          </a:p>
        </p:txBody>
      </p:sp>
      <p:pic>
        <p:nvPicPr>
          <p:cNvPr id="27" name="Image 2" descr="preencoded.png"/>
          <p:cNvPicPr>
            <a:picLocks noChangeAspect="1"/>
          </p:cNvPicPr>
          <p:nvPr/>
        </p:nvPicPr>
        <p:blipFill>
          <a:blip r:embed="rId5"/>
          <a:stretch>
            <a:fillRect/>
          </a:stretch>
        </p:blipFill>
        <p:spPr>
          <a:xfrm>
            <a:off x="6569964" y="4110228"/>
            <a:ext cx="246888" cy="246888"/>
          </a:xfrm>
          <a:prstGeom prst="rect">
            <a:avLst/>
          </a:prstGeom>
        </p:spPr>
      </p:pic>
      <p:sp>
        <p:nvSpPr>
          <p:cNvPr id="28" name="Text 23"/>
          <p:cNvSpPr txBox="1"/>
          <p:nvPr/>
        </p:nvSpPr>
        <p:spPr>
          <a:xfrm>
            <a:off x="7132320" y="3950208"/>
            <a:ext cx="4526280" cy="301752"/>
          </a:xfrm>
          <a:prstGeom prst="rect">
            <a:avLst/>
          </a:prstGeom>
          <a:noFill/>
          <a:ln/>
        </p:spPr>
        <p:txBody>
          <a:bodyPr wrap="square" lIns="0" tIns="0" rIns="0" bIns="0" rtlCol="0" anchor="t"/>
          <a:lstStyle/>
          <a:p>
            <a:pPr marL="0" indent="0">
              <a:buNone/>
            </a:pPr>
            <a:r>
              <a:rPr lang="en-US" sz="1650" b="1" dirty="0">
                <a:solidFill>
                  <a:srgbClr val="0012B5"/>
                </a:solidFill>
                <a:latin typeface="Verdana" pitchFamily="34" charset="0"/>
                <a:ea typeface="Verdana" pitchFamily="34" charset="-122"/>
                <a:cs typeface="Verdana" pitchFamily="34" charset="-120"/>
              </a:rPr>
              <a:t>Changer la date</a:t>
            </a:r>
            <a:endParaRPr lang="en-US" sz="1650" dirty="0"/>
          </a:p>
        </p:txBody>
      </p:sp>
      <p:sp>
        <p:nvSpPr>
          <p:cNvPr id="29" name="Text 24"/>
          <p:cNvSpPr txBox="1"/>
          <p:nvPr/>
        </p:nvSpPr>
        <p:spPr>
          <a:xfrm>
            <a:off x="7132320" y="4261104"/>
            <a:ext cx="4526280" cy="4114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Proposée au client, qui accepte ou refuse.</a:t>
            </a:r>
            <a:endParaRPr lang="en-US" sz="1400" dirty="0"/>
          </a:p>
        </p:txBody>
      </p:sp>
      <p:sp>
        <p:nvSpPr>
          <p:cNvPr id="30" name="Shape 25"/>
          <p:cNvSpPr/>
          <p:nvPr/>
        </p:nvSpPr>
        <p:spPr>
          <a:xfrm>
            <a:off x="6446520" y="4791456"/>
            <a:ext cx="493776" cy="493776"/>
          </a:xfrm>
          <a:prstGeom prst="ellipse">
            <a:avLst/>
          </a:prstGeom>
          <a:solidFill>
            <a:srgbClr val="B45309"/>
          </a:solidFill>
          <a:ln w="12700">
            <a:solidFill>
              <a:srgbClr val="B45309"/>
            </a:solidFill>
            <a:prstDash val="solid"/>
          </a:ln>
        </p:spPr>
        <p:txBody>
          <a:bodyPr/>
          <a:lstStyle/>
          <a:p>
            <a:endParaRPr lang="fr-FR"/>
          </a:p>
        </p:txBody>
      </p:sp>
      <p:pic>
        <p:nvPicPr>
          <p:cNvPr id="31" name="Image 3" descr="preencoded.png"/>
          <p:cNvPicPr>
            <a:picLocks noChangeAspect="1"/>
          </p:cNvPicPr>
          <p:nvPr/>
        </p:nvPicPr>
        <p:blipFill>
          <a:blip r:embed="rId6"/>
          <a:stretch>
            <a:fillRect/>
          </a:stretch>
        </p:blipFill>
        <p:spPr>
          <a:xfrm>
            <a:off x="6569964" y="4914900"/>
            <a:ext cx="246888" cy="246888"/>
          </a:xfrm>
          <a:prstGeom prst="rect">
            <a:avLst/>
          </a:prstGeom>
        </p:spPr>
      </p:pic>
      <p:sp>
        <p:nvSpPr>
          <p:cNvPr id="32" name="Text 26"/>
          <p:cNvSpPr txBox="1"/>
          <p:nvPr/>
        </p:nvSpPr>
        <p:spPr>
          <a:xfrm>
            <a:off x="7132320" y="4754880"/>
            <a:ext cx="4526280" cy="301752"/>
          </a:xfrm>
          <a:prstGeom prst="rect">
            <a:avLst/>
          </a:prstGeom>
          <a:noFill/>
          <a:ln/>
        </p:spPr>
        <p:txBody>
          <a:bodyPr wrap="square" lIns="0" tIns="0" rIns="0" bIns="0" rtlCol="0" anchor="t"/>
          <a:lstStyle/>
          <a:p>
            <a:pPr marL="0" indent="0">
              <a:buNone/>
            </a:pPr>
            <a:r>
              <a:rPr lang="en-US" sz="1650" b="1" dirty="0">
                <a:solidFill>
                  <a:srgbClr val="0012B5"/>
                </a:solidFill>
                <a:latin typeface="Verdana" pitchFamily="34" charset="0"/>
                <a:ea typeface="Verdana" pitchFamily="34" charset="-122"/>
                <a:cs typeface="Verdana" pitchFamily="34" charset="-120"/>
              </a:rPr>
              <a:t>Annuler la sortie</a:t>
            </a:r>
            <a:endParaRPr lang="en-US" sz="1650" dirty="0"/>
          </a:p>
        </p:txBody>
      </p:sp>
      <p:sp>
        <p:nvSpPr>
          <p:cNvPr id="33" name="Text 27"/>
          <p:cNvSpPr txBox="1"/>
          <p:nvPr/>
        </p:nvSpPr>
        <p:spPr>
          <a:xfrm>
            <a:off x="7132320" y="5065776"/>
            <a:ext cx="4526280" cy="4114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Remboursement intégral automatique.</a:t>
            </a:r>
            <a:endParaRPr lang="en-US" sz="1400" dirty="0"/>
          </a:p>
        </p:txBody>
      </p:sp>
      <p:sp>
        <p:nvSpPr>
          <p:cNvPr id="34" name="Shape 28"/>
          <p:cNvSpPr/>
          <p:nvPr/>
        </p:nvSpPr>
        <p:spPr>
          <a:xfrm>
            <a:off x="6446520" y="5596128"/>
            <a:ext cx="493776" cy="493776"/>
          </a:xfrm>
          <a:prstGeom prst="ellipse">
            <a:avLst/>
          </a:prstGeom>
          <a:solidFill>
            <a:srgbClr val="00A7B5"/>
          </a:solidFill>
          <a:ln w="12700">
            <a:solidFill>
              <a:srgbClr val="00A7B5"/>
            </a:solidFill>
            <a:prstDash val="solid"/>
          </a:ln>
        </p:spPr>
        <p:txBody>
          <a:bodyPr/>
          <a:lstStyle/>
          <a:p>
            <a:endParaRPr lang="fr-FR"/>
          </a:p>
        </p:txBody>
      </p:sp>
      <p:pic>
        <p:nvPicPr>
          <p:cNvPr id="35" name="Image 4" descr="preencoded.png"/>
          <p:cNvPicPr>
            <a:picLocks noChangeAspect="1"/>
          </p:cNvPicPr>
          <p:nvPr/>
        </p:nvPicPr>
        <p:blipFill>
          <a:blip r:embed="rId7"/>
          <a:stretch>
            <a:fillRect/>
          </a:stretch>
        </p:blipFill>
        <p:spPr>
          <a:xfrm>
            <a:off x="6569964" y="5719572"/>
            <a:ext cx="246888" cy="246888"/>
          </a:xfrm>
          <a:prstGeom prst="rect">
            <a:avLst/>
          </a:prstGeom>
        </p:spPr>
      </p:pic>
      <p:sp>
        <p:nvSpPr>
          <p:cNvPr id="36" name="Text 29"/>
          <p:cNvSpPr txBox="1"/>
          <p:nvPr/>
        </p:nvSpPr>
        <p:spPr>
          <a:xfrm>
            <a:off x="7132320" y="5559552"/>
            <a:ext cx="4526280" cy="301752"/>
          </a:xfrm>
          <a:prstGeom prst="rect">
            <a:avLst/>
          </a:prstGeom>
          <a:noFill/>
          <a:ln/>
        </p:spPr>
        <p:txBody>
          <a:bodyPr wrap="square" lIns="0" tIns="0" rIns="0" bIns="0" rtlCol="0" anchor="t"/>
          <a:lstStyle/>
          <a:p>
            <a:pPr marL="0" indent="0">
              <a:buNone/>
            </a:pPr>
            <a:r>
              <a:rPr lang="en-US" sz="1650" b="1" dirty="0">
                <a:solidFill>
                  <a:srgbClr val="0012B5"/>
                </a:solidFill>
                <a:latin typeface="Verdana" pitchFamily="34" charset="0"/>
                <a:ea typeface="Verdana" pitchFamily="34" charset="-122"/>
                <a:cs typeface="Verdana" pitchFamily="34" charset="-120"/>
              </a:rPr>
              <a:t>Appels</a:t>
            </a:r>
            <a:endParaRPr lang="en-US" sz="1650" dirty="0"/>
          </a:p>
        </p:txBody>
      </p:sp>
      <p:sp>
        <p:nvSpPr>
          <p:cNvPr id="37" name="Text 30"/>
          <p:cNvSpPr txBox="1"/>
          <p:nvPr/>
        </p:nvSpPr>
        <p:spPr>
          <a:xfrm>
            <a:off x="7132320" y="5870448"/>
            <a:ext cx="4526280" cy="4114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 Je suis candidat » / « Non merci ».</a:t>
            </a:r>
            <a:endParaRPr lang="en-US" sz="1400" dirty="0"/>
          </a:p>
        </p:txBody>
      </p:sp>
      <p:sp>
        <p:nvSpPr>
          <p:cNvPr id="38" name="Text 31"/>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24</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LE PÊCHEUR · SON ESPACE</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Son espace pêcheur, rubrique par rubrique</a:t>
            </a:r>
            <a:endParaRPr lang="en-US" sz="2500" dirty="0"/>
          </a:p>
        </p:txBody>
      </p:sp>
      <p:sp>
        <p:nvSpPr>
          <p:cNvPr id="4" name="Shape 2"/>
          <p:cNvSpPr/>
          <p:nvPr/>
        </p:nvSpPr>
        <p:spPr>
          <a:xfrm>
            <a:off x="534901" y="1307592"/>
            <a:ext cx="2404917" cy="5157216"/>
          </a:xfrm>
          <a:prstGeom prst="roundRect">
            <a:avLst>
              <a:gd name="adj" fmla="val 4563"/>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ep_menu.png"/>
          <p:cNvPicPr>
            <a:picLocks noChangeAspect="1"/>
          </p:cNvPicPr>
          <p:nvPr/>
        </p:nvPicPr>
        <p:blipFill>
          <a:blip r:embed="rId3"/>
          <a:stretch>
            <a:fillRect/>
          </a:stretch>
        </p:blipFill>
        <p:spPr>
          <a:xfrm>
            <a:off x="598909" y="1371600"/>
            <a:ext cx="2276901" cy="5029200"/>
          </a:xfrm>
          <a:prstGeom prst="rect">
            <a:avLst/>
          </a:prstGeom>
        </p:spPr>
      </p:pic>
      <p:sp>
        <p:nvSpPr>
          <p:cNvPr id="6" name="Shape 3"/>
          <p:cNvSpPr/>
          <p:nvPr/>
        </p:nvSpPr>
        <p:spPr>
          <a:xfrm>
            <a:off x="3291840" y="1371600"/>
            <a:ext cx="4087368" cy="1152144"/>
          </a:xfrm>
          <a:prstGeom prst="roundRect">
            <a:avLst>
              <a:gd name="adj" fmla="val 15873"/>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7" name="Shape 4"/>
          <p:cNvSpPr/>
          <p:nvPr/>
        </p:nvSpPr>
        <p:spPr>
          <a:xfrm>
            <a:off x="3456432" y="1554480"/>
            <a:ext cx="457200" cy="457200"/>
          </a:xfrm>
          <a:prstGeom prst="ellipse">
            <a:avLst/>
          </a:prstGeom>
          <a:solidFill>
            <a:srgbClr val="0012B5"/>
          </a:solidFill>
          <a:ln w="12700">
            <a:solidFill>
              <a:srgbClr val="0012B5"/>
            </a:solidFill>
            <a:prstDash val="solid"/>
          </a:ln>
        </p:spPr>
        <p:txBody>
          <a:bodyPr/>
          <a:lstStyle/>
          <a:p>
            <a:endParaRPr lang="fr-FR"/>
          </a:p>
        </p:txBody>
      </p:sp>
      <p:pic>
        <p:nvPicPr>
          <p:cNvPr id="8" name="Image 1" descr="preencoded.png"/>
          <p:cNvPicPr>
            <a:picLocks noChangeAspect="1"/>
          </p:cNvPicPr>
          <p:nvPr/>
        </p:nvPicPr>
        <p:blipFill>
          <a:blip r:embed="rId4"/>
          <a:stretch>
            <a:fillRect/>
          </a:stretch>
        </p:blipFill>
        <p:spPr>
          <a:xfrm>
            <a:off x="3570732" y="1668780"/>
            <a:ext cx="228600" cy="228600"/>
          </a:xfrm>
          <a:prstGeom prst="rect">
            <a:avLst/>
          </a:prstGeom>
        </p:spPr>
      </p:pic>
      <p:sp>
        <p:nvSpPr>
          <p:cNvPr id="9" name="Text 5"/>
          <p:cNvSpPr txBox="1"/>
          <p:nvPr/>
        </p:nvSpPr>
        <p:spPr>
          <a:xfrm>
            <a:off x="4041648" y="1481328"/>
            <a:ext cx="3246120" cy="310896"/>
          </a:xfrm>
          <a:prstGeom prst="rect">
            <a:avLst/>
          </a:prstGeom>
          <a:noFill/>
          <a:ln/>
        </p:spPr>
        <p:txBody>
          <a:bodyPr wrap="square" lIns="0" tIns="0" rIns="0" bIns="0" rtlCol="0" anchor="ctr"/>
          <a:lstStyle/>
          <a:p>
            <a:pPr marL="0" indent="0">
              <a:buNone/>
            </a:pPr>
            <a:r>
              <a:rPr lang="en-US" sz="1400" b="1" dirty="0">
                <a:solidFill>
                  <a:srgbClr val="0012B5"/>
                </a:solidFill>
                <a:latin typeface="Verdana" pitchFamily="34" charset="0"/>
                <a:ea typeface="Verdana" pitchFamily="34" charset="-122"/>
                <a:cs typeface="Verdana" pitchFamily="34" charset="-120"/>
              </a:rPr>
              <a:t>Mon navire</a:t>
            </a:r>
            <a:endParaRPr lang="en-US" sz="1400" dirty="0"/>
          </a:p>
        </p:txBody>
      </p:sp>
      <p:sp>
        <p:nvSpPr>
          <p:cNvPr id="10" name="Text 6"/>
          <p:cNvSpPr txBox="1"/>
          <p:nvPr/>
        </p:nvSpPr>
        <p:spPr>
          <a:xfrm>
            <a:off x="4041648" y="1801368"/>
            <a:ext cx="3246120" cy="685800"/>
          </a:xfrm>
          <a:prstGeom prst="rect">
            <a:avLst/>
          </a:prstGeom>
          <a:noFill/>
          <a:ln/>
        </p:spPr>
        <p:txBody>
          <a:bodyPr wrap="square" lIns="0" tIns="0" rIns="0" bIns="0" rtlCol="0" anchor="t"/>
          <a:lstStyle/>
          <a:p>
            <a:pPr marL="0" indent="0">
              <a:buNone/>
            </a:pPr>
            <a:r>
              <a:rPr lang="en-US" sz="1050" dirty="0">
                <a:solidFill>
                  <a:srgbClr val="3A4658"/>
                </a:solidFill>
                <a:latin typeface="Verdana" pitchFamily="34" charset="0"/>
                <a:ea typeface="Verdana" pitchFamily="34" charset="-122"/>
                <a:cs typeface="Verdana" pitchFamily="34" charset="-120"/>
              </a:rPr>
              <a:t>Fiche du navire, photo du patron et du bateau, état des documents (RIB, permis de navigation et sa date d’expiration).</a:t>
            </a:r>
            <a:endParaRPr lang="en-US" sz="1050" dirty="0"/>
          </a:p>
        </p:txBody>
      </p:sp>
      <p:sp>
        <p:nvSpPr>
          <p:cNvPr id="11" name="Shape 7"/>
          <p:cNvSpPr/>
          <p:nvPr/>
        </p:nvSpPr>
        <p:spPr>
          <a:xfrm>
            <a:off x="7516368" y="1371600"/>
            <a:ext cx="4087368" cy="1152144"/>
          </a:xfrm>
          <a:prstGeom prst="roundRect">
            <a:avLst>
              <a:gd name="adj" fmla="val 15873"/>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2" name="Shape 8"/>
          <p:cNvSpPr/>
          <p:nvPr/>
        </p:nvSpPr>
        <p:spPr>
          <a:xfrm>
            <a:off x="7680960" y="1554480"/>
            <a:ext cx="457200" cy="457200"/>
          </a:xfrm>
          <a:prstGeom prst="ellipse">
            <a:avLst/>
          </a:prstGeom>
          <a:solidFill>
            <a:srgbClr val="B45309"/>
          </a:solidFill>
          <a:ln w="12700">
            <a:solidFill>
              <a:srgbClr val="B45309"/>
            </a:solidFill>
            <a:prstDash val="solid"/>
          </a:ln>
        </p:spPr>
        <p:txBody>
          <a:bodyPr/>
          <a:lstStyle/>
          <a:p>
            <a:endParaRPr lang="fr-FR"/>
          </a:p>
        </p:txBody>
      </p:sp>
      <p:pic>
        <p:nvPicPr>
          <p:cNvPr id="13" name="Image 2" descr="preencoded.png"/>
          <p:cNvPicPr>
            <a:picLocks noChangeAspect="1"/>
          </p:cNvPicPr>
          <p:nvPr/>
        </p:nvPicPr>
        <p:blipFill>
          <a:blip r:embed="rId5"/>
          <a:stretch>
            <a:fillRect/>
          </a:stretch>
        </p:blipFill>
        <p:spPr>
          <a:xfrm>
            <a:off x="7795260" y="1668780"/>
            <a:ext cx="228600" cy="228600"/>
          </a:xfrm>
          <a:prstGeom prst="rect">
            <a:avLst/>
          </a:prstGeom>
        </p:spPr>
      </p:pic>
      <p:sp>
        <p:nvSpPr>
          <p:cNvPr id="14" name="Text 9"/>
          <p:cNvSpPr txBox="1"/>
          <p:nvPr/>
        </p:nvSpPr>
        <p:spPr>
          <a:xfrm>
            <a:off x="8266176" y="1481328"/>
            <a:ext cx="3246120" cy="310896"/>
          </a:xfrm>
          <a:prstGeom prst="rect">
            <a:avLst/>
          </a:prstGeom>
          <a:noFill/>
          <a:ln/>
        </p:spPr>
        <p:txBody>
          <a:bodyPr wrap="square" lIns="0" tIns="0" rIns="0" bIns="0" rtlCol="0" anchor="ctr"/>
          <a:lstStyle/>
          <a:p>
            <a:pPr marL="0" indent="0">
              <a:buNone/>
            </a:pPr>
            <a:r>
              <a:rPr lang="en-US" sz="1400" b="1" dirty="0">
                <a:solidFill>
                  <a:srgbClr val="0012B5"/>
                </a:solidFill>
                <a:latin typeface="Verdana" pitchFamily="34" charset="0"/>
                <a:ea typeface="Verdana" pitchFamily="34" charset="-122"/>
                <a:cs typeface="Verdana" pitchFamily="34" charset="-120"/>
              </a:rPr>
              <a:t>Mes offres</a:t>
            </a:r>
            <a:endParaRPr lang="en-US" sz="1400" dirty="0"/>
          </a:p>
        </p:txBody>
      </p:sp>
      <p:sp>
        <p:nvSpPr>
          <p:cNvPr id="15" name="Text 10"/>
          <p:cNvSpPr txBox="1"/>
          <p:nvPr/>
        </p:nvSpPr>
        <p:spPr>
          <a:xfrm>
            <a:off x="8266176" y="1801368"/>
            <a:ext cx="3246120" cy="685800"/>
          </a:xfrm>
          <a:prstGeom prst="rect">
            <a:avLst/>
          </a:prstGeom>
          <a:noFill/>
          <a:ln/>
        </p:spPr>
        <p:txBody>
          <a:bodyPr wrap="square" lIns="0" tIns="0" rIns="0" bIns="0" rtlCol="0" anchor="t"/>
          <a:lstStyle/>
          <a:p>
            <a:pPr marL="0" indent="0">
              <a:buNone/>
            </a:pPr>
            <a:r>
              <a:rPr lang="en-US" sz="1050" dirty="0">
                <a:solidFill>
                  <a:srgbClr val="3A4658"/>
                </a:solidFill>
                <a:latin typeface="Verdana" pitchFamily="34" charset="0"/>
                <a:ea typeface="Verdana" pitchFamily="34" charset="-122"/>
                <a:cs typeface="Verdana" pitchFamily="34" charset="-120"/>
              </a:rPr>
              <a:t>Pesca-tourisme, scientifique, participative, autonome : prix, jours, saison, horaires, ports. Volontariat « appui à l’État en mer ».</a:t>
            </a:r>
            <a:endParaRPr lang="en-US" sz="1050" dirty="0"/>
          </a:p>
        </p:txBody>
      </p:sp>
      <p:sp>
        <p:nvSpPr>
          <p:cNvPr id="16" name="Shape 11"/>
          <p:cNvSpPr/>
          <p:nvPr/>
        </p:nvSpPr>
        <p:spPr>
          <a:xfrm>
            <a:off x="3291840" y="2651760"/>
            <a:ext cx="4087368" cy="1152144"/>
          </a:xfrm>
          <a:prstGeom prst="roundRect">
            <a:avLst>
              <a:gd name="adj" fmla="val 15873"/>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7" name="Shape 12"/>
          <p:cNvSpPr/>
          <p:nvPr/>
        </p:nvSpPr>
        <p:spPr>
          <a:xfrm>
            <a:off x="3456432" y="2834640"/>
            <a:ext cx="457200" cy="457200"/>
          </a:xfrm>
          <a:prstGeom prst="ellipse">
            <a:avLst/>
          </a:prstGeom>
          <a:solidFill>
            <a:srgbClr val="1F5BD6"/>
          </a:solidFill>
          <a:ln w="12700">
            <a:solidFill>
              <a:srgbClr val="1F5BD6"/>
            </a:solidFill>
            <a:prstDash val="solid"/>
          </a:ln>
        </p:spPr>
        <p:txBody>
          <a:bodyPr/>
          <a:lstStyle/>
          <a:p>
            <a:endParaRPr lang="fr-FR"/>
          </a:p>
        </p:txBody>
      </p:sp>
      <p:pic>
        <p:nvPicPr>
          <p:cNvPr id="18" name="Image 3" descr="preencoded.png"/>
          <p:cNvPicPr>
            <a:picLocks noChangeAspect="1"/>
          </p:cNvPicPr>
          <p:nvPr/>
        </p:nvPicPr>
        <p:blipFill>
          <a:blip r:embed="rId6"/>
          <a:stretch>
            <a:fillRect/>
          </a:stretch>
        </p:blipFill>
        <p:spPr>
          <a:xfrm>
            <a:off x="3570732" y="2948940"/>
            <a:ext cx="228600" cy="228600"/>
          </a:xfrm>
          <a:prstGeom prst="rect">
            <a:avLst/>
          </a:prstGeom>
        </p:spPr>
      </p:pic>
      <p:sp>
        <p:nvSpPr>
          <p:cNvPr id="19" name="Text 13"/>
          <p:cNvSpPr txBox="1"/>
          <p:nvPr/>
        </p:nvSpPr>
        <p:spPr>
          <a:xfrm>
            <a:off x="4041648" y="2761488"/>
            <a:ext cx="3246120" cy="310896"/>
          </a:xfrm>
          <a:prstGeom prst="rect">
            <a:avLst/>
          </a:prstGeom>
          <a:noFill/>
          <a:ln/>
        </p:spPr>
        <p:txBody>
          <a:bodyPr wrap="square" lIns="0" tIns="0" rIns="0" bIns="0" rtlCol="0" anchor="ctr"/>
          <a:lstStyle/>
          <a:p>
            <a:pPr marL="0" indent="0">
              <a:buNone/>
            </a:pPr>
            <a:r>
              <a:rPr lang="en-US" sz="1400" b="1" dirty="0">
                <a:solidFill>
                  <a:srgbClr val="0012B5"/>
                </a:solidFill>
                <a:latin typeface="Verdana" pitchFamily="34" charset="0"/>
                <a:ea typeface="Verdana" pitchFamily="34" charset="-122"/>
                <a:cs typeface="Verdana" pitchFamily="34" charset="-120"/>
              </a:rPr>
              <a:t>Mes demandes &amp; mon activité</a:t>
            </a:r>
            <a:endParaRPr lang="en-US" sz="1400" dirty="0"/>
          </a:p>
        </p:txBody>
      </p:sp>
      <p:sp>
        <p:nvSpPr>
          <p:cNvPr id="20" name="Text 14"/>
          <p:cNvSpPr txBox="1"/>
          <p:nvPr/>
        </p:nvSpPr>
        <p:spPr>
          <a:xfrm>
            <a:off x="4041648" y="3081528"/>
            <a:ext cx="3246120" cy="685800"/>
          </a:xfrm>
          <a:prstGeom prst="rect">
            <a:avLst/>
          </a:prstGeom>
          <a:noFill/>
          <a:ln/>
        </p:spPr>
        <p:txBody>
          <a:bodyPr wrap="square" lIns="0" tIns="0" rIns="0" bIns="0" rtlCol="0" anchor="t"/>
          <a:lstStyle/>
          <a:p>
            <a:pPr marL="0" indent="0">
              <a:buNone/>
            </a:pPr>
            <a:r>
              <a:rPr lang="en-US" sz="1050" dirty="0">
                <a:solidFill>
                  <a:srgbClr val="3A4658"/>
                </a:solidFill>
                <a:latin typeface="Verdana" pitchFamily="34" charset="0"/>
                <a:ea typeface="Verdana" pitchFamily="34" charset="-122"/>
                <a:cs typeface="Verdana" pitchFamily="34" charset="-120"/>
              </a:rPr>
              <a:t>Demandes à traiter, à venir, passées ; appels à candidature ; statistiques ; contacter Mare Durabilis.</a:t>
            </a:r>
            <a:endParaRPr lang="en-US" sz="1050" dirty="0"/>
          </a:p>
        </p:txBody>
      </p:sp>
      <p:sp>
        <p:nvSpPr>
          <p:cNvPr id="21" name="Shape 15"/>
          <p:cNvSpPr/>
          <p:nvPr/>
        </p:nvSpPr>
        <p:spPr>
          <a:xfrm>
            <a:off x="7516368" y="2651760"/>
            <a:ext cx="4087368" cy="1152144"/>
          </a:xfrm>
          <a:prstGeom prst="roundRect">
            <a:avLst>
              <a:gd name="adj" fmla="val 15873"/>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2" name="Shape 16"/>
          <p:cNvSpPr/>
          <p:nvPr/>
        </p:nvSpPr>
        <p:spPr>
          <a:xfrm>
            <a:off x="7680960" y="2834640"/>
            <a:ext cx="457200" cy="457200"/>
          </a:xfrm>
          <a:prstGeom prst="ellipse">
            <a:avLst/>
          </a:prstGeom>
          <a:solidFill>
            <a:srgbClr val="00A7B5"/>
          </a:solidFill>
          <a:ln w="12700">
            <a:solidFill>
              <a:srgbClr val="00A7B5"/>
            </a:solidFill>
            <a:prstDash val="solid"/>
          </a:ln>
        </p:spPr>
        <p:txBody>
          <a:bodyPr/>
          <a:lstStyle/>
          <a:p>
            <a:endParaRPr lang="fr-FR"/>
          </a:p>
        </p:txBody>
      </p:sp>
      <p:pic>
        <p:nvPicPr>
          <p:cNvPr id="23" name="Image 4" descr="preencoded.png"/>
          <p:cNvPicPr>
            <a:picLocks noChangeAspect="1"/>
          </p:cNvPicPr>
          <p:nvPr/>
        </p:nvPicPr>
        <p:blipFill>
          <a:blip r:embed="rId7"/>
          <a:stretch>
            <a:fillRect/>
          </a:stretch>
        </p:blipFill>
        <p:spPr>
          <a:xfrm>
            <a:off x="7795260" y="2948940"/>
            <a:ext cx="228600" cy="228600"/>
          </a:xfrm>
          <a:prstGeom prst="rect">
            <a:avLst/>
          </a:prstGeom>
        </p:spPr>
      </p:pic>
      <p:sp>
        <p:nvSpPr>
          <p:cNvPr id="24" name="Text 17"/>
          <p:cNvSpPr txBox="1"/>
          <p:nvPr/>
        </p:nvSpPr>
        <p:spPr>
          <a:xfrm>
            <a:off x="8266176" y="2761488"/>
            <a:ext cx="3246120" cy="310896"/>
          </a:xfrm>
          <a:prstGeom prst="rect">
            <a:avLst/>
          </a:prstGeom>
          <a:noFill/>
          <a:ln/>
        </p:spPr>
        <p:txBody>
          <a:bodyPr wrap="square" lIns="0" tIns="0" rIns="0" bIns="0" rtlCol="0" anchor="ctr"/>
          <a:lstStyle/>
          <a:p>
            <a:pPr marL="0" indent="0">
              <a:buNone/>
            </a:pPr>
            <a:r>
              <a:rPr lang="en-US" sz="1400" b="1" dirty="0">
                <a:solidFill>
                  <a:srgbClr val="0012B5"/>
                </a:solidFill>
                <a:latin typeface="Verdana" pitchFamily="34" charset="0"/>
                <a:ea typeface="Verdana" pitchFamily="34" charset="-122"/>
                <a:cs typeface="Verdana" pitchFamily="34" charset="-120"/>
              </a:rPr>
              <a:t>Mon calendrier global</a:t>
            </a:r>
            <a:endParaRPr lang="en-US" sz="1400" dirty="0"/>
          </a:p>
        </p:txBody>
      </p:sp>
      <p:sp>
        <p:nvSpPr>
          <p:cNvPr id="25" name="Text 18"/>
          <p:cNvSpPr txBox="1"/>
          <p:nvPr/>
        </p:nvSpPr>
        <p:spPr>
          <a:xfrm>
            <a:off x="8266176" y="3081528"/>
            <a:ext cx="3246120" cy="685800"/>
          </a:xfrm>
          <a:prstGeom prst="rect">
            <a:avLst/>
          </a:prstGeom>
          <a:noFill/>
          <a:ln/>
        </p:spPr>
        <p:txBody>
          <a:bodyPr wrap="square" lIns="0" tIns="0" rIns="0" bIns="0" rtlCol="0" anchor="t"/>
          <a:lstStyle/>
          <a:p>
            <a:pPr marL="0" indent="0">
              <a:buNone/>
            </a:pPr>
            <a:r>
              <a:rPr lang="en-US" sz="1050" dirty="0">
                <a:solidFill>
                  <a:srgbClr val="3A4658"/>
                </a:solidFill>
                <a:latin typeface="Verdana" pitchFamily="34" charset="0"/>
                <a:ea typeface="Verdana" pitchFamily="34" charset="-122"/>
                <a:cs typeface="Verdana" pitchFamily="34" charset="-120"/>
              </a:rPr>
              <a:t>Toutes ses sorties sur un calendrier, et les jours qu’il bloque hors plateforme.</a:t>
            </a:r>
            <a:endParaRPr lang="en-US" sz="1050" dirty="0"/>
          </a:p>
        </p:txBody>
      </p:sp>
      <p:sp>
        <p:nvSpPr>
          <p:cNvPr id="26" name="Shape 19"/>
          <p:cNvSpPr/>
          <p:nvPr/>
        </p:nvSpPr>
        <p:spPr>
          <a:xfrm>
            <a:off x="3291840" y="3931920"/>
            <a:ext cx="4087368" cy="1152144"/>
          </a:xfrm>
          <a:prstGeom prst="roundRect">
            <a:avLst>
              <a:gd name="adj" fmla="val 15873"/>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7" name="Shape 20"/>
          <p:cNvSpPr/>
          <p:nvPr/>
        </p:nvSpPr>
        <p:spPr>
          <a:xfrm>
            <a:off x="3456432" y="4114800"/>
            <a:ext cx="457200" cy="457200"/>
          </a:xfrm>
          <a:prstGeom prst="ellipse">
            <a:avLst/>
          </a:prstGeom>
          <a:solidFill>
            <a:srgbClr val="0E9F6E"/>
          </a:solidFill>
          <a:ln w="12700">
            <a:solidFill>
              <a:srgbClr val="0E9F6E"/>
            </a:solidFill>
            <a:prstDash val="solid"/>
          </a:ln>
        </p:spPr>
        <p:txBody>
          <a:bodyPr/>
          <a:lstStyle/>
          <a:p>
            <a:endParaRPr lang="fr-FR"/>
          </a:p>
        </p:txBody>
      </p:sp>
      <p:pic>
        <p:nvPicPr>
          <p:cNvPr id="28" name="Image 5" descr="preencoded.png"/>
          <p:cNvPicPr>
            <a:picLocks noChangeAspect="1"/>
          </p:cNvPicPr>
          <p:nvPr/>
        </p:nvPicPr>
        <p:blipFill>
          <a:blip r:embed="rId8"/>
          <a:stretch>
            <a:fillRect/>
          </a:stretch>
        </p:blipFill>
        <p:spPr>
          <a:xfrm>
            <a:off x="3570732" y="4229100"/>
            <a:ext cx="228600" cy="228600"/>
          </a:xfrm>
          <a:prstGeom prst="rect">
            <a:avLst/>
          </a:prstGeom>
        </p:spPr>
      </p:pic>
      <p:sp>
        <p:nvSpPr>
          <p:cNvPr id="29" name="Text 21"/>
          <p:cNvSpPr txBox="1"/>
          <p:nvPr/>
        </p:nvSpPr>
        <p:spPr>
          <a:xfrm>
            <a:off x="4041648" y="4041648"/>
            <a:ext cx="3246120" cy="310896"/>
          </a:xfrm>
          <a:prstGeom prst="rect">
            <a:avLst/>
          </a:prstGeom>
          <a:noFill/>
          <a:ln/>
        </p:spPr>
        <p:txBody>
          <a:bodyPr wrap="square" lIns="0" tIns="0" rIns="0" bIns="0" rtlCol="0" anchor="ctr"/>
          <a:lstStyle/>
          <a:p>
            <a:pPr marL="0" indent="0">
              <a:buNone/>
            </a:pPr>
            <a:r>
              <a:rPr lang="en-US" sz="1400" b="1" dirty="0">
                <a:solidFill>
                  <a:srgbClr val="0012B5"/>
                </a:solidFill>
                <a:latin typeface="Verdana" pitchFamily="34" charset="0"/>
                <a:ea typeface="Verdana" pitchFamily="34" charset="-122"/>
                <a:cs typeface="Verdana" pitchFamily="34" charset="-120"/>
              </a:rPr>
              <a:t>Déclarer une sortie</a:t>
            </a:r>
            <a:endParaRPr lang="en-US" sz="1400" dirty="0"/>
          </a:p>
        </p:txBody>
      </p:sp>
      <p:sp>
        <p:nvSpPr>
          <p:cNvPr id="30" name="Text 22"/>
          <p:cNvSpPr txBox="1"/>
          <p:nvPr/>
        </p:nvSpPr>
        <p:spPr>
          <a:xfrm>
            <a:off x="4041648" y="4361688"/>
            <a:ext cx="3246120" cy="685800"/>
          </a:xfrm>
          <a:prstGeom prst="rect">
            <a:avLst/>
          </a:prstGeom>
          <a:noFill/>
          <a:ln/>
        </p:spPr>
        <p:txBody>
          <a:bodyPr wrap="square" lIns="0" tIns="0" rIns="0" bIns="0" rtlCol="0" anchor="t"/>
          <a:lstStyle/>
          <a:p>
            <a:pPr marL="0" indent="0">
              <a:buNone/>
            </a:pPr>
            <a:r>
              <a:rPr lang="en-US" sz="1050" dirty="0">
                <a:solidFill>
                  <a:srgbClr val="3A4658"/>
                </a:solidFill>
                <a:latin typeface="Verdana" pitchFamily="34" charset="0"/>
                <a:ea typeface="Verdana" pitchFamily="34" charset="-122"/>
                <a:cs typeface="Verdana" pitchFamily="34" charset="-120"/>
              </a:rPr>
              <a:t>Au CROSS et à la SNSM, en une minute (quatrième partie).</a:t>
            </a:r>
            <a:endParaRPr lang="en-US" sz="1050" dirty="0"/>
          </a:p>
        </p:txBody>
      </p:sp>
      <p:sp>
        <p:nvSpPr>
          <p:cNvPr id="31" name="Shape 23"/>
          <p:cNvSpPr/>
          <p:nvPr/>
        </p:nvSpPr>
        <p:spPr>
          <a:xfrm>
            <a:off x="7516368" y="3931920"/>
            <a:ext cx="4087368" cy="1152144"/>
          </a:xfrm>
          <a:prstGeom prst="roundRect">
            <a:avLst>
              <a:gd name="adj" fmla="val 15873"/>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32" name="Shape 24"/>
          <p:cNvSpPr/>
          <p:nvPr/>
        </p:nvSpPr>
        <p:spPr>
          <a:xfrm>
            <a:off x="7680960" y="4114800"/>
            <a:ext cx="457200" cy="457200"/>
          </a:xfrm>
          <a:prstGeom prst="ellipse">
            <a:avLst/>
          </a:prstGeom>
          <a:solidFill>
            <a:srgbClr val="0074B5"/>
          </a:solidFill>
          <a:ln w="12700">
            <a:solidFill>
              <a:srgbClr val="0074B5"/>
            </a:solidFill>
            <a:prstDash val="solid"/>
          </a:ln>
        </p:spPr>
        <p:txBody>
          <a:bodyPr/>
          <a:lstStyle/>
          <a:p>
            <a:endParaRPr lang="fr-FR"/>
          </a:p>
        </p:txBody>
      </p:sp>
      <p:pic>
        <p:nvPicPr>
          <p:cNvPr id="33" name="Image 6" descr="preencoded.png"/>
          <p:cNvPicPr>
            <a:picLocks noChangeAspect="1"/>
          </p:cNvPicPr>
          <p:nvPr/>
        </p:nvPicPr>
        <p:blipFill>
          <a:blip r:embed="rId9"/>
          <a:stretch>
            <a:fillRect/>
          </a:stretch>
        </p:blipFill>
        <p:spPr>
          <a:xfrm>
            <a:off x="7795260" y="4229100"/>
            <a:ext cx="228600" cy="228600"/>
          </a:xfrm>
          <a:prstGeom prst="rect">
            <a:avLst/>
          </a:prstGeom>
        </p:spPr>
      </p:pic>
      <p:sp>
        <p:nvSpPr>
          <p:cNvPr id="34" name="Text 25"/>
          <p:cNvSpPr txBox="1"/>
          <p:nvPr/>
        </p:nvSpPr>
        <p:spPr>
          <a:xfrm>
            <a:off x="8266176" y="4041648"/>
            <a:ext cx="3246120" cy="310896"/>
          </a:xfrm>
          <a:prstGeom prst="rect">
            <a:avLst/>
          </a:prstGeom>
          <a:noFill/>
          <a:ln/>
        </p:spPr>
        <p:txBody>
          <a:bodyPr wrap="square" lIns="0" tIns="0" rIns="0" bIns="0" rtlCol="0" anchor="ctr"/>
          <a:lstStyle/>
          <a:p>
            <a:pPr marL="0" indent="0">
              <a:buNone/>
            </a:pPr>
            <a:r>
              <a:rPr lang="en-US" sz="1400" b="1" dirty="0">
                <a:solidFill>
                  <a:srgbClr val="0012B5"/>
                </a:solidFill>
                <a:latin typeface="Verdana" pitchFamily="34" charset="0"/>
                <a:ea typeface="Verdana" pitchFamily="34" charset="-122"/>
                <a:cs typeface="Verdana" pitchFamily="34" charset="-120"/>
              </a:rPr>
              <a:t>Mon assurance</a:t>
            </a:r>
            <a:endParaRPr lang="en-US" sz="1400" dirty="0"/>
          </a:p>
        </p:txBody>
      </p:sp>
      <p:sp>
        <p:nvSpPr>
          <p:cNvPr id="35" name="Text 26"/>
          <p:cNvSpPr txBox="1"/>
          <p:nvPr/>
        </p:nvSpPr>
        <p:spPr>
          <a:xfrm>
            <a:off x="8266176" y="4361688"/>
            <a:ext cx="3246120" cy="685800"/>
          </a:xfrm>
          <a:prstGeom prst="rect">
            <a:avLst/>
          </a:prstGeom>
          <a:noFill/>
          <a:ln/>
        </p:spPr>
        <p:txBody>
          <a:bodyPr wrap="square" lIns="0" tIns="0" rIns="0" bIns="0" rtlCol="0" anchor="t"/>
          <a:lstStyle/>
          <a:p>
            <a:pPr marL="0" indent="0">
              <a:buNone/>
            </a:pPr>
            <a:r>
              <a:rPr lang="en-US" sz="1050" dirty="0">
                <a:solidFill>
                  <a:srgbClr val="3A4658"/>
                </a:solidFill>
                <a:latin typeface="Verdana" pitchFamily="34" charset="0"/>
                <a:ea typeface="Verdana" pitchFamily="34" charset="-122"/>
                <a:cs typeface="Verdana" pitchFamily="34" charset="-120"/>
              </a:rPr>
              <a:t>L’attestation, déposée une fois. Coche verte quand elle est en place.</a:t>
            </a:r>
            <a:endParaRPr lang="en-US" sz="1050" dirty="0"/>
          </a:p>
        </p:txBody>
      </p:sp>
      <p:sp>
        <p:nvSpPr>
          <p:cNvPr id="36" name="Shape 27"/>
          <p:cNvSpPr/>
          <p:nvPr/>
        </p:nvSpPr>
        <p:spPr>
          <a:xfrm>
            <a:off x="3291840" y="5212080"/>
            <a:ext cx="4087368" cy="1152144"/>
          </a:xfrm>
          <a:prstGeom prst="roundRect">
            <a:avLst>
              <a:gd name="adj" fmla="val 15873"/>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37" name="Shape 28"/>
          <p:cNvSpPr/>
          <p:nvPr/>
        </p:nvSpPr>
        <p:spPr>
          <a:xfrm>
            <a:off x="3456432" y="5394960"/>
            <a:ext cx="457200" cy="457200"/>
          </a:xfrm>
          <a:prstGeom prst="ellipse">
            <a:avLst/>
          </a:prstGeom>
          <a:solidFill>
            <a:srgbClr val="B45309"/>
          </a:solidFill>
          <a:ln w="12700">
            <a:solidFill>
              <a:srgbClr val="B45309"/>
            </a:solidFill>
            <a:prstDash val="solid"/>
          </a:ln>
        </p:spPr>
        <p:txBody>
          <a:bodyPr/>
          <a:lstStyle/>
          <a:p>
            <a:endParaRPr lang="fr-FR"/>
          </a:p>
        </p:txBody>
      </p:sp>
      <p:pic>
        <p:nvPicPr>
          <p:cNvPr id="38" name="Image 7" descr="preencoded.png"/>
          <p:cNvPicPr>
            <a:picLocks noChangeAspect="1"/>
          </p:cNvPicPr>
          <p:nvPr/>
        </p:nvPicPr>
        <p:blipFill>
          <a:blip r:embed="rId10"/>
          <a:stretch>
            <a:fillRect/>
          </a:stretch>
        </p:blipFill>
        <p:spPr>
          <a:xfrm>
            <a:off x="3570732" y="5509260"/>
            <a:ext cx="228600" cy="228600"/>
          </a:xfrm>
          <a:prstGeom prst="rect">
            <a:avLst/>
          </a:prstGeom>
        </p:spPr>
      </p:pic>
      <p:sp>
        <p:nvSpPr>
          <p:cNvPr id="39" name="Text 29"/>
          <p:cNvSpPr txBox="1"/>
          <p:nvPr/>
        </p:nvSpPr>
        <p:spPr>
          <a:xfrm>
            <a:off x="4041648" y="5321808"/>
            <a:ext cx="3246120" cy="310896"/>
          </a:xfrm>
          <a:prstGeom prst="rect">
            <a:avLst/>
          </a:prstGeom>
          <a:noFill/>
          <a:ln/>
        </p:spPr>
        <p:txBody>
          <a:bodyPr wrap="square" lIns="0" tIns="0" rIns="0" bIns="0" rtlCol="0" anchor="ctr"/>
          <a:lstStyle/>
          <a:p>
            <a:pPr marL="0" indent="0">
              <a:buNone/>
            </a:pPr>
            <a:r>
              <a:rPr lang="en-US" sz="1400" b="1" dirty="0">
                <a:solidFill>
                  <a:srgbClr val="0012B5"/>
                </a:solidFill>
                <a:latin typeface="Verdana" pitchFamily="34" charset="0"/>
                <a:ea typeface="Verdana" pitchFamily="34" charset="-122"/>
                <a:cs typeface="Verdana" pitchFamily="34" charset="-120"/>
              </a:rPr>
              <a:t>Les notes de mon navire</a:t>
            </a:r>
            <a:endParaRPr lang="en-US" sz="1400" dirty="0"/>
          </a:p>
        </p:txBody>
      </p:sp>
      <p:sp>
        <p:nvSpPr>
          <p:cNvPr id="40" name="Text 30"/>
          <p:cNvSpPr txBox="1"/>
          <p:nvPr/>
        </p:nvSpPr>
        <p:spPr>
          <a:xfrm>
            <a:off x="4041648" y="5641848"/>
            <a:ext cx="3246120" cy="685800"/>
          </a:xfrm>
          <a:prstGeom prst="rect">
            <a:avLst/>
          </a:prstGeom>
          <a:noFill/>
          <a:ln/>
        </p:spPr>
        <p:txBody>
          <a:bodyPr wrap="square" lIns="0" tIns="0" rIns="0" bIns="0" rtlCol="0" anchor="t"/>
          <a:lstStyle/>
          <a:p>
            <a:pPr marL="0" indent="0">
              <a:buNone/>
            </a:pPr>
            <a:r>
              <a:rPr lang="en-US" sz="1050" dirty="0">
                <a:solidFill>
                  <a:srgbClr val="3A4658"/>
                </a:solidFill>
                <a:latin typeface="Verdana" pitchFamily="34" charset="0"/>
                <a:ea typeface="Verdana" pitchFamily="34" charset="-122"/>
                <a:cs typeface="Verdana" pitchFamily="34" charset="-120"/>
              </a:rPr>
              <a:t>Avis des clients et des organismes ; pastille rouge pour les nouveaux.</a:t>
            </a:r>
            <a:endParaRPr lang="en-US" sz="1050" dirty="0"/>
          </a:p>
        </p:txBody>
      </p:sp>
      <p:sp>
        <p:nvSpPr>
          <p:cNvPr id="41" name="Shape 31"/>
          <p:cNvSpPr/>
          <p:nvPr/>
        </p:nvSpPr>
        <p:spPr>
          <a:xfrm>
            <a:off x="7516368" y="5212080"/>
            <a:ext cx="4087368" cy="1152144"/>
          </a:xfrm>
          <a:prstGeom prst="roundRect">
            <a:avLst>
              <a:gd name="adj" fmla="val 15873"/>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42" name="Shape 32"/>
          <p:cNvSpPr/>
          <p:nvPr/>
        </p:nvSpPr>
        <p:spPr>
          <a:xfrm>
            <a:off x="7680960" y="5394960"/>
            <a:ext cx="457200" cy="457200"/>
          </a:xfrm>
          <a:prstGeom prst="ellipse">
            <a:avLst/>
          </a:prstGeom>
          <a:solidFill>
            <a:srgbClr val="66728A"/>
          </a:solidFill>
          <a:ln w="12700">
            <a:solidFill>
              <a:srgbClr val="66728A"/>
            </a:solidFill>
            <a:prstDash val="solid"/>
          </a:ln>
        </p:spPr>
        <p:txBody>
          <a:bodyPr/>
          <a:lstStyle/>
          <a:p>
            <a:endParaRPr lang="fr-FR"/>
          </a:p>
        </p:txBody>
      </p:sp>
      <p:pic>
        <p:nvPicPr>
          <p:cNvPr id="43" name="Image 8" descr="preencoded.png"/>
          <p:cNvPicPr>
            <a:picLocks noChangeAspect="1"/>
          </p:cNvPicPr>
          <p:nvPr/>
        </p:nvPicPr>
        <p:blipFill>
          <a:blip r:embed="rId11"/>
          <a:stretch>
            <a:fillRect/>
          </a:stretch>
        </p:blipFill>
        <p:spPr>
          <a:xfrm>
            <a:off x="7795260" y="5509260"/>
            <a:ext cx="228600" cy="228600"/>
          </a:xfrm>
          <a:prstGeom prst="rect">
            <a:avLst/>
          </a:prstGeom>
        </p:spPr>
      </p:pic>
      <p:sp>
        <p:nvSpPr>
          <p:cNvPr id="44" name="Text 33"/>
          <p:cNvSpPr txBox="1"/>
          <p:nvPr/>
        </p:nvSpPr>
        <p:spPr>
          <a:xfrm>
            <a:off x="8266176" y="5321808"/>
            <a:ext cx="3246120" cy="310896"/>
          </a:xfrm>
          <a:prstGeom prst="rect">
            <a:avLst/>
          </a:prstGeom>
          <a:noFill/>
          <a:ln/>
        </p:spPr>
        <p:txBody>
          <a:bodyPr wrap="square" lIns="0" tIns="0" rIns="0" bIns="0" rtlCol="0" anchor="ctr"/>
          <a:lstStyle/>
          <a:p>
            <a:pPr marL="0" indent="0">
              <a:buNone/>
            </a:pPr>
            <a:r>
              <a:rPr lang="en-US" sz="1400" b="1" dirty="0">
                <a:solidFill>
                  <a:srgbClr val="0012B5"/>
                </a:solidFill>
                <a:latin typeface="Verdana" pitchFamily="34" charset="0"/>
                <a:ea typeface="Verdana" pitchFamily="34" charset="-122"/>
                <a:cs typeface="Verdana" pitchFamily="34" charset="-120"/>
              </a:rPr>
              <a:t>Ajouter un navire</a:t>
            </a:r>
            <a:endParaRPr lang="en-US" sz="1400" dirty="0"/>
          </a:p>
        </p:txBody>
      </p:sp>
      <p:sp>
        <p:nvSpPr>
          <p:cNvPr id="45" name="Text 34"/>
          <p:cNvSpPr txBox="1"/>
          <p:nvPr/>
        </p:nvSpPr>
        <p:spPr>
          <a:xfrm>
            <a:off x="8266176" y="5641848"/>
            <a:ext cx="3246120" cy="685800"/>
          </a:xfrm>
          <a:prstGeom prst="rect">
            <a:avLst/>
          </a:prstGeom>
          <a:noFill/>
          <a:ln/>
        </p:spPr>
        <p:txBody>
          <a:bodyPr wrap="square" lIns="0" tIns="0" rIns="0" bIns="0" rtlCol="0" anchor="t"/>
          <a:lstStyle/>
          <a:p>
            <a:pPr marL="0" indent="0">
              <a:buNone/>
            </a:pPr>
            <a:r>
              <a:rPr lang="en-US" sz="1050" dirty="0">
                <a:solidFill>
                  <a:srgbClr val="3A4658"/>
                </a:solidFill>
                <a:latin typeface="Verdana" pitchFamily="34" charset="0"/>
                <a:ea typeface="Verdana" pitchFamily="34" charset="-122"/>
                <a:cs typeface="Verdana" pitchFamily="34" charset="-120"/>
              </a:rPr>
              <a:t>Plusieurs navires, un sélecteur : chacun a ses offres et ses demandes.</a:t>
            </a:r>
            <a:endParaRPr lang="en-US" sz="1050" dirty="0"/>
          </a:p>
        </p:txBody>
      </p:sp>
      <p:sp>
        <p:nvSpPr>
          <p:cNvPr id="46" name="Text 35"/>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25</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home/claude/deck/crop3/fdd_image74_1778_50_50_0_.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3FC4">
              <a:alpha val="54000"/>
            </a:srgbClr>
          </a:solidFill>
          <a:ln w="12700">
            <a:solidFill>
              <a:srgbClr val="0B3FC4"/>
            </a:solidFill>
            <a:prstDash val="solid"/>
          </a:ln>
        </p:spPr>
        <p:txBody>
          <a:bodyPr/>
          <a:lstStyle/>
          <a:p>
            <a:endParaRPr lang="fr-FR"/>
          </a:p>
        </p:txBody>
      </p:sp>
      <p:pic>
        <p:nvPicPr>
          <p:cNvPr id="4" name="Image 1" descr="/home/claude/deck/logo-projet-blanc.png"/>
          <p:cNvPicPr>
            <a:picLocks noChangeAspect="1"/>
          </p:cNvPicPr>
          <p:nvPr/>
        </p:nvPicPr>
        <p:blipFill>
          <a:blip r:embed="rId4"/>
          <a:stretch>
            <a:fillRect/>
          </a:stretch>
        </p:blipFill>
        <p:spPr>
          <a:xfrm>
            <a:off x="10088575" y="320040"/>
            <a:ext cx="1600200" cy="647462"/>
          </a:xfrm>
          <a:prstGeom prst="rect">
            <a:avLst/>
          </a:prstGeom>
        </p:spPr>
      </p:pic>
      <p:sp>
        <p:nvSpPr>
          <p:cNvPr id="5" name="Shape 1"/>
          <p:cNvSpPr/>
          <p:nvPr/>
        </p:nvSpPr>
        <p:spPr>
          <a:xfrm>
            <a:off x="731520" y="2377440"/>
            <a:ext cx="2377440" cy="384048"/>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6" name="Text 2"/>
          <p:cNvSpPr txBox="1"/>
          <p:nvPr/>
        </p:nvSpPr>
        <p:spPr>
          <a:xfrm>
            <a:off x="731520" y="2377440"/>
            <a:ext cx="2377440" cy="384048"/>
          </a:xfrm>
          <a:prstGeom prst="rect">
            <a:avLst/>
          </a:prstGeom>
          <a:noFill/>
          <a:ln/>
        </p:spPr>
        <p:txBody>
          <a:bodyPr wrap="square" lIns="0" tIns="0" rIns="0" bIns="0" rtlCol="0" anchor="ctr"/>
          <a:lstStyle/>
          <a:p>
            <a:pPr marL="0" indent="0" algn="ctr">
              <a:buNone/>
            </a:pPr>
            <a:r>
              <a:rPr lang="en-US" sz="1400" b="1" dirty="0">
                <a:solidFill>
                  <a:srgbClr val="0012B5"/>
                </a:solidFill>
                <a:latin typeface="Verdana" pitchFamily="34" charset="0"/>
                <a:ea typeface="Verdana" pitchFamily="34" charset="-122"/>
                <a:cs typeface="Verdana" pitchFamily="34" charset="-120"/>
              </a:rPr>
              <a:t>Quatrième partie</a:t>
            </a:r>
            <a:endParaRPr lang="en-US" sz="1400" dirty="0"/>
          </a:p>
        </p:txBody>
      </p:sp>
      <p:sp>
        <p:nvSpPr>
          <p:cNvPr id="7" name="Text 3"/>
          <p:cNvSpPr txBox="1"/>
          <p:nvPr/>
        </p:nvSpPr>
        <p:spPr>
          <a:xfrm>
            <a:off x="731520" y="2926080"/>
            <a:ext cx="10058400" cy="1371600"/>
          </a:xfrm>
          <a:prstGeom prst="rect">
            <a:avLst/>
          </a:prstGeom>
          <a:noFill/>
          <a:ln/>
        </p:spPr>
        <p:txBody>
          <a:bodyPr wrap="square" lIns="0" tIns="0" rIns="0" bIns="0" rtlCol="0" anchor="ctr"/>
          <a:lstStyle/>
          <a:p>
            <a:pPr marL="0" indent="0">
              <a:buNone/>
            </a:pPr>
            <a:r>
              <a:rPr lang="en-US" sz="3200" b="1" dirty="0">
                <a:solidFill>
                  <a:srgbClr val="FFFFFF"/>
                </a:solidFill>
                <a:latin typeface="Verdana" pitchFamily="34" charset="0"/>
                <a:ea typeface="Verdana" pitchFamily="34" charset="-122"/>
                <a:cs typeface="Verdana" pitchFamily="34" charset="-120"/>
              </a:rPr>
              <a:t>La sécurité en mer : déclarer une sortie au CROSS et à la SNSM</a:t>
            </a:r>
            <a:endParaRPr lang="en-US" sz="3200" dirty="0"/>
          </a:p>
        </p:txBody>
      </p:sp>
      <p:sp>
        <p:nvSpPr>
          <p:cNvPr id="8" name="Text 4"/>
          <p:cNvSpPr txBox="1"/>
          <p:nvPr/>
        </p:nvSpPr>
        <p:spPr>
          <a:xfrm>
            <a:off x="731520" y="4434840"/>
            <a:ext cx="10058400" cy="640080"/>
          </a:xfrm>
          <a:prstGeom prst="rect">
            <a:avLst/>
          </a:prstGeom>
          <a:noFill/>
          <a:ln/>
        </p:spPr>
        <p:txBody>
          <a:bodyPr wrap="square" lIns="0" tIns="0" rIns="0" bIns="0" rtlCol="0" anchor="t"/>
          <a:lstStyle/>
          <a:p>
            <a:pPr marL="0" indent="0">
              <a:buNone/>
            </a:pPr>
            <a:r>
              <a:rPr lang="en-US" sz="1900" dirty="0">
                <a:solidFill>
                  <a:srgbClr val="FFFFFF"/>
                </a:solidFill>
                <a:latin typeface="Verdana" pitchFamily="34" charset="0"/>
                <a:ea typeface="Verdana" pitchFamily="34" charset="-122"/>
                <a:cs typeface="Verdana" pitchFamily="34" charset="-120"/>
              </a:rPr>
              <a:t>Trois étapes, une minute. Assurance complétée et pièces d’identité jointes automatiquement.</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DÉCLARATION · ÉTAPE 1</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Assurance : le patron inscrit les personnes à bord</a:t>
            </a:r>
            <a:endParaRPr lang="en-US" sz="2300" dirty="0"/>
          </a:p>
        </p:txBody>
      </p:sp>
      <p:sp>
        <p:nvSpPr>
          <p:cNvPr id="4" name="Shape 2"/>
          <p:cNvSpPr/>
          <p:nvPr/>
        </p:nvSpPr>
        <p:spPr>
          <a:xfrm>
            <a:off x="655585" y="1307592"/>
            <a:ext cx="3626590" cy="5157216"/>
          </a:xfrm>
          <a:prstGeom prst="roundRect">
            <a:avLst>
              <a:gd name="adj" fmla="val 3026"/>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dcl1.jpg"/>
          <p:cNvPicPr>
            <a:picLocks noChangeAspect="1"/>
          </p:cNvPicPr>
          <p:nvPr/>
        </p:nvPicPr>
        <p:blipFill>
          <a:blip r:embed="rId3"/>
          <a:stretch>
            <a:fillRect/>
          </a:stretch>
        </p:blipFill>
        <p:spPr>
          <a:xfrm>
            <a:off x="719593" y="1371600"/>
            <a:ext cx="3498574" cy="5029200"/>
          </a:xfrm>
          <a:prstGeom prst="rect">
            <a:avLst/>
          </a:prstGeom>
        </p:spPr>
      </p:pic>
      <p:sp>
        <p:nvSpPr>
          <p:cNvPr id="6" name="Shape 3"/>
          <p:cNvSpPr/>
          <p:nvPr/>
        </p:nvSpPr>
        <p:spPr>
          <a:xfrm>
            <a:off x="4846320" y="1417320"/>
            <a:ext cx="457200" cy="457200"/>
          </a:xfrm>
          <a:prstGeom prst="ellipse">
            <a:avLst/>
          </a:prstGeom>
          <a:solidFill>
            <a:srgbClr val="0012B5"/>
          </a:solidFill>
          <a:ln w="12700">
            <a:solidFill>
              <a:srgbClr val="0012B5"/>
            </a:solidFill>
            <a:prstDash val="solid"/>
          </a:ln>
        </p:spPr>
        <p:txBody>
          <a:bodyPr/>
          <a:lstStyle/>
          <a:p>
            <a:endParaRPr lang="fr-FR"/>
          </a:p>
        </p:txBody>
      </p:sp>
      <p:sp>
        <p:nvSpPr>
          <p:cNvPr id="7" name="Text 4"/>
          <p:cNvSpPr txBox="1"/>
          <p:nvPr/>
        </p:nvSpPr>
        <p:spPr>
          <a:xfrm>
            <a:off x="4846320" y="14173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1</a:t>
            </a:r>
            <a:endParaRPr lang="en-US" sz="1400" dirty="0"/>
          </a:p>
        </p:txBody>
      </p:sp>
      <p:sp>
        <p:nvSpPr>
          <p:cNvPr id="8" name="Text 5"/>
          <p:cNvSpPr txBox="1"/>
          <p:nvPr/>
        </p:nvSpPr>
        <p:spPr>
          <a:xfrm>
            <a:off x="5486400" y="1435608"/>
            <a:ext cx="6172200" cy="310896"/>
          </a:xfrm>
          <a:prstGeom prst="rect">
            <a:avLst/>
          </a:prstGeom>
          <a:noFill/>
          <a:ln/>
        </p:spPr>
        <p:txBody>
          <a:bodyPr wrap="square" lIns="0" tIns="0" rIns="0" bIns="0" rtlCol="0" anchor="ctr"/>
          <a:lstStyle/>
          <a:p>
            <a:pPr marL="0" indent="0">
              <a:buNone/>
            </a:pPr>
            <a:r>
              <a:rPr lang="en-US" sz="1650" b="1" dirty="0">
                <a:solidFill>
                  <a:srgbClr val="0012B5"/>
                </a:solidFill>
                <a:latin typeface="Verdana" pitchFamily="34" charset="0"/>
                <a:ea typeface="Verdana" pitchFamily="34" charset="-122"/>
                <a:cs typeface="Verdana" pitchFamily="34" charset="-120"/>
              </a:rPr>
              <a:t>Attestation déposée une fois</a:t>
            </a:r>
            <a:endParaRPr lang="en-US" sz="1650" dirty="0"/>
          </a:p>
        </p:txBody>
      </p:sp>
      <p:sp>
        <p:nvSpPr>
          <p:cNvPr id="9" name="Text 6"/>
          <p:cNvSpPr txBox="1"/>
          <p:nvPr/>
        </p:nvSpPr>
        <p:spPr>
          <a:xfrm>
            <a:off x="5486400" y="1801368"/>
            <a:ext cx="6172200" cy="566928"/>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Photo ou PDF, dans « Mon assurance ». Elle repart avec chaque déclaration.</a:t>
            </a:r>
            <a:endParaRPr lang="en-US" sz="1450" dirty="0"/>
          </a:p>
        </p:txBody>
      </p:sp>
      <p:sp>
        <p:nvSpPr>
          <p:cNvPr id="10" name="Shape 7"/>
          <p:cNvSpPr/>
          <p:nvPr/>
        </p:nvSpPr>
        <p:spPr>
          <a:xfrm>
            <a:off x="4846320" y="2404872"/>
            <a:ext cx="457200" cy="457200"/>
          </a:xfrm>
          <a:prstGeom prst="ellipse">
            <a:avLst/>
          </a:prstGeom>
          <a:solidFill>
            <a:srgbClr val="1F5BD6"/>
          </a:solidFill>
          <a:ln w="12700">
            <a:solidFill>
              <a:srgbClr val="1F5BD6"/>
            </a:solidFill>
            <a:prstDash val="solid"/>
          </a:ln>
        </p:spPr>
        <p:txBody>
          <a:bodyPr/>
          <a:lstStyle/>
          <a:p>
            <a:endParaRPr lang="fr-FR"/>
          </a:p>
        </p:txBody>
      </p:sp>
      <p:sp>
        <p:nvSpPr>
          <p:cNvPr id="11" name="Text 8"/>
          <p:cNvSpPr txBox="1"/>
          <p:nvPr/>
        </p:nvSpPr>
        <p:spPr>
          <a:xfrm>
            <a:off x="4846320" y="24048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2</a:t>
            </a:r>
            <a:endParaRPr lang="en-US" sz="1400" dirty="0"/>
          </a:p>
        </p:txBody>
      </p:sp>
      <p:sp>
        <p:nvSpPr>
          <p:cNvPr id="12" name="Text 9"/>
          <p:cNvSpPr txBox="1"/>
          <p:nvPr/>
        </p:nvSpPr>
        <p:spPr>
          <a:xfrm>
            <a:off x="5486400" y="2423160"/>
            <a:ext cx="6172200" cy="310896"/>
          </a:xfrm>
          <a:prstGeom prst="rect">
            <a:avLst/>
          </a:prstGeom>
          <a:noFill/>
          <a:ln/>
        </p:spPr>
        <p:txBody>
          <a:bodyPr wrap="square" lIns="0" tIns="0" rIns="0" bIns="0" rtlCol="0" anchor="ctr"/>
          <a:lstStyle/>
          <a:p>
            <a:pPr marL="0" indent="0">
              <a:buNone/>
            </a:pPr>
            <a:r>
              <a:rPr lang="en-US" sz="1650" b="1" dirty="0">
                <a:solidFill>
                  <a:srgbClr val="0012B5"/>
                </a:solidFill>
                <a:latin typeface="Verdana" pitchFamily="34" charset="0"/>
                <a:ea typeface="Verdana" pitchFamily="34" charset="-122"/>
                <a:cs typeface="Verdana" pitchFamily="34" charset="-120"/>
              </a:rPr>
              <a:t>Un espace « Personnes embarquées »</a:t>
            </a:r>
            <a:endParaRPr lang="en-US" sz="1650" dirty="0"/>
          </a:p>
        </p:txBody>
      </p:sp>
      <p:sp>
        <p:nvSpPr>
          <p:cNvPr id="13" name="Text 10"/>
          <p:cNvSpPr txBox="1"/>
          <p:nvPr/>
        </p:nvSpPr>
        <p:spPr>
          <a:xfrm>
            <a:off x="5486400" y="2788920"/>
            <a:ext cx="6172200" cy="566928"/>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Ajouté sous l’attestation, sans modifier son contenu.</a:t>
            </a:r>
            <a:endParaRPr lang="en-US" sz="1450" dirty="0"/>
          </a:p>
        </p:txBody>
      </p:sp>
      <p:sp>
        <p:nvSpPr>
          <p:cNvPr id="14" name="Shape 11"/>
          <p:cNvSpPr/>
          <p:nvPr/>
        </p:nvSpPr>
        <p:spPr>
          <a:xfrm>
            <a:off x="4846320" y="3392424"/>
            <a:ext cx="457200" cy="457200"/>
          </a:xfrm>
          <a:prstGeom prst="ellipse">
            <a:avLst/>
          </a:prstGeom>
          <a:solidFill>
            <a:srgbClr val="00A7B5"/>
          </a:solidFill>
          <a:ln w="12700">
            <a:solidFill>
              <a:srgbClr val="00A7B5"/>
            </a:solidFill>
            <a:prstDash val="solid"/>
          </a:ln>
        </p:spPr>
        <p:txBody>
          <a:bodyPr/>
          <a:lstStyle/>
          <a:p>
            <a:endParaRPr lang="fr-FR"/>
          </a:p>
        </p:txBody>
      </p:sp>
      <p:sp>
        <p:nvSpPr>
          <p:cNvPr id="15" name="Text 12"/>
          <p:cNvSpPr txBox="1"/>
          <p:nvPr/>
        </p:nvSpPr>
        <p:spPr>
          <a:xfrm>
            <a:off x="4846320" y="33924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3</a:t>
            </a:r>
            <a:endParaRPr lang="en-US" sz="1400" dirty="0"/>
          </a:p>
        </p:txBody>
      </p:sp>
      <p:sp>
        <p:nvSpPr>
          <p:cNvPr id="16" name="Text 13"/>
          <p:cNvSpPr txBox="1"/>
          <p:nvPr/>
        </p:nvSpPr>
        <p:spPr>
          <a:xfrm>
            <a:off x="5486400" y="3410712"/>
            <a:ext cx="6172200" cy="310896"/>
          </a:xfrm>
          <a:prstGeom prst="rect">
            <a:avLst/>
          </a:prstGeom>
          <a:noFill/>
          <a:ln/>
        </p:spPr>
        <p:txBody>
          <a:bodyPr wrap="square" lIns="0" tIns="0" rIns="0" bIns="0" rtlCol="0" anchor="ctr"/>
          <a:lstStyle/>
          <a:p>
            <a:pPr marL="0" indent="0">
              <a:buNone/>
            </a:pPr>
            <a:r>
              <a:rPr lang="en-US" sz="1650" b="1" dirty="0">
                <a:solidFill>
                  <a:srgbClr val="0012B5"/>
                </a:solidFill>
                <a:latin typeface="Verdana" pitchFamily="34" charset="0"/>
                <a:ea typeface="Verdana" pitchFamily="34" charset="-122"/>
                <a:cs typeface="Verdana" pitchFamily="34" charset="-120"/>
              </a:rPr>
              <a:t>Déjà rempli</a:t>
            </a:r>
            <a:endParaRPr lang="en-US" sz="1650" dirty="0"/>
          </a:p>
        </p:txBody>
      </p:sp>
      <p:sp>
        <p:nvSpPr>
          <p:cNvPr id="17" name="Text 14"/>
          <p:cNvSpPr txBox="1"/>
          <p:nvPr/>
        </p:nvSpPr>
        <p:spPr>
          <a:xfrm>
            <a:off x="5486400" y="3776472"/>
            <a:ext cx="6172200" cy="566928"/>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Passagers repris de la réservation, patron en tête de l’équipage. Il corrige, décoche, ajoute.</a:t>
            </a:r>
            <a:endParaRPr lang="en-US" sz="1450" dirty="0"/>
          </a:p>
        </p:txBody>
      </p:sp>
      <p:sp>
        <p:nvSpPr>
          <p:cNvPr id="18" name="Shape 15"/>
          <p:cNvSpPr/>
          <p:nvPr/>
        </p:nvSpPr>
        <p:spPr>
          <a:xfrm>
            <a:off x="4846320" y="4379976"/>
            <a:ext cx="457200" cy="457200"/>
          </a:xfrm>
          <a:prstGeom prst="ellipse">
            <a:avLst/>
          </a:prstGeom>
          <a:solidFill>
            <a:srgbClr val="0E9F6E"/>
          </a:solidFill>
          <a:ln w="12700">
            <a:solidFill>
              <a:srgbClr val="0E9F6E"/>
            </a:solidFill>
            <a:prstDash val="solid"/>
          </a:ln>
        </p:spPr>
        <p:txBody>
          <a:bodyPr/>
          <a:lstStyle/>
          <a:p>
            <a:endParaRPr lang="fr-FR"/>
          </a:p>
        </p:txBody>
      </p:sp>
      <p:sp>
        <p:nvSpPr>
          <p:cNvPr id="19" name="Text 16"/>
          <p:cNvSpPr txBox="1"/>
          <p:nvPr/>
        </p:nvSpPr>
        <p:spPr>
          <a:xfrm>
            <a:off x="4846320" y="437997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4</a:t>
            </a:r>
            <a:endParaRPr lang="en-US" sz="1400" dirty="0"/>
          </a:p>
        </p:txBody>
      </p:sp>
      <p:sp>
        <p:nvSpPr>
          <p:cNvPr id="20" name="Text 17"/>
          <p:cNvSpPr txBox="1"/>
          <p:nvPr/>
        </p:nvSpPr>
        <p:spPr>
          <a:xfrm>
            <a:off x="5486400" y="4398264"/>
            <a:ext cx="6172200" cy="310896"/>
          </a:xfrm>
          <a:prstGeom prst="rect">
            <a:avLst/>
          </a:prstGeom>
          <a:noFill/>
          <a:ln/>
        </p:spPr>
        <p:txBody>
          <a:bodyPr wrap="square" lIns="0" tIns="0" rIns="0" bIns="0" rtlCol="0" anchor="ctr"/>
          <a:lstStyle/>
          <a:p>
            <a:pPr marL="0" indent="0">
              <a:buNone/>
            </a:pPr>
            <a:r>
              <a:rPr lang="en-US" sz="1650" b="1" dirty="0">
                <a:solidFill>
                  <a:srgbClr val="0012B5"/>
                </a:solidFill>
                <a:latin typeface="Verdana" pitchFamily="34" charset="0"/>
                <a:ea typeface="Verdana" pitchFamily="34" charset="-122"/>
                <a:cs typeface="Verdana" pitchFamily="34" charset="-120"/>
              </a:rPr>
              <a:t>Rien à joindre</a:t>
            </a:r>
            <a:endParaRPr lang="en-US" sz="1650" dirty="0"/>
          </a:p>
        </p:txBody>
      </p:sp>
      <p:sp>
        <p:nvSpPr>
          <p:cNvPr id="21" name="Text 18"/>
          <p:cNvSpPr txBox="1"/>
          <p:nvPr/>
        </p:nvSpPr>
        <p:spPr>
          <a:xfrm>
            <a:off x="5486400" y="4764024"/>
            <a:ext cx="6172200" cy="566928"/>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Les pièces déposées par les clients partent d’office : « CNI jointe ».</a:t>
            </a:r>
            <a:endParaRPr lang="en-US" sz="1450" dirty="0"/>
          </a:p>
        </p:txBody>
      </p:sp>
      <p:sp>
        <p:nvSpPr>
          <p:cNvPr id="22" name="Shape 19"/>
          <p:cNvSpPr/>
          <p:nvPr/>
        </p:nvSpPr>
        <p:spPr>
          <a:xfrm>
            <a:off x="4846320" y="5367528"/>
            <a:ext cx="457200" cy="457200"/>
          </a:xfrm>
          <a:prstGeom prst="ellipse">
            <a:avLst/>
          </a:prstGeom>
          <a:solidFill>
            <a:srgbClr val="0074B5"/>
          </a:solidFill>
          <a:ln w="12700">
            <a:solidFill>
              <a:srgbClr val="0074B5"/>
            </a:solidFill>
            <a:prstDash val="solid"/>
          </a:ln>
        </p:spPr>
        <p:txBody>
          <a:bodyPr/>
          <a:lstStyle/>
          <a:p>
            <a:endParaRPr lang="fr-FR"/>
          </a:p>
        </p:txBody>
      </p:sp>
      <p:sp>
        <p:nvSpPr>
          <p:cNvPr id="23" name="Text 20"/>
          <p:cNvSpPr txBox="1"/>
          <p:nvPr/>
        </p:nvSpPr>
        <p:spPr>
          <a:xfrm>
            <a:off x="4846320" y="536752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5</a:t>
            </a:r>
            <a:endParaRPr lang="en-US" sz="1400" dirty="0"/>
          </a:p>
        </p:txBody>
      </p:sp>
      <p:sp>
        <p:nvSpPr>
          <p:cNvPr id="24" name="Text 21"/>
          <p:cNvSpPr txBox="1"/>
          <p:nvPr/>
        </p:nvSpPr>
        <p:spPr>
          <a:xfrm>
            <a:off x="5486400" y="5385816"/>
            <a:ext cx="6172200" cy="310896"/>
          </a:xfrm>
          <a:prstGeom prst="rect">
            <a:avLst/>
          </a:prstGeom>
          <a:noFill/>
          <a:ln/>
        </p:spPr>
        <p:txBody>
          <a:bodyPr wrap="square" lIns="0" tIns="0" rIns="0" bIns="0" rtlCol="0" anchor="ctr"/>
          <a:lstStyle/>
          <a:p>
            <a:pPr marL="0" indent="0">
              <a:buNone/>
            </a:pPr>
            <a:r>
              <a:rPr lang="en-US" sz="1650" b="1" dirty="0">
                <a:solidFill>
                  <a:srgbClr val="0012B5"/>
                </a:solidFill>
                <a:latin typeface="Verdana" pitchFamily="34" charset="0"/>
                <a:ea typeface="Verdana" pitchFamily="34" charset="-122"/>
                <a:cs typeface="Verdana" pitchFamily="34" charset="-120"/>
              </a:rPr>
              <a:t>Le total est contrôlé</a:t>
            </a:r>
            <a:endParaRPr lang="en-US" sz="1650" dirty="0"/>
          </a:p>
        </p:txBody>
      </p:sp>
      <p:sp>
        <p:nvSpPr>
          <p:cNvPr id="25" name="Text 22"/>
          <p:cNvSpPr txBox="1"/>
          <p:nvPr/>
        </p:nvSpPr>
        <p:spPr>
          <a:xfrm>
            <a:off x="5486400" y="5751576"/>
            <a:ext cx="6172200" cy="566928"/>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Alerte si le maximum à bord est dépassé. Impossible de continuer si un nom manque.</a:t>
            </a:r>
            <a:endParaRPr lang="en-US" sz="1450" dirty="0"/>
          </a:p>
        </p:txBody>
      </p:sp>
      <p:sp>
        <p:nvSpPr>
          <p:cNvPr id="26" name="Text 23"/>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27</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DÉCLARATION · ÉTAPES 2 ET 3</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Sortie figée, puis vérifier et envoyer</a:t>
            </a:r>
            <a:endParaRPr lang="en-US" sz="2500" dirty="0"/>
          </a:p>
        </p:txBody>
      </p:sp>
      <p:sp>
        <p:nvSpPr>
          <p:cNvPr id="4" name="Shape 2"/>
          <p:cNvSpPr/>
          <p:nvPr/>
        </p:nvSpPr>
        <p:spPr>
          <a:xfrm>
            <a:off x="484632" y="1343025"/>
            <a:ext cx="3511296" cy="4949190"/>
          </a:xfrm>
          <a:prstGeom prst="roundRect">
            <a:avLst>
              <a:gd name="adj" fmla="val 3125"/>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dcl2.jpg"/>
          <p:cNvPicPr>
            <a:picLocks noChangeAspect="1"/>
          </p:cNvPicPr>
          <p:nvPr/>
        </p:nvPicPr>
        <p:blipFill>
          <a:blip r:embed="rId3"/>
          <a:stretch>
            <a:fillRect/>
          </a:stretch>
        </p:blipFill>
        <p:spPr>
          <a:xfrm>
            <a:off x="548640" y="1407033"/>
            <a:ext cx="3383280" cy="4821174"/>
          </a:xfrm>
          <a:prstGeom prst="rect">
            <a:avLst/>
          </a:prstGeom>
        </p:spPr>
      </p:pic>
      <p:sp>
        <p:nvSpPr>
          <p:cNvPr id="6" name="Shape 3"/>
          <p:cNvSpPr/>
          <p:nvPr/>
        </p:nvSpPr>
        <p:spPr>
          <a:xfrm>
            <a:off x="4142232" y="1741932"/>
            <a:ext cx="4608576" cy="4151376"/>
          </a:xfrm>
          <a:prstGeom prst="roundRect">
            <a:avLst>
              <a:gd name="adj" fmla="val 2643"/>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7" name="Image 1" descr="/home/claude/deck/img/dcl3.jpg"/>
          <p:cNvPicPr>
            <a:picLocks noChangeAspect="1"/>
          </p:cNvPicPr>
          <p:nvPr/>
        </p:nvPicPr>
        <p:blipFill>
          <a:blip r:embed="rId4"/>
          <a:stretch>
            <a:fillRect/>
          </a:stretch>
        </p:blipFill>
        <p:spPr>
          <a:xfrm>
            <a:off x="4206240" y="1805940"/>
            <a:ext cx="4480560" cy="4023360"/>
          </a:xfrm>
          <a:prstGeom prst="rect">
            <a:avLst/>
          </a:prstGeom>
        </p:spPr>
      </p:pic>
      <p:sp>
        <p:nvSpPr>
          <p:cNvPr id="8" name="Shape 4"/>
          <p:cNvSpPr/>
          <p:nvPr/>
        </p:nvSpPr>
        <p:spPr>
          <a:xfrm>
            <a:off x="9006840" y="1417320"/>
            <a:ext cx="457200" cy="457200"/>
          </a:xfrm>
          <a:prstGeom prst="ellipse">
            <a:avLst/>
          </a:prstGeom>
          <a:solidFill>
            <a:srgbClr val="1F5BD6"/>
          </a:solidFill>
          <a:ln w="12700">
            <a:solidFill>
              <a:srgbClr val="1F5BD6"/>
            </a:solidFill>
            <a:prstDash val="solid"/>
          </a:ln>
        </p:spPr>
        <p:txBody>
          <a:bodyPr/>
          <a:lstStyle/>
          <a:p>
            <a:endParaRPr lang="fr-FR"/>
          </a:p>
        </p:txBody>
      </p:sp>
      <p:sp>
        <p:nvSpPr>
          <p:cNvPr id="9" name="Text 5"/>
          <p:cNvSpPr txBox="1"/>
          <p:nvPr/>
        </p:nvSpPr>
        <p:spPr>
          <a:xfrm>
            <a:off x="9006840" y="14173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2</a:t>
            </a:r>
            <a:endParaRPr lang="en-US" sz="1400" dirty="0"/>
          </a:p>
        </p:txBody>
      </p:sp>
      <p:sp>
        <p:nvSpPr>
          <p:cNvPr id="10" name="Text 6"/>
          <p:cNvSpPr txBox="1"/>
          <p:nvPr/>
        </p:nvSpPr>
        <p:spPr>
          <a:xfrm>
            <a:off x="9601200" y="1435608"/>
            <a:ext cx="2103120" cy="411480"/>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Sortie figée</a:t>
            </a:r>
            <a:endParaRPr lang="en-US" sz="1700" dirty="0"/>
          </a:p>
        </p:txBody>
      </p:sp>
      <p:sp>
        <p:nvSpPr>
          <p:cNvPr id="11" name="Text 7"/>
          <p:cNvSpPr txBox="1"/>
          <p:nvPr/>
        </p:nvSpPr>
        <p:spPr>
          <a:xfrm>
            <a:off x="9006840" y="2011680"/>
            <a:ext cx="2651760" cy="173736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Le récapitulatif qui partira, repris de la réservation, non modifiable. « Aperçu » : le PDF exact de l’attestation.</a:t>
            </a:r>
            <a:endParaRPr lang="en-US" sz="1400" dirty="0"/>
          </a:p>
        </p:txBody>
      </p:sp>
      <p:sp>
        <p:nvSpPr>
          <p:cNvPr id="12" name="Shape 8"/>
          <p:cNvSpPr/>
          <p:nvPr/>
        </p:nvSpPr>
        <p:spPr>
          <a:xfrm>
            <a:off x="9006840" y="3840480"/>
            <a:ext cx="457200" cy="457200"/>
          </a:xfrm>
          <a:prstGeom prst="ellipse">
            <a:avLst/>
          </a:prstGeom>
          <a:solidFill>
            <a:srgbClr val="0E9F6E"/>
          </a:solidFill>
          <a:ln w="12700">
            <a:solidFill>
              <a:srgbClr val="0E9F6E"/>
            </a:solidFill>
            <a:prstDash val="solid"/>
          </a:ln>
        </p:spPr>
        <p:txBody>
          <a:bodyPr/>
          <a:lstStyle/>
          <a:p>
            <a:endParaRPr lang="fr-FR"/>
          </a:p>
        </p:txBody>
      </p:sp>
      <p:sp>
        <p:nvSpPr>
          <p:cNvPr id="13" name="Text 9"/>
          <p:cNvSpPr txBox="1"/>
          <p:nvPr/>
        </p:nvSpPr>
        <p:spPr>
          <a:xfrm>
            <a:off x="9006840" y="38404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3</a:t>
            </a:r>
            <a:endParaRPr lang="en-US" sz="1400" dirty="0"/>
          </a:p>
        </p:txBody>
      </p:sp>
      <p:sp>
        <p:nvSpPr>
          <p:cNvPr id="14" name="Text 10"/>
          <p:cNvSpPr txBox="1"/>
          <p:nvPr/>
        </p:nvSpPr>
        <p:spPr>
          <a:xfrm>
            <a:off x="9601200" y="3858768"/>
            <a:ext cx="2103120" cy="411480"/>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Vérifier, envoyer</a:t>
            </a:r>
            <a:endParaRPr lang="en-US" sz="1700" dirty="0"/>
          </a:p>
        </p:txBody>
      </p:sp>
      <p:sp>
        <p:nvSpPr>
          <p:cNvPr id="15" name="Text 11"/>
          <p:cNvSpPr txBox="1"/>
          <p:nvPr/>
        </p:nvSpPr>
        <p:spPr>
          <a:xfrm>
            <a:off x="9006840" y="4434840"/>
            <a:ext cx="2651760" cy="17830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Le patron coche 5 points sur son attestation : navire, validité, personnes, activité, zone. Sinon, pas d’envoi.</a:t>
            </a:r>
            <a:endParaRPr lang="en-US" sz="1400" dirty="0"/>
          </a:p>
        </p:txBody>
      </p:sp>
      <p:sp>
        <p:nvSpPr>
          <p:cNvPr id="16" name="Text 12"/>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28</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DÉCLARATION · CE QUI PART</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Ce que reçoivent le CROSS et la SNSM</a:t>
            </a:r>
            <a:endParaRPr lang="en-US" sz="2500" dirty="0"/>
          </a:p>
        </p:txBody>
      </p:sp>
      <p:sp>
        <p:nvSpPr>
          <p:cNvPr id="4" name="Shape 2"/>
          <p:cNvSpPr/>
          <p:nvPr/>
        </p:nvSpPr>
        <p:spPr>
          <a:xfrm>
            <a:off x="694944" y="1307592"/>
            <a:ext cx="4736592" cy="4928616"/>
          </a:xfrm>
          <a:prstGeom prst="roundRect">
            <a:avLst>
              <a:gd name="adj" fmla="val 2317"/>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mail28_top.jpg"/>
          <p:cNvPicPr>
            <a:picLocks noChangeAspect="1"/>
          </p:cNvPicPr>
          <p:nvPr/>
        </p:nvPicPr>
        <p:blipFill>
          <a:blip r:embed="rId3"/>
          <a:stretch>
            <a:fillRect/>
          </a:stretch>
        </p:blipFill>
        <p:spPr>
          <a:xfrm>
            <a:off x="758952" y="1371600"/>
            <a:ext cx="4608576" cy="4800600"/>
          </a:xfrm>
          <a:prstGeom prst="rect">
            <a:avLst/>
          </a:prstGeom>
        </p:spPr>
      </p:pic>
      <p:sp>
        <p:nvSpPr>
          <p:cNvPr id="6" name="Text 3"/>
          <p:cNvSpPr txBox="1"/>
          <p:nvPr/>
        </p:nvSpPr>
        <p:spPr>
          <a:xfrm>
            <a:off x="758952" y="6281928"/>
            <a:ext cx="4608576" cy="274320"/>
          </a:xfrm>
          <a:prstGeom prst="rect">
            <a:avLst/>
          </a:prstGeom>
          <a:noFill/>
          <a:ln/>
        </p:spPr>
        <p:txBody>
          <a:bodyPr wrap="square" lIns="0" tIns="0" rIns="0" bIns="0" rtlCol="0" anchor="t"/>
          <a:lstStyle/>
          <a:p>
            <a:pPr marL="0" indent="0" algn="ctr">
              <a:buNone/>
            </a:pPr>
            <a:r>
              <a:rPr lang="en-US" sz="1150" i="1" dirty="0">
                <a:solidFill>
                  <a:srgbClr val="66728A"/>
                </a:solidFill>
                <a:latin typeface="Verdana" pitchFamily="34" charset="0"/>
                <a:ea typeface="Verdana" pitchFamily="34" charset="-122"/>
                <a:cs typeface="Verdana" pitchFamily="34" charset="-120"/>
              </a:rPr>
              <a:t>L’e-mail reçu : les 4 pièces jointes en tête</a:t>
            </a:r>
            <a:endParaRPr lang="en-US" sz="1150" dirty="0"/>
          </a:p>
        </p:txBody>
      </p:sp>
      <p:sp>
        <p:nvSpPr>
          <p:cNvPr id="7" name="Shape 4"/>
          <p:cNvSpPr/>
          <p:nvPr/>
        </p:nvSpPr>
        <p:spPr>
          <a:xfrm>
            <a:off x="5833872" y="1307592"/>
            <a:ext cx="3236976" cy="4522146"/>
          </a:xfrm>
          <a:prstGeom prst="roundRect">
            <a:avLst>
              <a:gd name="adj" fmla="val 3390"/>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8" name="Image 1" descr="/home/claude/deck/img/attest_full.jpg"/>
          <p:cNvPicPr>
            <a:picLocks noChangeAspect="1"/>
          </p:cNvPicPr>
          <p:nvPr/>
        </p:nvPicPr>
        <p:blipFill>
          <a:blip r:embed="rId4"/>
          <a:stretch>
            <a:fillRect/>
          </a:stretch>
        </p:blipFill>
        <p:spPr>
          <a:xfrm>
            <a:off x="5897880" y="1371600"/>
            <a:ext cx="3108960" cy="4394130"/>
          </a:xfrm>
          <a:prstGeom prst="rect">
            <a:avLst/>
          </a:prstGeom>
        </p:spPr>
      </p:pic>
      <p:sp>
        <p:nvSpPr>
          <p:cNvPr id="9" name="Shape 5"/>
          <p:cNvSpPr/>
          <p:nvPr/>
        </p:nvSpPr>
        <p:spPr>
          <a:xfrm>
            <a:off x="6080760" y="5875458"/>
            <a:ext cx="2743200" cy="274320"/>
          </a:xfrm>
          <a:prstGeom prst="roundRect">
            <a:avLst>
              <a:gd name="adj" fmla="val 50000"/>
            </a:avLst>
          </a:prstGeom>
          <a:solidFill>
            <a:srgbClr val="B3312D"/>
          </a:solidFill>
          <a:ln w="12700">
            <a:solidFill>
              <a:srgbClr val="B3312D"/>
            </a:solidFill>
            <a:prstDash val="solid"/>
          </a:ln>
        </p:spPr>
        <p:txBody>
          <a:bodyPr/>
          <a:lstStyle/>
          <a:p>
            <a:endParaRPr lang="fr-FR"/>
          </a:p>
        </p:txBody>
      </p:sp>
      <p:sp>
        <p:nvSpPr>
          <p:cNvPr id="10" name="Text 6"/>
          <p:cNvSpPr txBox="1"/>
          <p:nvPr/>
        </p:nvSpPr>
        <p:spPr>
          <a:xfrm>
            <a:off x="6080760" y="5875458"/>
            <a:ext cx="274320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Verdana" pitchFamily="34" charset="0"/>
                <a:ea typeface="Verdana" pitchFamily="34" charset="-122"/>
                <a:cs typeface="Verdana" pitchFamily="34" charset="-120"/>
              </a:rPr>
              <a:t>PDF · pièce jointe n° 1</a:t>
            </a:r>
            <a:endParaRPr lang="en-US" sz="1050" dirty="0"/>
          </a:p>
        </p:txBody>
      </p:sp>
      <p:sp>
        <p:nvSpPr>
          <p:cNvPr id="11" name="Text 7"/>
          <p:cNvSpPr txBox="1"/>
          <p:nvPr/>
        </p:nvSpPr>
        <p:spPr>
          <a:xfrm>
            <a:off x="5806440" y="6195498"/>
            <a:ext cx="3291840" cy="411480"/>
          </a:xfrm>
          <a:prstGeom prst="rect">
            <a:avLst/>
          </a:prstGeom>
          <a:noFill/>
          <a:ln/>
        </p:spPr>
        <p:txBody>
          <a:bodyPr wrap="square" lIns="0" tIns="0" rIns="0" bIns="0" rtlCol="0" anchor="t"/>
          <a:lstStyle/>
          <a:p>
            <a:pPr marL="0" indent="0" algn="ctr">
              <a:buNone/>
            </a:pPr>
            <a:r>
              <a:rPr lang="en-US" sz="1050" i="1" dirty="0">
                <a:solidFill>
                  <a:srgbClr val="66728A"/>
                </a:solidFill>
                <a:latin typeface="Verdana" pitchFamily="34" charset="0"/>
                <a:ea typeface="Verdana" pitchFamily="34" charset="-122"/>
                <a:cs typeface="Verdana" pitchFamily="34" charset="-120"/>
              </a:rPr>
              <a:t>L’attestation d’assurance, complétée des 5 personnes à bord</a:t>
            </a:r>
            <a:endParaRPr lang="en-US" sz="1050" dirty="0"/>
          </a:p>
        </p:txBody>
      </p:sp>
      <p:sp>
        <p:nvSpPr>
          <p:cNvPr id="12" name="Text 8"/>
          <p:cNvSpPr txBox="1"/>
          <p:nvPr/>
        </p:nvSpPr>
        <p:spPr>
          <a:xfrm>
            <a:off x="9326880" y="1371600"/>
            <a:ext cx="2377440" cy="320040"/>
          </a:xfrm>
          <a:prstGeom prst="rect">
            <a:avLst/>
          </a:prstGeom>
          <a:noFill/>
          <a:ln/>
        </p:spPr>
        <p:txBody>
          <a:bodyPr wrap="square" lIns="0" tIns="0" rIns="0" bIns="0" rtlCol="0" anchor="t"/>
          <a:lstStyle/>
          <a:p>
            <a:pPr marL="0" indent="0">
              <a:buNone/>
            </a:pPr>
            <a:r>
              <a:rPr lang="en-US" sz="1400" b="1" dirty="0">
                <a:solidFill>
                  <a:srgbClr val="0012B5"/>
                </a:solidFill>
                <a:latin typeface="Verdana" pitchFamily="34" charset="0"/>
                <a:ea typeface="Verdana" pitchFamily="34" charset="-122"/>
                <a:cs typeface="Verdana" pitchFamily="34" charset="-120"/>
              </a:rPr>
              <a:t>Dans l’e-mail</a:t>
            </a:r>
            <a:endParaRPr lang="en-US" sz="1400" dirty="0"/>
          </a:p>
        </p:txBody>
      </p:sp>
      <p:sp>
        <p:nvSpPr>
          <p:cNvPr id="13" name="Text 9"/>
          <p:cNvSpPr txBox="1"/>
          <p:nvPr/>
        </p:nvSpPr>
        <p:spPr>
          <a:xfrm>
            <a:off x="9326880" y="1737360"/>
            <a:ext cx="2377440" cy="237744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D2838"/>
                </a:solidFill>
                <a:latin typeface="Verdana" pitchFamily="34" charset="0"/>
                <a:ea typeface="Verdana" pitchFamily="34" charset="-122"/>
                <a:cs typeface="Verdana" pitchFamily="34" charset="-120"/>
              </a:rPr>
              <a:t>Navire, patron et son téléphone, date, horaires, port</a:t>
            </a:r>
            <a:endParaRPr lang="en-US" sz="1050" dirty="0"/>
          </a:p>
          <a:p>
            <a:pPr marL="177800" indent="-177800">
              <a:spcAft>
                <a:spcPts val="500"/>
              </a:spcAft>
              <a:buSzPct val="100000"/>
              <a:buChar char="•"/>
            </a:pPr>
            <a:r>
              <a:rPr lang="en-US" sz="1050" dirty="0">
                <a:solidFill>
                  <a:srgbClr val="1D2838"/>
                </a:solidFill>
                <a:latin typeface="Verdana" pitchFamily="34" charset="0"/>
                <a:ea typeface="Verdana" pitchFamily="34" charset="-122"/>
                <a:cs typeface="Verdana" pitchFamily="34" charset="-120"/>
              </a:rPr>
              <a:t>Tableau nominatif des passagers</a:t>
            </a:r>
            <a:endParaRPr lang="en-US" sz="1050" dirty="0"/>
          </a:p>
          <a:p>
            <a:pPr marL="177800" indent="-177800">
              <a:spcAft>
                <a:spcPts val="500"/>
              </a:spcAft>
              <a:buSzPct val="100000"/>
              <a:buChar char="•"/>
            </a:pPr>
            <a:r>
              <a:rPr lang="en-US" sz="1050" dirty="0">
                <a:solidFill>
                  <a:srgbClr val="1D2838"/>
                </a:solidFill>
                <a:latin typeface="Verdana" pitchFamily="34" charset="0"/>
                <a:ea typeface="Verdana" pitchFamily="34" charset="-122"/>
                <a:cs typeface="Verdana" pitchFamily="34" charset="-120"/>
              </a:rPr>
              <a:t>Attestation complétée + pièces d’identité</a:t>
            </a:r>
            <a:endParaRPr lang="en-US" sz="1050" dirty="0"/>
          </a:p>
          <a:p>
            <a:pPr marL="177800" indent="-177800">
              <a:spcAft>
                <a:spcPts val="500"/>
              </a:spcAft>
              <a:buSzPct val="100000"/>
              <a:buChar char="•"/>
            </a:pPr>
            <a:r>
              <a:rPr lang="en-US" sz="1050" dirty="0">
                <a:solidFill>
                  <a:srgbClr val="1D2838"/>
                </a:solidFill>
                <a:latin typeface="Verdana" pitchFamily="34" charset="0"/>
                <a:ea typeface="Verdana" pitchFamily="34" charset="-122"/>
                <a:cs typeface="Verdana" pitchFamily="34" charset="-120"/>
              </a:rPr>
              <a:t>Réponses directement au patron</a:t>
            </a:r>
            <a:endParaRPr lang="en-US" sz="1050" dirty="0"/>
          </a:p>
        </p:txBody>
      </p:sp>
      <p:sp>
        <p:nvSpPr>
          <p:cNvPr id="14" name="Shape 10"/>
          <p:cNvSpPr/>
          <p:nvPr/>
        </p:nvSpPr>
        <p:spPr>
          <a:xfrm>
            <a:off x="9326880" y="4206240"/>
            <a:ext cx="384048" cy="384048"/>
          </a:xfrm>
          <a:prstGeom prst="ellipse">
            <a:avLst/>
          </a:prstGeom>
          <a:solidFill>
            <a:srgbClr val="B45309"/>
          </a:solidFill>
          <a:ln w="12700">
            <a:solidFill>
              <a:srgbClr val="B45309"/>
            </a:solidFill>
            <a:prstDash val="solid"/>
          </a:ln>
        </p:spPr>
        <p:txBody>
          <a:bodyPr/>
          <a:lstStyle/>
          <a:p>
            <a:endParaRPr lang="fr-FR"/>
          </a:p>
        </p:txBody>
      </p:sp>
      <p:pic>
        <p:nvPicPr>
          <p:cNvPr id="15" name="Image 2" descr="preencoded.png"/>
          <p:cNvPicPr>
            <a:picLocks noChangeAspect="1"/>
          </p:cNvPicPr>
          <p:nvPr/>
        </p:nvPicPr>
        <p:blipFill>
          <a:blip r:embed="rId5"/>
          <a:stretch>
            <a:fillRect/>
          </a:stretch>
        </p:blipFill>
        <p:spPr>
          <a:xfrm>
            <a:off x="9422892" y="4302252"/>
            <a:ext cx="192024" cy="192024"/>
          </a:xfrm>
          <a:prstGeom prst="rect">
            <a:avLst/>
          </a:prstGeom>
        </p:spPr>
      </p:pic>
      <p:sp>
        <p:nvSpPr>
          <p:cNvPr id="16" name="Text 11"/>
          <p:cNvSpPr txBox="1"/>
          <p:nvPr/>
        </p:nvSpPr>
        <p:spPr>
          <a:xfrm>
            <a:off x="9802368" y="4169664"/>
            <a:ext cx="1920240" cy="237744"/>
          </a:xfrm>
          <a:prstGeom prst="rect">
            <a:avLst/>
          </a:prstGeom>
          <a:noFill/>
          <a:ln/>
        </p:spPr>
        <p:txBody>
          <a:bodyPr wrap="square" lIns="0" tIns="0" rIns="0" bIns="0" rtlCol="0" anchor="t"/>
          <a:lstStyle/>
          <a:p>
            <a:pPr marL="0" indent="0">
              <a:buNone/>
            </a:pPr>
            <a:r>
              <a:rPr lang="en-US" sz="1150" b="1" dirty="0">
                <a:solidFill>
                  <a:srgbClr val="0012B5"/>
                </a:solidFill>
                <a:latin typeface="Verdana" pitchFamily="34" charset="0"/>
                <a:ea typeface="Verdana" pitchFamily="34" charset="-122"/>
                <a:cs typeface="Verdana" pitchFamily="34" charset="-120"/>
              </a:rPr>
              <a:t>Rappel</a:t>
            </a:r>
            <a:endParaRPr lang="en-US" sz="1150" dirty="0"/>
          </a:p>
        </p:txBody>
      </p:sp>
      <p:sp>
        <p:nvSpPr>
          <p:cNvPr id="17" name="Text 12"/>
          <p:cNvSpPr txBox="1"/>
          <p:nvPr/>
        </p:nvSpPr>
        <p:spPr>
          <a:xfrm>
            <a:off x="9802368" y="4407408"/>
            <a:ext cx="1920240" cy="457200"/>
          </a:xfrm>
          <a:prstGeom prst="rect">
            <a:avLst/>
          </a:prstGeom>
          <a:noFill/>
          <a:ln/>
        </p:spPr>
        <p:txBody>
          <a:bodyPr wrap="square" lIns="0" tIns="0" rIns="0" bIns="0" rtlCol="0" anchor="t"/>
          <a:lstStyle/>
          <a:p>
            <a:pPr marL="0" indent="0">
              <a:buNone/>
            </a:pPr>
            <a:r>
              <a:rPr lang="en-US" sz="950" dirty="0">
                <a:solidFill>
                  <a:srgbClr val="3A4658"/>
                </a:solidFill>
                <a:latin typeface="Verdana" pitchFamily="34" charset="0"/>
                <a:ea typeface="Verdana" pitchFamily="34" charset="-122"/>
                <a:cs typeface="Verdana" pitchFamily="34" charset="-120"/>
              </a:rPr>
              <a:t>Pas encore déclarée à 3 jours : « Déclarer maintenant ».</a:t>
            </a:r>
            <a:endParaRPr lang="en-US" sz="950" dirty="0"/>
          </a:p>
        </p:txBody>
      </p:sp>
      <p:sp>
        <p:nvSpPr>
          <p:cNvPr id="18" name="Shape 13"/>
          <p:cNvSpPr/>
          <p:nvPr/>
        </p:nvSpPr>
        <p:spPr>
          <a:xfrm>
            <a:off x="9326880" y="4937760"/>
            <a:ext cx="384048" cy="384048"/>
          </a:xfrm>
          <a:prstGeom prst="ellipse">
            <a:avLst/>
          </a:prstGeom>
          <a:solidFill>
            <a:srgbClr val="0E9F6E"/>
          </a:solidFill>
          <a:ln w="12700">
            <a:solidFill>
              <a:srgbClr val="0E9F6E"/>
            </a:solidFill>
            <a:prstDash val="solid"/>
          </a:ln>
        </p:spPr>
        <p:txBody>
          <a:bodyPr/>
          <a:lstStyle/>
          <a:p>
            <a:endParaRPr lang="fr-FR"/>
          </a:p>
        </p:txBody>
      </p:sp>
      <p:pic>
        <p:nvPicPr>
          <p:cNvPr id="19" name="Image 3" descr="preencoded.png"/>
          <p:cNvPicPr>
            <a:picLocks noChangeAspect="1"/>
          </p:cNvPicPr>
          <p:nvPr/>
        </p:nvPicPr>
        <p:blipFill>
          <a:blip r:embed="rId6"/>
          <a:stretch>
            <a:fillRect/>
          </a:stretch>
        </p:blipFill>
        <p:spPr>
          <a:xfrm>
            <a:off x="9422892" y="5033772"/>
            <a:ext cx="192024" cy="192024"/>
          </a:xfrm>
          <a:prstGeom prst="rect">
            <a:avLst/>
          </a:prstGeom>
        </p:spPr>
      </p:pic>
      <p:sp>
        <p:nvSpPr>
          <p:cNvPr id="20" name="Text 14"/>
          <p:cNvSpPr txBox="1"/>
          <p:nvPr/>
        </p:nvSpPr>
        <p:spPr>
          <a:xfrm>
            <a:off x="9802368" y="4901184"/>
            <a:ext cx="1920240" cy="237744"/>
          </a:xfrm>
          <a:prstGeom prst="rect">
            <a:avLst/>
          </a:prstGeom>
          <a:noFill/>
          <a:ln/>
        </p:spPr>
        <p:txBody>
          <a:bodyPr wrap="square" lIns="0" tIns="0" rIns="0" bIns="0" rtlCol="0" anchor="t"/>
          <a:lstStyle/>
          <a:p>
            <a:pPr marL="0" indent="0">
              <a:buNone/>
            </a:pPr>
            <a:r>
              <a:rPr lang="en-US" sz="1150" b="1" dirty="0">
                <a:solidFill>
                  <a:srgbClr val="0012B5"/>
                </a:solidFill>
                <a:latin typeface="Verdana" pitchFamily="34" charset="0"/>
                <a:ea typeface="Verdana" pitchFamily="34" charset="-122"/>
                <a:cs typeface="Verdana" pitchFamily="34" charset="-120"/>
              </a:rPr>
              <a:t>Trace</a:t>
            </a:r>
            <a:endParaRPr lang="en-US" sz="1150" dirty="0"/>
          </a:p>
        </p:txBody>
      </p:sp>
      <p:sp>
        <p:nvSpPr>
          <p:cNvPr id="21" name="Text 15"/>
          <p:cNvSpPr txBox="1"/>
          <p:nvPr/>
        </p:nvSpPr>
        <p:spPr>
          <a:xfrm>
            <a:off x="9802368" y="5138928"/>
            <a:ext cx="1920240" cy="457200"/>
          </a:xfrm>
          <a:prstGeom prst="rect">
            <a:avLst/>
          </a:prstGeom>
          <a:noFill/>
          <a:ln/>
        </p:spPr>
        <p:txBody>
          <a:bodyPr wrap="square" lIns="0" tIns="0" rIns="0" bIns="0" rtlCol="0" anchor="t"/>
          <a:lstStyle/>
          <a:p>
            <a:pPr marL="0" indent="0">
              <a:buNone/>
            </a:pPr>
            <a:r>
              <a:rPr lang="en-US" sz="950" dirty="0">
                <a:solidFill>
                  <a:srgbClr val="3A4658"/>
                </a:solidFill>
                <a:latin typeface="Verdana" pitchFamily="34" charset="0"/>
                <a:ea typeface="Verdana" pitchFamily="34" charset="-122"/>
                <a:cs typeface="Verdana" pitchFamily="34" charset="-120"/>
              </a:rPr>
              <a:t>« Déclarée le … », renvoi possible.</a:t>
            </a:r>
            <a:endParaRPr lang="en-US" sz="950" dirty="0"/>
          </a:p>
        </p:txBody>
      </p:sp>
      <p:sp>
        <p:nvSpPr>
          <p:cNvPr id="22" name="Shape 16"/>
          <p:cNvSpPr/>
          <p:nvPr/>
        </p:nvSpPr>
        <p:spPr>
          <a:xfrm>
            <a:off x="9326880" y="5669280"/>
            <a:ext cx="384048" cy="384048"/>
          </a:xfrm>
          <a:prstGeom prst="ellipse">
            <a:avLst/>
          </a:prstGeom>
          <a:solidFill>
            <a:srgbClr val="B3312D"/>
          </a:solidFill>
          <a:ln w="12700">
            <a:solidFill>
              <a:srgbClr val="B3312D"/>
            </a:solidFill>
            <a:prstDash val="solid"/>
          </a:ln>
        </p:spPr>
        <p:txBody>
          <a:bodyPr/>
          <a:lstStyle/>
          <a:p>
            <a:endParaRPr lang="fr-FR"/>
          </a:p>
        </p:txBody>
      </p:sp>
      <p:pic>
        <p:nvPicPr>
          <p:cNvPr id="23" name="Image 4" descr="preencoded.png"/>
          <p:cNvPicPr>
            <a:picLocks noChangeAspect="1"/>
          </p:cNvPicPr>
          <p:nvPr/>
        </p:nvPicPr>
        <p:blipFill>
          <a:blip r:embed="rId7"/>
          <a:stretch>
            <a:fillRect/>
          </a:stretch>
        </p:blipFill>
        <p:spPr>
          <a:xfrm>
            <a:off x="9422892" y="5765292"/>
            <a:ext cx="192024" cy="192024"/>
          </a:xfrm>
          <a:prstGeom prst="rect">
            <a:avLst/>
          </a:prstGeom>
        </p:spPr>
      </p:pic>
      <p:sp>
        <p:nvSpPr>
          <p:cNvPr id="24" name="Text 17"/>
          <p:cNvSpPr txBox="1"/>
          <p:nvPr/>
        </p:nvSpPr>
        <p:spPr>
          <a:xfrm>
            <a:off x="9802368" y="5632704"/>
            <a:ext cx="1920240" cy="237744"/>
          </a:xfrm>
          <a:prstGeom prst="rect">
            <a:avLst/>
          </a:prstGeom>
          <a:noFill/>
          <a:ln/>
        </p:spPr>
        <p:txBody>
          <a:bodyPr wrap="square" lIns="0" tIns="0" rIns="0" bIns="0" rtlCol="0" anchor="t"/>
          <a:lstStyle/>
          <a:p>
            <a:pPr marL="0" indent="0">
              <a:buNone/>
            </a:pPr>
            <a:r>
              <a:rPr lang="en-US" sz="1150" b="1" dirty="0">
                <a:solidFill>
                  <a:srgbClr val="0012B5"/>
                </a:solidFill>
                <a:latin typeface="Verdana" pitchFamily="34" charset="0"/>
                <a:ea typeface="Verdana" pitchFamily="34" charset="-122"/>
                <a:cs typeface="Verdana" pitchFamily="34" charset="-120"/>
              </a:rPr>
              <a:t>En mer</a:t>
            </a:r>
            <a:endParaRPr lang="en-US" sz="1150" dirty="0"/>
          </a:p>
        </p:txBody>
      </p:sp>
      <p:sp>
        <p:nvSpPr>
          <p:cNvPr id="25" name="Text 18"/>
          <p:cNvSpPr txBox="1"/>
          <p:nvPr/>
        </p:nvSpPr>
        <p:spPr>
          <a:xfrm>
            <a:off x="9802368" y="5870448"/>
            <a:ext cx="1920240" cy="457200"/>
          </a:xfrm>
          <a:prstGeom prst="rect">
            <a:avLst/>
          </a:prstGeom>
          <a:noFill/>
          <a:ln/>
        </p:spPr>
        <p:txBody>
          <a:bodyPr wrap="square" lIns="0" tIns="0" rIns="0" bIns="0" rtlCol="0" anchor="t"/>
          <a:lstStyle/>
          <a:p>
            <a:pPr marL="0" indent="0">
              <a:buNone/>
            </a:pPr>
            <a:r>
              <a:rPr lang="en-US" sz="950" dirty="0">
                <a:solidFill>
                  <a:srgbClr val="3A4658"/>
                </a:solidFill>
                <a:latin typeface="Verdana" pitchFamily="34" charset="0"/>
                <a:ea typeface="Verdana" pitchFamily="34" charset="-122"/>
                <a:cs typeface="Verdana" pitchFamily="34" charset="-120"/>
              </a:rPr>
              <a:t>CROSS au 196 ou canal 16 VHF.</a:t>
            </a:r>
            <a:endParaRPr lang="en-US" sz="950" dirty="0"/>
          </a:p>
        </p:txBody>
      </p:sp>
      <p:sp>
        <p:nvSpPr>
          <p:cNvPr id="26" name="Text 19"/>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29</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home/claude/deck/crop3/fdd_image4_1778_50_50_0_.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3FC4">
              <a:alpha val="54000"/>
            </a:srgbClr>
          </a:solidFill>
          <a:ln w="12700">
            <a:solidFill>
              <a:srgbClr val="0B3FC4"/>
            </a:solidFill>
            <a:prstDash val="solid"/>
          </a:ln>
        </p:spPr>
        <p:txBody>
          <a:bodyPr/>
          <a:lstStyle/>
          <a:p>
            <a:endParaRPr lang="fr-FR"/>
          </a:p>
        </p:txBody>
      </p:sp>
      <p:pic>
        <p:nvPicPr>
          <p:cNvPr id="4" name="Image 1" descr="/home/claude/deck/logo-projet-blanc.png"/>
          <p:cNvPicPr>
            <a:picLocks noChangeAspect="1"/>
          </p:cNvPicPr>
          <p:nvPr/>
        </p:nvPicPr>
        <p:blipFill>
          <a:blip r:embed="rId4"/>
          <a:stretch>
            <a:fillRect/>
          </a:stretch>
        </p:blipFill>
        <p:spPr>
          <a:xfrm>
            <a:off x="10088575" y="320040"/>
            <a:ext cx="1600200" cy="647462"/>
          </a:xfrm>
          <a:prstGeom prst="rect">
            <a:avLst/>
          </a:prstGeom>
        </p:spPr>
      </p:pic>
      <p:sp>
        <p:nvSpPr>
          <p:cNvPr id="5" name="Shape 1"/>
          <p:cNvSpPr/>
          <p:nvPr/>
        </p:nvSpPr>
        <p:spPr>
          <a:xfrm>
            <a:off x="731520" y="2377440"/>
            <a:ext cx="2377440" cy="384048"/>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6" name="Text 2"/>
          <p:cNvSpPr txBox="1"/>
          <p:nvPr/>
        </p:nvSpPr>
        <p:spPr>
          <a:xfrm>
            <a:off x="731520" y="2377440"/>
            <a:ext cx="2377440" cy="384048"/>
          </a:xfrm>
          <a:prstGeom prst="rect">
            <a:avLst/>
          </a:prstGeom>
          <a:noFill/>
          <a:ln/>
        </p:spPr>
        <p:txBody>
          <a:bodyPr wrap="square" lIns="0" tIns="0" rIns="0" bIns="0" rtlCol="0" anchor="ctr"/>
          <a:lstStyle/>
          <a:p>
            <a:pPr marL="0" indent="0" algn="ctr">
              <a:buNone/>
            </a:pPr>
            <a:r>
              <a:rPr lang="en-US" sz="1400" b="1" dirty="0">
                <a:solidFill>
                  <a:srgbClr val="0012B5"/>
                </a:solidFill>
                <a:latin typeface="Verdana" pitchFamily="34" charset="0"/>
                <a:ea typeface="Verdana" pitchFamily="34" charset="-122"/>
                <a:cs typeface="Verdana" pitchFamily="34" charset="-120"/>
              </a:rPr>
              <a:t>Cinquième partie</a:t>
            </a:r>
            <a:endParaRPr lang="en-US" sz="1400" dirty="0"/>
          </a:p>
        </p:txBody>
      </p:sp>
      <p:sp>
        <p:nvSpPr>
          <p:cNvPr id="7" name="Text 3"/>
          <p:cNvSpPr txBox="1"/>
          <p:nvPr/>
        </p:nvSpPr>
        <p:spPr>
          <a:xfrm>
            <a:off x="731520" y="2926080"/>
            <a:ext cx="10058400" cy="868680"/>
          </a:xfrm>
          <a:prstGeom prst="rect">
            <a:avLst/>
          </a:prstGeom>
          <a:noFill/>
          <a:ln/>
        </p:spPr>
        <p:txBody>
          <a:bodyPr wrap="square" lIns="0" tIns="0" rIns="0" bIns="0" rtlCol="0" anchor="ctr"/>
          <a:lstStyle/>
          <a:p>
            <a:pPr marL="0" indent="0">
              <a:buNone/>
            </a:pPr>
            <a:r>
              <a:rPr lang="en-US" sz="4000" b="1" dirty="0">
                <a:solidFill>
                  <a:srgbClr val="FFFFFF"/>
                </a:solidFill>
                <a:latin typeface="Verdana" pitchFamily="34" charset="0"/>
                <a:ea typeface="Verdana" pitchFamily="34" charset="-122"/>
                <a:cs typeface="Verdana" pitchFamily="34" charset="-120"/>
              </a:rPr>
              <a:t>Données et sécurité</a:t>
            </a:r>
            <a:endParaRPr lang="en-US" sz="4000" dirty="0"/>
          </a:p>
        </p:txBody>
      </p:sp>
      <p:sp>
        <p:nvSpPr>
          <p:cNvPr id="8" name="Text 4"/>
          <p:cNvSpPr txBox="1"/>
          <p:nvPr/>
        </p:nvSpPr>
        <p:spPr>
          <a:xfrm>
            <a:off x="731520" y="3931920"/>
            <a:ext cx="10058400" cy="640080"/>
          </a:xfrm>
          <a:prstGeom prst="rect">
            <a:avLst/>
          </a:prstGeom>
          <a:noFill/>
          <a:ln/>
        </p:spPr>
        <p:txBody>
          <a:bodyPr wrap="square" lIns="0" tIns="0" rIns="0" bIns="0" rtlCol="0" anchor="t"/>
          <a:lstStyle/>
          <a:p>
            <a:pPr marL="0" indent="0">
              <a:buNone/>
            </a:pPr>
            <a:r>
              <a:rPr lang="en-US" sz="1900" dirty="0">
                <a:solidFill>
                  <a:srgbClr val="FFFFFF"/>
                </a:solidFill>
                <a:latin typeface="Verdana" pitchFamily="34" charset="0"/>
                <a:ea typeface="Verdana" pitchFamily="34" charset="-122"/>
                <a:cs typeface="Verdana" pitchFamily="34" charset="-120"/>
              </a:rPr>
              <a:t>La pièce d’identité qui disparaît, les coffres privés, les garde-fous contre la fraude et les robots.</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DONNÉES · PIÈCE D’IDENTITÉ</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100" b="1" dirty="0">
                <a:solidFill>
                  <a:srgbClr val="0012B5"/>
                </a:solidFill>
                <a:latin typeface="Verdana" pitchFamily="34" charset="0"/>
                <a:ea typeface="Verdana" pitchFamily="34" charset="-122"/>
                <a:cs typeface="Verdana" pitchFamily="34" charset="-120"/>
              </a:rPr>
              <a:t>La pièce d’identité : partagée pour la sécurité, effacée en 7 jours</a:t>
            </a:r>
            <a:endParaRPr lang="en-US" sz="2100" dirty="0"/>
          </a:p>
        </p:txBody>
      </p:sp>
      <p:sp>
        <p:nvSpPr>
          <p:cNvPr id="4" name="Shape 2"/>
          <p:cNvSpPr/>
          <p:nvPr/>
        </p:nvSpPr>
        <p:spPr>
          <a:xfrm>
            <a:off x="548640" y="1463040"/>
            <a:ext cx="2679192" cy="301752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5" name="Shape 3"/>
          <p:cNvSpPr/>
          <p:nvPr/>
        </p:nvSpPr>
        <p:spPr>
          <a:xfrm>
            <a:off x="1504188" y="1691640"/>
            <a:ext cx="768096" cy="768096"/>
          </a:xfrm>
          <a:prstGeom prst="ellipse">
            <a:avLst/>
          </a:prstGeom>
          <a:solidFill>
            <a:srgbClr val="0012B5"/>
          </a:solidFill>
          <a:ln w="12700">
            <a:solidFill>
              <a:srgbClr val="0012B5"/>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1696212" y="1883664"/>
            <a:ext cx="384048" cy="384048"/>
          </a:xfrm>
          <a:prstGeom prst="rect">
            <a:avLst/>
          </a:prstGeom>
        </p:spPr>
      </p:pic>
      <p:sp>
        <p:nvSpPr>
          <p:cNvPr id="7" name="Text 4"/>
          <p:cNvSpPr txBox="1"/>
          <p:nvPr/>
        </p:nvSpPr>
        <p:spPr>
          <a:xfrm>
            <a:off x="731520" y="2560320"/>
            <a:ext cx="2313432" cy="365760"/>
          </a:xfrm>
          <a:prstGeom prst="rect">
            <a:avLst/>
          </a:prstGeom>
          <a:noFill/>
          <a:ln/>
        </p:spPr>
        <p:txBody>
          <a:bodyPr wrap="square" lIns="0" tIns="0" rIns="0" bIns="0" rtlCol="0" anchor="t"/>
          <a:lstStyle/>
          <a:p>
            <a:pPr marL="0" indent="0" algn="ctr">
              <a:buNone/>
            </a:pPr>
            <a:r>
              <a:rPr lang="en-US" sz="1750" b="1" dirty="0">
                <a:solidFill>
                  <a:srgbClr val="0012B5"/>
                </a:solidFill>
                <a:latin typeface="Verdana" pitchFamily="34" charset="0"/>
                <a:ea typeface="Verdana" pitchFamily="34" charset="-122"/>
                <a:cs typeface="Verdana" pitchFamily="34" charset="-120"/>
              </a:rPr>
              <a:t>Déposée</a:t>
            </a:r>
            <a:endParaRPr lang="en-US" sz="1750" dirty="0"/>
          </a:p>
        </p:txBody>
      </p:sp>
      <p:sp>
        <p:nvSpPr>
          <p:cNvPr id="8" name="Text 5"/>
          <p:cNvSpPr txBox="1"/>
          <p:nvPr/>
        </p:nvSpPr>
        <p:spPr>
          <a:xfrm>
            <a:off x="749808" y="2999232"/>
            <a:ext cx="2276856" cy="1371600"/>
          </a:xfrm>
          <a:prstGeom prst="rect">
            <a:avLst/>
          </a:prstGeom>
          <a:noFill/>
          <a:ln/>
        </p:spPr>
        <p:txBody>
          <a:bodyPr wrap="square" lIns="0" tIns="0" rIns="0" bIns="0" rtlCol="0" anchor="t"/>
          <a:lstStyle/>
          <a:p>
            <a:pPr marL="0" indent="0" algn="ctr">
              <a:buNone/>
            </a:pPr>
            <a:r>
              <a:rPr lang="en-US" sz="1450" dirty="0">
                <a:solidFill>
                  <a:srgbClr val="3A4658"/>
                </a:solidFill>
                <a:latin typeface="Verdana" pitchFamily="34" charset="0"/>
                <a:ea typeface="Verdana" pitchFamily="34" charset="-122"/>
                <a:cs typeface="Verdana" pitchFamily="34" charset="-120"/>
              </a:rPr>
              <a:t>Dans un coffre privé. Illisible depuis le site, même par son propriétaire.</a:t>
            </a:r>
            <a:endParaRPr lang="en-US" sz="1450" dirty="0"/>
          </a:p>
        </p:txBody>
      </p:sp>
      <p:sp>
        <p:nvSpPr>
          <p:cNvPr id="9" name="Shape 6"/>
          <p:cNvSpPr/>
          <p:nvPr/>
        </p:nvSpPr>
        <p:spPr>
          <a:xfrm>
            <a:off x="3236976" y="2075688"/>
            <a:ext cx="137160" cy="914"/>
          </a:xfrm>
          <a:prstGeom prst="line">
            <a:avLst/>
          </a:prstGeom>
          <a:noFill/>
          <a:ln w="28575">
            <a:solidFill>
              <a:srgbClr val="1F5BD6"/>
            </a:solidFill>
            <a:prstDash val="solid"/>
            <a:tailEnd type="triangle"/>
          </a:ln>
        </p:spPr>
        <p:txBody>
          <a:bodyPr/>
          <a:lstStyle/>
          <a:p>
            <a:endParaRPr lang="fr-FR"/>
          </a:p>
        </p:txBody>
      </p:sp>
      <p:sp>
        <p:nvSpPr>
          <p:cNvPr id="10" name="Shape 7"/>
          <p:cNvSpPr/>
          <p:nvPr/>
        </p:nvSpPr>
        <p:spPr>
          <a:xfrm>
            <a:off x="3383280" y="1463040"/>
            <a:ext cx="2679192" cy="301752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1" name="Shape 8"/>
          <p:cNvSpPr/>
          <p:nvPr/>
        </p:nvSpPr>
        <p:spPr>
          <a:xfrm>
            <a:off x="4338828" y="1691640"/>
            <a:ext cx="768096" cy="768096"/>
          </a:xfrm>
          <a:prstGeom prst="ellipse">
            <a:avLst/>
          </a:prstGeom>
          <a:solidFill>
            <a:srgbClr val="1F5BD6"/>
          </a:solidFill>
          <a:ln w="12700">
            <a:solidFill>
              <a:srgbClr val="1F5BD6"/>
            </a:solidFill>
            <a:prstDash val="solid"/>
          </a:ln>
        </p:spPr>
        <p:txBody>
          <a:bodyPr/>
          <a:lstStyle/>
          <a:p>
            <a:endParaRPr lang="fr-FR"/>
          </a:p>
        </p:txBody>
      </p:sp>
      <p:pic>
        <p:nvPicPr>
          <p:cNvPr id="12" name="Image 1" descr="preencoded.png"/>
          <p:cNvPicPr>
            <a:picLocks noChangeAspect="1"/>
          </p:cNvPicPr>
          <p:nvPr/>
        </p:nvPicPr>
        <p:blipFill>
          <a:blip r:embed="rId4"/>
          <a:stretch>
            <a:fillRect/>
          </a:stretch>
        </p:blipFill>
        <p:spPr>
          <a:xfrm>
            <a:off x="4530852" y="1883664"/>
            <a:ext cx="384048" cy="384048"/>
          </a:xfrm>
          <a:prstGeom prst="rect">
            <a:avLst/>
          </a:prstGeom>
        </p:spPr>
      </p:pic>
      <p:sp>
        <p:nvSpPr>
          <p:cNvPr id="13" name="Text 9"/>
          <p:cNvSpPr txBox="1"/>
          <p:nvPr/>
        </p:nvSpPr>
        <p:spPr>
          <a:xfrm>
            <a:off x="3566160" y="2560320"/>
            <a:ext cx="2313432" cy="365760"/>
          </a:xfrm>
          <a:prstGeom prst="rect">
            <a:avLst/>
          </a:prstGeom>
          <a:noFill/>
          <a:ln/>
        </p:spPr>
        <p:txBody>
          <a:bodyPr wrap="square" lIns="0" tIns="0" rIns="0" bIns="0" rtlCol="0" anchor="t"/>
          <a:lstStyle/>
          <a:p>
            <a:pPr marL="0" indent="0" algn="ctr">
              <a:buNone/>
            </a:pPr>
            <a:r>
              <a:rPr lang="en-US" sz="1750" b="1" dirty="0">
                <a:solidFill>
                  <a:srgbClr val="0012B5"/>
                </a:solidFill>
                <a:latin typeface="Verdana" pitchFamily="34" charset="0"/>
                <a:ea typeface="Verdana" pitchFamily="34" charset="-122"/>
                <a:cs typeface="Verdana" pitchFamily="34" charset="-120"/>
              </a:rPr>
              <a:t>Vue par le patron</a:t>
            </a:r>
            <a:endParaRPr lang="en-US" sz="1750" dirty="0"/>
          </a:p>
        </p:txBody>
      </p:sp>
      <p:sp>
        <p:nvSpPr>
          <p:cNvPr id="14" name="Text 10"/>
          <p:cNvSpPr txBox="1"/>
          <p:nvPr/>
        </p:nvSpPr>
        <p:spPr>
          <a:xfrm>
            <a:off x="3584448" y="2999232"/>
            <a:ext cx="2276856" cy="1371600"/>
          </a:xfrm>
          <a:prstGeom prst="rect">
            <a:avLst/>
          </a:prstGeom>
          <a:noFill/>
          <a:ln/>
        </p:spPr>
        <p:txBody>
          <a:bodyPr wrap="square" lIns="0" tIns="0" rIns="0" bIns="0" rtlCol="0" anchor="t"/>
          <a:lstStyle/>
          <a:p>
            <a:pPr marL="0" indent="0" algn="ctr">
              <a:buNone/>
            </a:pPr>
            <a:r>
              <a:rPr lang="en-US" sz="1450" dirty="0">
                <a:solidFill>
                  <a:srgbClr val="3A4658"/>
                </a:solidFill>
                <a:latin typeface="Verdana" pitchFamily="34" charset="0"/>
                <a:ea typeface="Verdana" pitchFamily="34" charset="-122"/>
                <a:cs typeface="Verdana" pitchFamily="34" charset="-120"/>
              </a:rPr>
              <a:t>Pour une sortie confirmée de son navire, par lien sécurisé, jusqu’à 48 h après la sortie.</a:t>
            </a:r>
            <a:endParaRPr lang="en-US" sz="1450" dirty="0"/>
          </a:p>
        </p:txBody>
      </p:sp>
      <p:sp>
        <p:nvSpPr>
          <p:cNvPr id="15" name="Shape 11"/>
          <p:cNvSpPr/>
          <p:nvPr/>
        </p:nvSpPr>
        <p:spPr>
          <a:xfrm>
            <a:off x="6071616" y="2075688"/>
            <a:ext cx="137160" cy="914"/>
          </a:xfrm>
          <a:prstGeom prst="line">
            <a:avLst/>
          </a:prstGeom>
          <a:noFill/>
          <a:ln w="28575">
            <a:solidFill>
              <a:srgbClr val="1F5BD6"/>
            </a:solidFill>
            <a:prstDash val="solid"/>
            <a:tailEnd type="triangle"/>
          </a:ln>
        </p:spPr>
        <p:txBody>
          <a:bodyPr/>
          <a:lstStyle/>
          <a:p>
            <a:endParaRPr lang="fr-FR"/>
          </a:p>
        </p:txBody>
      </p:sp>
      <p:sp>
        <p:nvSpPr>
          <p:cNvPr id="16" name="Shape 12"/>
          <p:cNvSpPr/>
          <p:nvPr/>
        </p:nvSpPr>
        <p:spPr>
          <a:xfrm>
            <a:off x="6217920" y="1463040"/>
            <a:ext cx="2679192" cy="301752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7" name="Shape 13"/>
          <p:cNvSpPr/>
          <p:nvPr/>
        </p:nvSpPr>
        <p:spPr>
          <a:xfrm>
            <a:off x="7173468" y="1691640"/>
            <a:ext cx="768096" cy="768096"/>
          </a:xfrm>
          <a:prstGeom prst="ellipse">
            <a:avLst/>
          </a:prstGeom>
          <a:solidFill>
            <a:srgbClr val="0E9F6E"/>
          </a:solidFill>
          <a:ln w="12700">
            <a:solidFill>
              <a:srgbClr val="0E9F6E"/>
            </a:solidFill>
            <a:prstDash val="solid"/>
          </a:ln>
        </p:spPr>
        <p:txBody>
          <a:bodyPr/>
          <a:lstStyle/>
          <a:p>
            <a:endParaRPr lang="fr-FR"/>
          </a:p>
        </p:txBody>
      </p:sp>
      <p:pic>
        <p:nvPicPr>
          <p:cNvPr id="18" name="Image 2" descr="preencoded.png"/>
          <p:cNvPicPr>
            <a:picLocks noChangeAspect="1"/>
          </p:cNvPicPr>
          <p:nvPr/>
        </p:nvPicPr>
        <p:blipFill>
          <a:blip r:embed="rId5"/>
          <a:stretch>
            <a:fillRect/>
          </a:stretch>
        </p:blipFill>
        <p:spPr>
          <a:xfrm>
            <a:off x="7365492" y="1883664"/>
            <a:ext cx="384048" cy="384048"/>
          </a:xfrm>
          <a:prstGeom prst="rect">
            <a:avLst/>
          </a:prstGeom>
        </p:spPr>
      </p:pic>
      <p:sp>
        <p:nvSpPr>
          <p:cNvPr id="19" name="Text 14"/>
          <p:cNvSpPr txBox="1"/>
          <p:nvPr/>
        </p:nvSpPr>
        <p:spPr>
          <a:xfrm>
            <a:off x="6400800" y="2560320"/>
            <a:ext cx="2313432" cy="365760"/>
          </a:xfrm>
          <a:prstGeom prst="rect">
            <a:avLst/>
          </a:prstGeom>
          <a:noFill/>
          <a:ln/>
        </p:spPr>
        <p:txBody>
          <a:bodyPr wrap="square" lIns="0" tIns="0" rIns="0" bIns="0" rtlCol="0" anchor="t"/>
          <a:lstStyle/>
          <a:p>
            <a:pPr marL="0" indent="0" algn="ctr">
              <a:buNone/>
            </a:pPr>
            <a:r>
              <a:rPr lang="en-US" sz="1750" b="1" dirty="0">
                <a:solidFill>
                  <a:srgbClr val="0012B5"/>
                </a:solidFill>
                <a:latin typeface="Verdana" pitchFamily="34" charset="0"/>
                <a:ea typeface="Verdana" pitchFamily="34" charset="-122"/>
                <a:cs typeface="Verdana" pitchFamily="34" charset="-120"/>
              </a:rPr>
              <a:t>Aux secours</a:t>
            </a:r>
            <a:endParaRPr lang="en-US" sz="1750" dirty="0"/>
          </a:p>
        </p:txBody>
      </p:sp>
      <p:sp>
        <p:nvSpPr>
          <p:cNvPr id="20" name="Text 15"/>
          <p:cNvSpPr txBox="1"/>
          <p:nvPr/>
        </p:nvSpPr>
        <p:spPr>
          <a:xfrm>
            <a:off x="6419088" y="2999232"/>
            <a:ext cx="2276856" cy="1371600"/>
          </a:xfrm>
          <a:prstGeom prst="rect">
            <a:avLst/>
          </a:prstGeom>
          <a:noFill/>
          <a:ln/>
        </p:spPr>
        <p:txBody>
          <a:bodyPr wrap="square" lIns="0" tIns="0" rIns="0" bIns="0" rtlCol="0" anchor="t"/>
          <a:lstStyle/>
          <a:p>
            <a:pPr marL="0" indent="0" algn="ctr">
              <a:buNone/>
            </a:pPr>
            <a:r>
              <a:rPr lang="en-US" sz="1450" dirty="0">
                <a:solidFill>
                  <a:srgbClr val="3A4658"/>
                </a:solidFill>
                <a:latin typeface="Verdana" pitchFamily="34" charset="0"/>
                <a:ea typeface="Verdana" pitchFamily="34" charset="-122"/>
                <a:cs typeface="Verdana" pitchFamily="34" charset="-120"/>
              </a:rPr>
              <a:t>Jointe à la déclaration : le CROSS et la SNSM y ont accès 7 jours, à seule fin de sécurité.</a:t>
            </a:r>
            <a:endParaRPr lang="en-US" sz="1450" dirty="0"/>
          </a:p>
        </p:txBody>
      </p:sp>
      <p:sp>
        <p:nvSpPr>
          <p:cNvPr id="21" name="Shape 16"/>
          <p:cNvSpPr/>
          <p:nvPr/>
        </p:nvSpPr>
        <p:spPr>
          <a:xfrm>
            <a:off x="8906256" y="2075688"/>
            <a:ext cx="137160" cy="914"/>
          </a:xfrm>
          <a:prstGeom prst="line">
            <a:avLst/>
          </a:prstGeom>
          <a:noFill/>
          <a:ln w="28575">
            <a:solidFill>
              <a:srgbClr val="1F5BD6"/>
            </a:solidFill>
            <a:prstDash val="solid"/>
            <a:tailEnd type="triangle"/>
          </a:ln>
        </p:spPr>
        <p:txBody>
          <a:bodyPr/>
          <a:lstStyle/>
          <a:p>
            <a:endParaRPr lang="fr-FR"/>
          </a:p>
        </p:txBody>
      </p:sp>
      <p:sp>
        <p:nvSpPr>
          <p:cNvPr id="22" name="Shape 17"/>
          <p:cNvSpPr/>
          <p:nvPr/>
        </p:nvSpPr>
        <p:spPr>
          <a:xfrm>
            <a:off x="9052560" y="1463040"/>
            <a:ext cx="2679192" cy="301752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3" name="Shape 18"/>
          <p:cNvSpPr/>
          <p:nvPr/>
        </p:nvSpPr>
        <p:spPr>
          <a:xfrm>
            <a:off x="10008108" y="1691640"/>
            <a:ext cx="768096" cy="768096"/>
          </a:xfrm>
          <a:prstGeom prst="ellipse">
            <a:avLst/>
          </a:prstGeom>
          <a:solidFill>
            <a:srgbClr val="00A7B5"/>
          </a:solidFill>
          <a:ln w="12700">
            <a:solidFill>
              <a:srgbClr val="00A7B5"/>
            </a:solidFill>
            <a:prstDash val="solid"/>
          </a:ln>
        </p:spPr>
        <p:txBody>
          <a:bodyPr/>
          <a:lstStyle/>
          <a:p>
            <a:endParaRPr lang="fr-FR"/>
          </a:p>
        </p:txBody>
      </p:sp>
      <p:pic>
        <p:nvPicPr>
          <p:cNvPr id="24" name="Image 3" descr="preencoded.png"/>
          <p:cNvPicPr>
            <a:picLocks noChangeAspect="1"/>
          </p:cNvPicPr>
          <p:nvPr/>
        </p:nvPicPr>
        <p:blipFill>
          <a:blip r:embed="rId6"/>
          <a:stretch>
            <a:fillRect/>
          </a:stretch>
        </p:blipFill>
        <p:spPr>
          <a:xfrm>
            <a:off x="10200132" y="1883664"/>
            <a:ext cx="384048" cy="384048"/>
          </a:xfrm>
          <a:prstGeom prst="rect">
            <a:avLst/>
          </a:prstGeom>
        </p:spPr>
      </p:pic>
      <p:sp>
        <p:nvSpPr>
          <p:cNvPr id="25" name="Text 19"/>
          <p:cNvSpPr txBox="1"/>
          <p:nvPr/>
        </p:nvSpPr>
        <p:spPr>
          <a:xfrm>
            <a:off x="9235440" y="2560320"/>
            <a:ext cx="2313432" cy="365760"/>
          </a:xfrm>
          <a:prstGeom prst="rect">
            <a:avLst/>
          </a:prstGeom>
          <a:noFill/>
          <a:ln/>
        </p:spPr>
        <p:txBody>
          <a:bodyPr wrap="square" lIns="0" tIns="0" rIns="0" bIns="0" rtlCol="0" anchor="t"/>
          <a:lstStyle/>
          <a:p>
            <a:pPr marL="0" indent="0" algn="ctr">
              <a:buNone/>
            </a:pPr>
            <a:r>
              <a:rPr lang="en-US" sz="1750" b="1" dirty="0">
                <a:solidFill>
                  <a:srgbClr val="0012B5"/>
                </a:solidFill>
                <a:latin typeface="Verdana" pitchFamily="34" charset="0"/>
                <a:ea typeface="Verdana" pitchFamily="34" charset="-122"/>
                <a:cs typeface="Verdana" pitchFamily="34" charset="-120"/>
              </a:rPr>
              <a:t>Effacée</a:t>
            </a:r>
            <a:endParaRPr lang="en-US" sz="1750" dirty="0"/>
          </a:p>
        </p:txBody>
      </p:sp>
      <p:sp>
        <p:nvSpPr>
          <p:cNvPr id="26" name="Text 20"/>
          <p:cNvSpPr txBox="1"/>
          <p:nvPr/>
        </p:nvSpPr>
        <p:spPr>
          <a:xfrm>
            <a:off x="9253728" y="2999232"/>
            <a:ext cx="2276856" cy="1371600"/>
          </a:xfrm>
          <a:prstGeom prst="rect">
            <a:avLst/>
          </a:prstGeom>
          <a:noFill/>
          <a:ln/>
        </p:spPr>
        <p:txBody>
          <a:bodyPr wrap="square" lIns="0" tIns="0" rIns="0" bIns="0" rtlCol="0" anchor="t"/>
          <a:lstStyle/>
          <a:p>
            <a:pPr marL="0" indent="0" algn="ctr">
              <a:buNone/>
            </a:pPr>
            <a:r>
              <a:rPr lang="en-US" sz="1450" dirty="0">
                <a:solidFill>
                  <a:srgbClr val="3A4658"/>
                </a:solidFill>
                <a:latin typeface="Verdana" pitchFamily="34" charset="0"/>
                <a:ea typeface="Verdana" pitchFamily="34" charset="-122"/>
                <a:cs typeface="Verdana" pitchFamily="34" charset="-120"/>
              </a:rPr>
              <a:t>Chaque matin : 7 jours après la sortie ; 60 jours après le dépôt sans sortie.</a:t>
            </a:r>
            <a:endParaRPr lang="en-US" sz="1450" dirty="0"/>
          </a:p>
        </p:txBody>
      </p:sp>
      <p:sp>
        <p:nvSpPr>
          <p:cNvPr id="27" name="Shape 21"/>
          <p:cNvSpPr/>
          <p:nvPr/>
        </p:nvSpPr>
        <p:spPr>
          <a:xfrm>
            <a:off x="548640" y="4709160"/>
            <a:ext cx="2679192" cy="1691640"/>
          </a:xfrm>
          <a:prstGeom prst="roundRect">
            <a:avLst>
              <a:gd name="adj" fmla="val 10811"/>
            </a:avLst>
          </a:prstGeom>
          <a:solidFill>
            <a:srgbClr val="EEF4FD"/>
          </a:solidFill>
          <a:ln w="12700">
            <a:solidFill>
              <a:srgbClr val="EEF4FD"/>
            </a:solidFill>
            <a:prstDash val="solid"/>
          </a:ln>
        </p:spPr>
        <p:txBody>
          <a:bodyPr/>
          <a:lstStyle/>
          <a:p>
            <a:endParaRPr lang="fr-FR"/>
          </a:p>
        </p:txBody>
      </p:sp>
      <p:sp>
        <p:nvSpPr>
          <p:cNvPr id="28" name="Text 22"/>
          <p:cNvSpPr txBox="1"/>
          <p:nvPr/>
        </p:nvSpPr>
        <p:spPr>
          <a:xfrm>
            <a:off x="548640" y="4773168"/>
            <a:ext cx="2679192" cy="777240"/>
          </a:xfrm>
          <a:prstGeom prst="rect">
            <a:avLst/>
          </a:prstGeom>
          <a:noFill/>
          <a:ln/>
        </p:spPr>
        <p:txBody>
          <a:bodyPr wrap="square" lIns="0" tIns="0" rIns="0" bIns="0" rtlCol="0" anchor="ctr"/>
          <a:lstStyle/>
          <a:p>
            <a:pPr marL="0" indent="0" algn="ctr">
              <a:buNone/>
            </a:pPr>
            <a:r>
              <a:rPr lang="en-US" sz="3200" b="1" dirty="0">
                <a:solidFill>
                  <a:srgbClr val="1F5BD6"/>
                </a:solidFill>
                <a:latin typeface="Verdana" pitchFamily="34" charset="0"/>
                <a:ea typeface="Verdana" pitchFamily="34" charset="-122"/>
                <a:cs typeface="Verdana" pitchFamily="34" charset="-120"/>
              </a:rPr>
              <a:t>7 j</a:t>
            </a:r>
            <a:endParaRPr lang="en-US" sz="3200" dirty="0"/>
          </a:p>
        </p:txBody>
      </p:sp>
      <p:sp>
        <p:nvSpPr>
          <p:cNvPr id="29" name="Text 23"/>
          <p:cNvSpPr txBox="1"/>
          <p:nvPr/>
        </p:nvSpPr>
        <p:spPr>
          <a:xfrm>
            <a:off x="731520" y="5559552"/>
            <a:ext cx="2313432" cy="731520"/>
          </a:xfrm>
          <a:prstGeom prst="rect">
            <a:avLst/>
          </a:prstGeom>
          <a:noFill/>
          <a:ln/>
        </p:spPr>
        <p:txBody>
          <a:bodyPr wrap="square" lIns="0" tIns="0" rIns="0" bIns="0" rtlCol="0" anchor="t"/>
          <a:lstStyle/>
          <a:p>
            <a:pPr marL="0" indent="0" algn="ctr">
              <a:buNone/>
            </a:pPr>
            <a:r>
              <a:rPr lang="en-US" sz="1400" dirty="0">
                <a:solidFill>
                  <a:srgbClr val="3A4658"/>
                </a:solidFill>
                <a:latin typeface="Verdana" pitchFamily="34" charset="0"/>
                <a:ea typeface="Verdana" pitchFamily="34" charset="-122"/>
                <a:cs typeface="Verdana" pitchFamily="34" charset="-120"/>
              </a:rPr>
              <a:t>pièces des accompagnants, après la sortie</a:t>
            </a:r>
            <a:endParaRPr lang="en-US" sz="1400" dirty="0"/>
          </a:p>
        </p:txBody>
      </p:sp>
      <p:sp>
        <p:nvSpPr>
          <p:cNvPr id="30" name="Shape 24"/>
          <p:cNvSpPr/>
          <p:nvPr/>
        </p:nvSpPr>
        <p:spPr>
          <a:xfrm>
            <a:off x="3383280" y="4709160"/>
            <a:ext cx="2679192" cy="1691640"/>
          </a:xfrm>
          <a:prstGeom prst="roundRect">
            <a:avLst>
              <a:gd name="adj" fmla="val 10811"/>
            </a:avLst>
          </a:prstGeom>
          <a:solidFill>
            <a:srgbClr val="EEF4FD"/>
          </a:solidFill>
          <a:ln w="12700">
            <a:solidFill>
              <a:srgbClr val="EEF4FD"/>
            </a:solidFill>
            <a:prstDash val="solid"/>
          </a:ln>
        </p:spPr>
        <p:txBody>
          <a:bodyPr/>
          <a:lstStyle/>
          <a:p>
            <a:endParaRPr lang="fr-FR"/>
          </a:p>
        </p:txBody>
      </p:sp>
      <p:sp>
        <p:nvSpPr>
          <p:cNvPr id="31" name="Text 25"/>
          <p:cNvSpPr txBox="1"/>
          <p:nvPr/>
        </p:nvSpPr>
        <p:spPr>
          <a:xfrm>
            <a:off x="3383280" y="4773168"/>
            <a:ext cx="2679192" cy="777240"/>
          </a:xfrm>
          <a:prstGeom prst="rect">
            <a:avLst/>
          </a:prstGeom>
          <a:noFill/>
          <a:ln/>
        </p:spPr>
        <p:txBody>
          <a:bodyPr wrap="square" lIns="0" tIns="0" rIns="0" bIns="0" rtlCol="0" anchor="ctr"/>
          <a:lstStyle/>
          <a:p>
            <a:pPr marL="0" indent="0" algn="ctr">
              <a:buNone/>
            </a:pPr>
            <a:r>
              <a:rPr lang="en-US" sz="3200" b="1" dirty="0">
                <a:solidFill>
                  <a:srgbClr val="1F5BD6"/>
                </a:solidFill>
                <a:latin typeface="Verdana" pitchFamily="34" charset="0"/>
                <a:ea typeface="Verdana" pitchFamily="34" charset="-122"/>
                <a:cs typeface="Verdana" pitchFamily="34" charset="-120"/>
              </a:rPr>
              <a:t>7 j</a:t>
            </a:r>
            <a:endParaRPr lang="en-US" sz="3200" dirty="0"/>
          </a:p>
        </p:txBody>
      </p:sp>
      <p:sp>
        <p:nvSpPr>
          <p:cNvPr id="32" name="Text 26"/>
          <p:cNvSpPr txBox="1"/>
          <p:nvPr/>
        </p:nvSpPr>
        <p:spPr>
          <a:xfrm>
            <a:off x="3566160" y="5559552"/>
            <a:ext cx="2313432" cy="731520"/>
          </a:xfrm>
          <a:prstGeom prst="rect">
            <a:avLst/>
          </a:prstGeom>
          <a:noFill/>
          <a:ln/>
        </p:spPr>
        <p:txBody>
          <a:bodyPr wrap="square" lIns="0" tIns="0" rIns="0" bIns="0" rtlCol="0" anchor="t"/>
          <a:lstStyle/>
          <a:p>
            <a:pPr marL="0" indent="0" algn="ctr">
              <a:buNone/>
            </a:pPr>
            <a:r>
              <a:rPr lang="en-US" sz="1400" dirty="0">
                <a:solidFill>
                  <a:srgbClr val="3A4658"/>
                </a:solidFill>
                <a:latin typeface="Verdana" pitchFamily="34" charset="0"/>
                <a:ea typeface="Verdana" pitchFamily="34" charset="-122"/>
                <a:cs typeface="Verdana" pitchFamily="34" charset="-120"/>
              </a:rPr>
              <a:t>pièces des scientifiques, après la mission</a:t>
            </a:r>
            <a:endParaRPr lang="en-US" sz="1400" dirty="0"/>
          </a:p>
        </p:txBody>
      </p:sp>
      <p:sp>
        <p:nvSpPr>
          <p:cNvPr id="33" name="Shape 27"/>
          <p:cNvSpPr/>
          <p:nvPr/>
        </p:nvSpPr>
        <p:spPr>
          <a:xfrm>
            <a:off x="6217920" y="4709160"/>
            <a:ext cx="2679192" cy="1691640"/>
          </a:xfrm>
          <a:prstGeom prst="roundRect">
            <a:avLst>
              <a:gd name="adj" fmla="val 10811"/>
            </a:avLst>
          </a:prstGeom>
          <a:solidFill>
            <a:srgbClr val="EEF4FD"/>
          </a:solidFill>
          <a:ln w="12700">
            <a:solidFill>
              <a:srgbClr val="EEF4FD"/>
            </a:solidFill>
            <a:prstDash val="solid"/>
          </a:ln>
        </p:spPr>
        <p:txBody>
          <a:bodyPr/>
          <a:lstStyle/>
          <a:p>
            <a:endParaRPr lang="fr-FR"/>
          </a:p>
        </p:txBody>
      </p:sp>
      <p:sp>
        <p:nvSpPr>
          <p:cNvPr id="34" name="Text 28"/>
          <p:cNvSpPr txBox="1"/>
          <p:nvPr/>
        </p:nvSpPr>
        <p:spPr>
          <a:xfrm>
            <a:off x="6217920" y="4773168"/>
            <a:ext cx="2679192" cy="777240"/>
          </a:xfrm>
          <a:prstGeom prst="rect">
            <a:avLst/>
          </a:prstGeom>
          <a:noFill/>
          <a:ln/>
        </p:spPr>
        <p:txBody>
          <a:bodyPr wrap="square" lIns="0" tIns="0" rIns="0" bIns="0" rtlCol="0" anchor="ctr"/>
          <a:lstStyle/>
          <a:p>
            <a:pPr marL="0" indent="0" algn="ctr">
              <a:buNone/>
            </a:pPr>
            <a:r>
              <a:rPr lang="en-US" sz="3200" b="1" dirty="0">
                <a:solidFill>
                  <a:srgbClr val="1F5BD6"/>
                </a:solidFill>
                <a:latin typeface="Verdana" pitchFamily="34" charset="0"/>
                <a:ea typeface="Verdana" pitchFamily="34" charset="-122"/>
                <a:cs typeface="Verdana" pitchFamily="34" charset="-120"/>
              </a:rPr>
              <a:t>48 h</a:t>
            </a:r>
            <a:endParaRPr lang="en-US" sz="3200" dirty="0"/>
          </a:p>
        </p:txBody>
      </p:sp>
      <p:sp>
        <p:nvSpPr>
          <p:cNvPr id="35" name="Text 29"/>
          <p:cNvSpPr txBox="1"/>
          <p:nvPr/>
        </p:nvSpPr>
        <p:spPr>
          <a:xfrm>
            <a:off x="6400800" y="5559552"/>
            <a:ext cx="2313432" cy="731520"/>
          </a:xfrm>
          <a:prstGeom prst="rect">
            <a:avLst/>
          </a:prstGeom>
          <a:noFill/>
          <a:ln/>
        </p:spPr>
        <p:txBody>
          <a:bodyPr wrap="square" lIns="0" tIns="0" rIns="0" bIns="0" rtlCol="0" anchor="t"/>
          <a:lstStyle/>
          <a:p>
            <a:pPr marL="0" indent="0" algn="ctr">
              <a:buNone/>
            </a:pPr>
            <a:r>
              <a:rPr lang="en-US" sz="1400" dirty="0">
                <a:solidFill>
                  <a:srgbClr val="3A4658"/>
                </a:solidFill>
                <a:latin typeface="Verdana" pitchFamily="34" charset="0"/>
                <a:ea typeface="Verdana" pitchFamily="34" charset="-122"/>
                <a:cs typeface="Verdana" pitchFamily="34" charset="-120"/>
              </a:rPr>
              <a:t>accès du patron, après la sortie</a:t>
            </a:r>
            <a:endParaRPr lang="en-US" sz="1400" dirty="0"/>
          </a:p>
        </p:txBody>
      </p:sp>
      <p:sp>
        <p:nvSpPr>
          <p:cNvPr id="36" name="Shape 30"/>
          <p:cNvSpPr/>
          <p:nvPr/>
        </p:nvSpPr>
        <p:spPr>
          <a:xfrm>
            <a:off x="9052560" y="4709160"/>
            <a:ext cx="2679192" cy="1691640"/>
          </a:xfrm>
          <a:prstGeom prst="roundRect">
            <a:avLst>
              <a:gd name="adj" fmla="val 10811"/>
            </a:avLst>
          </a:prstGeom>
          <a:solidFill>
            <a:srgbClr val="EEF4FD"/>
          </a:solidFill>
          <a:ln w="12700">
            <a:solidFill>
              <a:srgbClr val="EEF4FD"/>
            </a:solidFill>
            <a:prstDash val="solid"/>
          </a:ln>
        </p:spPr>
        <p:txBody>
          <a:bodyPr/>
          <a:lstStyle/>
          <a:p>
            <a:endParaRPr lang="fr-FR"/>
          </a:p>
        </p:txBody>
      </p:sp>
      <p:sp>
        <p:nvSpPr>
          <p:cNvPr id="37" name="Text 31"/>
          <p:cNvSpPr txBox="1"/>
          <p:nvPr/>
        </p:nvSpPr>
        <p:spPr>
          <a:xfrm>
            <a:off x="9052560" y="4773168"/>
            <a:ext cx="2679192" cy="777240"/>
          </a:xfrm>
          <a:prstGeom prst="rect">
            <a:avLst/>
          </a:prstGeom>
          <a:noFill/>
          <a:ln/>
        </p:spPr>
        <p:txBody>
          <a:bodyPr wrap="square" lIns="0" tIns="0" rIns="0" bIns="0" rtlCol="0" anchor="ctr"/>
          <a:lstStyle/>
          <a:p>
            <a:pPr marL="0" indent="0" algn="ctr">
              <a:buNone/>
            </a:pPr>
            <a:r>
              <a:rPr lang="en-US" sz="3200" b="1" dirty="0">
                <a:solidFill>
                  <a:srgbClr val="1F5BD6"/>
                </a:solidFill>
                <a:latin typeface="Verdana" pitchFamily="34" charset="0"/>
                <a:ea typeface="Verdana" pitchFamily="34" charset="-122"/>
                <a:cs typeface="Verdana" pitchFamily="34" charset="-120"/>
              </a:rPr>
              <a:t>0</a:t>
            </a:r>
            <a:endParaRPr lang="en-US" sz="3200" dirty="0"/>
          </a:p>
        </p:txBody>
      </p:sp>
      <p:sp>
        <p:nvSpPr>
          <p:cNvPr id="38" name="Text 32"/>
          <p:cNvSpPr txBox="1"/>
          <p:nvPr/>
        </p:nvSpPr>
        <p:spPr>
          <a:xfrm>
            <a:off x="9235440" y="5559552"/>
            <a:ext cx="2313432" cy="731520"/>
          </a:xfrm>
          <a:prstGeom prst="rect">
            <a:avLst/>
          </a:prstGeom>
          <a:noFill/>
          <a:ln/>
        </p:spPr>
        <p:txBody>
          <a:bodyPr wrap="square" lIns="0" tIns="0" rIns="0" bIns="0" rtlCol="0" anchor="t"/>
          <a:lstStyle/>
          <a:p>
            <a:pPr marL="0" indent="0" algn="ctr">
              <a:buNone/>
            </a:pPr>
            <a:r>
              <a:rPr lang="en-US" sz="1400" dirty="0">
                <a:solidFill>
                  <a:srgbClr val="3A4658"/>
                </a:solidFill>
                <a:latin typeface="Verdana" pitchFamily="34" charset="0"/>
                <a:ea typeface="Verdana" pitchFamily="34" charset="-122"/>
                <a:cs typeface="Verdana" pitchFamily="34" charset="-120"/>
              </a:rPr>
              <a:t>coordonnée du client transmise au patron</a:t>
            </a:r>
            <a:endParaRPr lang="en-US" sz="1400" dirty="0"/>
          </a:p>
        </p:txBody>
      </p:sp>
      <p:sp>
        <p:nvSpPr>
          <p:cNvPr id="39" name="Text 33"/>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31</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DONNÉES · PROTECTIONS</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Les autres garde-fous</a:t>
            </a:r>
            <a:endParaRPr lang="en-US" sz="2500" dirty="0"/>
          </a:p>
        </p:txBody>
      </p:sp>
      <p:sp>
        <p:nvSpPr>
          <p:cNvPr id="4" name="Shape 2"/>
          <p:cNvSpPr/>
          <p:nvPr/>
        </p:nvSpPr>
        <p:spPr>
          <a:xfrm>
            <a:off x="548640" y="1417320"/>
            <a:ext cx="5440680" cy="1508760"/>
          </a:xfrm>
          <a:prstGeom prst="roundRect">
            <a:avLst>
              <a:gd name="adj" fmla="val 12121"/>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5" name="Shape 3"/>
          <p:cNvSpPr/>
          <p:nvPr/>
        </p:nvSpPr>
        <p:spPr>
          <a:xfrm>
            <a:off x="777240" y="1691640"/>
            <a:ext cx="603504" cy="603504"/>
          </a:xfrm>
          <a:prstGeom prst="ellipse">
            <a:avLst/>
          </a:prstGeom>
          <a:solidFill>
            <a:srgbClr val="0012B5"/>
          </a:solidFill>
          <a:ln w="12700">
            <a:solidFill>
              <a:srgbClr val="0012B5"/>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928116" y="1842516"/>
            <a:ext cx="301752" cy="301752"/>
          </a:xfrm>
          <a:prstGeom prst="rect">
            <a:avLst/>
          </a:prstGeom>
        </p:spPr>
      </p:pic>
      <p:sp>
        <p:nvSpPr>
          <p:cNvPr id="7" name="Text 4"/>
          <p:cNvSpPr txBox="1"/>
          <p:nvPr/>
        </p:nvSpPr>
        <p:spPr>
          <a:xfrm>
            <a:off x="1600200" y="1600200"/>
            <a:ext cx="4206240" cy="329184"/>
          </a:xfrm>
          <a:prstGeom prst="rect">
            <a:avLst/>
          </a:prstGeom>
          <a:noFill/>
          <a:ln/>
        </p:spPr>
        <p:txBody>
          <a:bodyPr wrap="square" lIns="0" tIns="0" rIns="0" bIns="0" rtlCol="0" anchor="t"/>
          <a:lstStyle/>
          <a:p>
            <a:pPr marL="0" indent="0">
              <a:buNone/>
            </a:pPr>
            <a:r>
              <a:rPr lang="en-US" sz="1700" b="1" dirty="0">
                <a:solidFill>
                  <a:srgbClr val="0012B5"/>
                </a:solidFill>
                <a:latin typeface="Verdana" pitchFamily="34" charset="0"/>
                <a:ea typeface="Verdana" pitchFamily="34" charset="-122"/>
                <a:cs typeface="Verdana" pitchFamily="34" charset="-120"/>
              </a:rPr>
              <a:t>Rôles étanches</a:t>
            </a:r>
            <a:endParaRPr lang="en-US" sz="1700" dirty="0"/>
          </a:p>
        </p:txBody>
      </p:sp>
      <p:sp>
        <p:nvSpPr>
          <p:cNvPr id="8" name="Text 5"/>
          <p:cNvSpPr txBox="1"/>
          <p:nvPr/>
        </p:nvSpPr>
        <p:spPr>
          <a:xfrm>
            <a:off x="1600200" y="1965960"/>
            <a:ext cx="4206240" cy="896112"/>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Un compte, un rôle, une session. Le serveur vérifie le rôle à chaque action.</a:t>
            </a:r>
            <a:endParaRPr lang="en-US" sz="1400" dirty="0"/>
          </a:p>
        </p:txBody>
      </p:sp>
      <p:sp>
        <p:nvSpPr>
          <p:cNvPr id="9" name="Shape 6"/>
          <p:cNvSpPr/>
          <p:nvPr/>
        </p:nvSpPr>
        <p:spPr>
          <a:xfrm>
            <a:off x="6217920" y="1417320"/>
            <a:ext cx="5440680" cy="1508760"/>
          </a:xfrm>
          <a:prstGeom prst="roundRect">
            <a:avLst>
              <a:gd name="adj" fmla="val 12121"/>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0" name="Shape 7"/>
          <p:cNvSpPr/>
          <p:nvPr/>
        </p:nvSpPr>
        <p:spPr>
          <a:xfrm>
            <a:off x="6446520" y="1691640"/>
            <a:ext cx="603504" cy="603504"/>
          </a:xfrm>
          <a:prstGeom prst="ellipse">
            <a:avLst/>
          </a:prstGeom>
          <a:solidFill>
            <a:srgbClr val="0012B5"/>
          </a:solidFill>
          <a:ln w="12700">
            <a:solidFill>
              <a:srgbClr val="0012B5"/>
            </a:solidFill>
            <a:prstDash val="solid"/>
          </a:ln>
        </p:spPr>
        <p:txBody>
          <a:bodyPr/>
          <a:lstStyle/>
          <a:p>
            <a:endParaRPr lang="fr-FR"/>
          </a:p>
        </p:txBody>
      </p:sp>
      <p:pic>
        <p:nvPicPr>
          <p:cNvPr id="11" name="Image 1" descr="preencoded.png"/>
          <p:cNvPicPr>
            <a:picLocks noChangeAspect="1"/>
          </p:cNvPicPr>
          <p:nvPr/>
        </p:nvPicPr>
        <p:blipFill>
          <a:blip r:embed="rId4"/>
          <a:stretch>
            <a:fillRect/>
          </a:stretch>
        </p:blipFill>
        <p:spPr>
          <a:xfrm>
            <a:off x="6597396" y="1842516"/>
            <a:ext cx="301752" cy="301752"/>
          </a:xfrm>
          <a:prstGeom prst="rect">
            <a:avLst/>
          </a:prstGeom>
        </p:spPr>
      </p:pic>
      <p:sp>
        <p:nvSpPr>
          <p:cNvPr id="12" name="Text 8"/>
          <p:cNvSpPr txBox="1"/>
          <p:nvPr/>
        </p:nvSpPr>
        <p:spPr>
          <a:xfrm>
            <a:off x="7269480" y="1600200"/>
            <a:ext cx="4206240" cy="329184"/>
          </a:xfrm>
          <a:prstGeom prst="rect">
            <a:avLst/>
          </a:prstGeom>
          <a:noFill/>
          <a:ln/>
        </p:spPr>
        <p:txBody>
          <a:bodyPr wrap="square" lIns="0" tIns="0" rIns="0" bIns="0" rtlCol="0" anchor="t"/>
          <a:lstStyle/>
          <a:p>
            <a:pPr marL="0" indent="0">
              <a:buNone/>
            </a:pPr>
            <a:r>
              <a:rPr lang="en-US" sz="1700" b="1" dirty="0">
                <a:solidFill>
                  <a:srgbClr val="0012B5"/>
                </a:solidFill>
                <a:latin typeface="Verdana" pitchFamily="34" charset="0"/>
                <a:ea typeface="Verdana" pitchFamily="34" charset="-122"/>
                <a:cs typeface="Verdana" pitchFamily="34" charset="-120"/>
              </a:rPr>
              <a:t>Le serveur a le dernier mot</a:t>
            </a:r>
            <a:endParaRPr lang="en-US" sz="1700" dirty="0"/>
          </a:p>
        </p:txBody>
      </p:sp>
      <p:sp>
        <p:nvSpPr>
          <p:cNvPr id="13" name="Text 9"/>
          <p:cNvSpPr txBox="1"/>
          <p:nvPr/>
        </p:nvSpPr>
        <p:spPr>
          <a:xfrm>
            <a:off x="7269480" y="1965960"/>
            <a:ext cx="4206240" cy="896112"/>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Prix, capacité, jours, saison, places restantes : tout est revérifié côté serveur.</a:t>
            </a:r>
            <a:endParaRPr lang="en-US" sz="1400" dirty="0"/>
          </a:p>
        </p:txBody>
      </p:sp>
      <p:sp>
        <p:nvSpPr>
          <p:cNvPr id="14" name="Shape 10"/>
          <p:cNvSpPr/>
          <p:nvPr/>
        </p:nvSpPr>
        <p:spPr>
          <a:xfrm>
            <a:off x="548640" y="3108960"/>
            <a:ext cx="5440680" cy="1508760"/>
          </a:xfrm>
          <a:prstGeom prst="roundRect">
            <a:avLst>
              <a:gd name="adj" fmla="val 12121"/>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5" name="Shape 11"/>
          <p:cNvSpPr/>
          <p:nvPr/>
        </p:nvSpPr>
        <p:spPr>
          <a:xfrm>
            <a:off x="777240" y="3383280"/>
            <a:ext cx="603504" cy="603504"/>
          </a:xfrm>
          <a:prstGeom prst="ellipse">
            <a:avLst/>
          </a:prstGeom>
          <a:solidFill>
            <a:srgbClr val="1F5BD6"/>
          </a:solidFill>
          <a:ln w="12700">
            <a:solidFill>
              <a:srgbClr val="1F5BD6"/>
            </a:solidFill>
            <a:prstDash val="solid"/>
          </a:ln>
        </p:spPr>
        <p:txBody>
          <a:bodyPr/>
          <a:lstStyle/>
          <a:p>
            <a:endParaRPr lang="fr-FR"/>
          </a:p>
        </p:txBody>
      </p:sp>
      <p:pic>
        <p:nvPicPr>
          <p:cNvPr id="16" name="Image 2" descr="preencoded.png"/>
          <p:cNvPicPr>
            <a:picLocks noChangeAspect="1"/>
          </p:cNvPicPr>
          <p:nvPr/>
        </p:nvPicPr>
        <p:blipFill>
          <a:blip r:embed="rId5"/>
          <a:stretch>
            <a:fillRect/>
          </a:stretch>
        </p:blipFill>
        <p:spPr>
          <a:xfrm>
            <a:off x="928116" y="3534156"/>
            <a:ext cx="301752" cy="301752"/>
          </a:xfrm>
          <a:prstGeom prst="rect">
            <a:avLst/>
          </a:prstGeom>
        </p:spPr>
      </p:pic>
      <p:sp>
        <p:nvSpPr>
          <p:cNvPr id="17" name="Text 12"/>
          <p:cNvSpPr txBox="1"/>
          <p:nvPr/>
        </p:nvSpPr>
        <p:spPr>
          <a:xfrm>
            <a:off x="1600200" y="3291840"/>
            <a:ext cx="4206240" cy="329184"/>
          </a:xfrm>
          <a:prstGeom prst="rect">
            <a:avLst/>
          </a:prstGeom>
          <a:noFill/>
          <a:ln/>
        </p:spPr>
        <p:txBody>
          <a:bodyPr wrap="square" lIns="0" tIns="0" rIns="0" bIns="0" rtlCol="0" anchor="t"/>
          <a:lstStyle/>
          <a:p>
            <a:pPr marL="0" indent="0">
              <a:buNone/>
            </a:pPr>
            <a:r>
              <a:rPr lang="en-US" sz="1700" b="1" dirty="0">
                <a:solidFill>
                  <a:srgbClr val="0012B5"/>
                </a:solidFill>
                <a:latin typeface="Verdana" pitchFamily="34" charset="0"/>
                <a:ea typeface="Verdana" pitchFamily="34" charset="-122"/>
                <a:cs typeface="Verdana" pitchFamily="34" charset="-120"/>
              </a:rPr>
              <a:t>Paiement vérifié chez Stripe</a:t>
            </a:r>
            <a:endParaRPr lang="en-US" sz="1700" dirty="0"/>
          </a:p>
        </p:txBody>
      </p:sp>
      <p:sp>
        <p:nvSpPr>
          <p:cNvPr id="18" name="Text 13"/>
          <p:cNvSpPr txBox="1"/>
          <p:nvPr/>
        </p:nvSpPr>
        <p:spPr>
          <a:xfrm>
            <a:off x="1600200" y="3657600"/>
            <a:ext cx="4206240" cy="896112"/>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Chaque paiement est relu chez Stripe. Aucune réservation ni message en double.</a:t>
            </a:r>
            <a:endParaRPr lang="en-US" sz="1400" dirty="0"/>
          </a:p>
        </p:txBody>
      </p:sp>
      <p:sp>
        <p:nvSpPr>
          <p:cNvPr id="19" name="Shape 14"/>
          <p:cNvSpPr/>
          <p:nvPr/>
        </p:nvSpPr>
        <p:spPr>
          <a:xfrm>
            <a:off x="6217920" y="3108960"/>
            <a:ext cx="5440680" cy="1508760"/>
          </a:xfrm>
          <a:prstGeom prst="roundRect">
            <a:avLst>
              <a:gd name="adj" fmla="val 12121"/>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0" name="Shape 15"/>
          <p:cNvSpPr/>
          <p:nvPr/>
        </p:nvSpPr>
        <p:spPr>
          <a:xfrm>
            <a:off x="6446520" y="3383280"/>
            <a:ext cx="603504" cy="603504"/>
          </a:xfrm>
          <a:prstGeom prst="ellipse">
            <a:avLst/>
          </a:prstGeom>
          <a:solidFill>
            <a:srgbClr val="1F5BD6"/>
          </a:solidFill>
          <a:ln w="12700">
            <a:solidFill>
              <a:srgbClr val="1F5BD6"/>
            </a:solidFill>
            <a:prstDash val="solid"/>
          </a:ln>
        </p:spPr>
        <p:txBody>
          <a:bodyPr/>
          <a:lstStyle/>
          <a:p>
            <a:endParaRPr lang="fr-FR"/>
          </a:p>
        </p:txBody>
      </p:sp>
      <p:pic>
        <p:nvPicPr>
          <p:cNvPr id="21" name="Image 3" descr="preencoded.png"/>
          <p:cNvPicPr>
            <a:picLocks noChangeAspect="1"/>
          </p:cNvPicPr>
          <p:nvPr/>
        </p:nvPicPr>
        <p:blipFill>
          <a:blip r:embed="rId6"/>
          <a:stretch>
            <a:fillRect/>
          </a:stretch>
        </p:blipFill>
        <p:spPr>
          <a:xfrm>
            <a:off x="6597396" y="3534156"/>
            <a:ext cx="301752" cy="301752"/>
          </a:xfrm>
          <a:prstGeom prst="rect">
            <a:avLst/>
          </a:prstGeom>
        </p:spPr>
      </p:pic>
      <p:sp>
        <p:nvSpPr>
          <p:cNvPr id="22" name="Text 16"/>
          <p:cNvSpPr txBox="1"/>
          <p:nvPr/>
        </p:nvSpPr>
        <p:spPr>
          <a:xfrm>
            <a:off x="7269480" y="3291840"/>
            <a:ext cx="4206240" cy="329184"/>
          </a:xfrm>
          <a:prstGeom prst="rect">
            <a:avLst/>
          </a:prstGeom>
          <a:noFill/>
          <a:ln/>
        </p:spPr>
        <p:txBody>
          <a:bodyPr wrap="square" lIns="0" tIns="0" rIns="0" bIns="0" rtlCol="0" anchor="t"/>
          <a:lstStyle/>
          <a:p>
            <a:pPr marL="0" indent="0">
              <a:buNone/>
            </a:pPr>
            <a:r>
              <a:rPr lang="en-US" sz="1700" b="1" dirty="0">
                <a:solidFill>
                  <a:srgbClr val="0012B5"/>
                </a:solidFill>
                <a:latin typeface="Verdana" pitchFamily="34" charset="0"/>
                <a:ea typeface="Verdana" pitchFamily="34" charset="-122"/>
                <a:cs typeface="Verdana" pitchFamily="34" charset="-120"/>
              </a:rPr>
              <a:t>Liens d’e-mail protégés</a:t>
            </a:r>
            <a:endParaRPr lang="en-US" sz="1700" dirty="0"/>
          </a:p>
        </p:txBody>
      </p:sp>
      <p:sp>
        <p:nvSpPr>
          <p:cNvPr id="23" name="Text 17"/>
          <p:cNvSpPr txBox="1"/>
          <p:nvPr/>
        </p:nvSpPr>
        <p:spPr>
          <a:xfrm>
            <a:off x="7269480" y="3657600"/>
            <a:ext cx="4206240" cy="896112"/>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Liens signés. Toute action sensible passe par une page de confirmation.</a:t>
            </a:r>
            <a:endParaRPr lang="en-US" sz="1400" dirty="0"/>
          </a:p>
        </p:txBody>
      </p:sp>
      <p:sp>
        <p:nvSpPr>
          <p:cNvPr id="24" name="Shape 18"/>
          <p:cNvSpPr/>
          <p:nvPr/>
        </p:nvSpPr>
        <p:spPr>
          <a:xfrm>
            <a:off x="548640" y="4800600"/>
            <a:ext cx="5440680" cy="1508760"/>
          </a:xfrm>
          <a:prstGeom prst="roundRect">
            <a:avLst>
              <a:gd name="adj" fmla="val 12121"/>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5" name="Shape 19"/>
          <p:cNvSpPr/>
          <p:nvPr/>
        </p:nvSpPr>
        <p:spPr>
          <a:xfrm>
            <a:off x="777240" y="5074920"/>
            <a:ext cx="603504" cy="603504"/>
          </a:xfrm>
          <a:prstGeom prst="ellipse">
            <a:avLst/>
          </a:prstGeom>
          <a:solidFill>
            <a:srgbClr val="00A7B5"/>
          </a:solidFill>
          <a:ln w="12700">
            <a:solidFill>
              <a:srgbClr val="00A7B5"/>
            </a:solidFill>
            <a:prstDash val="solid"/>
          </a:ln>
        </p:spPr>
        <p:txBody>
          <a:bodyPr/>
          <a:lstStyle/>
          <a:p>
            <a:endParaRPr lang="fr-FR"/>
          </a:p>
        </p:txBody>
      </p:sp>
      <p:pic>
        <p:nvPicPr>
          <p:cNvPr id="26" name="Image 4" descr="preencoded.png"/>
          <p:cNvPicPr>
            <a:picLocks noChangeAspect="1"/>
          </p:cNvPicPr>
          <p:nvPr/>
        </p:nvPicPr>
        <p:blipFill>
          <a:blip r:embed="rId7"/>
          <a:stretch>
            <a:fillRect/>
          </a:stretch>
        </p:blipFill>
        <p:spPr>
          <a:xfrm>
            <a:off x="928116" y="5225796"/>
            <a:ext cx="301752" cy="301752"/>
          </a:xfrm>
          <a:prstGeom prst="rect">
            <a:avLst/>
          </a:prstGeom>
        </p:spPr>
      </p:pic>
      <p:sp>
        <p:nvSpPr>
          <p:cNvPr id="27" name="Text 20"/>
          <p:cNvSpPr txBox="1"/>
          <p:nvPr/>
        </p:nvSpPr>
        <p:spPr>
          <a:xfrm>
            <a:off x="1600200" y="4983480"/>
            <a:ext cx="4206240" cy="329184"/>
          </a:xfrm>
          <a:prstGeom prst="rect">
            <a:avLst/>
          </a:prstGeom>
          <a:noFill/>
          <a:ln/>
        </p:spPr>
        <p:txBody>
          <a:bodyPr wrap="square" lIns="0" tIns="0" rIns="0" bIns="0" rtlCol="0" anchor="t"/>
          <a:lstStyle/>
          <a:p>
            <a:pPr marL="0" indent="0">
              <a:buNone/>
            </a:pPr>
            <a:r>
              <a:rPr lang="en-US" sz="1700" b="1" dirty="0">
                <a:solidFill>
                  <a:srgbClr val="0012B5"/>
                </a:solidFill>
                <a:latin typeface="Verdana" pitchFamily="34" charset="0"/>
                <a:ea typeface="Verdana" pitchFamily="34" charset="-122"/>
                <a:cs typeface="Verdana" pitchFamily="34" charset="-120"/>
              </a:rPr>
              <a:t>Coffres privés</a:t>
            </a:r>
            <a:endParaRPr lang="en-US" sz="1700" dirty="0"/>
          </a:p>
        </p:txBody>
      </p:sp>
      <p:sp>
        <p:nvSpPr>
          <p:cNvPr id="28" name="Text 21"/>
          <p:cNvSpPr txBox="1"/>
          <p:nvPr/>
        </p:nvSpPr>
        <p:spPr>
          <a:xfrm>
            <a:off x="1600200" y="5349240"/>
            <a:ext cx="4206240" cy="896112"/>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Pièces, assurances, cahiers des charges : accès par liens temporaires uniquement.</a:t>
            </a:r>
            <a:endParaRPr lang="en-US" sz="1400" dirty="0"/>
          </a:p>
        </p:txBody>
      </p:sp>
      <p:sp>
        <p:nvSpPr>
          <p:cNvPr id="29" name="Shape 22"/>
          <p:cNvSpPr/>
          <p:nvPr/>
        </p:nvSpPr>
        <p:spPr>
          <a:xfrm>
            <a:off x="6217920" y="4800600"/>
            <a:ext cx="5440680" cy="1508760"/>
          </a:xfrm>
          <a:prstGeom prst="roundRect">
            <a:avLst>
              <a:gd name="adj" fmla="val 12121"/>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30" name="Shape 23"/>
          <p:cNvSpPr/>
          <p:nvPr/>
        </p:nvSpPr>
        <p:spPr>
          <a:xfrm>
            <a:off x="6446520" y="5074920"/>
            <a:ext cx="603504" cy="603504"/>
          </a:xfrm>
          <a:prstGeom prst="ellipse">
            <a:avLst/>
          </a:prstGeom>
          <a:solidFill>
            <a:srgbClr val="00A7B5"/>
          </a:solidFill>
          <a:ln w="12700">
            <a:solidFill>
              <a:srgbClr val="00A7B5"/>
            </a:solidFill>
            <a:prstDash val="solid"/>
          </a:ln>
        </p:spPr>
        <p:txBody>
          <a:bodyPr/>
          <a:lstStyle/>
          <a:p>
            <a:endParaRPr lang="fr-FR"/>
          </a:p>
        </p:txBody>
      </p:sp>
      <p:pic>
        <p:nvPicPr>
          <p:cNvPr id="31" name="Image 5" descr="preencoded.png"/>
          <p:cNvPicPr>
            <a:picLocks noChangeAspect="1"/>
          </p:cNvPicPr>
          <p:nvPr/>
        </p:nvPicPr>
        <p:blipFill>
          <a:blip r:embed="rId8"/>
          <a:stretch>
            <a:fillRect/>
          </a:stretch>
        </p:blipFill>
        <p:spPr>
          <a:xfrm>
            <a:off x="6597396" y="5225796"/>
            <a:ext cx="301752" cy="301752"/>
          </a:xfrm>
          <a:prstGeom prst="rect">
            <a:avLst/>
          </a:prstGeom>
        </p:spPr>
      </p:pic>
      <p:sp>
        <p:nvSpPr>
          <p:cNvPr id="32" name="Text 24"/>
          <p:cNvSpPr txBox="1"/>
          <p:nvPr/>
        </p:nvSpPr>
        <p:spPr>
          <a:xfrm>
            <a:off x="7269480" y="4983480"/>
            <a:ext cx="4206240" cy="329184"/>
          </a:xfrm>
          <a:prstGeom prst="rect">
            <a:avLst/>
          </a:prstGeom>
          <a:noFill/>
          <a:ln/>
        </p:spPr>
        <p:txBody>
          <a:bodyPr wrap="square" lIns="0" tIns="0" rIns="0" bIns="0" rtlCol="0" anchor="t"/>
          <a:lstStyle/>
          <a:p>
            <a:pPr marL="0" indent="0">
              <a:buNone/>
            </a:pPr>
            <a:r>
              <a:rPr lang="en-US" sz="1700" b="1" dirty="0">
                <a:solidFill>
                  <a:srgbClr val="0012B5"/>
                </a:solidFill>
                <a:latin typeface="Verdana" pitchFamily="34" charset="0"/>
                <a:ea typeface="Verdana" pitchFamily="34" charset="-122"/>
                <a:cs typeface="Verdana" pitchFamily="34" charset="-120"/>
              </a:rPr>
              <a:t>Coordonnées protégées</a:t>
            </a:r>
            <a:endParaRPr lang="en-US" sz="1700" dirty="0"/>
          </a:p>
        </p:txBody>
      </p:sp>
      <p:sp>
        <p:nvSpPr>
          <p:cNvPr id="33" name="Text 25"/>
          <p:cNvSpPr txBox="1"/>
          <p:nvPr/>
        </p:nvSpPr>
        <p:spPr>
          <a:xfrm>
            <a:off x="7269480" y="5349240"/>
            <a:ext cx="4206240" cy="896112"/>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Le touriste n’a le téléphone du patron qu’une fois la sortie payée. Le patron ne voit jamais celui du client.</a:t>
            </a:r>
            <a:endParaRPr lang="en-US" sz="1400" dirty="0"/>
          </a:p>
        </p:txBody>
      </p:sp>
      <p:sp>
        <p:nvSpPr>
          <p:cNvPr id="34" name="Text 26"/>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32</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home/claude/deck/crop3/pq-sterne_1778.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3FC4">
              <a:alpha val="54000"/>
            </a:srgbClr>
          </a:solidFill>
          <a:ln w="12700">
            <a:solidFill>
              <a:srgbClr val="0B3FC4"/>
            </a:solidFill>
            <a:prstDash val="solid"/>
          </a:ln>
        </p:spPr>
        <p:txBody>
          <a:bodyPr/>
          <a:lstStyle/>
          <a:p>
            <a:endParaRPr lang="fr-FR"/>
          </a:p>
        </p:txBody>
      </p:sp>
      <p:pic>
        <p:nvPicPr>
          <p:cNvPr id="4" name="Image 1" descr="/home/claude/deck/logo-projet-blanc.png"/>
          <p:cNvPicPr>
            <a:picLocks noChangeAspect="1"/>
          </p:cNvPicPr>
          <p:nvPr/>
        </p:nvPicPr>
        <p:blipFill>
          <a:blip r:embed="rId4"/>
          <a:stretch>
            <a:fillRect/>
          </a:stretch>
        </p:blipFill>
        <p:spPr>
          <a:xfrm>
            <a:off x="10088575" y="320040"/>
            <a:ext cx="1600200" cy="647462"/>
          </a:xfrm>
          <a:prstGeom prst="rect">
            <a:avLst/>
          </a:prstGeom>
        </p:spPr>
      </p:pic>
      <p:sp>
        <p:nvSpPr>
          <p:cNvPr id="5" name="Shape 1"/>
          <p:cNvSpPr/>
          <p:nvPr/>
        </p:nvSpPr>
        <p:spPr>
          <a:xfrm>
            <a:off x="731520" y="2377440"/>
            <a:ext cx="2377440" cy="384048"/>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6" name="Text 2"/>
          <p:cNvSpPr txBox="1"/>
          <p:nvPr/>
        </p:nvSpPr>
        <p:spPr>
          <a:xfrm>
            <a:off x="731520" y="2377440"/>
            <a:ext cx="2377440" cy="384048"/>
          </a:xfrm>
          <a:prstGeom prst="rect">
            <a:avLst/>
          </a:prstGeom>
          <a:noFill/>
          <a:ln/>
        </p:spPr>
        <p:txBody>
          <a:bodyPr wrap="square" lIns="0" tIns="0" rIns="0" bIns="0" rtlCol="0" anchor="ctr"/>
          <a:lstStyle/>
          <a:p>
            <a:pPr marL="0" indent="0" algn="ctr">
              <a:buNone/>
            </a:pPr>
            <a:r>
              <a:rPr lang="en-US" sz="1400" b="1" dirty="0">
                <a:solidFill>
                  <a:srgbClr val="0012B5"/>
                </a:solidFill>
                <a:latin typeface="Verdana" pitchFamily="34" charset="0"/>
                <a:ea typeface="Verdana" pitchFamily="34" charset="-122"/>
                <a:cs typeface="Verdana" pitchFamily="34" charset="-120"/>
              </a:rPr>
              <a:t>Sixième partie</a:t>
            </a:r>
            <a:endParaRPr lang="en-US" sz="1400" dirty="0"/>
          </a:p>
        </p:txBody>
      </p:sp>
      <p:sp>
        <p:nvSpPr>
          <p:cNvPr id="7" name="Text 3"/>
          <p:cNvSpPr txBox="1"/>
          <p:nvPr/>
        </p:nvSpPr>
        <p:spPr>
          <a:xfrm>
            <a:off x="731520" y="2926080"/>
            <a:ext cx="10058400" cy="868680"/>
          </a:xfrm>
          <a:prstGeom prst="rect">
            <a:avLst/>
          </a:prstGeom>
          <a:noFill/>
          <a:ln/>
        </p:spPr>
        <p:txBody>
          <a:bodyPr wrap="square" lIns="0" tIns="0" rIns="0" bIns="0" rtlCol="0" anchor="ctr"/>
          <a:lstStyle/>
          <a:p>
            <a:pPr marL="0" indent="0">
              <a:buNone/>
            </a:pPr>
            <a:r>
              <a:rPr lang="en-US" sz="4000" b="1" dirty="0">
                <a:solidFill>
                  <a:srgbClr val="FFFFFF"/>
                </a:solidFill>
                <a:latin typeface="Verdana" pitchFamily="34" charset="0"/>
                <a:ea typeface="Verdana" pitchFamily="34" charset="-122"/>
                <a:cs typeface="Verdana" pitchFamily="34" charset="-120"/>
              </a:rPr>
              <a:t>Tous les messages automatiques</a:t>
            </a:r>
            <a:endParaRPr lang="en-US" sz="4000" dirty="0"/>
          </a:p>
        </p:txBody>
      </p:sp>
      <p:sp>
        <p:nvSpPr>
          <p:cNvPr id="8" name="Text 4"/>
          <p:cNvSpPr txBox="1"/>
          <p:nvPr/>
        </p:nvSpPr>
        <p:spPr>
          <a:xfrm>
            <a:off x="731520" y="3931920"/>
            <a:ext cx="10058400" cy="640080"/>
          </a:xfrm>
          <a:prstGeom prst="rect">
            <a:avLst/>
          </a:prstGeom>
          <a:noFill/>
          <a:ln/>
        </p:spPr>
        <p:txBody>
          <a:bodyPr wrap="square" lIns="0" tIns="0" rIns="0" bIns="0" rtlCol="0" anchor="t"/>
          <a:lstStyle/>
          <a:p>
            <a:pPr marL="0" indent="0">
              <a:buNone/>
            </a:pPr>
            <a:r>
              <a:rPr lang="en-US" sz="1900" dirty="0">
                <a:solidFill>
                  <a:srgbClr val="FFFFFF"/>
                </a:solidFill>
                <a:latin typeface="Verdana" pitchFamily="34" charset="0"/>
                <a:ea typeface="Verdana" pitchFamily="34" charset="-122"/>
                <a:cs typeface="Verdana" pitchFamily="34" charset="-120"/>
              </a:rPr>
              <a:t>Qui reçoit quoi, quand, par e-mail ou par SMS.</a:t>
            </a:r>
            <a:endParaRPr lang="en-US" sz="1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MESSAGES · CLIENTS</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Ce que reçoivent le touriste et l’organisme</a:t>
            </a:r>
            <a:endParaRPr lang="en-US" sz="2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583680" cy="4041648"/>
        </p:xfrm>
        <a:graphic>
          <a:graphicData uri="http://schemas.openxmlformats.org/drawingml/2006/table">
            <a:tbl>
              <a:tblPr/>
              <a:tblGrid>
                <a:gridCol w="2040941">
                  <a:extLst>
                    <a:ext uri="{9D8B030D-6E8A-4147-A177-3AD203B41FA5}">
                      <a16:colId xmlns:a16="http://schemas.microsoft.com/office/drawing/2014/main" val="20000"/>
                    </a:ext>
                  </a:extLst>
                </a:gridCol>
                <a:gridCol w="1316736">
                  <a:extLst>
                    <a:ext uri="{9D8B030D-6E8A-4147-A177-3AD203B41FA5}">
                      <a16:colId xmlns:a16="http://schemas.microsoft.com/office/drawing/2014/main" val="20001"/>
                    </a:ext>
                  </a:extLst>
                </a:gridCol>
                <a:gridCol w="3226003">
                  <a:extLst>
                    <a:ext uri="{9D8B030D-6E8A-4147-A177-3AD203B41FA5}">
                      <a16:colId xmlns:a16="http://schemas.microsoft.com/office/drawing/2014/main" val="20002"/>
                    </a:ext>
                  </a:extLst>
                </a:gridCol>
              </a:tblGrid>
              <a:tr h="310896">
                <a:tc gridSpan="3">
                  <a:txBody>
                    <a:bodyPr/>
                    <a:lstStyle/>
                    <a:p>
                      <a:pPr marL="0" indent="0">
                        <a:buNone/>
                      </a:pPr>
                      <a:r>
                        <a:rPr lang="en-US" sz="1000" b="1" dirty="0">
                          <a:solidFill>
                            <a:srgbClr val="FFFFFF"/>
                          </a:solidFill>
                          <a:latin typeface="Verdana" pitchFamily="34" charset="0"/>
                          <a:ea typeface="Verdana" pitchFamily="34" charset="-122"/>
                          <a:cs typeface="Verdana" pitchFamily="34" charset="-120"/>
                        </a:rPr>
                        <a:t>TOURISTE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0"/>
                  </a:ext>
                </a:extLst>
              </a:tr>
              <a:tr h="310896">
                <a:tc>
                  <a:txBody>
                    <a:bodyPr/>
                    <a:lstStyle/>
                    <a:p>
                      <a:pPr marL="0" indent="0">
                        <a:buNone/>
                      </a:pPr>
                      <a:r>
                        <a:rPr lang="en-US" sz="1000" b="1" dirty="0">
                          <a:solidFill>
                            <a:srgbClr val="1D2838"/>
                          </a:solidFill>
                          <a:latin typeface="Verdana" pitchFamily="34" charset="0"/>
                          <a:ea typeface="Verdana" pitchFamily="34" charset="-122"/>
                          <a:cs typeface="Verdana" pitchFamily="34" charset="-120"/>
                        </a:rPr>
                        <a:t>Quand</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EEF4FD"/>
                    </a:solidFill>
                  </a:tcPr>
                </a:tc>
                <a:tc>
                  <a:txBody>
                    <a:bodyPr/>
                    <a:lstStyle/>
                    <a:p>
                      <a:pPr marL="0" indent="0">
                        <a:buNone/>
                      </a:pPr>
                      <a:r>
                        <a:rPr lang="en-US" sz="1000" b="1" dirty="0">
                          <a:solidFill>
                            <a:srgbClr val="1D2838"/>
                          </a:solidFill>
                          <a:latin typeface="Verdana" pitchFamily="34" charset="0"/>
                          <a:ea typeface="Verdana" pitchFamily="34" charset="-122"/>
                          <a:cs typeface="Verdana" pitchFamily="34" charset="-120"/>
                        </a:rPr>
                        <a:t>Canal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EEF4FD"/>
                    </a:solidFill>
                  </a:tcPr>
                </a:tc>
                <a:tc>
                  <a:txBody>
                    <a:bodyPr/>
                    <a:lstStyle/>
                    <a:p>
                      <a:pPr marL="0" indent="0">
                        <a:buNone/>
                      </a:pPr>
                      <a:r>
                        <a:rPr lang="en-US" sz="1000" b="1" dirty="0">
                          <a:solidFill>
                            <a:srgbClr val="1D2838"/>
                          </a:solidFill>
                          <a:latin typeface="Verdana" pitchFamily="34" charset="0"/>
                          <a:ea typeface="Verdana" pitchFamily="34" charset="-122"/>
                          <a:cs typeface="Verdana" pitchFamily="34" charset="-120"/>
                        </a:rPr>
                        <a:t>Message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EEF4FD"/>
                    </a:solidFill>
                  </a:tcPr>
                </a:tc>
                <a:extLst>
                  <a:ext uri="{0D108BD9-81ED-4DB2-BD59-A6C34878D82A}">
                    <a16:rowId xmlns:a16="http://schemas.microsoft.com/office/drawing/2014/main" val="10001"/>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Inscription</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Confirmez votre adresse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Demande envoyée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Récapitulatif, 72 h, rappel des pièces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Le patron accepte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Confirmée : rendez-vous, téléphone du patron</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Le patron refuse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Non confirmée : pas débité</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Sans réponse 72 h</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Expirée : pas débité</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Le patron annule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Annulée : remboursement intégral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Il annule lui-même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Annulation confirmée, traitement indiqué</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Nouvelle date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Boutons accepter / refuser</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Le lendemain</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Comment s’est passée votre sortie ?</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Contact</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Accusé de réception</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Mot de passe oublié</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Lien à usage unique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7360920" y="1371600"/>
          <a:ext cx="4297680" cy="2487168"/>
        </p:xfrm>
        <a:graphic>
          <a:graphicData uri="http://schemas.openxmlformats.org/drawingml/2006/table">
            <a:tbl>
              <a:tblPr/>
              <a:tblGrid>
                <a:gridCol w="1332281">
                  <a:extLst>
                    <a:ext uri="{9D8B030D-6E8A-4147-A177-3AD203B41FA5}">
                      <a16:colId xmlns:a16="http://schemas.microsoft.com/office/drawing/2014/main" val="20000"/>
                    </a:ext>
                  </a:extLst>
                </a:gridCol>
                <a:gridCol w="859536">
                  <a:extLst>
                    <a:ext uri="{9D8B030D-6E8A-4147-A177-3AD203B41FA5}">
                      <a16:colId xmlns:a16="http://schemas.microsoft.com/office/drawing/2014/main" val="20001"/>
                    </a:ext>
                  </a:extLst>
                </a:gridCol>
                <a:gridCol w="2105863">
                  <a:extLst>
                    <a:ext uri="{9D8B030D-6E8A-4147-A177-3AD203B41FA5}">
                      <a16:colId xmlns:a16="http://schemas.microsoft.com/office/drawing/2014/main" val="20002"/>
                    </a:ext>
                  </a:extLst>
                </a:gridCol>
              </a:tblGrid>
              <a:tr h="310896">
                <a:tc gridSpan="3">
                  <a:txBody>
                    <a:bodyPr/>
                    <a:lstStyle/>
                    <a:p>
                      <a:pPr marL="0" indent="0">
                        <a:buNone/>
                      </a:pPr>
                      <a:r>
                        <a:rPr lang="en-US" sz="1000" b="1" dirty="0">
                          <a:solidFill>
                            <a:srgbClr val="FFFFFF"/>
                          </a:solidFill>
                          <a:latin typeface="Verdana" pitchFamily="34" charset="0"/>
                          <a:ea typeface="Verdana" pitchFamily="34" charset="-122"/>
                          <a:cs typeface="Verdana" pitchFamily="34" charset="-120"/>
                        </a:rPr>
                        <a:t>ORGANISME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00A7B5"/>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0"/>
                  </a:ext>
                </a:extLst>
              </a:tr>
              <a:tr h="310896">
                <a:tc>
                  <a:txBody>
                    <a:bodyPr/>
                    <a:lstStyle/>
                    <a:p>
                      <a:pPr marL="0" indent="0">
                        <a:buNone/>
                      </a:pPr>
                      <a:r>
                        <a:rPr lang="en-US" sz="1000" b="1" dirty="0">
                          <a:solidFill>
                            <a:srgbClr val="1D2838"/>
                          </a:solidFill>
                          <a:latin typeface="Verdana" pitchFamily="34" charset="0"/>
                          <a:ea typeface="Verdana" pitchFamily="34" charset="-122"/>
                          <a:cs typeface="Verdana" pitchFamily="34" charset="-120"/>
                        </a:rPr>
                        <a:t>Quand</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EEF4FD"/>
                    </a:solidFill>
                  </a:tcPr>
                </a:tc>
                <a:tc>
                  <a:txBody>
                    <a:bodyPr/>
                    <a:lstStyle/>
                    <a:p>
                      <a:pPr marL="0" indent="0">
                        <a:buNone/>
                      </a:pPr>
                      <a:r>
                        <a:rPr lang="en-US" sz="1000" b="1" dirty="0">
                          <a:solidFill>
                            <a:srgbClr val="1D2838"/>
                          </a:solidFill>
                          <a:latin typeface="Verdana" pitchFamily="34" charset="0"/>
                          <a:ea typeface="Verdana" pitchFamily="34" charset="-122"/>
                          <a:cs typeface="Verdana" pitchFamily="34" charset="-120"/>
                        </a:rPr>
                        <a:t>Canal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EEF4FD"/>
                    </a:solidFill>
                  </a:tcPr>
                </a:tc>
                <a:tc>
                  <a:txBody>
                    <a:bodyPr/>
                    <a:lstStyle/>
                    <a:p>
                      <a:pPr marL="0" indent="0">
                        <a:buNone/>
                      </a:pPr>
                      <a:r>
                        <a:rPr lang="en-US" sz="1000" b="1" dirty="0">
                          <a:solidFill>
                            <a:srgbClr val="1D2838"/>
                          </a:solidFill>
                          <a:latin typeface="Verdana" pitchFamily="34" charset="0"/>
                          <a:ea typeface="Verdana" pitchFamily="34" charset="-122"/>
                          <a:cs typeface="Verdana" pitchFamily="34" charset="-120"/>
                        </a:rPr>
                        <a:t>Message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EEF4FD"/>
                    </a:solidFill>
                  </a:tcPr>
                </a:tc>
                <a:extLst>
                  <a:ext uri="{0D108BD9-81ED-4DB2-BD59-A6C34878D82A}">
                    <a16:rowId xmlns:a16="http://schemas.microsoft.com/office/drawing/2014/main" val="10001"/>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Inscription</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Confirmez votre adresse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Validation</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Validée ou non retenue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Envoi d’un appel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Écran</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 Parti vers N navires »</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Tirage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Navire retenu, coordonnées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Annule son appel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Écran</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Patrons prévenus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Contact</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Accusé de réception</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hape 2"/>
          <p:cNvSpPr/>
          <p:nvPr/>
        </p:nvSpPr>
        <p:spPr>
          <a:xfrm>
            <a:off x="7360920" y="4526280"/>
            <a:ext cx="4297680" cy="1188720"/>
          </a:xfrm>
          <a:prstGeom prst="roundRect">
            <a:avLst>
              <a:gd name="adj" fmla="val 15385"/>
            </a:avLst>
          </a:prstGeom>
          <a:solidFill>
            <a:srgbClr val="FFF7EC"/>
          </a:solidFill>
          <a:ln w="12700">
            <a:solidFill>
              <a:srgbClr val="FFF7EC"/>
            </a:solidFill>
            <a:prstDash val="solid"/>
          </a:ln>
        </p:spPr>
        <p:txBody>
          <a:bodyPr/>
          <a:lstStyle/>
          <a:p>
            <a:endParaRPr lang="fr-FR"/>
          </a:p>
        </p:txBody>
      </p:sp>
      <p:sp>
        <p:nvSpPr>
          <p:cNvPr id="7" name="Text 3"/>
          <p:cNvSpPr txBox="1"/>
          <p:nvPr/>
        </p:nvSpPr>
        <p:spPr>
          <a:xfrm>
            <a:off x="7635240" y="4526280"/>
            <a:ext cx="3749040" cy="1188720"/>
          </a:xfrm>
          <a:prstGeom prst="rect">
            <a:avLst/>
          </a:prstGeom>
          <a:noFill/>
          <a:ln/>
        </p:spPr>
        <p:txBody>
          <a:bodyPr wrap="square" lIns="0" tIns="0" rIns="0" bIns="0" rtlCol="0" anchor="ctr"/>
          <a:lstStyle/>
          <a:p>
            <a:pPr marL="0" indent="0">
              <a:buNone/>
            </a:pPr>
            <a:r>
              <a:rPr lang="en-US" sz="1400" dirty="0">
                <a:solidFill>
                  <a:srgbClr val="3A4658"/>
                </a:solidFill>
                <a:latin typeface="Verdana" pitchFamily="34" charset="0"/>
                <a:ea typeface="Verdana" pitchFamily="34" charset="-122"/>
                <a:cs typeface="Verdana" pitchFamily="34" charset="-120"/>
              </a:rPr>
              <a:t>Chaque e-mail au client rappelle les conditions d’annulation. Aperçus réels : en annexe.</a:t>
            </a:r>
            <a:endParaRPr lang="en-US" sz="1400" dirty="0"/>
          </a:p>
        </p:txBody>
      </p:sp>
      <p:sp>
        <p:nvSpPr>
          <p:cNvPr id="8" name="Text 4"/>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34</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MESSAGES · RÉSEAU</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Ce que reçoivent le pêcheur, l’équipe et les secours</a:t>
            </a:r>
            <a:endParaRPr lang="en-US" sz="23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86400" cy="3730752"/>
        </p:xfrm>
        <a:graphic>
          <a:graphicData uri="http://schemas.openxmlformats.org/drawingml/2006/table">
            <a:tbl>
              <a:tblPr/>
              <a:tblGrid>
                <a:gridCol w="1700784">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688336">
                  <a:extLst>
                    <a:ext uri="{9D8B030D-6E8A-4147-A177-3AD203B41FA5}">
                      <a16:colId xmlns:a16="http://schemas.microsoft.com/office/drawing/2014/main" val="20002"/>
                    </a:ext>
                  </a:extLst>
                </a:gridCol>
              </a:tblGrid>
              <a:tr h="310896">
                <a:tc gridSpan="3">
                  <a:txBody>
                    <a:bodyPr/>
                    <a:lstStyle/>
                    <a:p>
                      <a:pPr marL="0" indent="0">
                        <a:buNone/>
                      </a:pPr>
                      <a:r>
                        <a:rPr lang="en-US" sz="1000" b="1" dirty="0">
                          <a:solidFill>
                            <a:srgbClr val="FFFFFF"/>
                          </a:solidFill>
                          <a:latin typeface="Verdana" pitchFamily="34" charset="0"/>
                          <a:ea typeface="Verdana" pitchFamily="34" charset="-122"/>
                          <a:cs typeface="Verdana" pitchFamily="34" charset="-120"/>
                        </a:rPr>
                        <a:t>PÊCHEUR</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0012B5"/>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0"/>
                  </a:ext>
                </a:extLst>
              </a:tr>
              <a:tr h="310896">
                <a:tc>
                  <a:txBody>
                    <a:bodyPr/>
                    <a:lstStyle/>
                    <a:p>
                      <a:pPr marL="0" indent="0">
                        <a:buNone/>
                      </a:pPr>
                      <a:r>
                        <a:rPr lang="en-US" sz="1000" b="1" dirty="0">
                          <a:solidFill>
                            <a:srgbClr val="1D2838"/>
                          </a:solidFill>
                          <a:latin typeface="Verdana" pitchFamily="34" charset="0"/>
                          <a:ea typeface="Verdana" pitchFamily="34" charset="-122"/>
                          <a:cs typeface="Verdana" pitchFamily="34" charset="-120"/>
                        </a:rPr>
                        <a:t>Quand</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EEF4FD"/>
                    </a:solidFill>
                  </a:tcPr>
                </a:tc>
                <a:tc>
                  <a:txBody>
                    <a:bodyPr/>
                    <a:lstStyle/>
                    <a:p>
                      <a:pPr marL="0" indent="0">
                        <a:buNone/>
                      </a:pPr>
                      <a:r>
                        <a:rPr lang="en-US" sz="1000" b="1" dirty="0">
                          <a:solidFill>
                            <a:srgbClr val="1D2838"/>
                          </a:solidFill>
                          <a:latin typeface="Verdana" pitchFamily="34" charset="0"/>
                          <a:ea typeface="Verdana" pitchFamily="34" charset="-122"/>
                          <a:cs typeface="Verdana" pitchFamily="34" charset="-120"/>
                        </a:rPr>
                        <a:t>Canal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EEF4FD"/>
                    </a:solidFill>
                  </a:tcPr>
                </a:tc>
                <a:tc>
                  <a:txBody>
                    <a:bodyPr/>
                    <a:lstStyle/>
                    <a:p>
                      <a:pPr marL="0" indent="0">
                        <a:buNone/>
                      </a:pPr>
                      <a:r>
                        <a:rPr lang="en-US" sz="1000" b="1" dirty="0">
                          <a:solidFill>
                            <a:srgbClr val="1D2838"/>
                          </a:solidFill>
                          <a:latin typeface="Verdana" pitchFamily="34" charset="0"/>
                          <a:ea typeface="Verdana" pitchFamily="34" charset="-122"/>
                          <a:cs typeface="Verdana" pitchFamily="34" charset="-120"/>
                        </a:rPr>
                        <a:t>Message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EEF4FD"/>
                    </a:solidFill>
                  </a:tcPr>
                </a:tc>
                <a:extLst>
                  <a:ext uri="{0D108BD9-81ED-4DB2-BD59-A6C34878D82A}">
                    <a16:rowId xmlns:a16="http://schemas.microsoft.com/office/drawing/2014/main" val="10001"/>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Inscription</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Confirmez votre adresse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Demande payée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B7A3D"/>
                          </a:solidFill>
                          <a:latin typeface="Verdana" pitchFamily="34" charset="0"/>
                          <a:ea typeface="Verdana" pitchFamily="34" charset="-122"/>
                          <a:cs typeface="Verdana" pitchFamily="34" charset="-120"/>
                        </a:rPr>
                        <a:t>SMS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Répondre sous 72 h</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Dernier jour</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B7A3D"/>
                          </a:solidFill>
                          <a:latin typeface="Verdana" pitchFamily="34" charset="0"/>
                          <a:ea typeface="Verdana" pitchFamily="34" charset="-122"/>
                          <a:cs typeface="Verdana" pitchFamily="34" charset="-120"/>
                        </a:rPr>
                        <a:t>SMS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DERNIER RAPPEL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Date acceptée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B7A3D"/>
                          </a:solidFill>
                          <a:latin typeface="Verdana" pitchFamily="34" charset="0"/>
                          <a:ea typeface="Verdana" pitchFamily="34" charset="-122"/>
                          <a:cs typeface="Verdana" pitchFamily="34" charset="-120"/>
                        </a:rPr>
                        <a:t>E-mail + SMS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Nouvelle date acceptée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Date refusée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B7A3D"/>
                          </a:solidFill>
                          <a:latin typeface="Verdana" pitchFamily="34" charset="0"/>
                          <a:ea typeface="Verdana" pitchFamily="34" charset="-122"/>
                          <a:cs typeface="Verdana" pitchFamily="34" charset="-120"/>
                        </a:rPr>
                        <a:t>E-mail + SMS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Autre date ou annuler</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Appel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B7A3D"/>
                          </a:solidFill>
                          <a:latin typeface="Verdana" pitchFamily="34" charset="0"/>
                          <a:ea typeface="Verdana" pitchFamily="34" charset="-122"/>
                          <a:cs typeface="Verdana" pitchFamily="34" charset="-120"/>
                        </a:rPr>
                        <a:t>E-mail + SMS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J’accepte / Je décline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Tirage : retenu</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B7A3D"/>
                          </a:solidFill>
                          <a:latin typeface="Verdana" pitchFamily="34" charset="0"/>
                          <a:ea typeface="Verdana" pitchFamily="34" charset="-122"/>
                          <a:cs typeface="Verdana" pitchFamily="34" charset="-120"/>
                        </a:rPr>
                        <a:t>E-mail + SMS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Votre navire est retenu</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Non retenu</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Priorité la prochaine fois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Le client annule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B7A3D"/>
                          </a:solidFill>
                          <a:latin typeface="Verdana" pitchFamily="34" charset="0"/>
                          <a:ea typeface="Verdana" pitchFamily="34" charset="-122"/>
                          <a:cs typeface="Verdana" pitchFamily="34" charset="-120"/>
                        </a:rPr>
                        <a:t>E-mail + SMS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Places libérées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Appel annulé</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B7A3D"/>
                          </a:solidFill>
                          <a:latin typeface="Verdana" pitchFamily="34" charset="0"/>
                          <a:ea typeface="Verdana" pitchFamily="34" charset="-122"/>
                          <a:cs typeface="Verdana" pitchFamily="34" charset="-120"/>
                        </a:rPr>
                        <a:t>E-mail + SMS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Motif de l’organisme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graphicFrame>
        <p:nvGraphicFramePr>
          <p:cNvPr id="71" name="Table 1"/>
          <p:cNvGraphicFramePr>
            <a:graphicFrameLocks noGrp="1"/>
          </p:cNvGraphicFramePr>
          <p:nvPr>
            <p:extLst>
              <p:ext uri="{D42A27DB-BD31-4B8C-83A1-F6EECF244321}">
                <p14:modId xmlns:p14="http://schemas.microsoft.com/office/powerpoint/2010/main" val="1579011935"/>
              </p:ext>
            </p:extLst>
          </p:nvPr>
        </p:nvGraphicFramePr>
        <p:xfrm>
          <a:off x="6263640" y="1371600"/>
          <a:ext cx="5394960" cy="3108960"/>
        </p:xfrm>
        <a:graphic>
          <a:graphicData uri="http://schemas.openxmlformats.org/drawingml/2006/table">
            <a:tbl>
              <a:tblPr/>
              <a:tblGrid>
                <a:gridCol w="1672438">
                  <a:extLst>
                    <a:ext uri="{9D8B030D-6E8A-4147-A177-3AD203B41FA5}">
                      <a16:colId xmlns:a16="http://schemas.microsoft.com/office/drawing/2014/main" val="20000"/>
                    </a:ext>
                  </a:extLst>
                </a:gridCol>
                <a:gridCol w="1078992">
                  <a:extLst>
                    <a:ext uri="{9D8B030D-6E8A-4147-A177-3AD203B41FA5}">
                      <a16:colId xmlns:a16="http://schemas.microsoft.com/office/drawing/2014/main" val="20001"/>
                    </a:ext>
                  </a:extLst>
                </a:gridCol>
                <a:gridCol w="2643530">
                  <a:extLst>
                    <a:ext uri="{9D8B030D-6E8A-4147-A177-3AD203B41FA5}">
                      <a16:colId xmlns:a16="http://schemas.microsoft.com/office/drawing/2014/main" val="20002"/>
                    </a:ext>
                  </a:extLst>
                </a:gridCol>
              </a:tblGrid>
              <a:tr h="310896">
                <a:tc gridSpan="3">
                  <a:txBody>
                    <a:bodyPr/>
                    <a:lstStyle/>
                    <a:p>
                      <a:pPr marL="0" indent="0">
                        <a:buNone/>
                      </a:pPr>
                      <a:r>
                        <a:rPr lang="en-US" sz="1000" b="1" dirty="0">
                          <a:solidFill>
                            <a:srgbClr val="FFFFFF"/>
                          </a:solidFill>
                          <a:latin typeface="Verdana" pitchFamily="34" charset="0"/>
                          <a:ea typeface="Verdana" pitchFamily="34" charset="-122"/>
                          <a:cs typeface="Verdana" pitchFamily="34" charset="-120"/>
                        </a:rPr>
                        <a:t>ÉQUIPE MARE DURABILIS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0E9F6E"/>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0"/>
                  </a:ext>
                </a:extLst>
              </a:tr>
              <a:tr h="310896">
                <a:tc>
                  <a:txBody>
                    <a:bodyPr/>
                    <a:lstStyle/>
                    <a:p>
                      <a:pPr marL="0" indent="0">
                        <a:buNone/>
                      </a:pPr>
                      <a:r>
                        <a:rPr lang="en-US" sz="1000" b="1" dirty="0">
                          <a:solidFill>
                            <a:srgbClr val="1D2838"/>
                          </a:solidFill>
                          <a:latin typeface="Verdana" pitchFamily="34" charset="0"/>
                          <a:ea typeface="Verdana" pitchFamily="34" charset="-122"/>
                          <a:cs typeface="Verdana" pitchFamily="34" charset="-120"/>
                        </a:rPr>
                        <a:t>Quand</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EEF4FD"/>
                    </a:solidFill>
                  </a:tcPr>
                </a:tc>
                <a:tc>
                  <a:txBody>
                    <a:bodyPr/>
                    <a:lstStyle/>
                    <a:p>
                      <a:pPr marL="0" indent="0">
                        <a:buNone/>
                      </a:pPr>
                      <a:r>
                        <a:rPr lang="en-US" sz="1000" b="1" dirty="0">
                          <a:solidFill>
                            <a:srgbClr val="1D2838"/>
                          </a:solidFill>
                          <a:latin typeface="Verdana" pitchFamily="34" charset="0"/>
                          <a:ea typeface="Verdana" pitchFamily="34" charset="-122"/>
                          <a:cs typeface="Verdana" pitchFamily="34" charset="-120"/>
                        </a:rPr>
                        <a:t>Canal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EEF4FD"/>
                    </a:solidFill>
                  </a:tcPr>
                </a:tc>
                <a:tc>
                  <a:txBody>
                    <a:bodyPr/>
                    <a:lstStyle/>
                    <a:p>
                      <a:pPr marL="0" indent="0">
                        <a:buNone/>
                      </a:pPr>
                      <a:r>
                        <a:rPr lang="en-US" sz="1000" b="1" dirty="0">
                          <a:solidFill>
                            <a:srgbClr val="1D2838"/>
                          </a:solidFill>
                          <a:latin typeface="Verdana" pitchFamily="34" charset="0"/>
                          <a:ea typeface="Verdana" pitchFamily="34" charset="-122"/>
                          <a:cs typeface="Verdana" pitchFamily="34" charset="-120"/>
                        </a:rPr>
                        <a:t>Message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EEF4FD"/>
                    </a:solidFill>
                  </a:tcPr>
                </a:tc>
                <a:extLst>
                  <a:ext uri="{0D108BD9-81ED-4DB2-BD59-A6C34878D82A}">
                    <a16:rowId xmlns:a16="http://schemas.microsoft.com/office/drawing/2014/main" val="10001"/>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Nouveau navire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À vérifier avant mise en ligne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Organisme inscrit</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Accepter / Refuser</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Réservation</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Récapitulatif et client</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Bientôt expirée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Appeler le pêcheur</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Annulations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Traitement appliqué</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Reports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Suivi du changement</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Appels, tirages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Copie de chaque étape</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Chaque matin</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b="1" dirty="0">
                          <a:solidFill>
                            <a:srgbClr val="1F5BD6"/>
                          </a:solidFill>
                          <a:latin typeface="Verdana" pitchFamily="34" charset="0"/>
                          <a:ea typeface="Verdana" pitchFamily="34" charset="-122"/>
                          <a:cs typeface="Verdana" pitchFamily="34" charset="-120"/>
                        </a:rPr>
                        <a:t>E-mail</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000" dirty="0">
                          <a:solidFill>
                            <a:srgbClr val="1D2838"/>
                          </a:solidFill>
                          <a:latin typeface="Verdana" pitchFamily="34" charset="0"/>
                          <a:ea typeface="Verdana" pitchFamily="34" charset="-122"/>
                          <a:cs typeface="Verdana" pitchFamily="34" charset="-120"/>
                        </a:rPr>
                        <a:t>Récap Mare Services</a:t>
                      </a:r>
                      <a:endParaRPr lang="en-US" sz="1000" dirty="0">
                        <a:latin typeface="Verdana" charset="0"/>
                        <a:ea typeface="Verdana" charset="0"/>
                        <a:cs typeface="Verdana" charset="0"/>
                      </a:endParaRPr>
                    </a:p>
                  </a:txBody>
                  <a:tcPr marL="63500" marR="635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hape 2"/>
          <p:cNvSpPr/>
          <p:nvPr/>
        </p:nvSpPr>
        <p:spPr>
          <a:xfrm>
            <a:off x="6263640" y="4800600"/>
            <a:ext cx="5394960" cy="777240"/>
          </a:xfrm>
          <a:prstGeom prst="roundRect">
            <a:avLst>
              <a:gd name="adj" fmla="val 23529"/>
            </a:avLst>
          </a:prstGeom>
          <a:solidFill>
            <a:srgbClr val="FCEBE9"/>
          </a:solidFill>
          <a:ln w="12700">
            <a:solidFill>
              <a:srgbClr val="FCEBE9"/>
            </a:solidFill>
            <a:prstDash val="solid"/>
          </a:ln>
        </p:spPr>
        <p:txBody>
          <a:bodyPr/>
          <a:lstStyle/>
          <a:p>
            <a:endParaRPr lang="fr-FR"/>
          </a:p>
        </p:txBody>
      </p:sp>
      <p:sp>
        <p:nvSpPr>
          <p:cNvPr id="7" name="Text 3"/>
          <p:cNvSpPr txBox="1"/>
          <p:nvPr/>
        </p:nvSpPr>
        <p:spPr>
          <a:xfrm>
            <a:off x="6492240" y="4800600"/>
            <a:ext cx="4937760" cy="777240"/>
          </a:xfrm>
          <a:prstGeom prst="rect">
            <a:avLst/>
          </a:prstGeom>
          <a:noFill/>
          <a:ln/>
        </p:spPr>
        <p:txBody>
          <a:bodyPr wrap="square" lIns="0" tIns="0" rIns="0" bIns="0" rtlCol="0" anchor="ctr"/>
          <a:lstStyle/>
          <a:p>
            <a:pPr marL="0" indent="0">
              <a:buNone/>
            </a:pPr>
            <a:r>
              <a:rPr lang="en-US" sz="1400" b="1" dirty="0">
                <a:solidFill>
                  <a:srgbClr val="B3312D"/>
                </a:solidFill>
                <a:latin typeface="Verdana" pitchFamily="34" charset="0"/>
                <a:ea typeface="Verdana" pitchFamily="34" charset="-122"/>
                <a:cs typeface="Verdana" pitchFamily="34" charset="-120"/>
              </a:rPr>
              <a:t>CROSS et SNSM : </a:t>
            </a:r>
            <a:r>
              <a:rPr lang="en-US" sz="1400" dirty="0">
                <a:solidFill>
                  <a:srgbClr val="3A4658"/>
                </a:solidFill>
                <a:latin typeface="Verdana" pitchFamily="34" charset="0"/>
                <a:ea typeface="Verdana" pitchFamily="34" charset="-122"/>
                <a:cs typeface="Verdana" pitchFamily="34" charset="-120"/>
              </a:rPr>
              <a:t>déclaration, attestation complétée, pièces d’identité.</a:t>
            </a:r>
            <a:endParaRPr lang="en-US" sz="1400" dirty="0"/>
          </a:p>
        </p:txBody>
      </p:sp>
      <p:sp>
        <p:nvSpPr>
          <p:cNvPr id="8" name="Text 4"/>
          <p:cNvSpPr txBox="1"/>
          <p:nvPr/>
        </p:nvSpPr>
        <p:spPr>
          <a:xfrm>
            <a:off x="6263640" y="5760720"/>
            <a:ext cx="5394960" cy="457200"/>
          </a:xfrm>
          <a:prstGeom prst="rect">
            <a:avLst/>
          </a:prstGeom>
          <a:noFill/>
          <a:ln/>
        </p:spPr>
        <p:txBody>
          <a:bodyPr wrap="square" lIns="0" tIns="0" rIns="0" bIns="0" rtlCol="0" anchor="t"/>
          <a:lstStyle/>
          <a:p>
            <a:pPr marL="0" indent="0">
              <a:buNone/>
            </a:pPr>
            <a:r>
              <a:rPr lang="en-US" sz="1300" i="1" dirty="0">
                <a:solidFill>
                  <a:srgbClr val="66728A"/>
                </a:solidFill>
                <a:latin typeface="Verdana" pitchFamily="34" charset="0"/>
                <a:ea typeface="Verdana" pitchFamily="34" charset="-122"/>
                <a:cs typeface="Verdana" pitchFamily="34" charset="-120"/>
              </a:rPr>
              <a:t>SMS envoyés sous le nom « MareDurab ». Aperçus réels : en annexe.</a:t>
            </a:r>
            <a:endParaRPr lang="en-US" sz="1300" dirty="0"/>
          </a:p>
        </p:txBody>
      </p:sp>
      <p:sp>
        <p:nvSpPr>
          <p:cNvPr id="9" name="Text 5"/>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35</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411480"/>
            <a:ext cx="4114800" cy="6035040"/>
          </a:xfrm>
          <a:prstGeom prst="roundRect">
            <a:avLst>
              <a:gd name="adj" fmla="val 4444"/>
            </a:avLst>
          </a:prstGeom>
          <a:solidFill>
            <a:srgbClr val="EEF4FD"/>
          </a:solidFill>
          <a:ln w="12700">
            <a:solidFill>
              <a:srgbClr val="EEF4FD"/>
            </a:solidFill>
            <a:prstDash val="solid"/>
          </a:ln>
        </p:spPr>
        <p:txBody>
          <a:bodyPr/>
          <a:lstStyle/>
          <a:p>
            <a:endParaRPr lang="fr-FR"/>
          </a:p>
        </p:txBody>
      </p:sp>
      <p:pic>
        <p:nvPicPr>
          <p:cNvPr id="3" name="Image 0" descr="/home/claude/deck/crop3/galerie-nasses_2368_40_50_20_h.jpg"/>
          <p:cNvPicPr>
            <a:picLocks noChangeAspect="1"/>
          </p:cNvPicPr>
          <p:nvPr/>
        </p:nvPicPr>
        <p:blipFill>
          <a:blip r:embed="rId3"/>
          <a:stretch>
            <a:fillRect/>
          </a:stretch>
        </p:blipFill>
        <p:spPr>
          <a:xfrm>
            <a:off x="411480" y="411480"/>
            <a:ext cx="4114800" cy="1737360"/>
          </a:xfrm>
          <a:prstGeom prst="rect">
            <a:avLst/>
          </a:prstGeom>
        </p:spPr>
      </p:pic>
      <p:sp>
        <p:nvSpPr>
          <p:cNvPr id="4" name="Text 1"/>
          <p:cNvSpPr txBox="1"/>
          <p:nvPr/>
        </p:nvSpPr>
        <p:spPr>
          <a:xfrm>
            <a:off x="685800" y="2331720"/>
            <a:ext cx="3566160" cy="274320"/>
          </a:xfrm>
          <a:prstGeom prst="rect">
            <a:avLst/>
          </a:prstGeom>
          <a:noFill/>
          <a:ln/>
        </p:spPr>
        <p:txBody>
          <a:bodyPr wrap="square" lIns="0" tIns="0" rIns="0" bIns="0" rtlCol="0" anchor="t"/>
          <a:lstStyle/>
          <a:p>
            <a:pPr marL="0" indent="0">
              <a:buNone/>
            </a:pPr>
            <a:r>
              <a:rPr lang="en-US" sz="1250" b="1" dirty="0">
                <a:solidFill>
                  <a:srgbClr val="00A7B5"/>
                </a:solidFill>
                <a:latin typeface="Verdana" pitchFamily="34" charset="0"/>
                <a:ea typeface="Verdana" pitchFamily="34" charset="-122"/>
                <a:cs typeface="Verdana" pitchFamily="34" charset="-120"/>
              </a:rPr>
              <a:t>Chaque matin à 8 h</a:t>
            </a:r>
            <a:endParaRPr lang="en-US" sz="1250" dirty="0"/>
          </a:p>
        </p:txBody>
      </p:sp>
      <p:sp>
        <p:nvSpPr>
          <p:cNvPr id="5" name="Text 2"/>
          <p:cNvSpPr txBox="1"/>
          <p:nvPr/>
        </p:nvSpPr>
        <p:spPr>
          <a:xfrm>
            <a:off x="685800" y="2606040"/>
            <a:ext cx="3566160" cy="685800"/>
          </a:xfrm>
          <a:prstGeom prst="rect">
            <a:avLst/>
          </a:prstGeom>
          <a:noFill/>
          <a:ln/>
        </p:spPr>
        <p:txBody>
          <a:bodyPr wrap="square" lIns="0" tIns="0" rIns="0" bIns="0" rtlCol="0" anchor="t"/>
          <a:lstStyle/>
          <a:p>
            <a:pPr marL="0" indent="0">
              <a:buNone/>
            </a:pPr>
            <a:r>
              <a:rPr lang="en-US" sz="2000" b="1" dirty="0">
                <a:solidFill>
                  <a:srgbClr val="0012B5"/>
                </a:solidFill>
                <a:latin typeface="Verdana" pitchFamily="34" charset="0"/>
                <a:ea typeface="Verdana" pitchFamily="34" charset="-122"/>
                <a:cs typeface="Verdana" pitchFamily="34" charset="-120"/>
              </a:rPr>
              <a:t>Le site travaille tout seul</a:t>
            </a:r>
            <a:endParaRPr lang="en-US" sz="2000" dirty="0"/>
          </a:p>
        </p:txBody>
      </p:sp>
      <p:sp>
        <p:nvSpPr>
          <p:cNvPr id="6" name="Text 3"/>
          <p:cNvSpPr txBox="1"/>
          <p:nvPr/>
        </p:nvSpPr>
        <p:spPr>
          <a:xfrm>
            <a:off x="685800" y="3429000"/>
            <a:ext cx="3611880"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D2838"/>
                </a:solidFill>
                <a:latin typeface="Verdana" pitchFamily="34" charset="0"/>
                <a:ea typeface="Verdana" pitchFamily="34" charset="-122"/>
                <a:cs typeface="Verdana" pitchFamily="34" charset="-120"/>
              </a:rPr>
              <a:t>Expire les demandes sans réponse</a:t>
            </a:r>
            <a:endParaRPr lang="en-US" sz="1400" dirty="0"/>
          </a:p>
          <a:p>
            <a:pPr marL="177800" indent="-177800">
              <a:spcAft>
                <a:spcPts val="600"/>
              </a:spcAft>
              <a:buSzPct val="100000"/>
              <a:buChar char="•"/>
            </a:pPr>
            <a:r>
              <a:rPr lang="en-US" sz="1400" dirty="0">
                <a:solidFill>
                  <a:srgbClr val="1D2838"/>
                </a:solidFill>
                <a:latin typeface="Verdana" pitchFamily="34" charset="0"/>
                <a:ea typeface="Verdana" pitchFamily="34" charset="-122"/>
                <a:cs typeface="Verdana" pitchFamily="34" charset="-120"/>
              </a:rPr>
              <a:t>Rattrape les paiements en suspens</a:t>
            </a:r>
            <a:endParaRPr lang="en-US" sz="1400" dirty="0"/>
          </a:p>
          <a:p>
            <a:pPr marL="177800" indent="-177800">
              <a:spcAft>
                <a:spcPts val="600"/>
              </a:spcAft>
              <a:buSzPct val="100000"/>
              <a:buChar char="•"/>
            </a:pPr>
            <a:r>
              <a:rPr lang="en-US" sz="1400" dirty="0">
                <a:solidFill>
                  <a:srgbClr val="1D2838"/>
                </a:solidFill>
                <a:latin typeface="Verdana" pitchFamily="34" charset="0"/>
                <a:ea typeface="Verdana" pitchFamily="34" charset="-122"/>
                <a:cs typeface="Verdana" pitchFamily="34" charset="-120"/>
              </a:rPr>
              <a:t>Relance patrons et équipe</a:t>
            </a:r>
            <a:endParaRPr lang="en-US" sz="1400" dirty="0"/>
          </a:p>
          <a:p>
            <a:pPr marL="177800" indent="-177800">
              <a:spcAft>
                <a:spcPts val="600"/>
              </a:spcAft>
              <a:buSzPct val="100000"/>
              <a:buChar char="•"/>
            </a:pPr>
            <a:r>
              <a:rPr lang="en-US" sz="1400" dirty="0">
                <a:solidFill>
                  <a:srgbClr val="1D2838"/>
                </a:solidFill>
                <a:latin typeface="Verdana" pitchFamily="34" charset="0"/>
                <a:ea typeface="Verdana" pitchFamily="34" charset="-122"/>
                <a:cs typeface="Verdana" pitchFamily="34" charset="-120"/>
              </a:rPr>
              <a:t>Efface les pièces arrivées à échéance</a:t>
            </a:r>
            <a:endParaRPr lang="en-US" sz="1400" dirty="0"/>
          </a:p>
          <a:p>
            <a:pPr marL="177800" indent="-177800">
              <a:spcAft>
                <a:spcPts val="600"/>
              </a:spcAft>
              <a:buSzPct val="100000"/>
              <a:buChar char="•"/>
            </a:pPr>
            <a:r>
              <a:rPr lang="en-US" sz="1400" dirty="0">
                <a:solidFill>
                  <a:srgbClr val="1D2838"/>
                </a:solidFill>
                <a:latin typeface="Verdana" pitchFamily="34" charset="0"/>
                <a:ea typeface="Verdana" pitchFamily="34" charset="-122"/>
                <a:cs typeface="Verdana" pitchFamily="34" charset="-120"/>
              </a:rPr>
              <a:t>Invite à noter la sortie</a:t>
            </a:r>
            <a:endParaRPr lang="en-US" sz="1400" dirty="0"/>
          </a:p>
          <a:p>
            <a:pPr marL="177800" indent="-177800">
              <a:spcAft>
                <a:spcPts val="600"/>
              </a:spcAft>
              <a:buSzPct val="100000"/>
              <a:buChar char="•"/>
            </a:pPr>
            <a:r>
              <a:rPr lang="en-US" sz="1400" dirty="0">
                <a:solidFill>
                  <a:srgbClr val="1D2838"/>
                </a:solidFill>
                <a:latin typeface="Verdana" pitchFamily="34" charset="0"/>
                <a:ea typeface="Verdana" pitchFamily="34" charset="-122"/>
                <a:cs typeface="Verdana" pitchFamily="34" charset="-120"/>
              </a:rPr>
              <a:t>Envoie le récap du jour</a:t>
            </a:r>
            <a:endParaRPr lang="en-US" sz="1400" dirty="0"/>
          </a:p>
        </p:txBody>
      </p:sp>
      <p:sp>
        <p:nvSpPr>
          <p:cNvPr id="7" name="Text 4"/>
          <p:cNvSpPr txBox="1"/>
          <p:nvPr/>
        </p:nvSpPr>
        <p:spPr>
          <a:xfrm>
            <a:off x="48920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BACK OFFICE</a:t>
            </a:r>
            <a:endParaRPr lang="en-US" sz="1200" dirty="0"/>
          </a:p>
        </p:txBody>
      </p:sp>
      <p:sp>
        <p:nvSpPr>
          <p:cNvPr id="8" name="Text 5"/>
          <p:cNvSpPr txBox="1"/>
          <p:nvPr/>
        </p:nvSpPr>
        <p:spPr>
          <a:xfrm>
            <a:off x="4892040" y="621792"/>
            <a:ext cx="6766560"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L’équipe Mare Durabilis garde la main</a:t>
            </a:r>
            <a:endParaRPr lang="en-US" sz="2500" dirty="0"/>
          </a:p>
        </p:txBody>
      </p:sp>
      <p:sp>
        <p:nvSpPr>
          <p:cNvPr id="9" name="Shape 6"/>
          <p:cNvSpPr/>
          <p:nvPr/>
        </p:nvSpPr>
        <p:spPr>
          <a:xfrm>
            <a:off x="4892040" y="1371600"/>
            <a:ext cx="457200" cy="457200"/>
          </a:xfrm>
          <a:prstGeom prst="ellipse">
            <a:avLst/>
          </a:prstGeom>
          <a:solidFill>
            <a:srgbClr val="0012B5"/>
          </a:solidFill>
          <a:ln w="12700">
            <a:solidFill>
              <a:srgbClr val="0012B5"/>
            </a:solidFill>
            <a:prstDash val="solid"/>
          </a:ln>
        </p:spPr>
        <p:txBody>
          <a:bodyPr/>
          <a:lstStyle/>
          <a:p>
            <a:endParaRPr lang="fr-FR"/>
          </a:p>
        </p:txBody>
      </p:sp>
      <p:sp>
        <p:nvSpPr>
          <p:cNvPr id="10" name="Text 7"/>
          <p:cNvSpPr txBox="1"/>
          <p:nvPr/>
        </p:nvSpPr>
        <p:spPr>
          <a:xfrm>
            <a:off x="4892040" y="13716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1</a:t>
            </a:r>
            <a:endParaRPr lang="en-US" sz="1400" dirty="0"/>
          </a:p>
        </p:txBody>
      </p:sp>
      <p:sp>
        <p:nvSpPr>
          <p:cNvPr id="11" name="Text 8"/>
          <p:cNvSpPr txBox="1"/>
          <p:nvPr/>
        </p:nvSpPr>
        <p:spPr>
          <a:xfrm>
            <a:off x="5532120" y="1389888"/>
            <a:ext cx="6126480" cy="310896"/>
          </a:xfrm>
          <a:prstGeom prst="rect">
            <a:avLst/>
          </a:prstGeom>
          <a:noFill/>
          <a:ln/>
        </p:spPr>
        <p:txBody>
          <a:bodyPr wrap="square" lIns="0" tIns="0" rIns="0" bIns="0" rtlCol="0" anchor="ctr"/>
          <a:lstStyle/>
          <a:p>
            <a:pPr marL="0" indent="0">
              <a:buNone/>
            </a:pPr>
            <a:r>
              <a:rPr lang="en-US" sz="1650" b="1" dirty="0">
                <a:solidFill>
                  <a:srgbClr val="0012B5"/>
                </a:solidFill>
                <a:latin typeface="Verdana" pitchFamily="34" charset="0"/>
                <a:ea typeface="Verdana" pitchFamily="34" charset="-122"/>
                <a:cs typeface="Verdana" pitchFamily="34" charset="-120"/>
              </a:rPr>
              <a:t>Vérifier les navires</a:t>
            </a:r>
            <a:endParaRPr lang="en-US" sz="1650" dirty="0"/>
          </a:p>
        </p:txBody>
      </p:sp>
      <p:sp>
        <p:nvSpPr>
          <p:cNvPr id="12" name="Text 9"/>
          <p:cNvSpPr txBox="1"/>
          <p:nvPr/>
        </p:nvSpPr>
        <p:spPr>
          <a:xfrm>
            <a:off x="5532120" y="1755648"/>
            <a:ext cx="6126480" cy="4114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RIB et permis reçus, « documents vérifiés », date d’expiration du permis.</a:t>
            </a:r>
            <a:endParaRPr lang="en-US" sz="1400" dirty="0"/>
          </a:p>
        </p:txBody>
      </p:sp>
      <p:sp>
        <p:nvSpPr>
          <p:cNvPr id="13" name="Shape 10"/>
          <p:cNvSpPr/>
          <p:nvPr/>
        </p:nvSpPr>
        <p:spPr>
          <a:xfrm>
            <a:off x="4892040" y="2221992"/>
            <a:ext cx="457200" cy="457200"/>
          </a:xfrm>
          <a:prstGeom prst="ellipse">
            <a:avLst/>
          </a:prstGeom>
          <a:solidFill>
            <a:srgbClr val="1F5BD6"/>
          </a:solidFill>
          <a:ln w="12700">
            <a:solidFill>
              <a:srgbClr val="1F5BD6"/>
            </a:solidFill>
            <a:prstDash val="solid"/>
          </a:ln>
        </p:spPr>
        <p:txBody>
          <a:bodyPr/>
          <a:lstStyle/>
          <a:p>
            <a:endParaRPr lang="fr-FR"/>
          </a:p>
        </p:txBody>
      </p:sp>
      <p:sp>
        <p:nvSpPr>
          <p:cNvPr id="14" name="Text 11"/>
          <p:cNvSpPr txBox="1"/>
          <p:nvPr/>
        </p:nvSpPr>
        <p:spPr>
          <a:xfrm>
            <a:off x="4892040" y="222199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2</a:t>
            </a:r>
            <a:endParaRPr lang="en-US" sz="1400" dirty="0"/>
          </a:p>
        </p:txBody>
      </p:sp>
      <p:sp>
        <p:nvSpPr>
          <p:cNvPr id="15" name="Text 12"/>
          <p:cNvSpPr txBox="1"/>
          <p:nvPr/>
        </p:nvSpPr>
        <p:spPr>
          <a:xfrm>
            <a:off x="5532120" y="2240280"/>
            <a:ext cx="6126480" cy="310896"/>
          </a:xfrm>
          <a:prstGeom prst="rect">
            <a:avLst/>
          </a:prstGeom>
          <a:noFill/>
          <a:ln/>
        </p:spPr>
        <p:txBody>
          <a:bodyPr wrap="square" lIns="0" tIns="0" rIns="0" bIns="0" rtlCol="0" anchor="ctr"/>
          <a:lstStyle/>
          <a:p>
            <a:pPr marL="0" indent="0">
              <a:buNone/>
            </a:pPr>
            <a:r>
              <a:rPr lang="en-US" sz="1650" b="1" dirty="0">
                <a:solidFill>
                  <a:srgbClr val="0012B5"/>
                </a:solidFill>
                <a:latin typeface="Verdana" pitchFamily="34" charset="0"/>
                <a:ea typeface="Verdana" pitchFamily="34" charset="-122"/>
                <a:cs typeface="Verdana" pitchFamily="34" charset="-120"/>
              </a:rPr>
              <a:t>Autoriser la mise en ligne</a:t>
            </a:r>
            <a:endParaRPr lang="en-US" sz="1650" dirty="0"/>
          </a:p>
        </p:txBody>
      </p:sp>
      <p:sp>
        <p:nvSpPr>
          <p:cNvPr id="16" name="Text 13"/>
          <p:cNvSpPr txBox="1"/>
          <p:nvPr/>
        </p:nvSpPr>
        <p:spPr>
          <a:xfrm>
            <a:off x="5532120" y="2606040"/>
            <a:ext cx="6126480" cy="4114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Activités autorisées, capacités et caractéristiques techniques.</a:t>
            </a:r>
            <a:endParaRPr lang="en-US" sz="1400" dirty="0"/>
          </a:p>
        </p:txBody>
      </p:sp>
      <p:sp>
        <p:nvSpPr>
          <p:cNvPr id="17" name="Shape 14"/>
          <p:cNvSpPr/>
          <p:nvPr/>
        </p:nvSpPr>
        <p:spPr>
          <a:xfrm>
            <a:off x="4892040" y="3072384"/>
            <a:ext cx="457200" cy="457200"/>
          </a:xfrm>
          <a:prstGeom prst="ellipse">
            <a:avLst/>
          </a:prstGeom>
          <a:solidFill>
            <a:srgbClr val="00A7B5"/>
          </a:solidFill>
          <a:ln w="12700">
            <a:solidFill>
              <a:srgbClr val="00A7B5"/>
            </a:solidFill>
            <a:prstDash val="solid"/>
          </a:ln>
        </p:spPr>
        <p:txBody>
          <a:bodyPr/>
          <a:lstStyle/>
          <a:p>
            <a:endParaRPr lang="fr-FR"/>
          </a:p>
        </p:txBody>
      </p:sp>
      <p:sp>
        <p:nvSpPr>
          <p:cNvPr id="18" name="Text 15"/>
          <p:cNvSpPr txBox="1"/>
          <p:nvPr/>
        </p:nvSpPr>
        <p:spPr>
          <a:xfrm>
            <a:off x="4892040" y="307238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3</a:t>
            </a:r>
            <a:endParaRPr lang="en-US" sz="1400" dirty="0"/>
          </a:p>
        </p:txBody>
      </p:sp>
      <p:sp>
        <p:nvSpPr>
          <p:cNvPr id="19" name="Text 16"/>
          <p:cNvSpPr txBox="1"/>
          <p:nvPr/>
        </p:nvSpPr>
        <p:spPr>
          <a:xfrm>
            <a:off x="5532120" y="3090672"/>
            <a:ext cx="6126480" cy="310896"/>
          </a:xfrm>
          <a:prstGeom prst="rect">
            <a:avLst/>
          </a:prstGeom>
          <a:noFill/>
          <a:ln/>
        </p:spPr>
        <p:txBody>
          <a:bodyPr wrap="square" lIns="0" tIns="0" rIns="0" bIns="0" rtlCol="0" anchor="ctr"/>
          <a:lstStyle/>
          <a:p>
            <a:pPr marL="0" indent="0">
              <a:buNone/>
            </a:pPr>
            <a:r>
              <a:rPr lang="en-US" sz="1650" b="1" dirty="0">
                <a:solidFill>
                  <a:srgbClr val="0012B5"/>
                </a:solidFill>
                <a:latin typeface="Verdana" pitchFamily="34" charset="0"/>
                <a:ea typeface="Verdana" pitchFamily="34" charset="-122"/>
                <a:cs typeface="Verdana" pitchFamily="34" charset="-120"/>
              </a:rPr>
              <a:t>Valider les organismes</a:t>
            </a:r>
            <a:endParaRPr lang="en-US" sz="1650" dirty="0"/>
          </a:p>
        </p:txBody>
      </p:sp>
      <p:sp>
        <p:nvSpPr>
          <p:cNvPr id="20" name="Text 17"/>
          <p:cNvSpPr txBox="1"/>
          <p:nvPr/>
        </p:nvSpPr>
        <p:spPr>
          <a:xfrm>
            <a:off x="5532120" y="3456432"/>
            <a:ext cx="6126480" cy="4114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Un clic dans l’e-mail, après contrôle du SIREN/SIRET.</a:t>
            </a:r>
            <a:endParaRPr lang="en-US" sz="1400" dirty="0"/>
          </a:p>
        </p:txBody>
      </p:sp>
      <p:sp>
        <p:nvSpPr>
          <p:cNvPr id="21" name="Shape 18"/>
          <p:cNvSpPr/>
          <p:nvPr/>
        </p:nvSpPr>
        <p:spPr>
          <a:xfrm>
            <a:off x="4892040" y="3922776"/>
            <a:ext cx="457200" cy="457200"/>
          </a:xfrm>
          <a:prstGeom prst="ellipse">
            <a:avLst/>
          </a:prstGeom>
          <a:solidFill>
            <a:srgbClr val="0E9F6E"/>
          </a:solidFill>
          <a:ln w="12700">
            <a:solidFill>
              <a:srgbClr val="0E9F6E"/>
            </a:solidFill>
            <a:prstDash val="solid"/>
          </a:ln>
        </p:spPr>
        <p:txBody>
          <a:bodyPr/>
          <a:lstStyle/>
          <a:p>
            <a:endParaRPr lang="fr-FR"/>
          </a:p>
        </p:txBody>
      </p:sp>
      <p:sp>
        <p:nvSpPr>
          <p:cNvPr id="22" name="Text 19"/>
          <p:cNvSpPr txBox="1"/>
          <p:nvPr/>
        </p:nvSpPr>
        <p:spPr>
          <a:xfrm>
            <a:off x="4892040" y="392277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4</a:t>
            </a:r>
            <a:endParaRPr lang="en-US" sz="1400" dirty="0"/>
          </a:p>
        </p:txBody>
      </p:sp>
      <p:sp>
        <p:nvSpPr>
          <p:cNvPr id="23" name="Text 20"/>
          <p:cNvSpPr txBox="1"/>
          <p:nvPr/>
        </p:nvSpPr>
        <p:spPr>
          <a:xfrm>
            <a:off x="5532120" y="3941064"/>
            <a:ext cx="6126480" cy="310896"/>
          </a:xfrm>
          <a:prstGeom prst="rect">
            <a:avLst/>
          </a:prstGeom>
          <a:noFill/>
          <a:ln/>
        </p:spPr>
        <p:txBody>
          <a:bodyPr wrap="square" lIns="0" tIns="0" rIns="0" bIns="0" rtlCol="0" anchor="ctr"/>
          <a:lstStyle/>
          <a:p>
            <a:pPr marL="0" indent="0">
              <a:buNone/>
            </a:pPr>
            <a:r>
              <a:rPr lang="en-US" sz="1650" b="1" dirty="0">
                <a:solidFill>
                  <a:srgbClr val="0012B5"/>
                </a:solidFill>
                <a:latin typeface="Verdana" pitchFamily="34" charset="0"/>
                <a:ea typeface="Verdana" pitchFamily="34" charset="-122"/>
                <a:cs typeface="Verdana" pitchFamily="34" charset="-120"/>
              </a:rPr>
              <a:t>Suivre et relancer</a:t>
            </a:r>
            <a:endParaRPr lang="en-US" sz="1650" dirty="0"/>
          </a:p>
        </p:txBody>
      </p:sp>
      <p:sp>
        <p:nvSpPr>
          <p:cNvPr id="24" name="Text 21"/>
          <p:cNvSpPr txBox="1"/>
          <p:nvPr/>
        </p:nvSpPr>
        <p:spPr>
          <a:xfrm>
            <a:off x="5532120" y="4306824"/>
            <a:ext cx="6126480" cy="4114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Récap du matin, alerte « appeler le pêcheur » avant expiration.</a:t>
            </a:r>
            <a:endParaRPr lang="en-US" sz="1400" dirty="0"/>
          </a:p>
        </p:txBody>
      </p:sp>
      <p:sp>
        <p:nvSpPr>
          <p:cNvPr id="25" name="Shape 22"/>
          <p:cNvSpPr/>
          <p:nvPr/>
        </p:nvSpPr>
        <p:spPr>
          <a:xfrm>
            <a:off x="4892040" y="4773168"/>
            <a:ext cx="457200" cy="457200"/>
          </a:xfrm>
          <a:prstGeom prst="ellipse">
            <a:avLst/>
          </a:prstGeom>
          <a:solidFill>
            <a:srgbClr val="0074B5"/>
          </a:solidFill>
          <a:ln w="12700">
            <a:solidFill>
              <a:srgbClr val="0074B5"/>
            </a:solidFill>
            <a:prstDash val="solid"/>
          </a:ln>
        </p:spPr>
        <p:txBody>
          <a:bodyPr/>
          <a:lstStyle/>
          <a:p>
            <a:endParaRPr lang="fr-FR"/>
          </a:p>
        </p:txBody>
      </p:sp>
      <p:sp>
        <p:nvSpPr>
          <p:cNvPr id="26" name="Text 23"/>
          <p:cNvSpPr txBox="1"/>
          <p:nvPr/>
        </p:nvSpPr>
        <p:spPr>
          <a:xfrm>
            <a:off x="4892040" y="477316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5</a:t>
            </a:r>
            <a:endParaRPr lang="en-US" sz="1400" dirty="0"/>
          </a:p>
        </p:txBody>
      </p:sp>
      <p:sp>
        <p:nvSpPr>
          <p:cNvPr id="27" name="Text 24"/>
          <p:cNvSpPr txBox="1"/>
          <p:nvPr/>
        </p:nvSpPr>
        <p:spPr>
          <a:xfrm>
            <a:off x="5532120" y="4791456"/>
            <a:ext cx="6126480" cy="310896"/>
          </a:xfrm>
          <a:prstGeom prst="rect">
            <a:avLst/>
          </a:prstGeom>
          <a:noFill/>
          <a:ln/>
        </p:spPr>
        <p:txBody>
          <a:bodyPr wrap="square" lIns="0" tIns="0" rIns="0" bIns="0" rtlCol="0" anchor="ctr"/>
          <a:lstStyle/>
          <a:p>
            <a:pPr marL="0" indent="0">
              <a:buNone/>
            </a:pPr>
            <a:r>
              <a:rPr lang="en-US" sz="1650" b="1" dirty="0">
                <a:solidFill>
                  <a:srgbClr val="0012B5"/>
                </a:solidFill>
                <a:latin typeface="Verdana" pitchFamily="34" charset="0"/>
                <a:ea typeface="Verdana" pitchFamily="34" charset="-122"/>
                <a:cs typeface="Verdana" pitchFamily="34" charset="-120"/>
              </a:rPr>
              <a:t>Payer et rembourser</a:t>
            </a:r>
            <a:endParaRPr lang="en-US" sz="1650" dirty="0"/>
          </a:p>
        </p:txBody>
      </p:sp>
      <p:sp>
        <p:nvSpPr>
          <p:cNvPr id="28" name="Text 25"/>
          <p:cNvSpPr txBox="1"/>
          <p:nvPr/>
        </p:nvSpPr>
        <p:spPr>
          <a:xfrm>
            <a:off x="5532120" y="5157216"/>
            <a:ext cx="6126480" cy="4114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Remboursements automatiques, rémunération du pêcheur, devis.</a:t>
            </a:r>
            <a:endParaRPr lang="en-US" sz="1400" dirty="0"/>
          </a:p>
        </p:txBody>
      </p:sp>
      <p:sp>
        <p:nvSpPr>
          <p:cNvPr id="29" name="Shape 26"/>
          <p:cNvSpPr/>
          <p:nvPr/>
        </p:nvSpPr>
        <p:spPr>
          <a:xfrm>
            <a:off x="4892040" y="5623560"/>
            <a:ext cx="457200" cy="457200"/>
          </a:xfrm>
          <a:prstGeom prst="ellipse">
            <a:avLst/>
          </a:prstGeom>
          <a:solidFill>
            <a:srgbClr val="B45309"/>
          </a:solidFill>
          <a:ln w="12700">
            <a:solidFill>
              <a:srgbClr val="B45309"/>
            </a:solidFill>
            <a:prstDash val="solid"/>
          </a:ln>
        </p:spPr>
        <p:txBody>
          <a:bodyPr/>
          <a:lstStyle/>
          <a:p>
            <a:endParaRPr lang="fr-FR"/>
          </a:p>
        </p:txBody>
      </p:sp>
      <p:sp>
        <p:nvSpPr>
          <p:cNvPr id="30" name="Text 27"/>
          <p:cNvSpPr txBox="1"/>
          <p:nvPr/>
        </p:nvSpPr>
        <p:spPr>
          <a:xfrm>
            <a:off x="4892040" y="56235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6</a:t>
            </a:r>
            <a:endParaRPr lang="en-US" sz="1400" dirty="0"/>
          </a:p>
        </p:txBody>
      </p:sp>
      <p:sp>
        <p:nvSpPr>
          <p:cNvPr id="31" name="Text 28"/>
          <p:cNvSpPr txBox="1"/>
          <p:nvPr/>
        </p:nvSpPr>
        <p:spPr>
          <a:xfrm>
            <a:off x="5532120" y="5641848"/>
            <a:ext cx="6126480" cy="310896"/>
          </a:xfrm>
          <a:prstGeom prst="rect">
            <a:avLst/>
          </a:prstGeom>
          <a:noFill/>
          <a:ln/>
        </p:spPr>
        <p:txBody>
          <a:bodyPr wrap="square" lIns="0" tIns="0" rIns="0" bIns="0" rtlCol="0" anchor="ctr"/>
          <a:lstStyle/>
          <a:p>
            <a:pPr marL="0" indent="0">
              <a:buNone/>
            </a:pPr>
            <a:r>
              <a:rPr lang="en-US" sz="1650" b="1" dirty="0">
                <a:solidFill>
                  <a:srgbClr val="0012B5"/>
                </a:solidFill>
                <a:latin typeface="Verdana" pitchFamily="34" charset="0"/>
                <a:ea typeface="Verdana" pitchFamily="34" charset="-122"/>
                <a:cs typeface="Verdana" pitchFamily="34" charset="-120"/>
              </a:rPr>
              <a:t>Gérer les comptes</a:t>
            </a:r>
            <a:endParaRPr lang="en-US" sz="1650" dirty="0"/>
          </a:p>
        </p:txBody>
      </p:sp>
      <p:sp>
        <p:nvSpPr>
          <p:cNvPr id="32" name="Text 29"/>
          <p:cNvSpPr txBox="1"/>
          <p:nvPr/>
        </p:nvSpPr>
        <p:spPr>
          <a:xfrm>
            <a:off x="5532120" y="6007608"/>
            <a:ext cx="6126480" cy="41148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Créer un compte avec un patron, rattacher un navire.</a:t>
            </a:r>
            <a:endParaRPr lang="en-US" sz="1400" dirty="0"/>
          </a:p>
        </p:txBody>
      </p:sp>
      <p:sp>
        <p:nvSpPr>
          <p:cNvPr id="33" name="Text 30"/>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36</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TECHNIQUE · LES BRIQUES</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Quatre prestataires derrière la plateforme</a:t>
            </a:r>
            <a:endParaRPr lang="en-US" sz="2500" dirty="0"/>
          </a:p>
        </p:txBody>
      </p:sp>
      <p:sp>
        <p:nvSpPr>
          <p:cNvPr id="4" name="Text 2"/>
          <p:cNvSpPr txBox="1"/>
          <p:nvPr/>
        </p:nvSpPr>
        <p:spPr>
          <a:xfrm>
            <a:off x="548640" y="1216152"/>
            <a:ext cx="11094415" cy="457200"/>
          </a:xfrm>
          <a:prstGeom prst="rect">
            <a:avLst/>
          </a:prstGeom>
          <a:noFill/>
          <a:ln/>
        </p:spPr>
        <p:txBody>
          <a:bodyPr wrap="square" lIns="0" tIns="0" rIns="0" bIns="0" rtlCol="0" anchor="t"/>
          <a:lstStyle/>
          <a:p>
            <a:pPr marL="0" indent="0">
              <a:buNone/>
            </a:pPr>
            <a:r>
              <a:rPr lang="en-US" sz="1550" dirty="0">
                <a:solidFill>
                  <a:srgbClr val="66728A"/>
                </a:solidFill>
                <a:latin typeface="Verdana" pitchFamily="34" charset="0"/>
                <a:ea typeface="Verdana" pitchFamily="34" charset="-122"/>
                <a:cs typeface="Verdana" pitchFamily="34" charset="-120"/>
              </a:rPr>
              <a:t>Aucun serveur à nous : chaque brique est louée à l’usage. Le site reste un seul fichier, déposé sur Vercel.</a:t>
            </a:r>
            <a:endParaRPr lang="en-US" sz="1550" dirty="0"/>
          </a:p>
        </p:txBody>
      </p:sp>
      <p:sp>
        <p:nvSpPr>
          <p:cNvPr id="5" name="Shape 3"/>
          <p:cNvSpPr/>
          <p:nvPr/>
        </p:nvSpPr>
        <p:spPr>
          <a:xfrm>
            <a:off x="548640" y="1828800"/>
            <a:ext cx="2679192" cy="452628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6" name="Shape 4"/>
          <p:cNvSpPr/>
          <p:nvPr/>
        </p:nvSpPr>
        <p:spPr>
          <a:xfrm>
            <a:off x="731520" y="2011680"/>
            <a:ext cx="512064" cy="512064"/>
          </a:xfrm>
          <a:prstGeom prst="ellipse">
            <a:avLst/>
          </a:prstGeom>
          <a:solidFill>
            <a:srgbClr val="0012B5"/>
          </a:solidFill>
          <a:ln w="12700">
            <a:solidFill>
              <a:srgbClr val="0012B5"/>
            </a:solidFill>
            <a:prstDash val="solid"/>
          </a:ln>
        </p:spPr>
        <p:txBody>
          <a:bodyPr/>
          <a:lstStyle/>
          <a:p>
            <a:endParaRPr lang="fr-FR"/>
          </a:p>
        </p:txBody>
      </p:sp>
      <p:pic>
        <p:nvPicPr>
          <p:cNvPr id="7" name="Image 0" descr="preencoded.png"/>
          <p:cNvPicPr>
            <a:picLocks noChangeAspect="1"/>
          </p:cNvPicPr>
          <p:nvPr/>
        </p:nvPicPr>
        <p:blipFill>
          <a:blip r:embed="rId3"/>
          <a:stretch>
            <a:fillRect/>
          </a:stretch>
        </p:blipFill>
        <p:spPr>
          <a:xfrm>
            <a:off x="859536" y="2139696"/>
            <a:ext cx="256032" cy="256032"/>
          </a:xfrm>
          <a:prstGeom prst="rect">
            <a:avLst/>
          </a:prstGeom>
        </p:spPr>
      </p:pic>
      <p:sp>
        <p:nvSpPr>
          <p:cNvPr id="8" name="Text 5"/>
          <p:cNvSpPr txBox="1"/>
          <p:nvPr/>
        </p:nvSpPr>
        <p:spPr>
          <a:xfrm>
            <a:off x="1335024" y="2011680"/>
            <a:ext cx="1810512" cy="512064"/>
          </a:xfrm>
          <a:prstGeom prst="rect">
            <a:avLst/>
          </a:prstGeom>
          <a:noFill/>
          <a:ln/>
        </p:spPr>
        <p:txBody>
          <a:bodyPr wrap="square" lIns="0" tIns="0" rIns="0" bIns="0" rtlCol="0" anchor="ctr"/>
          <a:lstStyle/>
          <a:p>
            <a:pPr marL="0" indent="0">
              <a:buNone/>
            </a:pPr>
            <a:r>
              <a:rPr lang="en-US" sz="1500" b="1" dirty="0">
                <a:solidFill>
                  <a:srgbClr val="0012B5"/>
                </a:solidFill>
                <a:latin typeface="Verdana" pitchFamily="34" charset="0"/>
                <a:ea typeface="Verdana" pitchFamily="34" charset="-122"/>
                <a:cs typeface="Verdana" pitchFamily="34" charset="-120"/>
              </a:rPr>
              <a:t>Vercel</a:t>
            </a:r>
            <a:endParaRPr lang="en-US" sz="1500" dirty="0"/>
          </a:p>
        </p:txBody>
      </p:sp>
      <p:sp>
        <p:nvSpPr>
          <p:cNvPr id="9" name="Text 6"/>
          <p:cNvSpPr txBox="1"/>
          <p:nvPr/>
        </p:nvSpPr>
        <p:spPr>
          <a:xfrm>
            <a:off x="731520" y="2697480"/>
            <a:ext cx="2313432" cy="1920240"/>
          </a:xfrm>
          <a:prstGeom prst="rect">
            <a:avLst/>
          </a:prstGeom>
          <a:noFill/>
          <a:ln/>
        </p:spPr>
        <p:txBody>
          <a:bodyPr wrap="square" lIns="0" tIns="0" rIns="0" bIns="0" rtlCol="0" anchor="t"/>
          <a:lstStyle/>
          <a:p>
            <a:pPr marL="0" indent="0">
              <a:buNone/>
            </a:pPr>
            <a:r>
              <a:rPr lang="en-US" sz="1300" dirty="0">
                <a:solidFill>
                  <a:srgbClr val="3A4658"/>
                </a:solidFill>
                <a:latin typeface="Verdana" pitchFamily="34" charset="0"/>
                <a:ea typeface="Verdana" pitchFamily="34" charset="-122"/>
                <a:cs typeface="Verdana" pitchFamily="34" charset="-120"/>
              </a:rPr>
              <a:t>Héberge le site et exécute le code serveur (réservations, e-mails, tirage, tâches de 8 h).</a:t>
            </a:r>
            <a:endParaRPr lang="en-US" sz="1300" dirty="0"/>
          </a:p>
        </p:txBody>
      </p:sp>
      <p:sp>
        <p:nvSpPr>
          <p:cNvPr id="10" name="Shape 7"/>
          <p:cNvSpPr/>
          <p:nvPr/>
        </p:nvSpPr>
        <p:spPr>
          <a:xfrm>
            <a:off x="685800" y="4800600"/>
            <a:ext cx="2404872" cy="402336"/>
          </a:xfrm>
          <a:prstGeom prst="roundRect">
            <a:avLst>
              <a:gd name="adj" fmla="val 50000"/>
            </a:avLst>
          </a:prstGeom>
          <a:solidFill>
            <a:srgbClr val="EEF4FD"/>
          </a:solidFill>
          <a:ln w="12700">
            <a:solidFill>
              <a:srgbClr val="EEF4FD"/>
            </a:solidFill>
            <a:prstDash val="solid"/>
          </a:ln>
        </p:spPr>
        <p:txBody>
          <a:bodyPr/>
          <a:lstStyle/>
          <a:p>
            <a:endParaRPr lang="fr-FR"/>
          </a:p>
        </p:txBody>
      </p:sp>
      <p:sp>
        <p:nvSpPr>
          <p:cNvPr id="11" name="Text 8"/>
          <p:cNvSpPr txBox="1"/>
          <p:nvPr/>
        </p:nvSpPr>
        <p:spPr>
          <a:xfrm>
            <a:off x="685800" y="4800600"/>
            <a:ext cx="2404872" cy="402336"/>
          </a:xfrm>
          <a:prstGeom prst="rect">
            <a:avLst/>
          </a:prstGeom>
          <a:noFill/>
          <a:ln/>
        </p:spPr>
        <p:txBody>
          <a:bodyPr wrap="square" lIns="0" tIns="0" rIns="0" bIns="0" rtlCol="0" anchor="ctr"/>
          <a:lstStyle/>
          <a:p>
            <a:pPr marL="0" indent="0" algn="ctr">
              <a:buNone/>
            </a:pPr>
            <a:r>
              <a:rPr lang="en-US" sz="1050" b="1" dirty="0">
                <a:solidFill>
                  <a:srgbClr val="0012B5"/>
                </a:solidFill>
                <a:latin typeface="Verdana" pitchFamily="34" charset="0"/>
                <a:ea typeface="Verdana" pitchFamily="34" charset="-122"/>
                <a:cs typeface="Verdana" pitchFamily="34" charset="-120"/>
              </a:rPr>
              <a:t>États-Unis · fonctions en Europe</a:t>
            </a:r>
            <a:endParaRPr lang="en-US" sz="1050" dirty="0"/>
          </a:p>
        </p:txBody>
      </p:sp>
      <p:sp>
        <p:nvSpPr>
          <p:cNvPr id="12" name="Shape 9"/>
          <p:cNvSpPr/>
          <p:nvPr/>
        </p:nvSpPr>
        <p:spPr>
          <a:xfrm>
            <a:off x="685800" y="5349240"/>
            <a:ext cx="2404872" cy="566928"/>
          </a:xfrm>
          <a:prstGeom prst="roundRect">
            <a:avLst>
              <a:gd name="adj" fmla="val 50000"/>
            </a:avLst>
          </a:prstGeom>
          <a:solidFill>
            <a:srgbClr val="E6F6EC"/>
          </a:solidFill>
          <a:ln w="12700">
            <a:solidFill>
              <a:srgbClr val="E6F6EC"/>
            </a:solidFill>
            <a:prstDash val="solid"/>
          </a:ln>
        </p:spPr>
        <p:txBody>
          <a:bodyPr/>
          <a:lstStyle/>
          <a:p>
            <a:endParaRPr lang="fr-FR"/>
          </a:p>
        </p:txBody>
      </p:sp>
      <p:sp>
        <p:nvSpPr>
          <p:cNvPr id="13" name="Text 10"/>
          <p:cNvSpPr txBox="1"/>
          <p:nvPr/>
        </p:nvSpPr>
        <p:spPr>
          <a:xfrm>
            <a:off x="685800" y="5349240"/>
            <a:ext cx="2404872" cy="566928"/>
          </a:xfrm>
          <a:prstGeom prst="rect">
            <a:avLst/>
          </a:prstGeom>
          <a:noFill/>
          <a:ln/>
        </p:spPr>
        <p:txBody>
          <a:bodyPr wrap="square" lIns="0" tIns="0" rIns="0" bIns="0" rtlCol="0" anchor="ctr"/>
          <a:lstStyle/>
          <a:p>
            <a:pPr marL="0" indent="0" algn="ctr">
              <a:buNone/>
            </a:pPr>
            <a:r>
              <a:rPr lang="en-US" sz="1050" b="1" dirty="0">
                <a:solidFill>
                  <a:srgbClr val="1B7A3D"/>
                </a:solidFill>
                <a:latin typeface="Verdana" pitchFamily="34" charset="0"/>
                <a:ea typeface="Verdana" pitchFamily="34" charset="-122"/>
                <a:cs typeface="Verdana" pitchFamily="34" charset="-120"/>
              </a:rPr>
              <a:t>Pro : 20 $/mois</a:t>
            </a:r>
            <a:endParaRPr lang="en-US" sz="1050" dirty="0"/>
          </a:p>
        </p:txBody>
      </p:sp>
      <p:sp>
        <p:nvSpPr>
          <p:cNvPr id="14" name="Shape 11"/>
          <p:cNvSpPr/>
          <p:nvPr/>
        </p:nvSpPr>
        <p:spPr>
          <a:xfrm>
            <a:off x="3383280" y="1828800"/>
            <a:ext cx="2679192" cy="452628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5" name="Shape 12"/>
          <p:cNvSpPr/>
          <p:nvPr/>
        </p:nvSpPr>
        <p:spPr>
          <a:xfrm>
            <a:off x="3566160" y="2011680"/>
            <a:ext cx="512064" cy="512064"/>
          </a:xfrm>
          <a:prstGeom prst="ellipse">
            <a:avLst/>
          </a:prstGeom>
          <a:solidFill>
            <a:srgbClr val="0E9F6E"/>
          </a:solidFill>
          <a:ln w="12700">
            <a:solidFill>
              <a:srgbClr val="0E9F6E"/>
            </a:solidFill>
            <a:prstDash val="solid"/>
          </a:ln>
        </p:spPr>
        <p:txBody>
          <a:bodyPr/>
          <a:lstStyle/>
          <a:p>
            <a:endParaRPr lang="fr-FR"/>
          </a:p>
        </p:txBody>
      </p:sp>
      <p:pic>
        <p:nvPicPr>
          <p:cNvPr id="16" name="Image 1" descr="preencoded.png"/>
          <p:cNvPicPr>
            <a:picLocks noChangeAspect="1"/>
          </p:cNvPicPr>
          <p:nvPr/>
        </p:nvPicPr>
        <p:blipFill>
          <a:blip r:embed="rId4"/>
          <a:stretch>
            <a:fillRect/>
          </a:stretch>
        </p:blipFill>
        <p:spPr>
          <a:xfrm>
            <a:off x="3694176" y="2139696"/>
            <a:ext cx="256032" cy="256032"/>
          </a:xfrm>
          <a:prstGeom prst="rect">
            <a:avLst/>
          </a:prstGeom>
        </p:spPr>
      </p:pic>
      <p:sp>
        <p:nvSpPr>
          <p:cNvPr id="17" name="Text 13"/>
          <p:cNvSpPr txBox="1"/>
          <p:nvPr/>
        </p:nvSpPr>
        <p:spPr>
          <a:xfrm>
            <a:off x="4169664" y="2011680"/>
            <a:ext cx="1810512" cy="512064"/>
          </a:xfrm>
          <a:prstGeom prst="rect">
            <a:avLst/>
          </a:prstGeom>
          <a:noFill/>
          <a:ln/>
        </p:spPr>
        <p:txBody>
          <a:bodyPr wrap="square" lIns="0" tIns="0" rIns="0" bIns="0" rtlCol="0" anchor="ctr"/>
          <a:lstStyle/>
          <a:p>
            <a:pPr marL="0" indent="0">
              <a:buNone/>
            </a:pPr>
            <a:r>
              <a:rPr lang="en-US" sz="1500" b="1" dirty="0">
                <a:solidFill>
                  <a:srgbClr val="0012B5"/>
                </a:solidFill>
                <a:latin typeface="Verdana" pitchFamily="34" charset="0"/>
                <a:ea typeface="Verdana" pitchFamily="34" charset="-122"/>
                <a:cs typeface="Verdana" pitchFamily="34" charset="-120"/>
              </a:rPr>
              <a:t>Supabase</a:t>
            </a:r>
            <a:endParaRPr lang="en-US" sz="1500" dirty="0"/>
          </a:p>
        </p:txBody>
      </p:sp>
      <p:sp>
        <p:nvSpPr>
          <p:cNvPr id="18" name="Text 14"/>
          <p:cNvSpPr txBox="1"/>
          <p:nvPr/>
        </p:nvSpPr>
        <p:spPr>
          <a:xfrm>
            <a:off x="3566160" y="2697480"/>
            <a:ext cx="2313432" cy="1920240"/>
          </a:xfrm>
          <a:prstGeom prst="rect">
            <a:avLst/>
          </a:prstGeom>
          <a:noFill/>
          <a:ln/>
        </p:spPr>
        <p:txBody>
          <a:bodyPr wrap="square" lIns="0" tIns="0" rIns="0" bIns="0" rtlCol="0" anchor="t"/>
          <a:lstStyle/>
          <a:p>
            <a:pPr marL="0" indent="0">
              <a:buNone/>
            </a:pPr>
            <a:r>
              <a:rPr lang="en-US" sz="1300" dirty="0">
                <a:solidFill>
                  <a:srgbClr val="3A4658"/>
                </a:solidFill>
                <a:latin typeface="Verdana" pitchFamily="34" charset="0"/>
                <a:ea typeface="Verdana" pitchFamily="34" charset="-122"/>
                <a:cs typeface="Verdana" pitchFamily="34" charset="-120"/>
              </a:rPr>
              <a:t>Base de données, comptes, coffres privés (pièces d’identité, assurances, documents).</a:t>
            </a:r>
            <a:endParaRPr lang="en-US" sz="1300" dirty="0"/>
          </a:p>
        </p:txBody>
      </p:sp>
      <p:sp>
        <p:nvSpPr>
          <p:cNvPr id="19" name="Shape 15"/>
          <p:cNvSpPr/>
          <p:nvPr/>
        </p:nvSpPr>
        <p:spPr>
          <a:xfrm>
            <a:off x="3520440" y="4800600"/>
            <a:ext cx="2404872" cy="402336"/>
          </a:xfrm>
          <a:prstGeom prst="roundRect">
            <a:avLst>
              <a:gd name="adj" fmla="val 50000"/>
            </a:avLst>
          </a:prstGeom>
          <a:solidFill>
            <a:srgbClr val="EEF4FD"/>
          </a:solidFill>
          <a:ln w="12700">
            <a:solidFill>
              <a:srgbClr val="EEF4FD"/>
            </a:solidFill>
            <a:prstDash val="solid"/>
          </a:ln>
        </p:spPr>
        <p:txBody>
          <a:bodyPr/>
          <a:lstStyle/>
          <a:p>
            <a:endParaRPr lang="fr-FR"/>
          </a:p>
        </p:txBody>
      </p:sp>
      <p:sp>
        <p:nvSpPr>
          <p:cNvPr id="20" name="Text 16"/>
          <p:cNvSpPr txBox="1"/>
          <p:nvPr/>
        </p:nvSpPr>
        <p:spPr>
          <a:xfrm>
            <a:off x="3520440" y="4800600"/>
            <a:ext cx="2404872" cy="402336"/>
          </a:xfrm>
          <a:prstGeom prst="rect">
            <a:avLst/>
          </a:prstGeom>
          <a:noFill/>
          <a:ln/>
        </p:spPr>
        <p:txBody>
          <a:bodyPr wrap="square" lIns="0" tIns="0" rIns="0" bIns="0" rtlCol="0" anchor="ctr"/>
          <a:lstStyle/>
          <a:p>
            <a:pPr marL="0" indent="0" algn="ctr">
              <a:buNone/>
            </a:pPr>
            <a:r>
              <a:rPr lang="en-US" sz="1050" b="1" dirty="0">
                <a:solidFill>
                  <a:srgbClr val="0012B5"/>
                </a:solidFill>
                <a:latin typeface="Verdana" pitchFamily="34" charset="0"/>
                <a:ea typeface="Verdana" pitchFamily="34" charset="-122"/>
                <a:cs typeface="Verdana" pitchFamily="34" charset="-120"/>
              </a:rPr>
              <a:t>Irlande (Dublin) · UE</a:t>
            </a:r>
            <a:endParaRPr lang="en-US" sz="1050" dirty="0"/>
          </a:p>
        </p:txBody>
      </p:sp>
      <p:sp>
        <p:nvSpPr>
          <p:cNvPr id="21" name="Shape 17"/>
          <p:cNvSpPr/>
          <p:nvPr/>
        </p:nvSpPr>
        <p:spPr>
          <a:xfrm>
            <a:off x="3520440" y="5349240"/>
            <a:ext cx="2404872" cy="566928"/>
          </a:xfrm>
          <a:prstGeom prst="roundRect">
            <a:avLst>
              <a:gd name="adj" fmla="val 50000"/>
            </a:avLst>
          </a:prstGeom>
          <a:solidFill>
            <a:srgbClr val="E6F6EC"/>
          </a:solidFill>
          <a:ln w="12700">
            <a:solidFill>
              <a:srgbClr val="E6F6EC"/>
            </a:solidFill>
            <a:prstDash val="solid"/>
          </a:ln>
        </p:spPr>
        <p:txBody>
          <a:bodyPr/>
          <a:lstStyle/>
          <a:p>
            <a:endParaRPr lang="fr-FR"/>
          </a:p>
        </p:txBody>
      </p:sp>
      <p:sp>
        <p:nvSpPr>
          <p:cNvPr id="22" name="Text 18"/>
          <p:cNvSpPr txBox="1"/>
          <p:nvPr/>
        </p:nvSpPr>
        <p:spPr>
          <a:xfrm>
            <a:off x="3520440" y="5349240"/>
            <a:ext cx="2404872" cy="566928"/>
          </a:xfrm>
          <a:prstGeom prst="rect">
            <a:avLst/>
          </a:prstGeom>
          <a:noFill/>
          <a:ln/>
        </p:spPr>
        <p:txBody>
          <a:bodyPr wrap="square" lIns="0" tIns="0" rIns="0" bIns="0" rtlCol="0" anchor="ctr"/>
          <a:lstStyle/>
          <a:p>
            <a:pPr marL="0" indent="0" algn="ctr">
              <a:buNone/>
            </a:pPr>
            <a:r>
              <a:rPr lang="en-US" sz="1050" b="1" dirty="0">
                <a:solidFill>
                  <a:srgbClr val="1B7A3D"/>
                </a:solidFill>
                <a:latin typeface="Verdana" pitchFamily="34" charset="0"/>
                <a:ea typeface="Verdana" pitchFamily="34" charset="-122"/>
                <a:cs typeface="Verdana" pitchFamily="34" charset="-120"/>
              </a:rPr>
              <a:t>Pro : 25 $/mois</a:t>
            </a:r>
            <a:endParaRPr lang="en-US" sz="1050" dirty="0"/>
          </a:p>
        </p:txBody>
      </p:sp>
      <p:sp>
        <p:nvSpPr>
          <p:cNvPr id="23" name="Shape 19"/>
          <p:cNvSpPr/>
          <p:nvPr/>
        </p:nvSpPr>
        <p:spPr>
          <a:xfrm>
            <a:off x="6217920" y="1828800"/>
            <a:ext cx="2679192" cy="452628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4" name="Shape 20"/>
          <p:cNvSpPr/>
          <p:nvPr/>
        </p:nvSpPr>
        <p:spPr>
          <a:xfrm>
            <a:off x="6400800" y="2011680"/>
            <a:ext cx="512064" cy="512064"/>
          </a:xfrm>
          <a:prstGeom prst="ellipse">
            <a:avLst/>
          </a:prstGeom>
          <a:solidFill>
            <a:srgbClr val="1F5BD6"/>
          </a:solidFill>
          <a:ln w="12700">
            <a:solidFill>
              <a:srgbClr val="1F5BD6"/>
            </a:solidFill>
            <a:prstDash val="solid"/>
          </a:ln>
        </p:spPr>
        <p:txBody>
          <a:bodyPr/>
          <a:lstStyle/>
          <a:p>
            <a:endParaRPr lang="fr-FR"/>
          </a:p>
        </p:txBody>
      </p:sp>
      <p:pic>
        <p:nvPicPr>
          <p:cNvPr id="25" name="Image 2" descr="preencoded.png"/>
          <p:cNvPicPr>
            <a:picLocks noChangeAspect="1"/>
          </p:cNvPicPr>
          <p:nvPr/>
        </p:nvPicPr>
        <p:blipFill>
          <a:blip r:embed="rId5"/>
          <a:stretch>
            <a:fillRect/>
          </a:stretch>
        </p:blipFill>
        <p:spPr>
          <a:xfrm>
            <a:off x="6528816" y="2139696"/>
            <a:ext cx="256032" cy="256032"/>
          </a:xfrm>
          <a:prstGeom prst="rect">
            <a:avLst/>
          </a:prstGeom>
        </p:spPr>
      </p:pic>
      <p:sp>
        <p:nvSpPr>
          <p:cNvPr id="26" name="Text 21"/>
          <p:cNvSpPr txBox="1"/>
          <p:nvPr/>
        </p:nvSpPr>
        <p:spPr>
          <a:xfrm>
            <a:off x="7004304" y="2011680"/>
            <a:ext cx="1810512" cy="512064"/>
          </a:xfrm>
          <a:prstGeom prst="rect">
            <a:avLst/>
          </a:prstGeom>
          <a:noFill/>
          <a:ln/>
        </p:spPr>
        <p:txBody>
          <a:bodyPr wrap="square" lIns="0" tIns="0" rIns="0" bIns="0" rtlCol="0" anchor="ctr"/>
          <a:lstStyle/>
          <a:p>
            <a:pPr marL="0" indent="0">
              <a:buNone/>
            </a:pPr>
            <a:r>
              <a:rPr lang="en-US" sz="1500" b="1" dirty="0">
                <a:solidFill>
                  <a:srgbClr val="0012B5"/>
                </a:solidFill>
                <a:latin typeface="Verdana" pitchFamily="34" charset="0"/>
                <a:ea typeface="Verdana" pitchFamily="34" charset="-122"/>
                <a:cs typeface="Verdana" pitchFamily="34" charset="-120"/>
              </a:rPr>
              <a:t>Brevo</a:t>
            </a:r>
            <a:endParaRPr lang="en-US" sz="1500" dirty="0"/>
          </a:p>
        </p:txBody>
      </p:sp>
      <p:sp>
        <p:nvSpPr>
          <p:cNvPr id="27" name="Text 22"/>
          <p:cNvSpPr txBox="1"/>
          <p:nvPr/>
        </p:nvSpPr>
        <p:spPr>
          <a:xfrm>
            <a:off x="6400800" y="2697480"/>
            <a:ext cx="2313432" cy="1920240"/>
          </a:xfrm>
          <a:prstGeom prst="rect">
            <a:avLst/>
          </a:prstGeom>
          <a:noFill/>
          <a:ln/>
        </p:spPr>
        <p:txBody>
          <a:bodyPr wrap="square" lIns="0" tIns="0" rIns="0" bIns="0" rtlCol="0" anchor="t"/>
          <a:lstStyle/>
          <a:p>
            <a:pPr marL="0" indent="0">
              <a:buNone/>
            </a:pPr>
            <a:r>
              <a:rPr lang="en-US" sz="1300" dirty="0">
                <a:solidFill>
                  <a:srgbClr val="3A4658"/>
                </a:solidFill>
                <a:latin typeface="Verdana" pitchFamily="34" charset="0"/>
                <a:ea typeface="Verdana" pitchFamily="34" charset="-122"/>
                <a:cs typeface="Verdana" pitchFamily="34" charset="-120"/>
              </a:rPr>
              <a:t>Tous les e-mails et SMS automatiques (expéditeur « MareDurab »).</a:t>
            </a:r>
            <a:endParaRPr lang="en-US" sz="1300" dirty="0"/>
          </a:p>
        </p:txBody>
      </p:sp>
      <p:sp>
        <p:nvSpPr>
          <p:cNvPr id="28" name="Shape 23"/>
          <p:cNvSpPr/>
          <p:nvPr/>
        </p:nvSpPr>
        <p:spPr>
          <a:xfrm>
            <a:off x="6355080" y="4800600"/>
            <a:ext cx="2404872" cy="402336"/>
          </a:xfrm>
          <a:prstGeom prst="roundRect">
            <a:avLst>
              <a:gd name="adj" fmla="val 50000"/>
            </a:avLst>
          </a:prstGeom>
          <a:solidFill>
            <a:srgbClr val="EEF4FD"/>
          </a:solidFill>
          <a:ln w="12700">
            <a:solidFill>
              <a:srgbClr val="EEF4FD"/>
            </a:solidFill>
            <a:prstDash val="solid"/>
          </a:ln>
        </p:spPr>
        <p:txBody>
          <a:bodyPr/>
          <a:lstStyle/>
          <a:p>
            <a:endParaRPr lang="fr-FR"/>
          </a:p>
        </p:txBody>
      </p:sp>
      <p:sp>
        <p:nvSpPr>
          <p:cNvPr id="29" name="Text 24"/>
          <p:cNvSpPr txBox="1"/>
          <p:nvPr/>
        </p:nvSpPr>
        <p:spPr>
          <a:xfrm>
            <a:off x="6355080" y="4800600"/>
            <a:ext cx="2404872" cy="402336"/>
          </a:xfrm>
          <a:prstGeom prst="rect">
            <a:avLst/>
          </a:prstGeom>
          <a:noFill/>
          <a:ln/>
        </p:spPr>
        <p:txBody>
          <a:bodyPr wrap="square" lIns="0" tIns="0" rIns="0" bIns="0" rtlCol="0" anchor="ctr"/>
          <a:lstStyle/>
          <a:p>
            <a:pPr marL="0" indent="0" algn="ctr">
              <a:buNone/>
            </a:pPr>
            <a:r>
              <a:rPr lang="en-US" sz="1050" b="1" dirty="0">
                <a:solidFill>
                  <a:srgbClr val="0012B5"/>
                </a:solidFill>
                <a:latin typeface="Verdana" pitchFamily="34" charset="0"/>
                <a:ea typeface="Verdana" pitchFamily="34" charset="-122"/>
                <a:cs typeface="Verdana" pitchFamily="34" charset="-120"/>
              </a:rPr>
              <a:t>France · UE</a:t>
            </a:r>
            <a:endParaRPr lang="en-US" sz="1050" dirty="0"/>
          </a:p>
        </p:txBody>
      </p:sp>
      <p:sp>
        <p:nvSpPr>
          <p:cNvPr id="30" name="Shape 25"/>
          <p:cNvSpPr/>
          <p:nvPr/>
        </p:nvSpPr>
        <p:spPr>
          <a:xfrm>
            <a:off x="6355080" y="5349240"/>
            <a:ext cx="2404872" cy="566928"/>
          </a:xfrm>
          <a:prstGeom prst="roundRect">
            <a:avLst>
              <a:gd name="adj" fmla="val 50000"/>
            </a:avLst>
          </a:prstGeom>
          <a:solidFill>
            <a:srgbClr val="E6F6EC"/>
          </a:solidFill>
          <a:ln w="12700">
            <a:solidFill>
              <a:srgbClr val="E6F6EC"/>
            </a:solidFill>
            <a:prstDash val="solid"/>
          </a:ln>
        </p:spPr>
        <p:txBody>
          <a:bodyPr/>
          <a:lstStyle/>
          <a:p>
            <a:endParaRPr lang="fr-FR"/>
          </a:p>
        </p:txBody>
      </p:sp>
      <p:sp>
        <p:nvSpPr>
          <p:cNvPr id="31" name="Text 26"/>
          <p:cNvSpPr txBox="1"/>
          <p:nvPr/>
        </p:nvSpPr>
        <p:spPr>
          <a:xfrm>
            <a:off x="6355080" y="5349240"/>
            <a:ext cx="2404872" cy="566928"/>
          </a:xfrm>
          <a:prstGeom prst="rect">
            <a:avLst/>
          </a:prstGeom>
          <a:noFill/>
          <a:ln/>
        </p:spPr>
        <p:txBody>
          <a:bodyPr wrap="square" lIns="0" tIns="0" rIns="0" bIns="0" rtlCol="0" anchor="ctr"/>
          <a:lstStyle/>
          <a:p>
            <a:pPr marL="0" indent="0" algn="ctr">
              <a:buNone/>
            </a:pPr>
            <a:r>
              <a:rPr lang="en-US" sz="1050" b="1" dirty="0">
                <a:solidFill>
                  <a:srgbClr val="1B7A3D"/>
                </a:solidFill>
                <a:latin typeface="Verdana" pitchFamily="34" charset="0"/>
                <a:ea typeface="Verdana" pitchFamily="34" charset="-122"/>
                <a:cs typeface="Verdana" pitchFamily="34" charset="-120"/>
              </a:rPr>
              <a:t>E-mails : 0 à 9 €/mois · SMS ≈ 0,045 €</a:t>
            </a:r>
            <a:endParaRPr lang="en-US" sz="1050" dirty="0"/>
          </a:p>
        </p:txBody>
      </p:sp>
      <p:sp>
        <p:nvSpPr>
          <p:cNvPr id="32" name="Shape 27"/>
          <p:cNvSpPr/>
          <p:nvPr/>
        </p:nvSpPr>
        <p:spPr>
          <a:xfrm>
            <a:off x="9052560" y="1828800"/>
            <a:ext cx="2679192" cy="452628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33" name="Shape 28"/>
          <p:cNvSpPr/>
          <p:nvPr/>
        </p:nvSpPr>
        <p:spPr>
          <a:xfrm>
            <a:off x="9235440" y="2011680"/>
            <a:ext cx="512064" cy="512064"/>
          </a:xfrm>
          <a:prstGeom prst="ellipse">
            <a:avLst/>
          </a:prstGeom>
          <a:solidFill>
            <a:srgbClr val="00A7B5"/>
          </a:solidFill>
          <a:ln w="12700">
            <a:solidFill>
              <a:srgbClr val="00A7B5"/>
            </a:solidFill>
            <a:prstDash val="solid"/>
          </a:ln>
        </p:spPr>
        <p:txBody>
          <a:bodyPr/>
          <a:lstStyle/>
          <a:p>
            <a:endParaRPr lang="fr-FR"/>
          </a:p>
        </p:txBody>
      </p:sp>
      <p:pic>
        <p:nvPicPr>
          <p:cNvPr id="34" name="Image 3" descr="preencoded.png"/>
          <p:cNvPicPr>
            <a:picLocks noChangeAspect="1"/>
          </p:cNvPicPr>
          <p:nvPr/>
        </p:nvPicPr>
        <p:blipFill>
          <a:blip r:embed="rId6"/>
          <a:stretch>
            <a:fillRect/>
          </a:stretch>
        </p:blipFill>
        <p:spPr>
          <a:xfrm>
            <a:off x="9363456" y="2139696"/>
            <a:ext cx="256032" cy="256032"/>
          </a:xfrm>
          <a:prstGeom prst="rect">
            <a:avLst/>
          </a:prstGeom>
        </p:spPr>
      </p:pic>
      <p:sp>
        <p:nvSpPr>
          <p:cNvPr id="35" name="Text 29"/>
          <p:cNvSpPr txBox="1"/>
          <p:nvPr/>
        </p:nvSpPr>
        <p:spPr>
          <a:xfrm>
            <a:off x="9838944" y="2011680"/>
            <a:ext cx="1810512" cy="512064"/>
          </a:xfrm>
          <a:prstGeom prst="rect">
            <a:avLst/>
          </a:prstGeom>
          <a:noFill/>
          <a:ln/>
        </p:spPr>
        <p:txBody>
          <a:bodyPr wrap="square" lIns="0" tIns="0" rIns="0" bIns="0" rtlCol="0" anchor="ctr"/>
          <a:lstStyle/>
          <a:p>
            <a:pPr marL="0" indent="0">
              <a:buNone/>
            </a:pPr>
            <a:r>
              <a:rPr lang="en-US" sz="1500" b="1" dirty="0">
                <a:solidFill>
                  <a:srgbClr val="0012B5"/>
                </a:solidFill>
                <a:latin typeface="Verdana" pitchFamily="34" charset="0"/>
                <a:ea typeface="Verdana" pitchFamily="34" charset="-122"/>
                <a:cs typeface="Verdana" pitchFamily="34" charset="-120"/>
              </a:rPr>
              <a:t>Stripe</a:t>
            </a:r>
            <a:endParaRPr lang="en-US" sz="1500" dirty="0"/>
          </a:p>
        </p:txBody>
      </p:sp>
      <p:sp>
        <p:nvSpPr>
          <p:cNvPr id="36" name="Text 30"/>
          <p:cNvSpPr txBox="1"/>
          <p:nvPr/>
        </p:nvSpPr>
        <p:spPr>
          <a:xfrm>
            <a:off x="9235440" y="2697480"/>
            <a:ext cx="2313432" cy="1920240"/>
          </a:xfrm>
          <a:prstGeom prst="rect">
            <a:avLst/>
          </a:prstGeom>
          <a:noFill/>
          <a:ln/>
        </p:spPr>
        <p:txBody>
          <a:bodyPr wrap="square" lIns="0" tIns="0" rIns="0" bIns="0" rtlCol="0" anchor="t"/>
          <a:lstStyle/>
          <a:p>
            <a:pPr marL="0" indent="0">
              <a:buNone/>
            </a:pPr>
            <a:r>
              <a:rPr lang="en-US" sz="1300" dirty="0">
                <a:solidFill>
                  <a:srgbClr val="3A4658"/>
                </a:solidFill>
                <a:latin typeface="Verdana" pitchFamily="34" charset="0"/>
                <a:ea typeface="Verdana" pitchFamily="34" charset="-122"/>
                <a:cs typeface="Verdana" pitchFamily="34" charset="-120"/>
              </a:rPr>
              <a:t>Paiement par carte, empreinte bancaire, remboursements.</a:t>
            </a:r>
            <a:endParaRPr lang="en-US" sz="1300" dirty="0"/>
          </a:p>
        </p:txBody>
      </p:sp>
      <p:sp>
        <p:nvSpPr>
          <p:cNvPr id="37" name="Shape 31"/>
          <p:cNvSpPr/>
          <p:nvPr/>
        </p:nvSpPr>
        <p:spPr>
          <a:xfrm>
            <a:off x="9189720" y="4800600"/>
            <a:ext cx="2404872" cy="402336"/>
          </a:xfrm>
          <a:prstGeom prst="roundRect">
            <a:avLst>
              <a:gd name="adj" fmla="val 50000"/>
            </a:avLst>
          </a:prstGeom>
          <a:solidFill>
            <a:srgbClr val="EEF4FD"/>
          </a:solidFill>
          <a:ln w="12700">
            <a:solidFill>
              <a:srgbClr val="EEF4FD"/>
            </a:solidFill>
            <a:prstDash val="solid"/>
          </a:ln>
        </p:spPr>
        <p:txBody>
          <a:bodyPr/>
          <a:lstStyle/>
          <a:p>
            <a:endParaRPr lang="fr-FR"/>
          </a:p>
        </p:txBody>
      </p:sp>
      <p:sp>
        <p:nvSpPr>
          <p:cNvPr id="38" name="Text 32"/>
          <p:cNvSpPr txBox="1"/>
          <p:nvPr/>
        </p:nvSpPr>
        <p:spPr>
          <a:xfrm>
            <a:off x="9189720" y="4800600"/>
            <a:ext cx="2404872" cy="402336"/>
          </a:xfrm>
          <a:prstGeom prst="rect">
            <a:avLst/>
          </a:prstGeom>
          <a:noFill/>
          <a:ln/>
        </p:spPr>
        <p:txBody>
          <a:bodyPr wrap="square" lIns="0" tIns="0" rIns="0" bIns="0" rtlCol="0" anchor="ctr"/>
          <a:lstStyle/>
          <a:p>
            <a:pPr marL="0" indent="0" algn="ctr">
              <a:buNone/>
            </a:pPr>
            <a:r>
              <a:rPr lang="en-US" sz="1050" b="1" dirty="0">
                <a:solidFill>
                  <a:srgbClr val="0012B5"/>
                </a:solidFill>
                <a:latin typeface="Verdana" pitchFamily="34" charset="0"/>
                <a:ea typeface="Verdana" pitchFamily="34" charset="-122"/>
                <a:cs typeface="Verdana" pitchFamily="34" charset="-120"/>
              </a:rPr>
              <a:t>Irlande (entité UE)</a:t>
            </a:r>
            <a:endParaRPr lang="en-US" sz="1050" dirty="0"/>
          </a:p>
        </p:txBody>
      </p:sp>
      <p:sp>
        <p:nvSpPr>
          <p:cNvPr id="39" name="Shape 33"/>
          <p:cNvSpPr/>
          <p:nvPr/>
        </p:nvSpPr>
        <p:spPr>
          <a:xfrm>
            <a:off x="9189720" y="5349240"/>
            <a:ext cx="2404872" cy="566928"/>
          </a:xfrm>
          <a:prstGeom prst="roundRect">
            <a:avLst>
              <a:gd name="adj" fmla="val 50000"/>
            </a:avLst>
          </a:prstGeom>
          <a:solidFill>
            <a:srgbClr val="E6F6EC"/>
          </a:solidFill>
          <a:ln w="12700">
            <a:solidFill>
              <a:srgbClr val="E6F6EC"/>
            </a:solidFill>
            <a:prstDash val="solid"/>
          </a:ln>
        </p:spPr>
        <p:txBody>
          <a:bodyPr/>
          <a:lstStyle/>
          <a:p>
            <a:endParaRPr lang="fr-FR"/>
          </a:p>
        </p:txBody>
      </p:sp>
      <p:sp>
        <p:nvSpPr>
          <p:cNvPr id="40" name="Text 34"/>
          <p:cNvSpPr txBox="1"/>
          <p:nvPr/>
        </p:nvSpPr>
        <p:spPr>
          <a:xfrm>
            <a:off x="9189720" y="5349240"/>
            <a:ext cx="2404872" cy="566928"/>
          </a:xfrm>
          <a:prstGeom prst="rect">
            <a:avLst/>
          </a:prstGeom>
          <a:noFill/>
          <a:ln/>
        </p:spPr>
        <p:txBody>
          <a:bodyPr wrap="square" lIns="0" tIns="0" rIns="0" bIns="0" rtlCol="0" anchor="ctr"/>
          <a:lstStyle/>
          <a:p>
            <a:pPr marL="0" indent="0" algn="ctr">
              <a:buNone/>
            </a:pPr>
            <a:r>
              <a:rPr lang="en-US" sz="1050" b="1" dirty="0">
                <a:solidFill>
                  <a:srgbClr val="1B7A3D"/>
                </a:solidFill>
                <a:latin typeface="Verdana" pitchFamily="34" charset="0"/>
                <a:ea typeface="Verdana" pitchFamily="34" charset="-122"/>
                <a:cs typeface="Verdana" pitchFamily="34" charset="-120"/>
              </a:rPr>
              <a:t>1,5 % + 0,25 € par paiement</a:t>
            </a:r>
            <a:endParaRPr lang="en-US" sz="1050" dirty="0"/>
          </a:p>
        </p:txBody>
      </p:sp>
      <p:sp>
        <p:nvSpPr>
          <p:cNvPr id="41" name="Text 35"/>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37</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TECHNIQUE · LES COÛTS</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Ce que coûtent les outils, selon la saison</a:t>
            </a:r>
            <a:endParaRPr lang="en-US" sz="2500" dirty="0"/>
          </a:p>
        </p:txBody>
      </p:sp>
      <p:sp>
        <p:nvSpPr>
          <p:cNvPr id="4" name="Shape 2"/>
          <p:cNvSpPr/>
          <p:nvPr/>
        </p:nvSpPr>
        <p:spPr>
          <a:xfrm>
            <a:off x="8138160" y="329184"/>
            <a:ext cx="3520440" cy="292608"/>
          </a:xfrm>
          <a:prstGeom prst="roundRect">
            <a:avLst>
              <a:gd name="adj" fmla="val 50000"/>
            </a:avLst>
          </a:prstGeom>
          <a:solidFill>
            <a:srgbClr val="FFF4DC"/>
          </a:solidFill>
          <a:ln w="12700">
            <a:solidFill>
              <a:srgbClr val="FFF4DC"/>
            </a:solidFill>
            <a:prstDash val="solid"/>
          </a:ln>
        </p:spPr>
        <p:txBody>
          <a:bodyPr/>
          <a:lstStyle/>
          <a:p>
            <a:endParaRPr lang="fr-FR"/>
          </a:p>
        </p:txBody>
      </p:sp>
      <p:sp>
        <p:nvSpPr>
          <p:cNvPr id="5" name="Text 3"/>
          <p:cNvSpPr txBox="1"/>
          <p:nvPr/>
        </p:nvSpPr>
        <p:spPr>
          <a:xfrm>
            <a:off x="8138160" y="329184"/>
            <a:ext cx="3520440" cy="292608"/>
          </a:xfrm>
          <a:prstGeom prst="rect">
            <a:avLst/>
          </a:prstGeom>
          <a:noFill/>
          <a:ln/>
        </p:spPr>
        <p:txBody>
          <a:bodyPr wrap="square" lIns="0" tIns="0" rIns="0" bIns="0" rtlCol="0" anchor="ctr"/>
          <a:lstStyle/>
          <a:p>
            <a:pPr marL="0" indent="0" algn="ctr">
              <a:buNone/>
            </a:pPr>
            <a:r>
              <a:rPr lang="en-US" sz="1050" b="1" dirty="0">
                <a:solidFill>
                  <a:srgbClr val="B45309"/>
                </a:solidFill>
                <a:latin typeface="Verdana" pitchFamily="34" charset="0"/>
                <a:ea typeface="Verdana" pitchFamily="34" charset="-122"/>
                <a:cs typeface="Verdana" pitchFamily="34" charset="-120"/>
              </a:rPr>
              <a:t>Estimation · tarifs publics sept. 2026</a:t>
            </a:r>
            <a:endParaRPr lang="en-US" sz="1050" dirty="0"/>
          </a:p>
        </p:txBody>
      </p:sp>
      <p:graphicFrame>
        <p:nvGraphicFramePr>
          <p:cNvPr id="39" name="Table 0"/>
          <p:cNvGraphicFramePr>
            <a:graphicFrameLocks noGrp="1"/>
          </p:cNvGraphicFramePr>
          <p:nvPr>
            <p:extLst>
              <p:ext uri="{D42A27DB-BD31-4B8C-83A1-F6EECF244321}">
                <p14:modId xmlns:p14="http://schemas.microsoft.com/office/powerpoint/2010/main" val="2205498228"/>
              </p:ext>
            </p:extLst>
          </p:nvPr>
        </p:nvGraphicFramePr>
        <p:xfrm>
          <a:off x="548640" y="1371600"/>
          <a:ext cx="7223760" cy="3729736"/>
        </p:xfrm>
        <a:graphic>
          <a:graphicData uri="http://schemas.openxmlformats.org/drawingml/2006/table">
            <a:tbl>
              <a:tblPr/>
              <a:tblGrid>
                <a:gridCol w="1828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559656">
                  <a:extLst>
                    <a:ext uri="{9D8B030D-6E8A-4147-A177-3AD203B41FA5}">
                      <a16:colId xmlns:a16="http://schemas.microsoft.com/office/drawing/2014/main" val="20003"/>
                    </a:ext>
                  </a:extLst>
                </a:gridCol>
                <a:gridCol w="1457864">
                  <a:extLst>
                    <a:ext uri="{9D8B030D-6E8A-4147-A177-3AD203B41FA5}">
                      <a16:colId xmlns:a16="http://schemas.microsoft.com/office/drawing/2014/main" val="20004"/>
                    </a:ext>
                  </a:extLst>
                </a:gridCol>
              </a:tblGrid>
              <a:tr h="429768">
                <a:tc>
                  <a:txBody>
                    <a:bodyPr/>
                    <a:lstStyle/>
                    <a:p>
                      <a:pPr marL="0" indent="0">
                        <a:buNone/>
                      </a:pP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tc>
                  <a:txBody>
                    <a:bodyPr/>
                    <a:lstStyle/>
                    <a:p>
                      <a:pPr marL="0" indent="0">
                        <a:buNone/>
                      </a:pPr>
                      <a:r>
                        <a:rPr lang="en-US" sz="1100" b="1" dirty="0">
                          <a:solidFill>
                            <a:srgbClr val="FFFFFF"/>
                          </a:solidFill>
                          <a:latin typeface="Verdana" pitchFamily="34" charset="0"/>
                          <a:ea typeface="Verdana" pitchFamily="34" charset="-122"/>
                          <a:cs typeface="Verdana" pitchFamily="34" charset="-120"/>
                        </a:rPr>
                        <a:t>Hiver</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tc>
                  <a:txBody>
                    <a:bodyPr/>
                    <a:lstStyle/>
                    <a:p>
                      <a:pPr marL="0" indent="0">
                        <a:buNone/>
                      </a:pPr>
                      <a:r>
                        <a:rPr lang="en-US" sz="1100" b="1" dirty="0">
                          <a:solidFill>
                            <a:srgbClr val="FFFFFF"/>
                          </a:solidFill>
                          <a:latin typeface="Verdana" pitchFamily="34" charset="0"/>
                          <a:ea typeface="Verdana" pitchFamily="34" charset="-122"/>
                          <a:cs typeface="Verdana" pitchFamily="34" charset="-120"/>
                        </a:rPr>
                        <a:t>Été</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tc>
                  <a:txBody>
                    <a:bodyPr/>
                    <a:lstStyle/>
                    <a:p>
                      <a:pPr marL="0" indent="0">
                        <a:buNone/>
                      </a:pPr>
                      <a:r>
                        <a:rPr lang="en-US" sz="1100" b="1" dirty="0" err="1">
                          <a:solidFill>
                            <a:srgbClr val="FFFFFF"/>
                          </a:solidFill>
                          <a:latin typeface="Verdana" pitchFamily="34" charset="0"/>
                          <a:ea typeface="Verdana" pitchFamily="34" charset="-122"/>
                          <a:cs typeface="Verdana" pitchFamily="34" charset="-120"/>
                        </a:rPr>
                        <a:t>Été</a:t>
                      </a:r>
                      <a:r>
                        <a:rPr lang="en-US" sz="1100" b="1" dirty="0">
                          <a:solidFill>
                            <a:srgbClr val="FFFFFF"/>
                          </a:solidFill>
                          <a:latin typeface="Verdana" pitchFamily="34" charset="0"/>
                          <a:ea typeface="Verdana" pitchFamily="34" charset="-122"/>
                          <a:cs typeface="Verdana" pitchFamily="34" charset="-120"/>
                        </a:rPr>
                        <a:t> “</a:t>
                      </a:r>
                      <a:r>
                        <a:rPr lang="en-US" sz="1100" b="1" dirty="0" err="1">
                          <a:solidFill>
                            <a:srgbClr val="FFFFFF"/>
                          </a:solidFill>
                          <a:latin typeface="Verdana" pitchFamily="34" charset="0"/>
                          <a:ea typeface="Verdana" pitchFamily="34" charset="-122"/>
                          <a:cs typeface="Verdana" pitchFamily="34" charset="-120"/>
                        </a:rPr>
                        <a:t>explosif</a:t>
                      </a:r>
                      <a:r>
                        <a:rPr lang="en-US" sz="1100" b="1" dirty="0">
                          <a:solidFill>
                            <a:srgbClr val="FFFFFF"/>
                          </a:solidFill>
                          <a:latin typeface="Verdana" pitchFamily="34" charset="0"/>
                          <a:ea typeface="Verdana" pitchFamily="34" charset="-122"/>
                          <a:cs typeface="Verdana" pitchFamily="34" charset="-120"/>
                        </a:rPr>
                        <a:t>”</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tc>
                  <a:txBody>
                    <a:bodyPr/>
                    <a:lstStyle/>
                    <a:p>
                      <a:pPr marL="0" indent="0">
                        <a:buNone/>
                      </a:pPr>
                      <a:r>
                        <a:rPr lang="en-US" sz="1100" b="1" dirty="0">
                          <a:solidFill>
                            <a:srgbClr val="FFFFFF"/>
                          </a:solidFill>
                          <a:latin typeface="Verdana" pitchFamily="34" charset="0"/>
                          <a:ea typeface="Verdana" pitchFamily="34" charset="-122"/>
                          <a:cs typeface="Verdana" pitchFamily="34" charset="-120"/>
                        </a:rPr>
                        <a:t>Par an</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extLst>
                  <a:ext uri="{0D108BD9-81ED-4DB2-BD59-A6C34878D82A}">
                    <a16:rowId xmlns:a16="http://schemas.microsoft.com/office/drawing/2014/main" val="10000"/>
                  </a:ext>
                </a:extLst>
              </a:tr>
              <a:tr h="429768">
                <a:tc>
                  <a:txBody>
                    <a:bodyPr/>
                    <a:lstStyle/>
                    <a:p>
                      <a:pPr marL="0" indent="0">
                        <a:buNone/>
                      </a:pPr>
                      <a:r>
                        <a:rPr lang="en-US" sz="1100" i="1" dirty="0">
                          <a:solidFill>
                            <a:srgbClr val="66728A"/>
                          </a:solidFill>
                          <a:latin typeface="Verdana" pitchFamily="34" charset="0"/>
                          <a:ea typeface="Verdana" pitchFamily="34" charset="-122"/>
                          <a:cs typeface="Verdana" pitchFamily="34" charset="-120"/>
                        </a:rPr>
                        <a:t>Réservations / mois</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i="1" dirty="0">
                          <a:solidFill>
                            <a:srgbClr val="66728A"/>
                          </a:solidFill>
                          <a:latin typeface="Verdana" pitchFamily="34" charset="0"/>
                          <a:ea typeface="Verdana" pitchFamily="34" charset="-122"/>
                          <a:cs typeface="Verdana" pitchFamily="34" charset="-120"/>
                        </a:rPr>
                        <a:t>10</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i="1" dirty="0">
                          <a:solidFill>
                            <a:srgbClr val="66728A"/>
                          </a:solidFill>
                          <a:latin typeface="Verdana" pitchFamily="34" charset="0"/>
                          <a:ea typeface="Verdana" pitchFamily="34" charset="-122"/>
                          <a:cs typeface="Verdana" pitchFamily="34" charset="-120"/>
                        </a:rPr>
                        <a:t>150</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i="1" dirty="0">
                          <a:solidFill>
                            <a:srgbClr val="66728A"/>
                          </a:solidFill>
                          <a:latin typeface="Verdana" pitchFamily="34" charset="0"/>
                          <a:ea typeface="Verdana" pitchFamily="34" charset="-122"/>
                          <a:cs typeface="Verdana" pitchFamily="34" charset="-120"/>
                        </a:rPr>
                        <a:t>600</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i="1" dirty="0">
                          <a:solidFill>
                            <a:srgbClr val="66728A"/>
                          </a:solidFill>
                          <a:latin typeface="Verdana" pitchFamily="34" charset="0"/>
                          <a:ea typeface="Verdana" pitchFamily="34" charset="-122"/>
                          <a:cs typeface="Verdana" pitchFamily="34" charset="-120"/>
                        </a:rPr>
                        <a:t>≈ 490</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Vercel Pro</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 18 €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 18 €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 18 € + usage</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 220 €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Supabase Pro</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 23 €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 23 €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 23 € + usage</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 275 €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Brevo e-mails</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0 €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0 €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 9 €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0 €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Brevo SMS</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 1 €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 14 €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 54 €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 45 €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100" b="1" dirty="0">
                          <a:solidFill>
                            <a:srgbClr val="1D2838"/>
                          </a:solidFill>
                          <a:latin typeface="Verdana" pitchFamily="34" charset="0"/>
                          <a:ea typeface="Verdana" pitchFamily="34" charset="-122"/>
                          <a:cs typeface="Verdana" pitchFamily="34" charset="-120"/>
                        </a:rPr>
                        <a:t>Total outils</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b="1" dirty="0">
                          <a:solidFill>
                            <a:srgbClr val="1D2838"/>
                          </a:solidFill>
                          <a:latin typeface="Verdana" pitchFamily="34" charset="0"/>
                          <a:ea typeface="Verdana" pitchFamily="34" charset="-122"/>
                          <a:cs typeface="Verdana" pitchFamily="34" charset="-120"/>
                        </a:rPr>
                        <a:t>≈ 42 €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b="1" dirty="0">
                          <a:solidFill>
                            <a:srgbClr val="1D2838"/>
                          </a:solidFill>
                          <a:latin typeface="Verdana" pitchFamily="34" charset="0"/>
                          <a:ea typeface="Verdana" pitchFamily="34" charset="-122"/>
                          <a:cs typeface="Verdana" pitchFamily="34" charset="-120"/>
                        </a:rPr>
                        <a:t>≈ 55 €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b="1" dirty="0">
                          <a:solidFill>
                            <a:srgbClr val="1D2838"/>
                          </a:solidFill>
                          <a:latin typeface="Verdana" pitchFamily="34" charset="0"/>
                          <a:ea typeface="Verdana" pitchFamily="34" charset="-122"/>
                          <a:cs typeface="Verdana" pitchFamily="34" charset="-120"/>
                        </a:rPr>
                        <a:t>≈ 105 € et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1100" b="1" dirty="0">
                          <a:solidFill>
                            <a:srgbClr val="1D2838"/>
                          </a:solidFill>
                          <a:latin typeface="Verdana" pitchFamily="34" charset="0"/>
                          <a:ea typeface="Verdana" pitchFamily="34" charset="-122"/>
                          <a:cs typeface="Verdana" pitchFamily="34" charset="-120"/>
                        </a:rPr>
                        <a:t>≈ </a:t>
                      </a:r>
                      <a:r>
                        <a:rPr lang="en-US" sz="1100" b="0" dirty="0">
                          <a:solidFill>
                            <a:srgbClr val="1D2838"/>
                          </a:solidFill>
                          <a:latin typeface="Verdana" pitchFamily="34" charset="0"/>
                          <a:ea typeface="Verdana" pitchFamily="34" charset="-122"/>
                          <a:cs typeface="Verdana" pitchFamily="34" charset="-120"/>
                        </a:rPr>
                        <a:t>540 €</a:t>
                      </a:r>
                      <a:r>
                        <a:rPr lang="en-US" sz="1100" b="1" dirty="0">
                          <a:solidFill>
                            <a:srgbClr val="1D2838"/>
                          </a:solidFill>
                          <a:latin typeface="Verdana" pitchFamily="34" charset="0"/>
                          <a:ea typeface="Verdana" pitchFamily="34" charset="-122"/>
                          <a:cs typeface="Verdana" pitchFamily="34" charset="-120"/>
                        </a:rPr>
                        <a:t> </a:t>
                      </a:r>
                      <a:r>
                        <a:rPr lang="en-US" sz="1100" b="0" i="1" dirty="0">
                          <a:solidFill>
                            <a:srgbClr val="1D2838"/>
                          </a:solidFill>
                          <a:latin typeface="Verdana" pitchFamily="34" charset="0"/>
                          <a:ea typeface="Verdana" pitchFamily="34" charset="-122"/>
                          <a:cs typeface="Verdana" pitchFamily="34" charset="-120"/>
                        </a:rPr>
                        <a:t>(arrondi à </a:t>
                      </a:r>
                      <a:r>
                        <a:rPr lang="en-US" sz="1100" b="1" i="1" dirty="0">
                          <a:solidFill>
                            <a:srgbClr val="1D2838"/>
                          </a:solidFill>
                          <a:latin typeface="Verdana" pitchFamily="34" charset="0"/>
                          <a:ea typeface="Verdana" pitchFamily="34" charset="-122"/>
                          <a:cs typeface="Verdana" pitchFamily="34" charset="-120"/>
                        </a:rPr>
                        <a:t>600€ </a:t>
                      </a:r>
                      <a:r>
                        <a:rPr lang="en-US" sz="1100" b="0" i="1" dirty="0">
                          <a:solidFill>
                            <a:srgbClr val="1D2838"/>
                          </a:solidFill>
                          <a:latin typeface="Verdana" pitchFamily="34" charset="0"/>
                          <a:ea typeface="Verdana" pitchFamily="34" charset="-122"/>
                          <a:cs typeface="Verdana" pitchFamily="34" charset="-120"/>
                        </a:rPr>
                        <a:t>pour la démonstration à </a:t>
                      </a:r>
                      <a:r>
                        <a:rPr lang="en-US" sz="1100" b="0" i="1" dirty="0" err="1">
                          <a:solidFill>
                            <a:srgbClr val="1D2838"/>
                          </a:solidFill>
                          <a:latin typeface="Verdana" pitchFamily="34" charset="0"/>
                          <a:ea typeface="Verdana" pitchFamily="34" charset="-122"/>
                          <a:cs typeface="Verdana" pitchFamily="34" charset="-120"/>
                        </a:rPr>
                        <a:t>venir</a:t>
                      </a:r>
                      <a:r>
                        <a:rPr lang="en-US" sz="1100" b="0" i="1" dirty="0">
                          <a:solidFill>
                            <a:srgbClr val="1D2838"/>
                          </a:solidFill>
                          <a:latin typeface="Verdana" pitchFamily="34" charset="0"/>
                          <a:ea typeface="Verdana" pitchFamily="34" charset="-122"/>
                          <a:cs typeface="Verdana" pitchFamily="34" charset="-120"/>
                        </a:rPr>
                        <a:t>)</a:t>
                      </a:r>
                      <a:endParaRPr lang="en-US" sz="1100" b="0" i="1"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buNone/>
                      </a:pPr>
                      <a:r>
                        <a:rPr lang="en-US" sz="1100" dirty="0">
                          <a:solidFill>
                            <a:srgbClr val="1D2838"/>
                          </a:solidFill>
                          <a:latin typeface="Verdana" pitchFamily="34" charset="0"/>
                          <a:ea typeface="Verdana" pitchFamily="34" charset="-122"/>
                          <a:cs typeface="Verdana" pitchFamily="34" charset="-120"/>
                        </a:rPr>
                        <a:t>Stripe (en plus)</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gridSpan="4">
                  <a:txBody>
                    <a:bodyPr/>
                    <a:lstStyle/>
                    <a:p>
                      <a:pPr marL="0" indent="0">
                        <a:buNone/>
                      </a:pPr>
                      <a:r>
                        <a:rPr lang="en-US" sz="1100" dirty="0">
                          <a:solidFill>
                            <a:srgbClr val="1D2838"/>
                          </a:solidFill>
                          <a:latin typeface="Verdana" pitchFamily="34" charset="0"/>
                          <a:ea typeface="Verdana" pitchFamily="34" charset="-122"/>
                          <a:cs typeface="Verdana" pitchFamily="34" charset="-120"/>
                        </a:rPr>
                        <a:t>1,5 % + 0,25 € par paiement : ≈ 7 € pour une sortie de 450 €</a:t>
                      </a:r>
                      <a:endParaRPr lang="en-US" sz="110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7"/>
                  </a:ext>
                </a:extLst>
              </a:tr>
            </a:tbl>
          </a:graphicData>
        </a:graphic>
      </p:graphicFrame>
      <p:sp>
        <p:nvSpPr>
          <p:cNvPr id="7" name="Text 4"/>
          <p:cNvSpPr txBox="1"/>
          <p:nvPr/>
        </p:nvSpPr>
        <p:spPr>
          <a:xfrm>
            <a:off x="548640" y="5440680"/>
            <a:ext cx="7223760" cy="548640"/>
          </a:xfrm>
          <a:prstGeom prst="rect">
            <a:avLst/>
          </a:prstGeom>
          <a:noFill/>
          <a:ln/>
        </p:spPr>
        <p:txBody>
          <a:bodyPr wrap="square" lIns="0" tIns="0" rIns="0" bIns="0" rtlCol="0" anchor="t"/>
          <a:lstStyle/>
          <a:p>
            <a:pPr marL="0" indent="0">
              <a:buNone/>
            </a:pPr>
            <a:r>
              <a:rPr lang="en-US" sz="1000" i="1" dirty="0">
                <a:solidFill>
                  <a:srgbClr val="66728A"/>
                </a:solidFill>
                <a:latin typeface="Verdana" pitchFamily="34" charset="0"/>
                <a:ea typeface="Verdana" pitchFamily="34" charset="-122"/>
                <a:cs typeface="Verdana" pitchFamily="34" charset="-120"/>
              </a:rPr>
              <a:t>Hypothèses : ~6 e-mails et ~2 SMS par réservation ; hiver = 7 mois, printemps/automne = 3 mois à 40 réservations, été = 2 mois (colonne « Par an » : scénario sans explosion). Dollars convertis à ≈ 0,92 €.</a:t>
            </a:r>
            <a:endParaRPr lang="en-US" sz="1000" dirty="0"/>
          </a:p>
        </p:txBody>
      </p:sp>
      <p:sp>
        <p:nvSpPr>
          <p:cNvPr id="8" name="Shape 5"/>
          <p:cNvSpPr/>
          <p:nvPr/>
        </p:nvSpPr>
        <p:spPr>
          <a:xfrm>
            <a:off x="8092440" y="1371600"/>
            <a:ext cx="3566160" cy="5029200"/>
          </a:xfrm>
          <a:prstGeom prst="roundRect">
            <a:avLst>
              <a:gd name="adj" fmla="val 5128"/>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9" name="Text 6"/>
          <p:cNvSpPr txBox="1"/>
          <p:nvPr/>
        </p:nvSpPr>
        <p:spPr>
          <a:xfrm>
            <a:off x="8321040" y="1508760"/>
            <a:ext cx="3200400" cy="320040"/>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Ce que dit la saison</a:t>
            </a:r>
            <a:endParaRPr lang="en-US" sz="1550" dirty="0"/>
          </a:p>
        </p:txBody>
      </p:sp>
      <p:sp>
        <p:nvSpPr>
          <p:cNvPr id="10" name="Text 7"/>
          <p:cNvSpPr txBox="1"/>
          <p:nvPr/>
        </p:nvSpPr>
        <p:spPr>
          <a:xfrm>
            <a:off x="8321040" y="1920240"/>
            <a:ext cx="3200400" cy="438912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3A4658"/>
                </a:solidFill>
                <a:latin typeface="Verdana" pitchFamily="34" charset="0"/>
                <a:ea typeface="Verdana" pitchFamily="34" charset="-122"/>
                <a:cs typeface="Verdana" pitchFamily="34" charset="-120"/>
              </a:rPr>
              <a:t>Les abonnements (Vercel, Supabase) sont fixes : l’été ne les fait pas bouger, sauf trafic hors norme.</a:t>
            </a:r>
            <a:endParaRPr lang="en-US" sz="1200" dirty="0"/>
          </a:p>
          <a:p>
            <a:pPr marL="177800" indent="-177800">
              <a:spcAft>
                <a:spcPts val="700"/>
              </a:spcAft>
              <a:buSzPct val="100000"/>
              <a:buChar char="•"/>
            </a:pPr>
            <a:r>
              <a:rPr lang="en-US" sz="1200" dirty="0">
                <a:solidFill>
                  <a:srgbClr val="3A4658"/>
                </a:solidFill>
                <a:latin typeface="Verdana" pitchFamily="34" charset="0"/>
                <a:ea typeface="Verdana" pitchFamily="34" charset="-122"/>
                <a:cs typeface="Verdana" pitchFamily="34" charset="-120"/>
              </a:rPr>
              <a:t>Ce qui suit la demande : les SMS et, au-delà de 300 e-mails par jour, l’offre payante Brevo.</a:t>
            </a:r>
            <a:endParaRPr lang="en-US" sz="1200" dirty="0"/>
          </a:p>
          <a:p>
            <a:pPr marL="177800" indent="-177800">
              <a:spcAft>
                <a:spcPts val="700"/>
              </a:spcAft>
              <a:buSzPct val="100000"/>
              <a:buChar char="•"/>
            </a:pPr>
            <a:r>
              <a:rPr lang="en-US" sz="1200" dirty="0">
                <a:solidFill>
                  <a:srgbClr val="3A4658"/>
                </a:solidFill>
                <a:latin typeface="Verdana" pitchFamily="34" charset="0"/>
                <a:ea typeface="Verdana" pitchFamily="34" charset="-122"/>
                <a:cs typeface="Verdana" pitchFamily="34" charset="-120"/>
              </a:rPr>
              <a:t>En pic : les photos des navires (servies par Supabase) consomment la bande passante ; 250 Go inclus.</a:t>
            </a:r>
            <a:endParaRPr lang="en-US" sz="1200" dirty="0"/>
          </a:p>
          <a:p>
            <a:pPr marL="177800" indent="-177800">
              <a:spcAft>
                <a:spcPts val="700"/>
              </a:spcAft>
              <a:buSzPct val="100000"/>
              <a:buChar char="•"/>
            </a:pPr>
            <a:r>
              <a:rPr lang="en-US" sz="1200" dirty="0">
                <a:solidFill>
                  <a:srgbClr val="3A4658"/>
                </a:solidFill>
                <a:latin typeface="Verdana" pitchFamily="34" charset="0"/>
                <a:ea typeface="Verdana" pitchFamily="34" charset="-122"/>
                <a:cs typeface="Verdana" pitchFamily="34" charset="-120"/>
              </a:rPr>
              <a:t>Dans la simulation : 600 €/an d’outils, SMS compris. Par économie, seul le pesca-tourisme passe par Stripe (≈ 33 €/an) ; les missions sont réglées par virement : ≈ 507 €/an de frais évités, 1 521 € sur 2027-2029.</a:t>
            </a:r>
            <a:endParaRPr lang="en-US" sz="1200" dirty="0"/>
          </a:p>
        </p:txBody>
      </p:sp>
      <p:sp>
        <p:nvSpPr>
          <p:cNvPr id="11" name="Text 8"/>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38</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TECHNIQUE · LA FIABILITÉ</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Un site léger, qui tient la charge</a:t>
            </a:r>
            <a:endParaRPr lang="en-US" sz="2500" dirty="0"/>
          </a:p>
        </p:txBody>
      </p:sp>
      <p:sp>
        <p:nvSpPr>
          <p:cNvPr id="4" name="Shape 2"/>
          <p:cNvSpPr/>
          <p:nvPr/>
        </p:nvSpPr>
        <p:spPr>
          <a:xfrm>
            <a:off x="7223760" y="329184"/>
            <a:ext cx="4434840" cy="292608"/>
          </a:xfrm>
          <a:prstGeom prst="roundRect">
            <a:avLst>
              <a:gd name="adj" fmla="val 50000"/>
            </a:avLst>
          </a:prstGeom>
          <a:solidFill>
            <a:srgbClr val="FFF4DC"/>
          </a:solidFill>
          <a:ln w="12700">
            <a:solidFill>
              <a:srgbClr val="FFF4DC"/>
            </a:solidFill>
            <a:prstDash val="solid"/>
          </a:ln>
        </p:spPr>
        <p:txBody>
          <a:bodyPr/>
          <a:lstStyle/>
          <a:p>
            <a:endParaRPr lang="fr-FR"/>
          </a:p>
        </p:txBody>
      </p:sp>
      <p:sp>
        <p:nvSpPr>
          <p:cNvPr id="5" name="Text 3"/>
          <p:cNvSpPr txBox="1"/>
          <p:nvPr/>
        </p:nvSpPr>
        <p:spPr>
          <a:xfrm>
            <a:off x="7223760" y="329184"/>
            <a:ext cx="4434840" cy="292608"/>
          </a:xfrm>
          <a:prstGeom prst="rect">
            <a:avLst/>
          </a:prstGeom>
          <a:noFill/>
          <a:ln/>
        </p:spPr>
        <p:txBody>
          <a:bodyPr wrap="square" lIns="0" tIns="0" rIns="0" bIns="0" rtlCol="0" anchor="ctr"/>
          <a:lstStyle/>
          <a:p>
            <a:pPr marL="0" indent="0" algn="ctr">
              <a:buNone/>
            </a:pPr>
            <a:r>
              <a:rPr lang="en-US" sz="1000" b="1" dirty="0">
                <a:solidFill>
                  <a:srgbClr val="B45309"/>
                </a:solidFill>
                <a:latin typeface="Verdana" pitchFamily="34" charset="0"/>
                <a:ea typeface="Verdana" pitchFamily="34" charset="-122"/>
                <a:cs typeface="Verdana" pitchFamily="34" charset="-120"/>
              </a:rPr>
              <a:t>Mesures du 28/09/2026 · limites publiques des prestataires</a:t>
            </a:r>
            <a:endParaRPr lang="en-US" sz="1000" dirty="0"/>
          </a:p>
        </p:txBody>
      </p:sp>
      <p:sp>
        <p:nvSpPr>
          <p:cNvPr id="6" name="Shape 4"/>
          <p:cNvSpPr/>
          <p:nvPr/>
        </p:nvSpPr>
        <p:spPr>
          <a:xfrm>
            <a:off x="548640" y="1417320"/>
            <a:ext cx="3749040" cy="1024128"/>
          </a:xfrm>
          <a:prstGeom prst="roundRect">
            <a:avLst>
              <a:gd name="adj" fmla="val 17857"/>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7" name="Text 5"/>
          <p:cNvSpPr txBox="1"/>
          <p:nvPr/>
        </p:nvSpPr>
        <p:spPr>
          <a:xfrm>
            <a:off x="731520" y="1508760"/>
            <a:ext cx="3383280" cy="457200"/>
          </a:xfrm>
          <a:prstGeom prst="rect">
            <a:avLst/>
          </a:prstGeom>
          <a:noFill/>
          <a:ln/>
        </p:spPr>
        <p:txBody>
          <a:bodyPr wrap="square" lIns="0" tIns="0" rIns="0" bIns="0" rtlCol="0" anchor="ctr"/>
          <a:lstStyle/>
          <a:p>
            <a:pPr marL="0" indent="0">
              <a:buNone/>
            </a:pPr>
            <a:r>
              <a:rPr lang="en-US" sz="2200" b="1" dirty="0">
                <a:solidFill>
                  <a:srgbClr val="0012B5"/>
                </a:solidFill>
                <a:latin typeface="Verdana" pitchFamily="34" charset="0"/>
                <a:ea typeface="Verdana" pitchFamily="34" charset="-122"/>
                <a:cs typeface="Verdana" pitchFamily="34" charset="-120"/>
              </a:rPr>
              <a:t>190 Ko</a:t>
            </a:r>
            <a:endParaRPr lang="en-US" sz="2200" dirty="0"/>
          </a:p>
        </p:txBody>
      </p:sp>
      <p:sp>
        <p:nvSpPr>
          <p:cNvPr id="8" name="Text 6"/>
          <p:cNvSpPr txBox="1"/>
          <p:nvPr/>
        </p:nvSpPr>
        <p:spPr>
          <a:xfrm>
            <a:off x="731520" y="1965960"/>
            <a:ext cx="3429000" cy="411480"/>
          </a:xfrm>
          <a:prstGeom prst="rect">
            <a:avLst/>
          </a:prstGeom>
          <a:noFill/>
          <a:ln/>
        </p:spPr>
        <p:txBody>
          <a:bodyPr wrap="square" lIns="0" tIns="0" rIns="0" bIns="0" rtlCol="0" anchor="t"/>
          <a:lstStyle/>
          <a:p>
            <a:pPr marL="0" indent="0">
              <a:buNone/>
            </a:pPr>
            <a:r>
              <a:rPr lang="en-US" sz="1150" dirty="0">
                <a:solidFill>
                  <a:srgbClr val="3A4658"/>
                </a:solidFill>
                <a:latin typeface="Verdana" pitchFamily="34" charset="0"/>
                <a:ea typeface="Verdana" pitchFamily="34" charset="-122"/>
                <a:cs typeface="Verdana" pitchFamily="34" charset="-120"/>
              </a:rPr>
              <a:t>le code complet du site, compressé</a:t>
            </a:r>
            <a:endParaRPr lang="en-US" sz="1150" dirty="0"/>
          </a:p>
        </p:txBody>
      </p:sp>
      <p:sp>
        <p:nvSpPr>
          <p:cNvPr id="9" name="Shape 7"/>
          <p:cNvSpPr/>
          <p:nvPr/>
        </p:nvSpPr>
        <p:spPr>
          <a:xfrm>
            <a:off x="548640" y="2606040"/>
            <a:ext cx="3749040" cy="1024128"/>
          </a:xfrm>
          <a:prstGeom prst="roundRect">
            <a:avLst>
              <a:gd name="adj" fmla="val 17857"/>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0" name="Text 8"/>
          <p:cNvSpPr txBox="1"/>
          <p:nvPr/>
        </p:nvSpPr>
        <p:spPr>
          <a:xfrm>
            <a:off x="731520" y="2697480"/>
            <a:ext cx="3383280" cy="457200"/>
          </a:xfrm>
          <a:prstGeom prst="rect">
            <a:avLst/>
          </a:prstGeom>
          <a:noFill/>
          <a:ln/>
        </p:spPr>
        <p:txBody>
          <a:bodyPr wrap="square" lIns="0" tIns="0" rIns="0" bIns="0" rtlCol="0" anchor="ctr"/>
          <a:lstStyle/>
          <a:p>
            <a:pPr marL="0" indent="0">
              <a:buNone/>
            </a:pPr>
            <a:r>
              <a:rPr lang="en-US" sz="2200" b="1" dirty="0">
                <a:solidFill>
                  <a:srgbClr val="1F5BD6"/>
                </a:solidFill>
                <a:latin typeface="Verdana" pitchFamily="34" charset="0"/>
                <a:ea typeface="Verdana" pitchFamily="34" charset="-122"/>
                <a:cs typeface="Verdana" pitchFamily="34" charset="-120"/>
              </a:rPr>
              <a:t>≈ 1,7 Mo</a:t>
            </a:r>
            <a:endParaRPr lang="en-US" sz="2200" dirty="0"/>
          </a:p>
        </p:txBody>
      </p:sp>
      <p:sp>
        <p:nvSpPr>
          <p:cNvPr id="11" name="Text 9"/>
          <p:cNvSpPr txBox="1"/>
          <p:nvPr/>
        </p:nvSpPr>
        <p:spPr>
          <a:xfrm>
            <a:off x="731520" y="3154680"/>
            <a:ext cx="3429000" cy="411480"/>
          </a:xfrm>
          <a:prstGeom prst="rect">
            <a:avLst/>
          </a:prstGeom>
          <a:noFill/>
          <a:ln/>
        </p:spPr>
        <p:txBody>
          <a:bodyPr wrap="square" lIns="0" tIns="0" rIns="0" bIns="0" rtlCol="0" anchor="t"/>
          <a:lstStyle/>
          <a:p>
            <a:pPr marL="0" indent="0">
              <a:buNone/>
            </a:pPr>
            <a:r>
              <a:rPr lang="en-US" sz="1150" dirty="0">
                <a:solidFill>
                  <a:srgbClr val="3A4658"/>
                </a:solidFill>
                <a:latin typeface="Verdana" pitchFamily="34" charset="0"/>
                <a:ea typeface="Verdana" pitchFamily="34" charset="-122"/>
                <a:cs typeface="Verdana" pitchFamily="34" charset="-120"/>
              </a:rPr>
              <a:t>première visite de l’accueil, photos comprises</a:t>
            </a:r>
            <a:endParaRPr lang="en-US" sz="1150" dirty="0"/>
          </a:p>
        </p:txBody>
      </p:sp>
      <p:sp>
        <p:nvSpPr>
          <p:cNvPr id="12" name="Shape 10"/>
          <p:cNvSpPr/>
          <p:nvPr/>
        </p:nvSpPr>
        <p:spPr>
          <a:xfrm>
            <a:off x="548640" y="3794760"/>
            <a:ext cx="3749040" cy="1024128"/>
          </a:xfrm>
          <a:prstGeom prst="roundRect">
            <a:avLst>
              <a:gd name="adj" fmla="val 17857"/>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3" name="Text 11"/>
          <p:cNvSpPr txBox="1"/>
          <p:nvPr/>
        </p:nvSpPr>
        <p:spPr>
          <a:xfrm>
            <a:off x="731520" y="3886200"/>
            <a:ext cx="3383280" cy="457200"/>
          </a:xfrm>
          <a:prstGeom prst="rect">
            <a:avLst/>
          </a:prstGeom>
          <a:noFill/>
          <a:ln/>
        </p:spPr>
        <p:txBody>
          <a:bodyPr wrap="square" lIns="0" tIns="0" rIns="0" bIns="0" rtlCol="0" anchor="ctr"/>
          <a:lstStyle/>
          <a:p>
            <a:pPr marL="0" indent="0">
              <a:buNone/>
            </a:pPr>
            <a:r>
              <a:rPr lang="en-US" sz="2200" b="1" dirty="0">
                <a:solidFill>
                  <a:srgbClr val="00A7B5"/>
                </a:solidFill>
                <a:latin typeface="Verdana" pitchFamily="34" charset="0"/>
                <a:ea typeface="Verdana" pitchFamily="34" charset="-122"/>
                <a:cs typeface="Verdana" pitchFamily="34" charset="-120"/>
              </a:rPr>
              <a:t>62 Mo</a:t>
            </a:r>
            <a:endParaRPr lang="en-US" sz="2200" dirty="0"/>
          </a:p>
        </p:txBody>
      </p:sp>
      <p:sp>
        <p:nvSpPr>
          <p:cNvPr id="14" name="Text 12"/>
          <p:cNvSpPr txBox="1"/>
          <p:nvPr/>
        </p:nvSpPr>
        <p:spPr>
          <a:xfrm>
            <a:off x="731520" y="4343400"/>
            <a:ext cx="3429000" cy="411480"/>
          </a:xfrm>
          <a:prstGeom prst="rect">
            <a:avLst/>
          </a:prstGeom>
          <a:noFill/>
          <a:ln/>
        </p:spPr>
        <p:txBody>
          <a:bodyPr wrap="square" lIns="0" tIns="0" rIns="0" bIns="0" rtlCol="0" anchor="t"/>
          <a:lstStyle/>
          <a:p>
            <a:pPr marL="0" indent="0">
              <a:buNone/>
            </a:pPr>
            <a:r>
              <a:rPr lang="en-US" sz="1150" dirty="0">
                <a:solidFill>
                  <a:srgbClr val="3A4658"/>
                </a:solidFill>
                <a:latin typeface="Verdana" pitchFamily="34" charset="0"/>
                <a:ea typeface="Verdana" pitchFamily="34" charset="-122"/>
                <a:cs typeface="Verdana" pitchFamily="34" charset="-120"/>
              </a:rPr>
              <a:t>mémoire d’une fonction serveur, sur 2 Go alloués (3 %)</a:t>
            </a:r>
            <a:endParaRPr lang="en-US" sz="1150" dirty="0"/>
          </a:p>
        </p:txBody>
      </p:sp>
      <p:sp>
        <p:nvSpPr>
          <p:cNvPr id="15" name="Shape 13"/>
          <p:cNvSpPr/>
          <p:nvPr/>
        </p:nvSpPr>
        <p:spPr>
          <a:xfrm>
            <a:off x="548640" y="4983480"/>
            <a:ext cx="3749040" cy="1024128"/>
          </a:xfrm>
          <a:prstGeom prst="roundRect">
            <a:avLst>
              <a:gd name="adj" fmla="val 17857"/>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6" name="Text 14"/>
          <p:cNvSpPr txBox="1"/>
          <p:nvPr/>
        </p:nvSpPr>
        <p:spPr>
          <a:xfrm>
            <a:off x="731520" y="5074920"/>
            <a:ext cx="3383280" cy="457200"/>
          </a:xfrm>
          <a:prstGeom prst="rect">
            <a:avLst/>
          </a:prstGeom>
          <a:noFill/>
          <a:ln/>
        </p:spPr>
        <p:txBody>
          <a:bodyPr wrap="square" lIns="0" tIns="0" rIns="0" bIns="0" rtlCol="0" anchor="ctr"/>
          <a:lstStyle/>
          <a:p>
            <a:pPr marL="0" indent="0">
              <a:buNone/>
            </a:pPr>
            <a:r>
              <a:rPr lang="en-US" sz="2200" b="1" dirty="0">
                <a:solidFill>
                  <a:srgbClr val="0E9F6E"/>
                </a:solidFill>
                <a:latin typeface="Verdana" pitchFamily="34" charset="0"/>
                <a:ea typeface="Verdana" pitchFamily="34" charset="-122"/>
                <a:cs typeface="Verdana" pitchFamily="34" charset="-120"/>
              </a:rPr>
              <a:t>12 Mo</a:t>
            </a:r>
            <a:endParaRPr lang="en-US" sz="2200" dirty="0"/>
          </a:p>
        </p:txBody>
      </p:sp>
      <p:sp>
        <p:nvSpPr>
          <p:cNvPr id="17" name="Text 15"/>
          <p:cNvSpPr txBox="1"/>
          <p:nvPr/>
        </p:nvSpPr>
        <p:spPr>
          <a:xfrm>
            <a:off x="731520" y="5532120"/>
            <a:ext cx="3429000" cy="411480"/>
          </a:xfrm>
          <a:prstGeom prst="rect">
            <a:avLst/>
          </a:prstGeom>
          <a:noFill/>
          <a:ln/>
        </p:spPr>
        <p:txBody>
          <a:bodyPr wrap="square" lIns="0" tIns="0" rIns="0" bIns="0" rtlCol="0" anchor="t"/>
          <a:lstStyle/>
          <a:p>
            <a:pPr marL="0" indent="0">
              <a:buNone/>
            </a:pPr>
            <a:r>
              <a:rPr lang="en-US" sz="1150" dirty="0">
                <a:solidFill>
                  <a:srgbClr val="3A4658"/>
                </a:solidFill>
                <a:latin typeface="Verdana" pitchFamily="34" charset="0"/>
                <a:ea typeface="Verdana" pitchFamily="34" charset="-122"/>
                <a:cs typeface="Verdana" pitchFamily="34" charset="-120"/>
              </a:rPr>
              <a:t>base de données actuelle, sur 500 Mo (gratuit) ou 8 Go (Pro)</a:t>
            </a:r>
            <a:endParaRPr lang="en-US" sz="11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0" y="1417320"/>
          <a:ext cx="7086600" cy="3145536"/>
        </p:xfrm>
        <a:graphic>
          <a:graphicData uri="http://schemas.openxmlformats.org/drawingml/2006/table">
            <a:tbl>
              <a:tblPr/>
              <a:tblGrid>
                <a:gridCol w="13258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tblGrid>
              <a:tr h="347472">
                <a:tc>
                  <a:txBody>
                    <a:bodyPr/>
                    <a:lstStyle/>
                    <a:p>
                      <a:pPr marL="0" indent="0">
                        <a:buNone/>
                      </a:pPr>
                      <a:r>
                        <a:rPr lang="en-US" sz="850" b="1" dirty="0">
                          <a:solidFill>
                            <a:srgbClr val="FFFFFF"/>
                          </a:solidFill>
                          <a:latin typeface="Verdana" pitchFamily="34" charset="0"/>
                          <a:ea typeface="Verdana" pitchFamily="34" charset="-122"/>
                          <a:cs typeface="Verdana" pitchFamily="34" charset="-120"/>
                        </a:rPr>
                        <a:t>Brique</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tc>
                  <a:txBody>
                    <a:bodyPr/>
                    <a:lstStyle/>
                    <a:p>
                      <a:pPr marL="0" indent="0">
                        <a:buNone/>
                      </a:pPr>
                      <a:r>
                        <a:rPr lang="en-US" sz="850" b="1" dirty="0">
                          <a:solidFill>
                            <a:srgbClr val="FFFFFF"/>
                          </a:solidFill>
                          <a:latin typeface="Verdana" pitchFamily="34" charset="0"/>
                          <a:ea typeface="Verdana" pitchFamily="34" charset="-122"/>
                          <a:cs typeface="Verdana" pitchFamily="34" charset="-120"/>
                        </a:rPr>
                        <a:t>Aujourd’hui (gratuit)</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tc>
                  <a:txBody>
                    <a:bodyPr/>
                    <a:lstStyle/>
                    <a:p>
                      <a:pPr marL="0" indent="0">
                        <a:buNone/>
                      </a:pPr>
                      <a:r>
                        <a:rPr lang="en-US" sz="850" b="1" dirty="0">
                          <a:solidFill>
                            <a:srgbClr val="FFFFFF"/>
                          </a:solidFill>
                          <a:latin typeface="Verdana" pitchFamily="34" charset="0"/>
                          <a:ea typeface="Verdana" pitchFamily="34" charset="-122"/>
                          <a:cs typeface="Verdana" pitchFamily="34" charset="-120"/>
                        </a:rPr>
                        <a:t>Après passage Pro</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tc>
                  <a:txBody>
                    <a:bodyPr/>
                    <a:lstStyle/>
                    <a:p>
                      <a:pPr marL="0" indent="0">
                        <a:buNone/>
                      </a:pPr>
                      <a:r>
                        <a:rPr lang="en-US" sz="850" b="1" dirty="0">
                          <a:solidFill>
                            <a:srgbClr val="FFFFFF"/>
                          </a:solidFill>
                          <a:latin typeface="Verdana" pitchFamily="34" charset="0"/>
                          <a:ea typeface="Verdana" pitchFamily="34" charset="-122"/>
                          <a:cs typeface="Verdana" pitchFamily="34" charset="-120"/>
                        </a:rPr>
                        <a:t>Ce que ça permet</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extLst>
                  <a:ext uri="{0D108BD9-81ED-4DB2-BD59-A6C34878D82A}">
                    <a16:rowId xmlns:a16="http://schemas.microsoft.com/office/drawing/2014/main" val="10000"/>
                  </a:ext>
                </a:extLst>
              </a:tr>
              <a:tr h="658368">
                <a:tc>
                  <a:txBody>
                    <a:bodyPr/>
                    <a:lstStyle/>
                    <a:p>
                      <a:pPr marL="0" indent="0">
                        <a:buNone/>
                      </a:pPr>
                      <a:r>
                        <a:rPr lang="en-US" sz="850" b="1" dirty="0">
                          <a:solidFill>
                            <a:srgbClr val="0012B5"/>
                          </a:solidFill>
                          <a:latin typeface="Verdana" pitchFamily="34" charset="0"/>
                          <a:ea typeface="Verdana" pitchFamily="34" charset="-122"/>
                          <a:cs typeface="Verdana" pitchFamily="34" charset="-120"/>
                        </a:rPr>
                        <a:t>Pages (Vercel)</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850" dirty="0">
                          <a:solidFill>
                            <a:srgbClr val="1D2838"/>
                          </a:solidFill>
                          <a:latin typeface="Verdana" pitchFamily="34" charset="0"/>
                          <a:ea typeface="Verdana" pitchFamily="34" charset="-122"/>
                          <a:cs typeface="Verdana" pitchFamily="34" charset="-120"/>
                        </a:rPr>
                        <a:t>100 Go/mois de transfert</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850" dirty="0">
                          <a:solidFill>
                            <a:srgbClr val="1D2838"/>
                          </a:solidFill>
                          <a:latin typeface="Verdana" pitchFamily="34" charset="0"/>
                          <a:ea typeface="Verdana" pitchFamily="34" charset="-122"/>
                          <a:cs typeface="Verdana" pitchFamily="34" charset="-120"/>
                        </a:rPr>
                        <a:t>CDN au forfait</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850" dirty="0">
                          <a:solidFill>
                            <a:srgbClr val="1D2838"/>
                          </a:solidFill>
                          <a:latin typeface="Verdana" pitchFamily="34" charset="0"/>
                          <a:ea typeface="Verdana" pitchFamily="34" charset="-122"/>
                          <a:cs typeface="Verdana" pitchFamily="34" charset="-120"/>
                        </a:rPr>
                        <a:t>≈ 40 000 visites/mois dès aujourd’hui ; des milliers de visiteurs simultanés</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850" b="1" dirty="0">
                          <a:solidFill>
                            <a:srgbClr val="0012B5"/>
                          </a:solidFill>
                          <a:latin typeface="Verdana" pitchFamily="34" charset="0"/>
                          <a:ea typeface="Verdana" pitchFamily="34" charset="-122"/>
                          <a:cs typeface="Verdana" pitchFamily="34" charset="-120"/>
                        </a:rPr>
                        <a:t>Fonctions (Vercel)</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850" dirty="0">
                          <a:solidFill>
                            <a:srgbClr val="1D2838"/>
                          </a:solidFill>
                          <a:latin typeface="Verdana" pitchFamily="34" charset="0"/>
                          <a:ea typeface="Verdana" pitchFamily="34" charset="-122"/>
                          <a:cs typeface="Verdana" pitchFamily="34" charset="-120"/>
                        </a:rPr>
                        <a:t>1 million d’appels/mois · 30 000 en parallèle</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850" dirty="0">
                          <a:solidFill>
                            <a:srgbClr val="1D2838"/>
                          </a:solidFill>
                          <a:latin typeface="Verdana" pitchFamily="34" charset="0"/>
                          <a:ea typeface="Verdana" pitchFamily="34" charset="-122"/>
                          <a:cs typeface="Verdana" pitchFamily="34" charset="-120"/>
                        </a:rPr>
                        <a:t>au-delà : 0,60 $ le million</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850" dirty="0">
                          <a:solidFill>
                            <a:srgbClr val="1D2838"/>
                          </a:solidFill>
                          <a:latin typeface="Verdana" pitchFamily="34" charset="0"/>
                          <a:ea typeface="Verdana" pitchFamily="34" charset="-122"/>
                          <a:cs typeface="Verdana" pitchFamily="34" charset="-120"/>
                        </a:rPr>
                        <a:t>≈ 100 000 réservations/mois (≈ 10 appels chacune)</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22960">
                <a:tc>
                  <a:txBody>
                    <a:bodyPr/>
                    <a:lstStyle/>
                    <a:p>
                      <a:pPr marL="0" indent="0">
                        <a:buNone/>
                      </a:pPr>
                      <a:r>
                        <a:rPr lang="en-US" sz="850" b="1" dirty="0">
                          <a:solidFill>
                            <a:srgbClr val="0012B5"/>
                          </a:solidFill>
                          <a:latin typeface="Verdana" pitchFamily="34" charset="0"/>
                          <a:ea typeface="Verdana" pitchFamily="34" charset="-122"/>
                          <a:cs typeface="Verdana" pitchFamily="34" charset="-120"/>
                        </a:rPr>
                        <a:t>Base (Supabase)</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850" dirty="0">
                          <a:solidFill>
                            <a:srgbClr val="1D2838"/>
                          </a:solidFill>
                          <a:latin typeface="Verdana" pitchFamily="34" charset="0"/>
                          <a:ea typeface="Verdana" pitchFamily="34" charset="-122"/>
                          <a:cs typeface="Verdana" pitchFamily="34" charset="-120"/>
                        </a:rPr>
                        <a:t>0,5 Go de mémoire · 200 connexions · pause après 7 jours sans activité</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850" dirty="0">
                          <a:solidFill>
                            <a:srgbClr val="1D2838"/>
                          </a:solidFill>
                          <a:latin typeface="Verdana" pitchFamily="34" charset="0"/>
                          <a:ea typeface="Verdana" pitchFamily="34" charset="-122"/>
                          <a:cs typeface="Verdana" pitchFamily="34" charset="-120"/>
                        </a:rPr>
                        <a:t>1 Go · jamais en pause · sauvegarde quotidienne</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850" dirty="0">
                          <a:solidFill>
                            <a:srgbClr val="1D2838"/>
                          </a:solidFill>
                          <a:latin typeface="Verdana" pitchFamily="34" charset="0"/>
                          <a:ea typeface="Verdana" pitchFamily="34" charset="-122"/>
                          <a:cs typeface="Verdana" pitchFamily="34" charset="-120"/>
                        </a:rPr>
                        <a:t>Aucune limite de requêtes ; 11 réservations et 4 navires aujourd’hui</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850" b="1" dirty="0">
                          <a:solidFill>
                            <a:srgbClr val="0012B5"/>
                          </a:solidFill>
                          <a:latin typeface="Verdana" pitchFamily="34" charset="0"/>
                          <a:ea typeface="Verdana" pitchFamily="34" charset="-122"/>
                          <a:cs typeface="Verdana" pitchFamily="34" charset="-120"/>
                        </a:rPr>
                        <a:t>E-mails (Brevo)</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850" dirty="0">
                          <a:solidFill>
                            <a:srgbClr val="1D2838"/>
                          </a:solidFill>
                          <a:latin typeface="Verdana" pitchFamily="34" charset="0"/>
                          <a:ea typeface="Verdana" pitchFamily="34" charset="-122"/>
                          <a:cs typeface="Verdana" pitchFamily="34" charset="-120"/>
                        </a:rPr>
                        <a:t>300 e-mails/jour</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850" dirty="0">
                          <a:solidFill>
                            <a:srgbClr val="1D2838"/>
                          </a:solidFill>
                          <a:latin typeface="Verdana" pitchFamily="34" charset="0"/>
                          <a:ea typeface="Verdana" pitchFamily="34" charset="-122"/>
                          <a:cs typeface="Verdana" pitchFamily="34" charset="-120"/>
                        </a:rPr>
                        <a:t>offre payante dès ≈ 9 €/mois</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buNone/>
                      </a:pPr>
                      <a:r>
                        <a:rPr lang="en-US" sz="850" dirty="0">
                          <a:solidFill>
                            <a:srgbClr val="1D2838"/>
                          </a:solidFill>
                          <a:latin typeface="Verdana" pitchFamily="34" charset="0"/>
                          <a:ea typeface="Verdana" pitchFamily="34" charset="-122"/>
                          <a:cs typeface="Verdana" pitchFamily="34" charset="-120"/>
                        </a:rPr>
                        <a:t>≈ 50 réservations/jour (≈ 6 e-mails chacune) : premier plafond</a:t>
                      </a:r>
                      <a:endParaRPr lang="en-US" sz="850" dirty="0">
                        <a:latin typeface="Verdana" charset="0"/>
                        <a:ea typeface="Verdana" charset="0"/>
                        <a:cs typeface="Verdana" charset="0"/>
                      </a:endParaRPr>
                    </a:p>
                  </a:txBody>
                  <a:tcPr marL="63500" marR="63500" marT="38100" marB="381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9" name="Shape 16"/>
          <p:cNvSpPr/>
          <p:nvPr/>
        </p:nvSpPr>
        <p:spPr>
          <a:xfrm>
            <a:off x="4572000" y="4892040"/>
            <a:ext cx="7086600" cy="1417320"/>
          </a:xfrm>
          <a:prstGeom prst="roundRect">
            <a:avLst>
              <a:gd name="adj" fmla="val 12903"/>
            </a:avLst>
          </a:prstGeom>
          <a:solidFill>
            <a:srgbClr val="FFF7EC"/>
          </a:solidFill>
          <a:ln w="12700">
            <a:solidFill>
              <a:srgbClr val="FFF7EC"/>
            </a:solidFill>
            <a:prstDash val="solid"/>
          </a:ln>
        </p:spPr>
        <p:txBody>
          <a:bodyPr/>
          <a:lstStyle/>
          <a:p>
            <a:endParaRPr lang="fr-FR"/>
          </a:p>
        </p:txBody>
      </p:sp>
      <p:sp>
        <p:nvSpPr>
          <p:cNvPr id="20" name="Text 17"/>
          <p:cNvSpPr txBox="1"/>
          <p:nvPr/>
        </p:nvSpPr>
        <p:spPr>
          <a:xfrm>
            <a:off x="4846320" y="4892040"/>
            <a:ext cx="6537960" cy="1417320"/>
          </a:xfrm>
          <a:prstGeom prst="rect">
            <a:avLst/>
          </a:prstGeom>
          <a:noFill/>
          <a:ln/>
        </p:spPr>
        <p:txBody>
          <a:bodyPr wrap="square" lIns="0" tIns="0" rIns="0" bIns="0" rtlCol="0" anchor="ctr"/>
          <a:lstStyle/>
          <a:p>
            <a:pPr marL="0" indent="0">
              <a:buNone/>
            </a:pPr>
            <a:r>
              <a:rPr lang="en-US" sz="1200" dirty="0">
                <a:solidFill>
                  <a:srgbClr val="3A4658"/>
                </a:solidFill>
                <a:latin typeface="Verdana" pitchFamily="34" charset="0"/>
                <a:ea typeface="Verdana" pitchFamily="34" charset="-122"/>
                <a:cs typeface="Verdana" pitchFamily="34" charset="-120"/>
              </a:rPr>
              <a:t>Le premier plafond est celui des e-mails : on bascule Brevo, Vercel et Supabase en offre payante avant l’ouverture commerciale (≈ 50 €/mois hors SMS). Chaque soir à 20 h, un diagnostic automatique vérifie la chaîne d’envoi ; chaque matin à 8 h, une tâche traite les demandes expirées et efface les pièces échues.</a:t>
            </a:r>
            <a:endParaRPr lang="en-US" sz="1200" dirty="0"/>
          </a:p>
        </p:txBody>
      </p:sp>
      <p:sp>
        <p:nvSpPr>
          <p:cNvPr id="21" name="Text 18"/>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39</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pic>
        <p:nvPicPr>
          <p:cNvPr id="2" name="Image 0" descr="/home/claude/deck/crop3/fdd_image37_1778_50_50_0_.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3FC4">
              <a:alpha val="60000"/>
            </a:srgbClr>
          </a:solidFill>
          <a:ln w="12700">
            <a:solidFill>
              <a:srgbClr val="0B3FC4"/>
            </a:solidFill>
            <a:prstDash val="solid"/>
          </a:ln>
        </p:spPr>
        <p:txBody>
          <a:bodyPr/>
          <a:lstStyle/>
          <a:p>
            <a:endParaRPr lang="fr-FR"/>
          </a:p>
        </p:txBody>
      </p:sp>
      <p:sp>
        <p:nvSpPr>
          <p:cNvPr id="4" name="Text 1"/>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FFFFFF"/>
                </a:solidFill>
                <a:latin typeface="Verdana" pitchFamily="34" charset="0"/>
                <a:ea typeface="Verdana" pitchFamily="34" charset="-122"/>
                <a:cs typeface="Verdana" pitchFamily="34" charset="-120"/>
              </a:rPr>
              <a:t>LE MODÈLE</a:t>
            </a:r>
            <a:endParaRPr lang="en-US" sz="1200" dirty="0"/>
          </a:p>
        </p:txBody>
      </p:sp>
      <p:sp>
        <p:nvSpPr>
          <p:cNvPr id="5" name="Text 2"/>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FFFFFF"/>
                </a:solidFill>
                <a:latin typeface="Verdana" pitchFamily="34" charset="0"/>
                <a:ea typeface="Verdana" pitchFamily="34" charset="-122"/>
                <a:cs typeface="Verdana" pitchFamily="34" charset="-120"/>
              </a:rPr>
              <a:t>Où va l’argent ?</a:t>
            </a:r>
            <a:endParaRPr lang="en-US" sz="2500" dirty="0"/>
          </a:p>
        </p:txBody>
      </p:sp>
      <p:sp>
        <p:nvSpPr>
          <p:cNvPr id="6" name="Shape 3"/>
          <p:cNvSpPr/>
          <p:nvPr/>
        </p:nvSpPr>
        <p:spPr>
          <a:xfrm>
            <a:off x="685800" y="1417320"/>
            <a:ext cx="3383280" cy="2148840"/>
          </a:xfrm>
          <a:prstGeom prst="roundRect">
            <a:avLst>
              <a:gd name="adj" fmla="val 8511"/>
            </a:avLst>
          </a:prstGeom>
          <a:solidFill>
            <a:srgbClr val="FFFFFF"/>
          </a:solidFill>
          <a:ln w="12700">
            <a:solidFill>
              <a:srgbClr val="FFFFFF"/>
            </a:solidFill>
            <a:prstDash val="solid"/>
          </a:ln>
        </p:spPr>
        <p:txBody>
          <a:bodyPr/>
          <a:lstStyle/>
          <a:p>
            <a:endParaRPr lang="fr-FR"/>
          </a:p>
        </p:txBody>
      </p:sp>
      <p:sp>
        <p:nvSpPr>
          <p:cNvPr id="7" name="Shape 4"/>
          <p:cNvSpPr/>
          <p:nvPr/>
        </p:nvSpPr>
        <p:spPr>
          <a:xfrm>
            <a:off x="1993392" y="1572768"/>
            <a:ext cx="768096" cy="768096"/>
          </a:xfrm>
          <a:prstGeom prst="ellipse">
            <a:avLst/>
          </a:prstGeom>
          <a:solidFill>
            <a:srgbClr val="0012B5"/>
          </a:solidFill>
          <a:ln w="12700">
            <a:solidFill>
              <a:srgbClr val="0012B5"/>
            </a:solidFill>
            <a:prstDash val="solid"/>
          </a:ln>
        </p:spPr>
        <p:txBody>
          <a:bodyPr/>
          <a:lstStyle/>
          <a:p>
            <a:endParaRPr lang="fr-FR"/>
          </a:p>
        </p:txBody>
      </p:sp>
      <p:pic>
        <p:nvPicPr>
          <p:cNvPr id="8" name="Image 1" descr="preencoded.png"/>
          <p:cNvPicPr>
            <a:picLocks noChangeAspect="1"/>
          </p:cNvPicPr>
          <p:nvPr/>
        </p:nvPicPr>
        <p:blipFill>
          <a:blip r:embed="rId4"/>
          <a:stretch>
            <a:fillRect/>
          </a:stretch>
        </p:blipFill>
        <p:spPr>
          <a:xfrm>
            <a:off x="2185416" y="1764792"/>
            <a:ext cx="384048" cy="384048"/>
          </a:xfrm>
          <a:prstGeom prst="rect">
            <a:avLst/>
          </a:prstGeom>
        </p:spPr>
      </p:pic>
      <p:sp>
        <p:nvSpPr>
          <p:cNvPr id="9" name="Text 5"/>
          <p:cNvSpPr txBox="1"/>
          <p:nvPr/>
        </p:nvSpPr>
        <p:spPr>
          <a:xfrm>
            <a:off x="822960" y="2423160"/>
            <a:ext cx="3108960" cy="365760"/>
          </a:xfrm>
          <a:prstGeom prst="rect">
            <a:avLst/>
          </a:prstGeom>
          <a:noFill/>
          <a:ln/>
        </p:spPr>
        <p:txBody>
          <a:bodyPr wrap="square" lIns="0" tIns="0" rIns="0" bIns="0" rtlCol="0" anchor="t"/>
          <a:lstStyle/>
          <a:p>
            <a:pPr marL="0" indent="0" algn="ctr">
              <a:buNone/>
            </a:pPr>
            <a:r>
              <a:rPr lang="en-US" sz="1750" b="1" dirty="0">
                <a:solidFill>
                  <a:srgbClr val="0012B5"/>
                </a:solidFill>
                <a:latin typeface="Verdana" pitchFamily="34" charset="0"/>
                <a:ea typeface="Verdana" pitchFamily="34" charset="-122"/>
                <a:cs typeface="Verdana" pitchFamily="34" charset="-120"/>
              </a:rPr>
              <a:t>Le client paie</a:t>
            </a:r>
            <a:endParaRPr lang="en-US" sz="1750" dirty="0"/>
          </a:p>
        </p:txBody>
      </p:sp>
      <p:sp>
        <p:nvSpPr>
          <p:cNvPr id="10" name="Text 6"/>
          <p:cNvSpPr txBox="1"/>
          <p:nvPr/>
        </p:nvSpPr>
        <p:spPr>
          <a:xfrm>
            <a:off x="868680" y="2816352"/>
            <a:ext cx="3017520" cy="640080"/>
          </a:xfrm>
          <a:prstGeom prst="rect">
            <a:avLst/>
          </a:prstGeom>
          <a:noFill/>
          <a:ln/>
        </p:spPr>
        <p:txBody>
          <a:bodyPr wrap="square" lIns="0" tIns="0" rIns="0" bIns="0" rtlCol="0" anchor="t"/>
          <a:lstStyle/>
          <a:p>
            <a:pPr marL="0" indent="0" algn="ctr">
              <a:buNone/>
            </a:pPr>
            <a:r>
              <a:rPr lang="en-US" sz="1450" dirty="0">
                <a:solidFill>
                  <a:srgbClr val="3A4658"/>
                </a:solidFill>
                <a:latin typeface="Verdana" pitchFamily="34" charset="0"/>
                <a:ea typeface="Verdana" pitchFamily="34" charset="-122"/>
                <a:cs typeface="Verdana" pitchFamily="34" charset="-120"/>
              </a:rPr>
              <a:t>à Mare Durabilis, débité seulement à l’acceptation</a:t>
            </a:r>
            <a:endParaRPr lang="en-US" sz="1450" dirty="0"/>
          </a:p>
        </p:txBody>
      </p:sp>
      <p:sp>
        <p:nvSpPr>
          <p:cNvPr id="11" name="Shape 7"/>
          <p:cNvSpPr/>
          <p:nvPr/>
        </p:nvSpPr>
        <p:spPr>
          <a:xfrm>
            <a:off x="4087368" y="2487168"/>
            <a:ext cx="329184" cy="914"/>
          </a:xfrm>
          <a:prstGeom prst="line">
            <a:avLst/>
          </a:prstGeom>
          <a:noFill/>
          <a:ln w="28575">
            <a:solidFill>
              <a:srgbClr val="FFFFFF"/>
            </a:solidFill>
            <a:prstDash val="solid"/>
            <a:tailEnd type="triangle"/>
          </a:ln>
        </p:spPr>
        <p:txBody>
          <a:bodyPr/>
          <a:lstStyle/>
          <a:p>
            <a:endParaRPr lang="fr-FR"/>
          </a:p>
        </p:txBody>
      </p:sp>
      <p:sp>
        <p:nvSpPr>
          <p:cNvPr id="12" name="Shape 8"/>
          <p:cNvSpPr/>
          <p:nvPr/>
        </p:nvSpPr>
        <p:spPr>
          <a:xfrm>
            <a:off x="4434840" y="1417320"/>
            <a:ext cx="3383280" cy="2148840"/>
          </a:xfrm>
          <a:prstGeom prst="roundRect">
            <a:avLst>
              <a:gd name="adj" fmla="val 8511"/>
            </a:avLst>
          </a:prstGeom>
          <a:solidFill>
            <a:srgbClr val="FFFFFF"/>
          </a:solidFill>
          <a:ln w="12700">
            <a:solidFill>
              <a:srgbClr val="FFFFFF"/>
            </a:solidFill>
            <a:prstDash val="solid"/>
          </a:ln>
        </p:spPr>
        <p:txBody>
          <a:bodyPr/>
          <a:lstStyle/>
          <a:p>
            <a:endParaRPr lang="fr-FR"/>
          </a:p>
        </p:txBody>
      </p:sp>
      <p:sp>
        <p:nvSpPr>
          <p:cNvPr id="13" name="Shape 9"/>
          <p:cNvSpPr/>
          <p:nvPr/>
        </p:nvSpPr>
        <p:spPr>
          <a:xfrm>
            <a:off x="5742432" y="1572768"/>
            <a:ext cx="768096" cy="768096"/>
          </a:xfrm>
          <a:prstGeom prst="ellipse">
            <a:avLst/>
          </a:prstGeom>
          <a:solidFill>
            <a:srgbClr val="1F5BD6"/>
          </a:solidFill>
          <a:ln w="12700">
            <a:solidFill>
              <a:srgbClr val="1F5BD6"/>
            </a:solidFill>
            <a:prstDash val="solid"/>
          </a:ln>
        </p:spPr>
        <p:txBody>
          <a:bodyPr/>
          <a:lstStyle/>
          <a:p>
            <a:endParaRPr lang="fr-FR"/>
          </a:p>
        </p:txBody>
      </p:sp>
      <p:pic>
        <p:nvPicPr>
          <p:cNvPr id="14" name="Image 2" descr="preencoded.png"/>
          <p:cNvPicPr>
            <a:picLocks noChangeAspect="1"/>
          </p:cNvPicPr>
          <p:nvPr/>
        </p:nvPicPr>
        <p:blipFill>
          <a:blip r:embed="rId5"/>
          <a:stretch>
            <a:fillRect/>
          </a:stretch>
        </p:blipFill>
        <p:spPr>
          <a:xfrm>
            <a:off x="5934456" y="1764792"/>
            <a:ext cx="384048" cy="384048"/>
          </a:xfrm>
          <a:prstGeom prst="rect">
            <a:avLst/>
          </a:prstGeom>
        </p:spPr>
      </p:pic>
      <p:sp>
        <p:nvSpPr>
          <p:cNvPr id="15" name="Text 10"/>
          <p:cNvSpPr txBox="1"/>
          <p:nvPr/>
        </p:nvSpPr>
        <p:spPr>
          <a:xfrm>
            <a:off x="4572000" y="2423160"/>
            <a:ext cx="3108960" cy="365760"/>
          </a:xfrm>
          <a:prstGeom prst="rect">
            <a:avLst/>
          </a:prstGeom>
          <a:noFill/>
          <a:ln/>
        </p:spPr>
        <p:txBody>
          <a:bodyPr wrap="square" lIns="0" tIns="0" rIns="0" bIns="0" rtlCol="0" anchor="t"/>
          <a:lstStyle/>
          <a:p>
            <a:pPr marL="0" indent="0" algn="ctr">
              <a:buNone/>
            </a:pPr>
            <a:r>
              <a:rPr lang="en-US" sz="1750" b="1" dirty="0">
                <a:solidFill>
                  <a:srgbClr val="0012B5"/>
                </a:solidFill>
                <a:latin typeface="Verdana" pitchFamily="34" charset="0"/>
                <a:ea typeface="Verdana" pitchFamily="34" charset="-122"/>
                <a:cs typeface="Verdana" pitchFamily="34" charset="-120"/>
              </a:rPr>
              <a:t>Mare Durabilis encaisse</a:t>
            </a:r>
            <a:endParaRPr lang="en-US" sz="1750" dirty="0"/>
          </a:p>
        </p:txBody>
      </p:sp>
      <p:sp>
        <p:nvSpPr>
          <p:cNvPr id="16" name="Text 11"/>
          <p:cNvSpPr txBox="1"/>
          <p:nvPr/>
        </p:nvSpPr>
        <p:spPr>
          <a:xfrm>
            <a:off x="4617720" y="2816352"/>
            <a:ext cx="3017520" cy="640080"/>
          </a:xfrm>
          <a:prstGeom prst="rect">
            <a:avLst/>
          </a:prstGeom>
          <a:noFill/>
          <a:ln/>
        </p:spPr>
        <p:txBody>
          <a:bodyPr wrap="square" lIns="0" tIns="0" rIns="0" bIns="0" rtlCol="0" anchor="t"/>
          <a:lstStyle/>
          <a:p>
            <a:pPr marL="0" indent="0" algn="ctr">
              <a:buNone/>
            </a:pPr>
            <a:r>
              <a:rPr lang="en-US" sz="1450" dirty="0">
                <a:solidFill>
                  <a:srgbClr val="3A4658"/>
                </a:solidFill>
                <a:latin typeface="Verdana" pitchFamily="34" charset="0"/>
                <a:ea typeface="Verdana" pitchFamily="34" charset="-122"/>
                <a:cs typeface="Verdana" pitchFamily="34" charset="-120"/>
              </a:rPr>
              <a:t>et gère remboursements et litiges</a:t>
            </a:r>
            <a:endParaRPr lang="en-US" sz="1450" dirty="0"/>
          </a:p>
        </p:txBody>
      </p:sp>
      <p:sp>
        <p:nvSpPr>
          <p:cNvPr id="17" name="Shape 12"/>
          <p:cNvSpPr/>
          <p:nvPr/>
        </p:nvSpPr>
        <p:spPr>
          <a:xfrm>
            <a:off x="7836408" y="2487168"/>
            <a:ext cx="329184" cy="914"/>
          </a:xfrm>
          <a:prstGeom prst="line">
            <a:avLst/>
          </a:prstGeom>
          <a:noFill/>
          <a:ln w="28575">
            <a:solidFill>
              <a:srgbClr val="FFFFFF"/>
            </a:solidFill>
            <a:prstDash val="solid"/>
            <a:tailEnd type="triangle"/>
          </a:ln>
        </p:spPr>
        <p:txBody>
          <a:bodyPr/>
          <a:lstStyle/>
          <a:p>
            <a:endParaRPr lang="fr-FR"/>
          </a:p>
        </p:txBody>
      </p:sp>
      <p:sp>
        <p:nvSpPr>
          <p:cNvPr id="18" name="Shape 13"/>
          <p:cNvSpPr/>
          <p:nvPr/>
        </p:nvSpPr>
        <p:spPr>
          <a:xfrm>
            <a:off x="8183880" y="1417320"/>
            <a:ext cx="3383280" cy="2148840"/>
          </a:xfrm>
          <a:prstGeom prst="roundRect">
            <a:avLst>
              <a:gd name="adj" fmla="val 8511"/>
            </a:avLst>
          </a:prstGeom>
          <a:solidFill>
            <a:srgbClr val="FFFFFF"/>
          </a:solidFill>
          <a:ln w="12700">
            <a:solidFill>
              <a:srgbClr val="FFFFFF"/>
            </a:solidFill>
            <a:prstDash val="solid"/>
          </a:ln>
        </p:spPr>
        <p:txBody>
          <a:bodyPr/>
          <a:lstStyle/>
          <a:p>
            <a:endParaRPr lang="fr-FR"/>
          </a:p>
        </p:txBody>
      </p:sp>
      <p:sp>
        <p:nvSpPr>
          <p:cNvPr id="19" name="Shape 14"/>
          <p:cNvSpPr/>
          <p:nvPr/>
        </p:nvSpPr>
        <p:spPr>
          <a:xfrm>
            <a:off x="9491472" y="1572768"/>
            <a:ext cx="768096" cy="768096"/>
          </a:xfrm>
          <a:prstGeom prst="ellipse">
            <a:avLst/>
          </a:prstGeom>
          <a:solidFill>
            <a:srgbClr val="0E9F6E"/>
          </a:solidFill>
          <a:ln w="12700">
            <a:solidFill>
              <a:srgbClr val="0E9F6E"/>
            </a:solidFill>
            <a:prstDash val="solid"/>
          </a:ln>
        </p:spPr>
        <p:txBody>
          <a:bodyPr/>
          <a:lstStyle/>
          <a:p>
            <a:endParaRPr lang="fr-FR"/>
          </a:p>
        </p:txBody>
      </p:sp>
      <p:pic>
        <p:nvPicPr>
          <p:cNvPr id="20" name="Image 3" descr="preencoded.png"/>
          <p:cNvPicPr>
            <a:picLocks noChangeAspect="1"/>
          </p:cNvPicPr>
          <p:nvPr/>
        </p:nvPicPr>
        <p:blipFill>
          <a:blip r:embed="rId6"/>
          <a:stretch>
            <a:fillRect/>
          </a:stretch>
        </p:blipFill>
        <p:spPr>
          <a:xfrm>
            <a:off x="9683496" y="1764792"/>
            <a:ext cx="384048" cy="384048"/>
          </a:xfrm>
          <a:prstGeom prst="rect">
            <a:avLst/>
          </a:prstGeom>
        </p:spPr>
      </p:pic>
      <p:sp>
        <p:nvSpPr>
          <p:cNvPr id="21" name="Text 15"/>
          <p:cNvSpPr txBox="1"/>
          <p:nvPr/>
        </p:nvSpPr>
        <p:spPr>
          <a:xfrm>
            <a:off x="8321040" y="2423160"/>
            <a:ext cx="3108960" cy="365760"/>
          </a:xfrm>
          <a:prstGeom prst="rect">
            <a:avLst/>
          </a:prstGeom>
          <a:noFill/>
          <a:ln/>
        </p:spPr>
        <p:txBody>
          <a:bodyPr wrap="square" lIns="0" tIns="0" rIns="0" bIns="0" rtlCol="0" anchor="t"/>
          <a:lstStyle/>
          <a:p>
            <a:pPr marL="0" indent="0" algn="ctr">
              <a:buNone/>
            </a:pPr>
            <a:r>
              <a:rPr lang="en-US" sz="1750" b="1" dirty="0">
                <a:solidFill>
                  <a:srgbClr val="0012B5"/>
                </a:solidFill>
                <a:latin typeface="Verdana" pitchFamily="34" charset="0"/>
                <a:ea typeface="Verdana" pitchFamily="34" charset="-122"/>
                <a:cs typeface="Verdana" pitchFamily="34" charset="-120"/>
              </a:rPr>
              <a:t>Le patron est rémunéré</a:t>
            </a:r>
            <a:endParaRPr lang="en-US" sz="1750" dirty="0"/>
          </a:p>
        </p:txBody>
      </p:sp>
      <p:sp>
        <p:nvSpPr>
          <p:cNvPr id="22" name="Text 16"/>
          <p:cNvSpPr txBox="1"/>
          <p:nvPr/>
        </p:nvSpPr>
        <p:spPr>
          <a:xfrm>
            <a:off x="8366760" y="2816352"/>
            <a:ext cx="3017520" cy="640080"/>
          </a:xfrm>
          <a:prstGeom prst="rect">
            <a:avLst/>
          </a:prstGeom>
          <a:noFill/>
          <a:ln/>
        </p:spPr>
        <p:txBody>
          <a:bodyPr wrap="square" lIns="0" tIns="0" rIns="0" bIns="0" rtlCol="0" anchor="t"/>
          <a:lstStyle/>
          <a:p>
            <a:pPr marL="0" indent="0" algn="ctr">
              <a:buNone/>
            </a:pPr>
            <a:r>
              <a:rPr lang="en-US" sz="1450" dirty="0">
                <a:solidFill>
                  <a:srgbClr val="3A4658"/>
                </a:solidFill>
                <a:latin typeface="Verdana" pitchFamily="34" charset="0"/>
                <a:ea typeface="Verdana" pitchFamily="34" charset="-122"/>
                <a:cs typeface="Verdana" pitchFamily="34" charset="-120"/>
              </a:rPr>
              <a:t>après la sortie, sans démarche</a:t>
            </a:r>
            <a:endParaRPr lang="en-US" sz="1450" dirty="0"/>
          </a:p>
        </p:txBody>
      </p:sp>
      <p:sp>
        <p:nvSpPr>
          <p:cNvPr id="23" name="Text 17"/>
          <p:cNvSpPr txBox="1"/>
          <p:nvPr/>
        </p:nvSpPr>
        <p:spPr>
          <a:xfrm>
            <a:off x="685800" y="3794760"/>
            <a:ext cx="5394960" cy="548640"/>
          </a:xfrm>
          <a:prstGeom prst="rect">
            <a:avLst/>
          </a:prstGeom>
          <a:noFill/>
          <a:ln/>
        </p:spPr>
        <p:txBody>
          <a:bodyPr wrap="square" lIns="0" tIns="0" rIns="0" bIns="0" rtlCol="0" anchor="t"/>
          <a:lstStyle/>
          <a:p>
            <a:pPr marL="0" indent="0" algn="ctr">
              <a:buNone/>
            </a:pPr>
            <a:r>
              <a:rPr lang="en-US" sz="2600" b="1" dirty="0">
                <a:solidFill>
                  <a:srgbClr val="FFFFFF"/>
                </a:solidFill>
                <a:latin typeface="Verdana" pitchFamily="34" charset="0"/>
                <a:ea typeface="Verdana" pitchFamily="34" charset="-122"/>
                <a:cs typeface="Verdana" pitchFamily="34" charset="-120"/>
              </a:rPr>
              <a:t>La plus grande part</a:t>
            </a:r>
            <a:endParaRPr lang="en-US" sz="2600" dirty="0"/>
          </a:p>
        </p:txBody>
      </p:sp>
      <p:sp>
        <p:nvSpPr>
          <p:cNvPr id="24" name="Text 18"/>
          <p:cNvSpPr txBox="1"/>
          <p:nvPr/>
        </p:nvSpPr>
        <p:spPr>
          <a:xfrm>
            <a:off x="685800" y="4343400"/>
            <a:ext cx="5394960" cy="292608"/>
          </a:xfrm>
          <a:prstGeom prst="rect">
            <a:avLst/>
          </a:prstGeom>
          <a:noFill/>
          <a:ln/>
        </p:spPr>
        <p:txBody>
          <a:bodyPr wrap="square" lIns="0" tIns="0" rIns="0" bIns="0" rtlCol="0" anchor="t"/>
          <a:lstStyle/>
          <a:p>
            <a:pPr marL="0" indent="0" algn="ctr">
              <a:buNone/>
            </a:pPr>
            <a:r>
              <a:rPr lang="en-US" sz="1400" b="1" kern="0" spc="200" dirty="0">
                <a:solidFill>
                  <a:srgbClr val="FFFFFF"/>
                </a:solidFill>
                <a:latin typeface="Verdana" pitchFamily="34" charset="0"/>
                <a:ea typeface="Verdana" pitchFamily="34" charset="-122"/>
                <a:cs typeface="Verdana" pitchFamily="34" charset="-120"/>
              </a:rPr>
              <a:t>POUR LE PATRON</a:t>
            </a:r>
            <a:endParaRPr lang="en-US" sz="1400" dirty="0"/>
          </a:p>
        </p:txBody>
      </p:sp>
      <p:sp>
        <p:nvSpPr>
          <p:cNvPr id="25" name="Text 19"/>
          <p:cNvSpPr txBox="1"/>
          <p:nvPr/>
        </p:nvSpPr>
        <p:spPr>
          <a:xfrm>
            <a:off x="6126480" y="3794760"/>
            <a:ext cx="5394960" cy="548640"/>
          </a:xfrm>
          <a:prstGeom prst="rect">
            <a:avLst/>
          </a:prstGeom>
          <a:noFill/>
          <a:ln/>
        </p:spPr>
        <p:txBody>
          <a:bodyPr wrap="square" lIns="0" tIns="0" rIns="0" bIns="0" rtlCol="0" anchor="t"/>
          <a:lstStyle/>
          <a:p>
            <a:pPr marL="0" indent="0" algn="ctr">
              <a:buNone/>
            </a:pPr>
            <a:r>
              <a:rPr lang="en-US" sz="2600" b="1" dirty="0">
                <a:solidFill>
                  <a:srgbClr val="BFF3F3"/>
                </a:solidFill>
                <a:latin typeface="Verdana" pitchFamily="34" charset="0"/>
                <a:ea typeface="Verdana" pitchFamily="34" charset="-122"/>
                <a:cs typeface="Verdana" pitchFamily="34" charset="-120"/>
              </a:rPr>
              <a:t>Une part</a:t>
            </a:r>
            <a:endParaRPr lang="en-US" sz="2600" dirty="0"/>
          </a:p>
        </p:txBody>
      </p:sp>
      <p:sp>
        <p:nvSpPr>
          <p:cNvPr id="26" name="Text 20"/>
          <p:cNvSpPr txBox="1"/>
          <p:nvPr/>
        </p:nvSpPr>
        <p:spPr>
          <a:xfrm>
            <a:off x="6126480" y="4343400"/>
            <a:ext cx="5394960" cy="292608"/>
          </a:xfrm>
          <a:prstGeom prst="rect">
            <a:avLst/>
          </a:prstGeom>
          <a:noFill/>
          <a:ln/>
        </p:spPr>
        <p:txBody>
          <a:bodyPr wrap="square" lIns="0" tIns="0" rIns="0" bIns="0" rtlCol="0" anchor="t"/>
          <a:lstStyle/>
          <a:p>
            <a:pPr marL="0" indent="0" algn="ctr">
              <a:buNone/>
            </a:pPr>
            <a:r>
              <a:rPr lang="en-US" sz="1400" b="1" kern="0" spc="200" dirty="0">
                <a:solidFill>
                  <a:srgbClr val="BFF3F3"/>
                </a:solidFill>
                <a:latin typeface="Verdana" pitchFamily="34" charset="0"/>
                <a:ea typeface="Verdana" pitchFamily="34" charset="-122"/>
                <a:cs typeface="Verdana" pitchFamily="34" charset="-120"/>
              </a:rPr>
              <a:t>POUR LA FILIÈRE</a:t>
            </a:r>
            <a:endParaRPr lang="en-US" sz="1400" dirty="0"/>
          </a:p>
        </p:txBody>
      </p:sp>
      <p:sp>
        <p:nvSpPr>
          <p:cNvPr id="27" name="Text 21"/>
          <p:cNvSpPr txBox="1"/>
          <p:nvPr/>
        </p:nvSpPr>
        <p:spPr>
          <a:xfrm>
            <a:off x="914400" y="4754880"/>
            <a:ext cx="10332720" cy="731520"/>
          </a:xfrm>
          <a:prstGeom prst="rect">
            <a:avLst/>
          </a:prstGeom>
          <a:noFill/>
          <a:ln/>
        </p:spPr>
        <p:txBody>
          <a:bodyPr wrap="square" lIns="0" tIns="0" rIns="0" bIns="0" rtlCol="0" anchor="t"/>
          <a:lstStyle/>
          <a:p>
            <a:pPr marL="0" indent="0" algn="ctr">
              <a:buNone/>
            </a:pPr>
            <a:r>
              <a:rPr lang="en-US" sz="1500" dirty="0">
                <a:solidFill>
                  <a:srgbClr val="FFFFFF"/>
                </a:solidFill>
                <a:latin typeface="Verdana" pitchFamily="34" charset="0"/>
                <a:ea typeface="Verdana" pitchFamily="34" charset="-122"/>
                <a:cs typeface="Verdana" pitchFamily="34" charset="-120"/>
              </a:rPr>
              <a:t>Pas un euro pour un intermédiaire : la part conservée par la plateforme (taux à arrêter, hypothèse de travail 20 %, voir septième partie) finance la filière. Sciences : devis au cas par cas.</a:t>
            </a:r>
            <a:endParaRPr lang="en-US" sz="1500" dirty="0"/>
          </a:p>
        </p:txBody>
      </p:sp>
      <p:sp>
        <p:nvSpPr>
          <p:cNvPr id="28" name="Shape 22"/>
          <p:cNvSpPr/>
          <p:nvPr/>
        </p:nvSpPr>
        <p:spPr>
          <a:xfrm>
            <a:off x="1417320" y="5760720"/>
            <a:ext cx="2971800" cy="411480"/>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29" name="Text 23"/>
          <p:cNvSpPr txBox="1"/>
          <p:nvPr/>
        </p:nvSpPr>
        <p:spPr>
          <a:xfrm>
            <a:off x="1417320" y="5760720"/>
            <a:ext cx="2971800" cy="411480"/>
          </a:xfrm>
          <a:prstGeom prst="rect">
            <a:avLst/>
          </a:prstGeom>
          <a:noFill/>
          <a:ln/>
        </p:spPr>
        <p:txBody>
          <a:bodyPr wrap="square" lIns="0" tIns="0" rIns="0" bIns="0" rtlCol="0" anchor="ctr"/>
          <a:lstStyle/>
          <a:p>
            <a:pPr marL="0" indent="0" algn="ctr">
              <a:buNone/>
            </a:pPr>
            <a:r>
              <a:rPr lang="en-US" sz="1400" b="1" dirty="0">
                <a:solidFill>
                  <a:srgbClr val="0012B5"/>
                </a:solidFill>
                <a:latin typeface="Verdana" pitchFamily="34" charset="0"/>
                <a:ea typeface="Verdana" pitchFamily="34" charset="-122"/>
                <a:cs typeface="Verdana" pitchFamily="34" charset="-120"/>
              </a:rPr>
              <a:t>Dépolluer la Méditerranée</a:t>
            </a:r>
            <a:endParaRPr lang="en-US" sz="1400" dirty="0"/>
          </a:p>
        </p:txBody>
      </p:sp>
      <p:sp>
        <p:nvSpPr>
          <p:cNvPr id="30" name="Shape 24"/>
          <p:cNvSpPr/>
          <p:nvPr/>
        </p:nvSpPr>
        <p:spPr>
          <a:xfrm>
            <a:off x="4663440" y="5760720"/>
            <a:ext cx="2971800" cy="411480"/>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31" name="Text 25"/>
          <p:cNvSpPr txBox="1"/>
          <p:nvPr/>
        </p:nvSpPr>
        <p:spPr>
          <a:xfrm>
            <a:off x="4663440" y="5760720"/>
            <a:ext cx="2971800" cy="411480"/>
          </a:xfrm>
          <a:prstGeom prst="rect">
            <a:avLst/>
          </a:prstGeom>
          <a:noFill/>
          <a:ln/>
        </p:spPr>
        <p:txBody>
          <a:bodyPr wrap="square" lIns="0" tIns="0" rIns="0" bIns="0" rtlCol="0" anchor="ctr"/>
          <a:lstStyle/>
          <a:p>
            <a:pPr marL="0" indent="0" algn="ctr">
              <a:buNone/>
            </a:pPr>
            <a:r>
              <a:rPr lang="en-US" sz="1400" b="1" dirty="0">
                <a:solidFill>
                  <a:srgbClr val="0012B5"/>
                </a:solidFill>
                <a:latin typeface="Verdana" pitchFamily="34" charset="0"/>
                <a:ea typeface="Verdana" pitchFamily="34" charset="-122"/>
                <a:cs typeface="Verdana" pitchFamily="34" charset="-120"/>
              </a:rPr>
              <a:t>Restaurer les écosystèmes</a:t>
            </a:r>
            <a:endParaRPr lang="en-US" sz="1400" dirty="0"/>
          </a:p>
        </p:txBody>
      </p:sp>
      <p:sp>
        <p:nvSpPr>
          <p:cNvPr id="32" name="Shape 26"/>
          <p:cNvSpPr/>
          <p:nvPr/>
        </p:nvSpPr>
        <p:spPr>
          <a:xfrm>
            <a:off x="7909560" y="5760720"/>
            <a:ext cx="2971800" cy="411480"/>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33" name="Text 27"/>
          <p:cNvSpPr txBox="1"/>
          <p:nvPr/>
        </p:nvSpPr>
        <p:spPr>
          <a:xfrm>
            <a:off x="7909560" y="5760720"/>
            <a:ext cx="2971800" cy="411480"/>
          </a:xfrm>
          <a:prstGeom prst="rect">
            <a:avLst/>
          </a:prstGeom>
          <a:noFill/>
          <a:ln/>
        </p:spPr>
        <p:txBody>
          <a:bodyPr wrap="square" lIns="0" tIns="0" rIns="0" bIns="0" rtlCol="0" anchor="ctr"/>
          <a:lstStyle/>
          <a:p>
            <a:pPr marL="0" indent="0" algn="ctr">
              <a:buNone/>
            </a:pPr>
            <a:r>
              <a:rPr lang="en-US" sz="1400" b="1" dirty="0">
                <a:solidFill>
                  <a:srgbClr val="0012B5"/>
                </a:solidFill>
                <a:latin typeface="Verdana" pitchFamily="34" charset="0"/>
                <a:ea typeface="Verdana" pitchFamily="34" charset="-122"/>
                <a:cs typeface="Verdana" pitchFamily="34" charset="-120"/>
              </a:rPr>
              <a:t>Moderniser navires et engins</a:t>
            </a:r>
            <a:endParaRPr lang="en-US" sz="1400" dirty="0"/>
          </a:p>
        </p:txBody>
      </p:sp>
      <p:sp>
        <p:nvSpPr>
          <p:cNvPr id="34" name="Text 28"/>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D5E2FA"/>
                </a:solidFill>
                <a:latin typeface="Verdana" pitchFamily="34" charset="0"/>
                <a:ea typeface="Verdana" pitchFamily="34" charset="-122"/>
                <a:cs typeface="Verdana" pitchFamily="34" charset="-120"/>
              </a:rPr>
              <a:t>40</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home/claude/deck/crop3/fdd_image31_1778_50_50_0_.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3FC4">
              <a:alpha val="54000"/>
            </a:srgbClr>
          </a:solidFill>
          <a:ln w="12700">
            <a:solidFill>
              <a:srgbClr val="0B3FC4"/>
            </a:solidFill>
            <a:prstDash val="solid"/>
          </a:ln>
        </p:spPr>
        <p:txBody>
          <a:bodyPr/>
          <a:lstStyle/>
          <a:p>
            <a:endParaRPr lang="fr-FR"/>
          </a:p>
        </p:txBody>
      </p:sp>
      <p:pic>
        <p:nvPicPr>
          <p:cNvPr id="4" name="Image 1" descr="/home/claude/deck/logo-projet-blanc.png"/>
          <p:cNvPicPr>
            <a:picLocks noChangeAspect="1"/>
          </p:cNvPicPr>
          <p:nvPr/>
        </p:nvPicPr>
        <p:blipFill>
          <a:blip r:embed="rId4"/>
          <a:stretch>
            <a:fillRect/>
          </a:stretch>
        </p:blipFill>
        <p:spPr>
          <a:xfrm>
            <a:off x="10088575" y="320040"/>
            <a:ext cx="1600200" cy="647462"/>
          </a:xfrm>
          <a:prstGeom prst="rect">
            <a:avLst/>
          </a:prstGeom>
        </p:spPr>
      </p:pic>
      <p:sp>
        <p:nvSpPr>
          <p:cNvPr id="5" name="Shape 1"/>
          <p:cNvSpPr/>
          <p:nvPr/>
        </p:nvSpPr>
        <p:spPr>
          <a:xfrm>
            <a:off x="731520" y="2377440"/>
            <a:ext cx="2377440" cy="384048"/>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6" name="Text 2"/>
          <p:cNvSpPr txBox="1"/>
          <p:nvPr/>
        </p:nvSpPr>
        <p:spPr>
          <a:xfrm>
            <a:off x="731520" y="2377440"/>
            <a:ext cx="2377440" cy="384048"/>
          </a:xfrm>
          <a:prstGeom prst="rect">
            <a:avLst/>
          </a:prstGeom>
          <a:noFill/>
          <a:ln/>
        </p:spPr>
        <p:txBody>
          <a:bodyPr wrap="square" lIns="0" tIns="0" rIns="0" bIns="0" rtlCol="0" anchor="ctr"/>
          <a:lstStyle/>
          <a:p>
            <a:pPr marL="0" indent="0" algn="ctr">
              <a:buNone/>
            </a:pPr>
            <a:r>
              <a:rPr lang="en-US" sz="1400" b="1" dirty="0">
                <a:solidFill>
                  <a:srgbClr val="0012B5"/>
                </a:solidFill>
                <a:latin typeface="Verdana" pitchFamily="34" charset="0"/>
                <a:ea typeface="Verdana" pitchFamily="34" charset="-122"/>
                <a:cs typeface="Verdana" pitchFamily="34" charset="-120"/>
              </a:rPr>
              <a:t>Septième partie</a:t>
            </a:r>
            <a:endParaRPr lang="en-US" sz="1400" dirty="0"/>
          </a:p>
        </p:txBody>
      </p:sp>
      <p:sp>
        <p:nvSpPr>
          <p:cNvPr id="7" name="Text 3"/>
          <p:cNvSpPr txBox="1"/>
          <p:nvPr/>
        </p:nvSpPr>
        <p:spPr>
          <a:xfrm>
            <a:off x="731520" y="2926080"/>
            <a:ext cx="10058400" cy="1371600"/>
          </a:xfrm>
          <a:prstGeom prst="rect">
            <a:avLst/>
          </a:prstGeom>
          <a:noFill/>
          <a:ln/>
        </p:spPr>
        <p:txBody>
          <a:bodyPr wrap="square" lIns="0" tIns="0" rIns="0" bIns="0" rtlCol="0" anchor="ctr"/>
          <a:lstStyle/>
          <a:p>
            <a:pPr marL="0" indent="0">
              <a:buNone/>
            </a:pPr>
            <a:r>
              <a:rPr lang="en-US" sz="3200" b="1" dirty="0">
                <a:solidFill>
                  <a:srgbClr val="FFFFFF"/>
                </a:solidFill>
                <a:latin typeface="Verdana" pitchFamily="34" charset="0"/>
                <a:ea typeface="Verdana" pitchFamily="34" charset="-122"/>
                <a:cs typeface="Verdana" pitchFamily="34" charset="-120"/>
              </a:rPr>
              <a:t>Le cadre juridique et financier</a:t>
            </a:r>
            <a:endParaRPr lang="en-US" sz="3200" dirty="0"/>
          </a:p>
        </p:txBody>
      </p:sp>
      <p:sp>
        <p:nvSpPr>
          <p:cNvPr id="8" name="Text 4"/>
          <p:cNvSpPr txBox="1"/>
          <p:nvPr/>
        </p:nvSpPr>
        <p:spPr>
          <a:xfrm>
            <a:off x="731520" y="4434840"/>
            <a:ext cx="10058400" cy="640080"/>
          </a:xfrm>
          <a:prstGeom prst="rect">
            <a:avLst/>
          </a:prstGeom>
          <a:noFill/>
          <a:ln/>
        </p:spPr>
        <p:txBody>
          <a:bodyPr wrap="square" lIns="0" tIns="0" rIns="0" bIns="0" rtlCol="0" anchor="t"/>
          <a:lstStyle/>
          <a:p>
            <a:pPr marL="0" indent="0">
              <a:buNone/>
            </a:pPr>
            <a:r>
              <a:rPr lang="en-US" sz="1900" dirty="0">
                <a:solidFill>
                  <a:srgbClr val="FFFFFF"/>
                </a:solidFill>
                <a:latin typeface="Verdana" pitchFamily="34" charset="0"/>
                <a:ea typeface="Verdana" pitchFamily="34" charset="-122"/>
                <a:cs typeface="Verdana" pitchFamily="34" charset="-120"/>
              </a:rPr>
              <a:t>Comment la plateforme s’intègre à l’écosystème Mare Durabilis. Proposition soumise à Fidal le 5 octobre · appelée à évoluer.</a:t>
            </a:r>
            <a:endParaRPr lang="en-US" sz="1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CADRE JURIDIQUE · LE POINT DE DÉPART</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Ce que permettent les statuts du fonds de dotation MD</a:t>
            </a:r>
            <a:endParaRPr lang="en-US" sz="2500" dirty="0"/>
          </a:p>
        </p:txBody>
      </p:sp>
      <p:sp>
        <p:nvSpPr>
          <p:cNvPr id="4" name="Shape 2"/>
          <p:cNvSpPr/>
          <p:nvPr/>
        </p:nvSpPr>
        <p:spPr>
          <a:xfrm>
            <a:off x="6172200" y="329184"/>
            <a:ext cx="5486400" cy="292608"/>
          </a:xfrm>
          <a:prstGeom prst="roundRect">
            <a:avLst>
              <a:gd name="adj" fmla="val 50000"/>
            </a:avLst>
          </a:prstGeom>
          <a:solidFill>
            <a:srgbClr val="FFF4DC"/>
          </a:solidFill>
          <a:ln w="12700">
            <a:solidFill>
              <a:srgbClr val="FFF4DC"/>
            </a:solidFill>
            <a:prstDash val="solid"/>
          </a:ln>
        </p:spPr>
        <p:txBody>
          <a:bodyPr/>
          <a:lstStyle/>
          <a:p>
            <a:endParaRPr lang="fr-FR"/>
          </a:p>
        </p:txBody>
      </p:sp>
      <p:sp>
        <p:nvSpPr>
          <p:cNvPr id="5" name="Text 3"/>
          <p:cNvSpPr txBox="1"/>
          <p:nvPr/>
        </p:nvSpPr>
        <p:spPr>
          <a:xfrm>
            <a:off x="6172200" y="329184"/>
            <a:ext cx="5486400" cy="292608"/>
          </a:xfrm>
          <a:prstGeom prst="rect">
            <a:avLst/>
          </a:prstGeom>
          <a:noFill/>
          <a:ln/>
        </p:spPr>
        <p:txBody>
          <a:bodyPr wrap="square" lIns="0" tIns="0" rIns="0" bIns="0" rtlCol="0" anchor="ctr"/>
          <a:lstStyle/>
          <a:p>
            <a:pPr marL="0" indent="0" algn="ctr">
              <a:buNone/>
            </a:pPr>
            <a:r>
              <a:rPr lang="en-US" sz="1050" b="1" dirty="0">
                <a:solidFill>
                  <a:srgbClr val="B45309"/>
                </a:solidFill>
                <a:latin typeface="Verdana" pitchFamily="34" charset="0"/>
                <a:ea typeface="Verdana" pitchFamily="34" charset="-122"/>
                <a:cs typeface="Verdana" pitchFamily="34" charset="-120"/>
              </a:rPr>
              <a:t>Proposition soumise à Fidal le 5 octobre · appelée à évoluer</a:t>
            </a:r>
            <a:endParaRPr lang="en-US" sz="1050" dirty="0"/>
          </a:p>
        </p:txBody>
      </p:sp>
      <p:sp>
        <p:nvSpPr>
          <p:cNvPr id="6" name="Shape 4"/>
          <p:cNvSpPr/>
          <p:nvPr/>
        </p:nvSpPr>
        <p:spPr>
          <a:xfrm>
            <a:off x="548640" y="1463040"/>
            <a:ext cx="5486400" cy="2743200"/>
          </a:xfrm>
          <a:prstGeom prst="roundRect">
            <a:avLst>
              <a:gd name="adj" fmla="val 6667"/>
            </a:avLst>
          </a:prstGeom>
          <a:solidFill>
            <a:srgbClr val="EEF4FD"/>
          </a:solidFill>
          <a:ln w="12700">
            <a:solidFill>
              <a:srgbClr val="EEF4FD"/>
            </a:solidFill>
            <a:prstDash val="solid"/>
          </a:ln>
        </p:spPr>
        <p:txBody>
          <a:bodyPr/>
          <a:lstStyle/>
          <a:p>
            <a:endParaRPr lang="fr-FR"/>
          </a:p>
        </p:txBody>
      </p:sp>
      <p:sp>
        <p:nvSpPr>
          <p:cNvPr id="7" name="Text 5"/>
          <p:cNvSpPr txBox="1"/>
          <p:nvPr/>
        </p:nvSpPr>
        <p:spPr>
          <a:xfrm>
            <a:off x="822960" y="1627632"/>
            <a:ext cx="5029200" cy="320040"/>
          </a:xfrm>
          <a:prstGeom prst="rect">
            <a:avLst/>
          </a:prstGeom>
          <a:noFill/>
          <a:ln/>
        </p:spPr>
        <p:txBody>
          <a:bodyPr wrap="square" lIns="0" tIns="0" rIns="0" bIns="0" rtlCol="0" anchor="t"/>
          <a:lstStyle/>
          <a:p>
            <a:pPr marL="0" indent="0">
              <a:buNone/>
            </a:pPr>
            <a:r>
              <a:rPr lang="en-US" sz="1400" b="1" dirty="0">
                <a:solidFill>
                  <a:srgbClr val="00A7B5"/>
                </a:solidFill>
                <a:latin typeface="Verdana" pitchFamily="34" charset="0"/>
                <a:ea typeface="Verdana" pitchFamily="34" charset="-122"/>
                <a:cs typeface="Verdana" pitchFamily="34" charset="-120"/>
              </a:rPr>
              <a:t>Moyens d’action du fonds — extrait des </a:t>
            </a:r>
            <a:r>
              <a:rPr lang="en-US" sz="1400" b="1" dirty="0" err="1">
                <a:solidFill>
                  <a:srgbClr val="00A7B5"/>
                </a:solidFill>
                <a:latin typeface="Verdana" pitchFamily="34" charset="0"/>
                <a:ea typeface="Verdana" pitchFamily="34" charset="-122"/>
                <a:cs typeface="Verdana" pitchFamily="34" charset="-120"/>
              </a:rPr>
              <a:t>statuts</a:t>
            </a:r>
            <a:r>
              <a:rPr lang="en-US" sz="1400" b="1" dirty="0">
                <a:solidFill>
                  <a:srgbClr val="00A7B5"/>
                </a:solidFill>
                <a:latin typeface="Verdana" pitchFamily="34" charset="0"/>
                <a:ea typeface="Verdana" pitchFamily="34" charset="-122"/>
                <a:cs typeface="Verdana" pitchFamily="34" charset="-120"/>
              </a:rPr>
              <a:t> du Fonds de dotation Mare </a:t>
            </a:r>
            <a:r>
              <a:rPr lang="en-US" sz="1400" b="1" dirty="0" err="1">
                <a:solidFill>
                  <a:srgbClr val="00A7B5"/>
                </a:solidFill>
                <a:latin typeface="Verdana" pitchFamily="34" charset="0"/>
                <a:ea typeface="Verdana" pitchFamily="34" charset="-122"/>
                <a:cs typeface="Verdana" pitchFamily="34" charset="-120"/>
              </a:rPr>
              <a:t>Durabilis</a:t>
            </a:r>
            <a:endParaRPr lang="en-US" sz="1400" dirty="0"/>
          </a:p>
        </p:txBody>
      </p:sp>
      <p:sp>
        <p:nvSpPr>
          <p:cNvPr id="8" name="Text 6"/>
          <p:cNvSpPr txBox="1"/>
          <p:nvPr/>
        </p:nvSpPr>
        <p:spPr>
          <a:xfrm>
            <a:off x="822960" y="2057400"/>
            <a:ext cx="4983480" cy="2011680"/>
          </a:xfrm>
          <a:prstGeom prst="rect">
            <a:avLst/>
          </a:prstGeom>
          <a:noFill/>
          <a:ln/>
        </p:spPr>
        <p:txBody>
          <a:bodyPr wrap="square" lIns="0" tIns="0" rIns="0" bIns="0" rtlCol="0" anchor="ctr"/>
          <a:lstStyle/>
          <a:p>
            <a:pPr marL="0" indent="0">
              <a:buNone/>
            </a:pPr>
            <a:r>
              <a:rPr lang="en-US" sz="1900" i="1" dirty="0">
                <a:solidFill>
                  <a:srgbClr val="0012B5"/>
                </a:solidFill>
                <a:latin typeface="Verdana" pitchFamily="34" charset="0"/>
                <a:ea typeface="Verdana" pitchFamily="34" charset="-122"/>
                <a:cs typeface="Verdana" pitchFamily="34" charset="-120"/>
              </a:rPr>
              <a:t>« Le cas échéant, et à titre accessoire, vendre tous services en rapport avec son objet pour financer les projets d’intérêt général du Fonds. »</a:t>
            </a:r>
            <a:endParaRPr lang="en-US" sz="1900" dirty="0"/>
          </a:p>
        </p:txBody>
      </p:sp>
      <p:sp>
        <p:nvSpPr>
          <p:cNvPr id="9" name="Text 7"/>
          <p:cNvSpPr txBox="1"/>
          <p:nvPr/>
        </p:nvSpPr>
        <p:spPr>
          <a:xfrm>
            <a:off x="6400800" y="1463040"/>
            <a:ext cx="5257800" cy="365760"/>
          </a:xfrm>
          <a:prstGeom prst="rect">
            <a:avLst/>
          </a:prstGeom>
          <a:noFill/>
          <a:ln/>
        </p:spPr>
        <p:txBody>
          <a:bodyPr wrap="square" lIns="0" tIns="0" rIns="0" bIns="0" rtlCol="0" anchor="t"/>
          <a:lstStyle/>
          <a:p>
            <a:pPr marL="0" indent="0">
              <a:buNone/>
            </a:pPr>
            <a:r>
              <a:rPr lang="en-US" sz="1750" b="1" dirty="0">
                <a:solidFill>
                  <a:srgbClr val="0012B5"/>
                </a:solidFill>
                <a:latin typeface="Verdana" pitchFamily="34" charset="0"/>
                <a:ea typeface="Verdana" pitchFamily="34" charset="-122"/>
                <a:cs typeface="Verdana" pitchFamily="34" charset="-120"/>
              </a:rPr>
              <a:t>Notre lecture</a:t>
            </a:r>
            <a:endParaRPr lang="en-US" sz="1750" dirty="0"/>
          </a:p>
        </p:txBody>
      </p:sp>
      <p:sp>
        <p:nvSpPr>
          <p:cNvPr id="10" name="Shape 8"/>
          <p:cNvSpPr/>
          <p:nvPr/>
        </p:nvSpPr>
        <p:spPr>
          <a:xfrm>
            <a:off x="6400800" y="1965960"/>
            <a:ext cx="457200" cy="457200"/>
          </a:xfrm>
          <a:prstGeom prst="ellipse">
            <a:avLst/>
          </a:prstGeom>
          <a:solidFill>
            <a:srgbClr val="0012B5"/>
          </a:solidFill>
          <a:ln w="12700">
            <a:solidFill>
              <a:srgbClr val="0012B5"/>
            </a:solidFill>
            <a:prstDash val="solid"/>
          </a:ln>
        </p:spPr>
        <p:txBody>
          <a:bodyPr/>
          <a:lstStyle/>
          <a:p>
            <a:endParaRPr lang="fr-FR"/>
          </a:p>
        </p:txBody>
      </p:sp>
      <p:sp>
        <p:nvSpPr>
          <p:cNvPr id="11" name="Text 9"/>
          <p:cNvSpPr txBox="1"/>
          <p:nvPr/>
        </p:nvSpPr>
        <p:spPr>
          <a:xfrm>
            <a:off x="6400800" y="19659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1</a:t>
            </a:r>
            <a:endParaRPr lang="en-US" sz="1400" dirty="0"/>
          </a:p>
        </p:txBody>
      </p:sp>
      <p:sp>
        <p:nvSpPr>
          <p:cNvPr id="12" name="Text 10"/>
          <p:cNvSpPr txBox="1"/>
          <p:nvPr/>
        </p:nvSpPr>
        <p:spPr>
          <a:xfrm>
            <a:off x="7040880" y="1984248"/>
            <a:ext cx="46177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Une vente de services accessoire</a:t>
            </a:r>
            <a:endParaRPr lang="en-US" sz="1700" dirty="0"/>
          </a:p>
        </p:txBody>
      </p:sp>
      <p:sp>
        <p:nvSpPr>
          <p:cNvPr id="13" name="Text 11"/>
          <p:cNvSpPr txBox="1"/>
          <p:nvPr/>
        </p:nvSpPr>
        <p:spPr>
          <a:xfrm>
            <a:off x="7040880" y="2350008"/>
            <a:ext cx="4617720" cy="77724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Les missions de la flotte (sorties, embarquements, relevés) sont des services en rapport avec l’objet du fonds.</a:t>
            </a:r>
            <a:endParaRPr lang="en-US" sz="1450" dirty="0"/>
          </a:p>
        </p:txBody>
      </p:sp>
      <p:sp>
        <p:nvSpPr>
          <p:cNvPr id="14" name="Shape 12"/>
          <p:cNvSpPr/>
          <p:nvPr/>
        </p:nvSpPr>
        <p:spPr>
          <a:xfrm>
            <a:off x="6400800" y="3200400"/>
            <a:ext cx="457200" cy="457200"/>
          </a:xfrm>
          <a:prstGeom prst="ellipse">
            <a:avLst/>
          </a:prstGeom>
          <a:solidFill>
            <a:srgbClr val="1F5BD6"/>
          </a:solidFill>
          <a:ln w="12700">
            <a:solidFill>
              <a:srgbClr val="1F5BD6"/>
            </a:solidFill>
            <a:prstDash val="solid"/>
          </a:ln>
        </p:spPr>
        <p:txBody>
          <a:bodyPr/>
          <a:lstStyle/>
          <a:p>
            <a:endParaRPr lang="fr-FR"/>
          </a:p>
        </p:txBody>
      </p:sp>
      <p:sp>
        <p:nvSpPr>
          <p:cNvPr id="15" name="Text 13"/>
          <p:cNvSpPr txBox="1"/>
          <p:nvPr/>
        </p:nvSpPr>
        <p:spPr>
          <a:xfrm>
            <a:off x="6400800" y="32004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2</a:t>
            </a:r>
            <a:endParaRPr lang="en-US" sz="1400" dirty="0"/>
          </a:p>
        </p:txBody>
      </p:sp>
      <p:sp>
        <p:nvSpPr>
          <p:cNvPr id="16" name="Text 14"/>
          <p:cNvSpPr txBox="1"/>
          <p:nvPr/>
        </p:nvSpPr>
        <p:spPr>
          <a:xfrm>
            <a:off x="7040880" y="3218688"/>
            <a:ext cx="46177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Des frais de fonctionnement couverts</a:t>
            </a:r>
            <a:endParaRPr lang="en-US" sz="1700" dirty="0"/>
          </a:p>
        </p:txBody>
      </p:sp>
      <p:sp>
        <p:nvSpPr>
          <p:cNvPr id="17" name="Text 15"/>
          <p:cNvSpPr txBox="1"/>
          <p:nvPr/>
        </p:nvSpPr>
        <p:spPr>
          <a:xfrm>
            <a:off x="7040880" y="3584448"/>
            <a:ext cx="4617720" cy="77724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Ce que la plateforme ne couvre pas encore peut être financé par les dons privés du fonds, via l’enveloppe de moyens communs.</a:t>
            </a:r>
            <a:endParaRPr lang="en-US" sz="1450" dirty="0"/>
          </a:p>
        </p:txBody>
      </p:sp>
      <p:sp>
        <p:nvSpPr>
          <p:cNvPr id="18" name="Shape 16"/>
          <p:cNvSpPr/>
          <p:nvPr/>
        </p:nvSpPr>
        <p:spPr>
          <a:xfrm>
            <a:off x="6400800" y="4434840"/>
            <a:ext cx="457200" cy="457200"/>
          </a:xfrm>
          <a:prstGeom prst="ellipse">
            <a:avLst/>
          </a:prstGeom>
          <a:solidFill>
            <a:srgbClr val="00A7B5"/>
          </a:solidFill>
          <a:ln w="12700">
            <a:solidFill>
              <a:srgbClr val="00A7B5"/>
            </a:solidFill>
            <a:prstDash val="solid"/>
          </a:ln>
        </p:spPr>
        <p:txBody>
          <a:bodyPr/>
          <a:lstStyle/>
          <a:p>
            <a:endParaRPr lang="fr-FR"/>
          </a:p>
        </p:txBody>
      </p:sp>
      <p:sp>
        <p:nvSpPr>
          <p:cNvPr id="19" name="Text 17"/>
          <p:cNvSpPr txBox="1"/>
          <p:nvPr/>
        </p:nvSpPr>
        <p:spPr>
          <a:xfrm>
            <a:off x="6400800" y="44348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3</a:t>
            </a:r>
            <a:endParaRPr lang="en-US" sz="1400" dirty="0"/>
          </a:p>
        </p:txBody>
      </p:sp>
      <p:sp>
        <p:nvSpPr>
          <p:cNvPr id="20" name="Text 18"/>
          <p:cNvSpPr txBox="1"/>
          <p:nvPr/>
        </p:nvSpPr>
        <p:spPr>
          <a:xfrm>
            <a:off x="7040880" y="4453128"/>
            <a:ext cx="461772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Une première option de modèle</a:t>
            </a:r>
            <a:endParaRPr lang="en-US" sz="1700" dirty="0"/>
          </a:p>
        </p:txBody>
      </p:sp>
      <p:sp>
        <p:nvSpPr>
          <p:cNvPr id="21" name="Text 19"/>
          <p:cNvSpPr txBox="1"/>
          <p:nvPr/>
        </p:nvSpPr>
        <p:spPr>
          <a:xfrm>
            <a:off x="7040880" y="4818888"/>
            <a:ext cx="4617720" cy="54864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Cette lecture fonde le schéma et la simulation des pages suivantes.</a:t>
            </a:r>
            <a:endParaRPr lang="en-US" sz="1450" dirty="0"/>
          </a:p>
        </p:txBody>
      </p:sp>
      <p:sp>
        <p:nvSpPr>
          <p:cNvPr id="22" name="Shape 20"/>
          <p:cNvSpPr/>
          <p:nvPr/>
        </p:nvSpPr>
        <p:spPr>
          <a:xfrm>
            <a:off x="548640" y="5440680"/>
            <a:ext cx="11094415" cy="868680"/>
          </a:xfrm>
          <a:prstGeom prst="roundRect">
            <a:avLst>
              <a:gd name="adj" fmla="val 21053"/>
            </a:avLst>
          </a:prstGeom>
          <a:solidFill>
            <a:srgbClr val="FFF7EC"/>
          </a:solidFill>
          <a:ln w="12700">
            <a:solidFill>
              <a:srgbClr val="FFF7EC"/>
            </a:solidFill>
            <a:prstDash val="solid"/>
          </a:ln>
        </p:spPr>
        <p:txBody>
          <a:bodyPr/>
          <a:lstStyle/>
          <a:p>
            <a:endParaRPr lang="fr-FR"/>
          </a:p>
        </p:txBody>
      </p:sp>
      <p:sp>
        <p:nvSpPr>
          <p:cNvPr id="23" name="Text 21"/>
          <p:cNvSpPr txBox="1"/>
          <p:nvPr/>
        </p:nvSpPr>
        <p:spPr>
          <a:xfrm>
            <a:off x="822960" y="5440680"/>
            <a:ext cx="10545775" cy="868680"/>
          </a:xfrm>
          <a:prstGeom prst="rect">
            <a:avLst/>
          </a:prstGeom>
          <a:noFill/>
          <a:ln/>
        </p:spPr>
        <p:txBody>
          <a:bodyPr wrap="square" lIns="0" tIns="0" rIns="0" bIns="0" rtlCol="0" anchor="ctr"/>
          <a:lstStyle/>
          <a:p>
            <a:pPr marL="0" indent="0">
              <a:buNone/>
            </a:pPr>
            <a:r>
              <a:rPr lang="en-US" sz="1450" dirty="0">
                <a:solidFill>
                  <a:srgbClr val="3A4658"/>
                </a:solidFill>
                <a:latin typeface="Verdana" pitchFamily="34" charset="0"/>
                <a:ea typeface="Verdana" pitchFamily="34" charset="-122"/>
                <a:cs typeface="Verdana" pitchFamily="34" charset="-120"/>
              </a:rPr>
              <a:t>À valider avec Fidal le 5 octobre : la portée de cette clause, la forme de la structure qui porte Mare Services et son articulation avec le fonds.</a:t>
            </a:r>
            <a:endParaRPr lang="en-US" sz="1450" dirty="0"/>
          </a:p>
        </p:txBody>
      </p:sp>
      <p:sp>
        <p:nvSpPr>
          <p:cNvPr id="24" name="Text 22"/>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42</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9144000" cy="237744"/>
          </a:xfrm>
          <a:prstGeom prst="rect">
            <a:avLst/>
          </a:prstGeom>
          <a:noFill/>
          <a:ln/>
        </p:spPr>
        <p:txBody>
          <a:bodyPr wrap="square" lIns="0" tIns="0" rIns="0" bIns="0" rtlCol="0" anchor="t"/>
          <a:lstStyle/>
          <a:p>
            <a:pPr marL="0" indent="0">
              <a:buNone/>
            </a:pPr>
            <a:r>
              <a:rPr lang="en-US" sz="1050" b="1" kern="0" spc="200" dirty="0">
                <a:solidFill>
                  <a:srgbClr val="00A7B5"/>
                </a:solidFill>
                <a:latin typeface="Verdana" pitchFamily="34" charset="0"/>
                <a:ea typeface="Verdana" pitchFamily="34" charset="-122"/>
                <a:cs typeface="Verdana" pitchFamily="34" charset="-120"/>
              </a:rPr>
              <a:t>CADRE JURIDIQUE · L’ÉCOSYSTÈME</a:t>
            </a:r>
            <a:endParaRPr lang="en-US" sz="1050" dirty="0"/>
          </a:p>
        </p:txBody>
      </p:sp>
      <p:sp>
        <p:nvSpPr>
          <p:cNvPr id="3" name="Text 1"/>
          <p:cNvSpPr txBox="1"/>
          <p:nvPr/>
        </p:nvSpPr>
        <p:spPr>
          <a:xfrm>
            <a:off x="548640" y="457200"/>
            <a:ext cx="7772400" cy="411480"/>
          </a:xfrm>
          <a:prstGeom prst="rect">
            <a:avLst/>
          </a:prstGeom>
          <a:noFill/>
          <a:ln/>
        </p:spPr>
        <p:txBody>
          <a:bodyPr wrap="square" lIns="0" tIns="0" rIns="0" bIns="0" rtlCol="0" anchor="ctr"/>
          <a:lstStyle/>
          <a:p>
            <a:pPr marL="0" indent="0">
              <a:buNone/>
            </a:pPr>
            <a:r>
              <a:rPr lang="en-US" sz="1800" b="1" dirty="0">
                <a:solidFill>
                  <a:srgbClr val="0012B5"/>
                </a:solidFill>
                <a:latin typeface="Verdana" pitchFamily="34" charset="0"/>
                <a:ea typeface="Verdana" pitchFamily="34" charset="-122"/>
                <a:cs typeface="Verdana" pitchFamily="34" charset="-120"/>
              </a:rPr>
              <a:t>Comment l’argent circule autour de la plateforme</a:t>
            </a:r>
            <a:endParaRPr lang="en-US" sz="1800" dirty="0"/>
          </a:p>
        </p:txBody>
      </p:sp>
      <p:sp>
        <p:nvSpPr>
          <p:cNvPr id="4" name="Shape 2"/>
          <p:cNvSpPr/>
          <p:nvPr/>
        </p:nvSpPr>
        <p:spPr>
          <a:xfrm>
            <a:off x="7589520" y="329184"/>
            <a:ext cx="4069080" cy="274320"/>
          </a:xfrm>
          <a:prstGeom prst="roundRect">
            <a:avLst>
              <a:gd name="adj" fmla="val 50000"/>
            </a:avLst>
          </a:prstGeom>
          <a:solidFill>
            <a:srgbClr val="FFF4DC"/>
          </a:solidFill>
          <a:ln w="12700">
            <a:solidFill>
              <a:srgbClr val="FFF4DC"/>
            </a:solidFill>
            <a:prstDash val="solid"/>
          </a:ln>
        </p:spPr>
        <p:txBody>
          <a:bodyPr/>
          <a:lstStyle/>
          <a:p>
            <a:endParaRPr lang="fr-FR"/>
          </a:p>
        </p:txBody>
      </p:sp>
      <p:sp>
        <p:nvSpPr>
          <p:cNvPr id="5" name="Text 3"/>
          <p:cNvSpPr txBox="1"/>
          <p:nvPr/>
        </p:nvSpPr>
        <p:spPr>
          <a:xfrm>
            <a:off x="7589520" y="329184"/>
            <a:ext cx="4069080" cy="274320"/>
          </a:xfrm>
          <a:prstGeom prst="rect">
            <a:avLst/>
          </a:prstGeom>
          <a:noFill/>
          <a:ln/>
        </p:spPr>
        <p:txBody>
          <a:bodyPr wrap="square" lIns="0" tIns="0" rIns="0" bIns="0" rtlCol="0" anchor="ctr"/>
          <a:lstStyle/>
          <a:p>
            <a:pPr marL="0" indent="0" algn="ctr">
              <a:buNone/>
            </a:pPr>
            <a:r>
              <a:rPr lang="en-US" sz="850" b="1" dirty="0">
                <a:solidFill>
                  <a:srgbClr val="B45309"/>
                </a:solidFill>
                <a:latin typeface="Verdana" pitchFamily="34" charset="0"/>
                <a:ea typeface="Verdana" pitchFamily="34" charset="-122"/>
                <a:cs typeface="Verdana" pitchFamily="34" charset="-120"/>
              </a:rPr>
              <a:t>Proposition soumise à Fidal le 5 octobre · appelée à évoluer</a:t>
            </a:r>
            <a:endParaRPr lang="en-US" sz="850" dirty="0"/>
          </a:p>
        </p:txBody>
      </p:sp>
      <p:sp>
        <p:nvSpPr>
          <p:cNvPr id="6" name="Shape 4"/>
          <p:cNvSpPr/>
          <p:nvPr/>
        </p:nvSpPr>
        <p:spPr>
          <a:xfrm>
            <a:off x="4892040" y="987552"/>
            <a:ext cx="2423160" cy="384048"/>
          </a:xfrm>
          <a:prstGeom prst="roundRect">
            <a:avLst>
              <a:gd name="adj" fmla="val 19048"/>
            </a:avLst>
          </a:prstGeom>
          <a:solidFill>
            <a:srgbClr val="EEF4FD"/>
          </a:solidFill>
          <a:ln w="12700">
            <a:solidFill>
              <a:srgbClr val="1F5BD6"/>
            </a:solidFill>
            <a:prstDash val="solid"/>
          </a:ln>
        </p:spPr>
        <p:txBody>
          <a:bodyPr/>
          <a:lstStyle/>
          <a:p>
            <a:endParaRPr lang="fr-FR"/>
          </a:p>
        </p:txBody>
      </p:sp>
      <p:sp>
        <p:nvSpPr>
          <p:cNvPr id="7" name="Text 5"/>
          <p:cNvSpPr txBox="1"/>
          <p:nvPr/>
        </p:nvSpPr>
        <p:spPr>
          <a:xfrm>
            <a:off x="4965192" y="987552"/>
            <a:ext cx="2276856" cy="384048"/>
          </a:xfrm>
          <a:prstGeom prst="rect">
            <a:avLst/>
          </a:prstGeom>
          <a:noFill/>
          <a:ln/>
        </p:spPr>
        <p:txBody>
          <a:bodyPr wrap="square" lIns="0" tIns="0" rIns="0" bIns="0" rtlCol="0" anchor="ctr"/>
          <a:lstStyle/>
          <a:p>
            <a:pPr marL="0" indent="0" algn="ctr">
              <a:spcAft>
                <a:spcPts val="100"/>
              </a:spcAft>
              <a:buNone/>
            </a:pPr>
            <a:r>
              <a:rPr lang="en-US" sz="1150" b="1" dirty="0">
                <a:solidFill>
                  <a:srgbClr val="0012B5"/>
                </a:solidFill>
                <a:latin typeface="Verdana" pitchFamily="34" charset="0"/>
                <a:ea typeface="Verdana" pitchFamily="34" charset="-122"/>
                <a:cs typeface="Verdana" pitchFamily="34" charset="-120"/>
              </a:rPr>
              <a:t>FONDS DE DOTATION</a:t>
            </a:r>
            <a:endParaRPr lang="en-US" sz="1250" dirty="0"/>
          </a:p>
        </p:txBody>
      </p:sp>
      <p:sp>
        <p:nvSpPr>
          <p:cNvPr id="8" name="Shape 6"/>
          <p:cNvSpPr/>
          <p:nvPr/>
        </p:nvSpPr>
        <p:spPr>
          <a:xfrm>
            <a:off x="6103620" y="1371600"/>
            <a:ext cx="914" cy="109728"/>
          </a:xfrm>
          <a:prstGeom prst="line">
            <a:avLst/>
          </a:prstGeom>
          <a:noFill/>
          <a:ln w="15875">
            <a:solidFill>
              <a:srgbClr val="1F5BD6"/>
            </a:solidFill>
            <a:prstDash val="solid"/>
          </a:ln>
        </p:spPr>
        <p:txBody>
          <a:bodyPr/>
          <a:lstStyle/>
          <a:p>
            <a:endParaRPr lang="fr-FR"/>
          </a:p>
        </p:txBody>
      </p:sp>
      <p:sp>
        <p:nvSpPr>
          <p:cNvPr id="9" name="Shape 7"/>
          <p:cNvSpPr/>
          <p:nvPr/>
        </p:nvSpPr>
        <p:spPr>
          <a:xfrm>
            <a:off x="3474720" y="1481328"/>
            <a:ext cx="5897880" cy="914"/>
          </a:xfrm>
          <a:prstGeom prst="line">
            <a:avLst/>
          </a:prstGeom>
          <a:noFill/>
          <a:ln w="15875">
            <a:solidFill>
              <a:srgbClr val="1F5BD6"/>
            </a:solidFill>
            <a:prstDash val="solid"/>
          </a:ln>
        </p:spPr>
        <p:txBody>
          <a:bodyPr/>
          <a:lstStyle/>
          <a:p>
            <a:endParaRPr lang="fr-FR"/>
          </a:p>
        </p:txBody>
      </p:sp>
      <p:sp>
        <p:nvSpPr>
          <p:cNvPr id="10" name="Shape 8"/>
          <p:cNvSpPr/>
          <p:nvPr/>
        </p:nvSpPr>
        <p:spPr>
          <a:xfrm>
            <a:off x="3474720" y="1481328"/>
            <a:ext cx="914" cy="210312"/>
          </a:xfrm>
          <a:prstGeom prst="line">
            <a:avLst/>
          </a:prstGeom>
          <a:noFill/>
          <a:ln w="15875">
            <a:solidFill>
              <a:srgbClr val="1F5BD6"/>
            </a:solidFill>
            <a:prstDash val="solid"/>
            <a:tailEnd type="triangle"/>
          </a:ln>
        </p:spPr>
        <p:txBody>
          <a:bodyPr/>
          <a:lstStyle/>
          <a:p>
            <a:endParaRPr lang="fr-FR"/>
          </a:p>
        </p:txBody>
      </p:sp>
      <p:sp>
        <p:nvSpPr>
          <p:cNvPr id="11" name="Shape 9"/>
          <p:cNvSpPr/>
          <p:nvPr/>
        </p:nvSpPr>
        <p:spPr>
          <a:xfrm>
            <a:off x="9372600" y="1481328"/>
            <a:ext cx="914" cy="210312"/>
          </a:xfrm>
          <a:prstGeom prst="line">
            <a:avLst/>
          </a:prstGeom>
          <a:noFill/>
          <a:ln w="15875">
            <a:solidFill>
              <a:srgbClr val="1F5BD6"/>
            </a:solidFill>
            <a:prstDash val="solid"/>
            <a:tailEnd type="triangle"/>
          </a:ln>
        </p:spPr>
        <p:txBody>
          <a:bodyPr/>
          <a:lstStyle/>
          <a:p>
            <a:endParaRPr lang="fr-FR"/>
          </a:p>
        </p:txBody>
      </p:sp>
      <p:sp>
        <p:nvSpPr>
          <p:cNvPr id="12" name="Text 10"/>
          <p:cNvSpPr txBox="1"/>
          <p:nvPr/>
        </p:nvSpPr>
        <p:spPr>
          <a:xfrm>
            <a:off x="2194560" y="1517904"/>
            <a:ext cx="1234440" cy="164592"/>
          </a:xfrm>
          <a:prstGeom prst="rect">
            <a:avLst/>
          </a:prstGeom>
          <a:noFill/>
          <a:ln/>
        </p:spPr>
        <p:txBody>
          <a:bodyPr wrap="square" lIns="0" tIns="0" rIns="0" bIns="0" rtlCol="0" anchor="t"/>
          <a:lstStyle/>
          <a:p>
            <a:pPr marL="0" indent="0">
              <a:buNone/>
            </a:pPr>
            <a:r>
              <a:rPr lang="en-US" sz="850" b="1" kern="0" spc="100" dirty="0">
                <a:solidFill>
                  <a:srgbClr val="00A7B5"/>
                </a:solidFill>
                <a:latin typeface="Verdana" pitchFamily="34" charset="0"/>
                <a:ea typeface="Verdana" pitchFamily="34" charset="-122"/>
                <a:cs typeface="Verdana" pitchFamily="34" charset="-120"/>
              </a:rPr>
              <a:t>LA COMMANDE</a:t>
            </a:r>
            <a:endParaRPr lang="en-US" sz="850" dirty="0"/>
          </a:p>
        </p:txBody>
      </p:sp>
      <p:sp>
        <p:nvSpPr>
          <p:cNvPr id="13" name="Text 11"/>
          <p:cNvSpPr txBox="1"/>
          <p:nvPr/>
        </p:nvSpPr>
        <p:spPr>
          <a:xfrm>
            <a:off x="7498080" y="1517904"/>
            <a:ext cx="1737360" cy="164592"/>
          </a:xfrm>
          <a:prstGeom prst="rect">
            <a:avLst/>
          </a:prstGeom>
          <a:noFill/>
          <a:ln/>
        </p:spPr>
        <p:txBody>
          <a:bodyPr wrap="square" lIns="0" tIns="0" rIns="0" bIns="0" rtlCol="0" anchor="t"/>
          <a:lstStyle/>
          <a:p>
            <a:pPr marL="0" indent="0">
              <a:buNone/>
            </a:pPr>
            <a:r>
              <a:rPr lang="en-US" sz="850" b="1" kern="0" spc="100" dirty="0">
                <a:solidFill>
                  <a:srgbClr val="00A7B5"/>
                </a:solidFill>
                <a:latin typeface="Verdana" pitchFamily="34" charset="0"/>
                <a:ea typeface="Verdana" pitchFamily="34" charset="-122"/>
                <a:cs typeface="Verdana" pitchFamily="34" charset="-120"/>
              </a:rPr>
              <a:t>LE FINANCEMENT</a:t>
            </a:r>
            <a:endParaRPr lang="en-US" sz="850" dirty="0"/>
          </a:p>
        </p:txBody>
      </p:sp>
      <p:sp>
        <p:nvSpPr>
          <p:cNvPr id="14" name="Shape 12"/>
          <p:cNvSpPr/>
          <p:nvPr/>
        </p:nvSpPr>
        <p:spPr>
          <a:xfrm>
            <a:off x="2194560" y="1691640"/>
            <a:ext cx="2560320" cy="457200"/>
          </a:xfrm>
          <a:prstGeom prst="roundRect">
            <a:avLst>
              <a:gd name="adj" fmla="val 16000"/>
            </a:avLst>
          </a:prstGeom>
          <a:solidFill>
            <a:srgbClr val="EEF4FD"/>
          </a:solidFill>
          <a:ln w="12700">
            <a:solidFill>
              <a:srgbClr val="1F5BD6"/>
            </a:solidFill>
            <a:prstDash val="solid"/>
          </a:ln>
        </p:spPr>
        <p:txBody>
          <a:bodyPr/>
          <a:lstStyle/>
          <a:p>
            <a:endParaRPr lang="fr-FR"/>
          </a:p>
        </p:txBody>
      </p:sp>
      <p:sp>
        <p:nvSpPr>
          <p:cNvPr id="15" name="Text 13"/>
          <p:cNvSpPr txBox="1"/>
          <p:nvPr/>
        </p:nvSpPr>
        <p:spPr>
          <a:xfrm>
            <a:off x="2267712" y="1691640"/>
            <a:ext cx="2414016" cy="457200"/>
          </a:xfrm>
          <a:prstGeom prst="rect">
            <a:avLst/>
          </a:prstGeom>
          <a:noFill/>
          <a:ln/>
        </p:spPr>
        <p:txBody>
          <a:bodyPr wrap="square" lIns="0" tIns="0" rIns="0" bIns="0" rtlCol="0" anchor="ctr"/>
          <a:lstStyle/>
          <a:p>
            <a:pPr marL="0" indent="0" algn="ctr">
              <a:spcAft>
                <a:spcPts val="100"/>
              </a:spcAft>
              <a:buNone/>
            </a:pPr>
            <a:r>
              <a:rPr lang="en-US" sz="1150" b="1" dirty="0">
                <a:solidFill>
                  <a:srgbClr val="0012B5"/>
                </a:solidFill>
                <a:latin typeface="Verdana" pitchFamily="34" charset="0"/>
                <a:ea typeface="Verdana" pitchFamily="34" charset="-122"/>
                <a:cs typeface="Verdana" pitchFamily="34" charset="-120"/>
              </a:rPr>
              <a:t>Enveloppes de programme</a:t>
            </a:r>
            <a:endParaRPr lang="en-US" sz="1250" dirty="0"/>
          </a:p>
          <a:p>
            <a:pPr marL="0" indent="0" algn="ctr">
              <a:spcAft>
                <a:spcPts val="100"/>
              </a:spcAft>
              <a:buNone/>
            </a:pPr>
            <a:r>
              <a:rPr lang="en-US" sz="950" dirty="0">
                <a:solidFill>
                  <a:srgbClr val="3A4658"/>
                </a:solidFill>
                <a:latin typeface="Verdana" pitchFamily="34" charset="0"/>
                <a:ea typeface="Verdana" pitchFamily="34" charset="-122"/>
                <a:cs typeface="Verdana" pitchFamily="34" charset="-120"/>
              </a:rPr>
              <a:t>P1 · P2 · P3 · P4</a:t>
            </a:r>
            <a:endParaRPr lang="en-US" sz="1250" dirty="0"/>
          </a:p>
        </p:txBody>
      </p:sp>
      <p:sp>
        <p:nvSpPr>
          <p:cNvPr id="16" name="Shape 14"/>
          <p:cNvSpPr/>
          <p:nvPr/>
        </p:nvSpPr>
        <p:spPr>
          <a:xfrm>
            <a:off x="7498080" y="1691640"/>
            <a:ext cx="3749040" cy="457200"/>
          </a:xfrm>
          <a:prstGeom prst="roundRect">
            <a:avLst>
              <a:gd name="adj" fmla="val 16000"/>
            </a:avLst>
          </a:prstGeom>
          <a:solidFill>
            <a:srgbClr val="EEF4FD"/>
          </a:solidFill>
          <a:ln w="12700">
            <a:solidFill>
              <a:srgbClr val="1F5BD6"/>
            </a:solidFill>
            <a:prstDash val="solid"/>
          </a:ln>
        </p:spPr>
        <p:txBody>
          <a:bodyPr/>
          <a:lstStyle/>
          <a:p>
            <a:endParaRPr lang="fr-FR"/>
          </a:p>
        </p:txBody>
      </p:sp>
      <p:sp>
        <p:nvSpPr>
          <p:cNvPr id="17" name="Text 15"/>
          <p:cNvSpPr txBox="1"/>
          <p:nvPr/>
        </p:nvSpPr>
        <p:spPr>
          <a:xfrm>
            <a:off x="7571232" y="1691640"/>
            <a:ext cx="3602736" cy="457200"/>
          </a:xfrm>
          <a:prstGeom prst="rect">
            <a:avLst/>
          </a:prstGeom>
          <a:noFill/>
          <a:ln/>
        </p:spPr>
        <p:txBody>
          <a:bodyPr wrap="square" lIns="0" tIns="0" rIns="0" bIns="0" rtlCol="0" anchor="ctr"/>
          <a:lstStyle/>
          <a:p>
            <a:pPr marL="0" indent="0" algn="ctr">
              <a:spcAft>
                <a:spcPts val="100"/>
              </a:spcAft>
              <a:buNone/>
            </a:pPr>
            <a:r>
              <a:rPr lang="en-US" sz="1150" b="1" dirty="0">
                <a:solidFill>
                  <a:srgbClr val="0012B5"/>
                </a:solidFill>
                <a:latin typeface="Verdana" pitchFamily="34" charset="0"/>
                <a:ea typeface="Verdana" pitchFamily="34" charset="-122"/>
                <a:cs typeface="Verdana" pitchFamily="34" charset="-120"/>
              </a:rPr>
              <a:t>Enveloppe moyens communs</a:t>
            </a:r>
            <a:endParaRPr lang="en-US" sz="1250" dirty="0"/>
          </a:p>
        </p:txBody>
      </p:sp>
      <p:sp>
        <p:nvSpPr>
          <p:cNvPr id="18" name="Shape 16"/>
          <p:cNvSpPr/>
          <p:nvPr/>
        </p:nvSpPr>
        <p:spPr>
          <a:xfrm>
            <a:off x="3474720" y="2148840"/>
            <a:ext cx="914" cy="155448"/>
          </a:xfrm>
          <a:prstGeom prst="line">
            <a:avLst/>
          </a:prstGeom>
          <a:noFill/>
          <a:ln w="15875">
            <a:solidFill>
              <a:srgbClr val="1F5BD6"/>
            </a:solidFill>
            <a:prstDash val="solid"/>
            <a:tailEnd type="triangle"/>
          </a:ln>
        </p:spPr>
        <p:txBody>
          <a:bodyPr/>
          <a:lstStyle/>
          <a:p>
            <a:endParaRPr lang="fr-FR"/>
          </a:p>
        </p:txBody>
      </p:sp>
      <p:sp>
        <p:nvSpPr>
          <p:cNvPr id="19" name="Shape 17"/>
          <p:cNvSpPr/>
          <p:nvPr/>
        </p:nvSpPr>
        <p:spPr>
          <a:xfrm>
            <a:off x="9372600" y="2148840"/>
            <a:ext cx="914" cy="155448"/>
          </a:xfrm>
          <a:prstGeom prst="line">
            <a:avLst/>
          </a:prstGeom>
          <a:noFill/>
          <a:ln w="15875">
            <a:solidFill>
              <a:srgbClr val="1F5BD6"/>
            </a:solidFill>
            <a:prstDash val="solid"/>
            <a:tailEnd type="triangle"/>
          </a:ln>
        </p:spPr>
        <p:txBody>
          <a:bodyPr/>
          <a:lstStyle/>
          <a:p>
            <a:endParaRPr lang="fr-FR"/>
          </a:p>
        </p:txBody>
      </p:sp>
      <p:sp>
        <p:nvSpPr>
          <p:cNvPr id="20" name="Shape 18"/>
          <p:cNvSpPr/>
          <p:nvPr/>
        </p:nvSpPr>
        <p:spPr>
          <a:xfrm>
            <a:off x="2194560" y="2304288"/>
            <a:ext cx="2560320" cy="457200"/>
          </a:xfrm>
          <a:prstGeom prst="roundRect">
            <a:avLst>
              <a:gd name="adj" fmla="val 16000"/>
            </a:avLst>
          </a:prstGeom>
          <a:solidFill>
            <a:srgbClr val="EEF4FD"/>
          </a:solidFill>
          <a:ln w="12700">
            <a:solidFill>
              <a:srgbClr val="1F5BD6"/>
            </a:solidFill>
            <a:prstDash val="solid"/>
          </a:ln>
        </p:spPr>
        <p:txBody>
          <a:bodyPr/>
          <a:lstStyle/>
          <a:p>
            <a:endParaRPr lang="fr-FR"/>
          </a:p>
        </p:txBody>
      </p:sp>
      <p:sp>
        <p:nvSpPr>
          <p:cNvPr id="21" name="Text 19"/>
          <p:cNvSpPr txBox="1"/>
          <p:nvPr/>
        </p:nvSpPr>
        <p:spPr>
          <a:xfrm>
            <a:off x="2267712" y="2304288"/>
            <a:ext cx="2414016" cy="457200"/>
          </a:xfrm>
          <a:prstGeom prst="rect">
            <a:avLst/>
          </a:prstGeom>
          <a:noFill/>
          <a:ln/>
        </p:spPr>
        <p:txBody>
          <a:bodyPr wrap="square" lIns="0" tIns="0" rIns="0" bIns="0" rtlCol="0" anchor="ctr"/>
          <a:lstStyle/>
          <a:p>
            <a:pPr marL="0" indent="0" algn="ctr">
              <a:spcAft>
                <a:spcPts val="100"/>
              </a:spcAft>
              <a:buNone/>
            </a:pPr>
            <a:r>
              <a:rPr lang="en-US" sz="1150" b="1" dirty="0">
                <a:solidFill>
                  <a:srgbClr val="0012B5"/>
                </a:solidFill>
                <a:latin typeface="Verdana" pitchFamily="34" charset="0"/>
                <a:ea typeface="Verdana" pitchFamily="34" charset="-122"/>
                <a:cs typeface="Verdana" pitchFamily="34" charset="-120"/>
              </a:rPr>
              <a:t>Cahier des charges</a:t>
            </a:r>
            <a:endParaRPr lang="en-US" sz="1250" dirty="0"/>
          </a:p>
          <a:p>
            <a:pPr marL="0" indent="0" algn="ctr">
              <a:spcAft>
                <a:spcPts val="100"/>
              </a:spcAft>
              <a:buNone/>
            </a:pPr>
            <a:r>
              <a:rPr lang="en-US" sz="950" dirty="0">
                <a:solidFill>
                  <a:srgbClr val="3A4658"/>
                </a:solidFill>
                <a:latin typeface="Verdana" pitchFamily="34" charset="0"/>
                <a:ea typeface="Verdana" pitchFamily="34" charset="-122"/>
                <a:cs typeface="Verdana" pitchFamily="34" charset="-120"/>
              </a:rPr>
              <a:t>conditions fixées par le fonds</a:t>
            </a:r>
            <a:endParaRPr lang="en-US" sz="1250" dirty="0"/>
          </a:p>
        </p:txBody>
      </p:sp>
      <p:sp>
        <p:nvSpPr>
          <p:cNvPr id="22" name="Shape 20"/>
          <p:cNvSpPr/>
          <p:nvPr/>
        </p:nvSpPr>
        <p:spPr>
          <a:xfrm>
            <a:off x="7498080" y="2304288"/>
            <a:ext cx="3749040" cy="566928"/>
          </a:xfrm>
          <a:prstGeom prst="roundRect">
            <a:avLst>
              <a:gd name="adj" fmla="val 12903"/>
            </a:avLst>
          </a:prstGeom>
          <a:solidFill>
            <a:srgbClr val="EEF4FD"/>
          </a:solidFill>
          <a:ln w="12700">
            <a:solidFill>
              <a:srgbClr val="1F5BD6"/>
            </a:solidFill>
            <a:prstDash val="solid"/>
          </a:ln>
        </p:spPr>
        <p:txBody>
          <a:bodyPr/>
          <a:lstStyle/>
          <a:p>
            <a:endParaRPr lang="fr-FR"/>
          </a:p>
        </p:txBody>
      </p:sp>
      <p:sp>
        <p:nvSpPr>
          <p:cNvPr id="23" name="Text 21"/>
          <p:cNvSpPr txBox="1"/>
          <p:nvPr/>
        </p:nvSpPr>
        <p:spPr>
          <a:xfrm>
            <a:off x="7571232" y="2304288"/>
            <a:ext cx="3602736" cy="566928"/>
          </a:xfrm>
          <a:prstGeom prst="rect">
            <a:avLst/>
          </a:prstGeom>
          <a:noFill/>
          <a:ln/>
        </p:spPr>
        <p:txBody>
          <a:bodyPr wrap="square" lIns="0" tIns="0" rIns="0" bIns="0" rtlCol="0" anchor="ctr"/>
          <a:lstStyle/>
          <a:p>
            <a:pPr marL="0" indent="0" algn="ctr">
              <a:spcAft>
                <a:spcPts val="100"/>
              </a:spcAft>
              <a:buNone/>
            </a:pPr>
            <a:r>
              <a:rPr lang="en-US" sz="1150" b="1" dirty="0">
                <a:solidFill>
                  <a:srgbClr val="0012B5"/>
                </a:solidFill>
                <a:latin typeface="Verdana" pitchFamily="34" charset="0"/>
                <a:ea typeface="Verdana" pitchFamily="34" charset="-122"/>
                <a:cs typeface="Verdana" pitchFamily="34" charset="-120"/>
              </a:rPr>
              <a:t>Apport de démarrage</a:t>
            </a:r>
            <a:endParaRPr lang="en-US" sz="1250" dirty="0"/>
          </a:p>
          <a:p>
            <a:pPr marL="0" indent="0" algn="ctr">
              <a:spcAft>
                <a:spcPts val="100"/>
              </a:spcAft>
              <a:buNone/>
            </a:pPr>
            <a:r>
              <a:rPr lang="en-US" sz="950" dirty="0">
                <a:solidFill>
                  <a:srgbClr val="3A4658"/>
                </a:solidFill>
                <a:latin typeface="Verdana" pitchFamily="34" charset="0"/>
                <a:ea typeface="Verdana" pitchFamily="34" charset="-122"/>
                <a:cs typeface="Verdana" pitchFamily="34" charset="-120"/>
              </a:rPr>
              <a:t>et charges d’exploitation</a:t>
            </a:r>
            <a:endParaRPr lang="en-US" sz="1250" dirty="0"/>
          </a:p>
          <a:p>
            <a:pPr marL="0" indent="0" algn="ctr">
              <a:spcAft>
                <a:spcPts val="100"/>
              </a:spcAft>
              <a:buNone/>
            </a:pPr>
            <a:r>
              <a:rPr lang="en-US" sz="950" dirty="0">
                <a:solidFill>
                  <a:srgbClr val="3A4658"/>
                </a:solidFill>
                <a:latin typeface="Verdana" pitchFamily="34" charset="0"/>
                <a:ea typeface="Verdana" pitchFamily="34" charset="-122"/>
                <a:cs typeface="Verdana" pitchFamily="34" charset="-120"/>
              </a:rPr>
              <a:t>capital initial · exploitation de la plateforme</a:t>
            </a:r>
            <a:endParaRPr lang="en-US" sz="1250" dirty="0"/>
          </a:p>
        </p:txBody>
      </p:sp>
      <p:sp>
        <p:nvSpPr>
          <p:cNvPr id="24" name="Shape 22"/>
          <p:cNvSpPr/>
          <p:nvPr/>
        </p:nvSpPr>
        <p:spPr>
          <a:xfrm flipH="1">
            <a:off x="1554480" y="2532888"/>
            <a:ext cx="640080" cy="914"/>
          </a:xfrm>
          <a:prstGeom prst="line">
            <a:avLst/>
          </a:prstGeom>
          <a:noFill/>
          <a:ln w="15875">
            <a:solidFill>
              <a:srgbClr val="1F5BD6"/>
            </a:solidFill>
            <a:prstDash val="solid"/>
          </a:ln>
        </p:spPr>
        <p:txBody>
          <a:bodyPr/>
          <a:lstStyle/>
          <a:p>
            <a:endParaRPr lang="fr-FR"/>
          </a:p>
        </p:txBody>
      </p:sp>
      <p:sp>
        <p:nvSpPr>
          <p:cNvPr id="25" name="Shape 23"/>
          <p:cNvSpPr/>
          <p:nvPr/>
        </p:nvSpPr>
        <p:spPr>
          <a:xfrm>
            <a:off x="1554480" y="2532888"/>
            <a:ext cx="914" cy="530352"/>
          </a:xfrm>
          <a:prstGeom prst="line">
            <a:avLst/>
          </a:prstGeom>
          <a:noFill/>
          <a:ln w="15875">
            <a:solidFill>
              <a:srgbClr val="1F5BD6"/>
            </a:solidFill>
            <a:prstDash val="solid"/>
            <a:tailEnd type="triangle"/>
          </a:ln>
        </p:spPr>
        <p:txBody>
          <a:bodyPr/>
          <a:lstStyle/>
          <a:p>
            <a:endParaRPr lang="fr-FR"/>
          </a:p>
        </p:txBody>
      </p:sp>
      <p:sp>
        <p:nvSpPr>
          <p:cNvPr id="26" name="Shape 24"/>
          <p:cNvSpPr/>
          <p:nvPr/>
        </p:nvSpPr>
        <p:spPr>
          <a:xfrm>
            <a:off x="320040" y="3063240"/>
            <a:ext cx="2697480" cy="1097280"/>
          </a:xfrm>
          <a:prstGeom prst="roundRect">
            <a:avLst>
              <a:gd name="adj" fmla="val 6667"/>
            </a:avLst>
          </a:prstGeom>
          <a:solidFill>
            <a:srgbClr val="EEF4FD"/>
          </a:solidFill>
          <a:ln w="12700">
            <a:solidFill>
              <a:srgbClr val="1F5BD6"/>
            </a:solidFill>
            <a:prstDash val="solid"/>
          </a:ln>
        </p:spPr>
        <p:txBody>
          <a:bodyPr/>
          <a:lstStyle/>
          <a:p>
            <a:endParaRPr lang="fr-FR"/>
          </a:p>
        </p:txBody>
      </p:sp>
      <p:sp>
        <p:nvSpPr>
          <p:cNvPr id="27" name="Text 25"/>
          <p:cNvSpPr txBox="1"/>
          <p:nvPr/>
        </p:nvSpPr>
        <p:spPr>
          <a:xfrm>
            <a:off x="393192" y="3063240"/>
            <a:ext cx="2551176" cy="1097280"/>
          </a:xfrm>
          <a:prstGeom prst="rect">
            <a:avLst/>
          </a:prstGeom>
          <a:noFill/>
          <a:ln/>
        </p:spPr>
        <p:txBody>
          <a:bodyPr wrap="square" lIns="0" tIns="0" rIns="0" bIns="0" rtlCol="0" anchor="ctr"/>
          <a:lstStyle/>
          <a:p>
            <a:pPr marL="0" indent="0" algn="ctr">
              <a:spcAft>
                <a:spcPts val="100"/>
              </a:spcAft>
              <a:buNone/>
            </a:pPr>
            <a:r>
              <a:rPr lang="en-US" sz="1150" b="1" dirty="0">
                <a:solidFill>
                  <a:srgbClr val="0012B5"/>
                </a:solidFill>
                <a:latin typeface="Verdana" pitchFamily="34" charset="0"/>
                <a:ea typeface="Verdana" pitchFamily="34" charset="-122"/>
                <a:cs typeface="Verdana" pitchFamily="34" charset="-120"/>
              </a:rPr>
              <a:t>Commande hors plateforme</a:t>
            </a:r>
            <a:endParaRPr lang="en-US" sz="1250" dirty="0"/>
          </a:p>
          <a:p>
            <a:pPr marL="0" indent="0" algn="ctr">
              <a:spcAft>
                <a:spcPts val="100"/>
              </a:spcAft>
              <a:buNone/>
            </a:pPr>
            <a:r>
              <a:rPr lang="en-US" sz="950" dirty="0">
                <a:solidFill>
                  <a:srgbClr val="3A4658"/>
                </a:solidFill>
                <a:latin typeface="Verdana" pitchFamily="34" charset="0"/>
                <a:ea typeface="Verdana" pitchFamily="34" charset="-122"/>
                <a:cs typeface="Verdana" pitchFamily="34" charset="-120"/>
              </a:rPr>
              <a:t>recherche, projet d’intérêt général ou soutien à l’innovation — recours obligatoire à la plateforme dès qu’un professionnel est mobilisé ou que du matériel de la structure est utilisé</a:t>
            </a:r>
            <a:endParaRPr lang="en-US" sz="1250" dirty="0"/>
          </a:p>
        </p:txBody>
      </p:sp>
      <p:sp>
        <p:nvSpPr>
          <p:cNvPr id="28" name="Shape 26"/>
          <p:cNvSpPr/>
          <p:nvPr/>
        </p:nvSpPr>
        <p:spPr>
          <a:xfrm>
            <a:off x="3474720" y="2761488"/>
            <a:ext cx="914" cy="850392"/>
          </a:xfrm>
          <a:prstGeom prst="line">
            <a:avLst/>
          </a:prstGeom>
          <a:noFill/>
          <a:ln w="15875">
            <a:solidFill>
              <a:srgbClr val="1F5BD6"/>
            </a:solidFill>
            <a:prstDash val="solid"/>
          </a:ln>
        </p:spPr>
        <p:txBody>
          <a:bodyPr/>
          <a:lstStyle/>
          <a:p>
            <a:endParaRPr lang="fr-FR"/>
          </a:p>
        </p:txBody>
      </p:sp>
      <p:sp>
        <p:nvSpPr>
          <p:cNvPr id="29" name="Shape 27"/>
          <p:cNvSpPr/>
          <p:nvPr/>
        </p:nvSpPr>
        <p:spPr>
          <a:xfrm>
            <a:off x="3474720" y="3611880"/>
            <a:ext cx="1371600" cy="914"/>
          </a:xfrm>
          <a:prstGeom prst="line">
            <a:avLst/>
          </a:prstGeom>
          <a:noFill/>
          <a:ln w="15875">
            <a:solidFill>
              <a:srgbClr val="1F5BD6"/>
            </a:solidFill>
            <a:prstDash val="solid"/>
            <a:tailEnd type="triangle"/>
          </a:ln>
        </p:spPr>
        <p:txBody>
          <a:bodyPr/>
          <a:lstStyle/>
          <a:p>
            <a:endParaRPr lang="fr-FR"/>
          </a:p>
        </p:txBody>
      </p:sp>
      <p:sp>
        <p:nvSpPr>
          <p:cNvPr id="30" name="Shape 28"/>
          <p:cNvSpPr/>
          <p:nvPr/>
        </p:nvSpPr>
        <p:spPr>
          <a:xfrm>
            <a:off x="3995928" y="3511296"/>
            <a:ext cx="237744" cy="201168"/>
          </a:xfrm>
          <a:prstGeom prst="roundRect">
            <a:avLst>
              <a:gd name="adj" fmla="val 18182"/>
            </a:avLst>
          </a:prstGeom>
          <a:solidFill>
            <a:srgbClr val="FFFFFF"/>
          </a:solidFill>
          <a:ln w="12700">
            <a:solidFill>
              <a:srgbClr val="1F5BD6"/>
            </a:solidFill>
            <a:prstDash val="solid"/>
          </a:ln>
        </p:spPr>
        <p:txBody>
          <a:bodyPr/>
          <a:lstStyle/>
          <a:p>
            <a:endParaRPr lang="fr-FR"/>
          </a:p>
        </p:txBody>
      </p:sp>
      <p:sp>
        <p:nvSpPr>
          <p:cNvPr id="31" name="Text 29"/>
          <p:cNvSpPr txBox="1"/>
          <p:nvPr/>
        </p:nvSpPr>
        <p:spPr>
          <a:xfrm>
            <a:off x="3995928" y="3511296"/>
            <a:ext cx="237744" cy="201168"/>
          </a:xfrm>
          <a:prstGeom prst="rect">
            <a:avLst/>
          </a:prstGeom>
          <a:noFill/>
          <a:ln/>
        </p:spPr>
        <p:txBody>
          <a:bodyPr wrap="square" lIns="0" tIns="0" rIns="0" bIns="0" rtlCol="0" anchor="ctr"/>
          <a:lstStyle/>
          <a:p>
            <a:pPr marL="0" indent="0" algn="ctr">
              <a:buNone/>
            </a:pPr>
            <a:r>
              <a:rPr lang="en-US" sz="1000" b="1" dirty="0">
                <a:solidFill>
                  <a:srgbClr val="0012B5"/>
                </a:solidFill>
                <a:latin typeface="Verdana" pitchFamily="34" charset="0"/>
                <a:ea typeface="Verdana" pitchFamily="34" charset="-122"/>
                <a:cs typeface="Verdana" pitchFamily="34" charset="-120"/>
              </a:rPr>
              <a:t>€</a:t>
            </a:r>
            <a:endParaRPr lang="en-US" sz="1000" dirty="0"/>
          </a:p>
        </p:txBody>
      </p:sp>
      <p:sp>
        <p:nvSpPr>
          <p:cNvPr id="32" name="Text 30"/>
          <p:cNvSpPr txBox="1"/>
          <p:nvPr/>
        </p:nvSpPr>
        <p:spPr>
          <a:xfrm>
            <a:off x="3566160" y="2834640"/>
            <a:ext cx="2194560" cy="548640"/>
          </a:xfrm>
          <a:prstGeom prst="rect">
            <a:avLst/>
          </a:prstGeom>
          <a:noFill/>
          <a:ln/>
        </p:spPr>
        <p:txBody>
          <a:bodyPr wrap="square" lIns="0" tIns="0" rIns="0" bIns="0" rtlCol="0" anchor="t"/>
          <a:lstStyle/>
          <a:p>
            <a:pPr marL="0" indent="0">
              <a:buNone/>
            </a:pPr>
            <a:r>
              <a:rPr lang="en-US" sz="850" i="1" dirty="0">
                <a:solidFill>
                  <a:srgbClr val="66728A"/>
                </a:solidFill>
                <a:latin typeface="Verdana" pitchFamily="34" charset="0"/>
                <a:ea typeface="Verdana" pitchFamily="34" charset="-122"/>
                <a:cs typeface="Verdana" pitchFamily="34" charset="-120"/>
              </a:rPr>
              <a:t>missions destinées aux professionnels, publiées sur la plateforme et financées par l’enveloppe du programme</a:t>
            </a:r>
            <a:endParaRPr lang="en-US" sz="850" dirty="0"/>
          </a:p>
        </p:txBody>
      </p:sp>
      <p:sp>
        <p:nvSpPr>
          <p:cNvPr id="33" name="Shape 31"/>
          <p:cNvSpPr/>
          <p:nvPr/>
        </p:nvSpPr>
        <p:spPr>
          <a:xfrm>
            <a:off x="9372600" y="2871216"/>
            <a:ext cx="914" cy="265176"/>
          </a:xfrm>
          <a:prstGeom prst="line">
            <a:avLst/>
          </a:prstGeom>
          <a:noFill/>
          <a:ln w="15875">
            <a:solidFill>
              <a:srgbClr val="1F5BD6"/>
            </a:solidFill>
            <a:prstDash val="solid"/>
          </a:ln>
        </p:spPr>
        <p:txBody>
          <a:bodyPr/>
          <a:lstStyle/>
          <a:p>
            <a:endParaRPr lang="fr-FR"/>
          </a:p>
        </p:txBody>
      </p:sp>
      <p:sp>
        <p:nvSpPr>
          <p:cNvPr id="34" name="Shape 32"/>
          <p:cNvSpPr/>
          <p:nvPr/>
        </p:nvSpPr>
        <p:spPr>
          <a:xfrm>
            <a:off x="9253728" y="2889504"/>
            <a:ext cx="237744" cy="201168"/>
          </a:xfrm>
          <a:prstGeom prst="roundRect">
            <a:avLst>
              <a:gd name="adj" fmla="val 18182"/>
            </a:avLst>
          </a:prstGeom>
          <a:solidFill>
            <a:srgbClr val="FFFFFF"/>
          </a:solidFill>
          <a:ln w="12700">
            <a:solidFill>
              <a:srgbClr val="1F5BD6"/>
            </a:solidFill>
            <a:prstDash val="solid"/>
          </a:ln>
        </p:spPr>
        <p:txBody>
          <a:bodyPr/>
          <a:lstStyle/>
          <a:p>
            <a:endParaRPr lang="fr-FR"/>
          </a:p>
        </p:txBody>
      </p:sp>
      <p:sp>
        <p:nvSpPr>
          <p:cNvPr id="35" name="Text 33"/>
          <p:cNvSpPr txBox="1"/>
          <p:nvPr/>
        </p:nvSpPr>
        <p:spPr>
          <a:xfrm>
            <a:off x="9253728" y="2889504"/>
            <a:ext cx="237744" cy="201168"/>
          </a:xfrm>
          <a:prstGeom prst="rect">
            <a:avLst/>
          </a:prstGeom>
          <a:noFill/>
          <a:ln/>
        </p:spPr>
        <p:txBody>
          <a:bodyPr wrap="square" lIns="0" tIns="0" rIns="0" bIns="0" rtlCol="0" anchor="ctr"/>
          <a:lstStyle/>
          <a:p>
            <a:pPr marL="0" indent="0" algn="ctr">
              <a:buNone/>
            </a:pPr>
            <a:r>
              <a:rPr lang="en-US" sz="1000" b="1" dirty="0">
                <a:solidFill>
                  <a:srgbClr val="0012B5"/>
                </a:solidFill>
                <a:latin typeface="Verdana" pitchFamily="34" charset="0"/>
                <a:ea typeface="Verdana" pitchFamily="34" charset="-122"/>
                <a:cs typeface="Verdana" pitchFamily="34" charset="-120"/>
              </a:rPr>
              <a:t>€</a:t>
            </a:r>
            <a:endParaRPr lang="en-US" sz="1000" dirty="0"/>
          </a:p>
        </p:txBody>
      </p:sp>
      <p:sp>
        <p:nvSpPr>
          <p:cNvPr id="36" name="Shape 34"/>
          <p:cNvSpPr/>
          <p:nvPr/>
        </p:nvSpPr>
        <p:spPr>
          <a:xfrm flipH="1">
            <a:off x="6812280" y="3136392"/>
            <a:ext cx="2560320" cy="914"/>
          </a:xfrm>
          <a:prstGeom prst="line">
            <a:avLst/>
          </a:prstGeom>
          <a:noFill/>
          <a:ln w="15875">
            <a:solidFill>
              <a:srgbClr val="1F5BD6"/>
            </a:solidFill>
            <a:prstDash val="solid"/>
          </a:ln>
        </p:spPr>
        <p:txBody>
          <a:bodyPr/>
          <a:lstStyle/>
          <a:p>
            <a:endParaRPr lang="fr-FR"/>
          </a:p>
        </p:txBody>
      </p:sp>
      <p:sp>
        <p:nvSpPr>
          <p:cNvPr id="37" name="Shape 35"/>
          <p:cNvSpPr/>
          <p:nvPr/>
        </p:nvSpPr>
        <p:spPr>
          <a:xfrm>
            <a:off x="6812280" y="3136392"/>
            <a:ext cx="914" cy="109728"/>
          </a:xfrm>
          <a:prstGeom prst="line">
            <a:avLst/>
          </a:prstGeom>
          <a:noFill/>
          <a:ln w="15875">
            <a:solidFill>
              <a:srgbClr val="1F5BD6"/>
            </a:solidFill>
            <a:prstDash val="solid"/>
            <a:tailEnd type="triangle"/>
          </a:ln>
        </p:spPr>
        <p:txBody>
          <a:bodyPr/>
          <a:lstStyle/>
          <a:p>
            <a:endParaRPr lang="fr-FR"/>
          </a:p>
        </p:txBody>
      </p:sp>
      <p:sp>
        <p:nvSpPr>
          <p:cNvPr id="38" name="Text 36"/>
          <p:cNvSpPr txBox="1"/>
          <p:nvPr/>
        </p:nvSpPr>
        <p:spPr>
          <a:xfrm>
            <a:off x="6949440" y="2926080"/>
            <a:ext cx="1737360" cy="182880"/>
          </a:xfrm>
          <a:prstGeom prst="rect">
            <a:avLst/>
          </a:prstGeom>
          <a:noFill/>
          <a:ln/>
        </p:spPr>
        <p:txBody>
          <a:bodyPr wrap="square" lIns="0" tIns="0" rIns="0" bIns="0" rtlCol="0" anchor="t"/>
          <a:lstStyle/>
          <a:p>
            <a:pPr marL="0" indent="0">
              <a:buNone/>
            </a:pPr>
            <a:r>
              <a:rPr lang="en-US" sz="850" i="1" dirty="0">
                <a:solidFill>
                  <a:srgbClr val="66728A"/>
                </a:solidFill>
                <a:latin typeface="Verdana" pitchFamily="34" charset="0"/>
                <a:ea typeface="Verdana" pitchFamily="34" charset="-122"/>
                <a:cs typeface="Verdana" pitchFamily="34" charset="-120"/>
              </a:rPr>
              <a:t>finance la plateforme</a:t>
            </a:r>
            <a:endParaRPr lang="en-US" sz="850" dirty="0"/>
          </a:p>
        </p:txBody>
      </p:sp>
      <p:sp>
        <p:nvSpPr>
          <p:cNvPr id="39" name="Shape 37"/>
          <p:cNvSpPr/>
          <p:nvPr/>
        </p:nvSpPr>
        <p:spPr>
          <a:xfrm>
            <a:off x="4846320" y="3246120"/>
            <a:ext cx="2514600" cy="1188720"/>
          </a:xfrm>
          <a:prstGeom prst="roundRect">
            <a:avLst>
              <a:gd name="adj" fmla="val 6154"/>
            </a:avLst>
          </a:prstGeom>
          <a:solidFill>
            <a:srgbClr val="0012B5"/>
          </a:solidFill>
          <a:ln w="12700">
            <a:solidFill>
              <a:srgbClr val="0012B5"/>
            </a:solidFill>
            <a:prstDash val="solid"/>
          </a:ln>
        </p:spPr>
        <p:txBody>
          <a:bodyPr/>
          <a:lstStyle/>
          <a:p>
            <a:endParaRPr lang="fr-FR"/>
          </a:p>
        </p:txBody>
      </p:sp>
      <p:sp>
        <p:nvSpPr>
          <p:cNvPr id="40" name="Text 38"/>
          <p:cNvSpPr txBox="1"/>
          <p:nvPr/>
        </p:nvSpPr>
        <p:spPr>
          <a:xfrm>
            <a:off x="4919472" y="3246120"/>
            <a:ext cx="2368296" cy="1188720"/>
          </a:xfrm>
          <a:prstGeom prst="rect">
            <a:avLst/>
          </a:prstGeom>
          <a:noFill/>
          <a:ln/>
        </p:spPr>
        <p:txBody>
          <a:bodyPr wrap="square" lIns="0" tIns="0" rIns="0" bIns="0" rtlCol="0" anchor="ctr"/>
          <a:lstStyle/>
          <a:p>
            <a:pPr marL="0" indent="0" algn="ctr">
              <a:spcAft>
                <a:spcPts val="100"/>
              </a:spcAft>
              <a:buNone/>
            </a:pPr>
            <a:r>
              <a:rPr lang="en-US" sz="1450" b="1" dirty="0">
                <a:solidFill>
                  <a:srgbClr val="FFFFFF"/>
                </a:solidFill>
                <a:latin typeface="Verdana" pitchFamily="34" charset="0"/>
                <a:ea typeface="Verdana" pitchFamily="34" charset="-122"/>
                <a:cs typeface="Verdana" pitchFamily="34" charset="-120"/>
              </a:rPr>
              <a:t>MARE SERVICES</a:t>
            </a:r>
            <a:endParaRPr lang="en-US" sz="1250" dirty="0"/>
          </a:p>
          <a:p>
            <a:pPr marL="0" indent="0" algn="ctr">
              <a:spcAft>
                <a:spcPts val="100"/>
              </a:spcAft>
              <a:buNone/>
            </a:pPr>
            <a:r>
              <a:rPr lang="en-US" sz="950" dirty="0">
                <a:solidFill>
                  <a:srgbClr val="D5E2FA"/>
                </a:solidFill>
                <a:latin typeface="Verdana" pitchFamily="34" charset="0"/>
                <a:ea typeface="Verdana" pitchFamily="34" charset="-122"/>
                <a:cs typeface="Verdana" pitchFamily="34" charset="-120"/>
              </a:rPr>
              <a:t>plateforme de services</a:t>
            </a:r>
            <a:endParaRPr lang="en-US" sz="1250" dirty="0"/>
          </a:p>
          <a:p>
            <a:pPr marL="0" indent="0" algn="ctr">
              <a:spcAft>
                <a:spcPts val="100"/>
              </a:spcAft>
              <a:buNone/>
            </a:pPr>
            <a:r>
              <a:rPr lang="en-US" sz="950" dirty="0">
                <a:solidFill>
                  <a:srgbClr val="D5E2FA"/>
                </a:solidFill>
                <a:latin typeface="Verdana" pitchFamily="34" charset="0"/>
                <a:ea typeface="Verdana" pitchFamily="34" charset="-122"/>
                <a:cs typeface="Verdana" pitchFamily="34" charset="-120"/>
              </a:rPr>
              <a:t>encaisse · redistribue</a:t>
            </a:r>
            <a:endParaRPr lang="en-US" sz="1250" dirty="0"/>
          </a:p>
        </p:txBody>
      </p:sp>
      <p:sp>
        <p:nvSpPr>
          <p:cNvPr id="41" name="Text 39"/>
          <p:cNvSpPr txBox="1"/>
          <p:nvPr/>
        </p:nvSpPr>
        <p:spPr>
          <a:xfrm>
            <a:off x="8138160" y="3246120"/>
            <a:ext cx="2286000" cy="164592"/>
          </a:xfrm>
          <a:prstGeom prst="rect">
            <a:avLst/>
          </a:prstGeom>
          <a:noFill/>
          <a:ln/>
        </p:spPr>
        <p:txBody>
          <a:bodyPr wrap="square" lIns="0" tIns="0" rIns="0" bIns="0" rtlCol="0" anchor="t"/>
          <a:lstStyle/>
          <a:p>
            <a:pPr marL="0" indent="0">
              <a:buNone/>
            </a:pPr>
            <a:r>
              <a:rPr lang="en-US" sz="850" b="1" kern="0" spc="100" dirty="0">
                <a:solidFill>
                  <a:srgbClr val="00A7B5"/>
                </a:solidFill>
                <a:latin typeface="Verdana" pitchFamily="34" charset="0"/>
                <a:ea typeface="Verdana" pitchFamily="34" charset="-122"/>
                <a:cs typeface="Verdana" pitchFamily="34" charset="-120"/>
              </a:rPr>
              <a:t>DEMANDE EXTÉRIEURE</a:t>
            </a:r>
            <a:endParaRPr lang="en-US" sz="850" dirty="0"/>
          </a:p>
        </p:txBody>
      </p:sp>
      <p:sp>
        <p:nvSpPr>
          <p:cNvPr id="42" name="Shape 40"/>
          <p:cNvSpPr/>
          <p:nvPr/>
        </p:nvSpPr>
        <p:spPr>
          <a:xfrm>
            <a:off x="8138160" y="3438144"/>
            <a:ext cx="3108960" cy="347472"/>
          </a:xfrm>
          <a:prstGeom prst="roundRect">
            <a:avLst>
              <a:gd name="adj" fmla="val 21053"/>
            </a:avLst>
          </a:prstGeom>
          <a:solidFill>
            <a:srgbClr val="EEF4FD"/>
          </a:solidFill>
          <a:ln w="12700">
            <a:solidFill>
              <a:srgbClr val="1F5BD6"/>
            </a:solidFill>
            <a:prstDash val="solid"/>
          </a:ln>
        </p:spPr>
        <p:txBody>
          <a:bodyPr/>
          <a:lstStyle/>
          <a:p>
            <a:endParaRPr lang="fr-FR"/>
          </a:p>
        </p:txBody>
      </p:sp>
      <p:sp>
        <p:nvSpPr>
          <p:cNvPr id="43" name="Text 41"/>
          <p:cNvSpPr txBox="1"/>
          <p:nvPr/>
        </p:nvSpPr>
        <p:spPr>
          <a:xfrm>
            <a:off x="8211312" y="3438144"/>
            <a:ext cx="2962656" cy="347472"/>
          </a:xfrm>
          <a:prstGeom prst="rect">
            <a:avLst/>
          </a:prstGeom>
          <a:noFill/>
          <a:ln/>
        </p:spPr>
        <p:txBody>
          <a:bodyPr wrap="square" lIns="0" tIns="0" rIns="0" bIns="0" rtlCol="0" anchor="ctr"/>
          <a:lstStyle/>
          <a:p>
            <a:pPr marL="0" indent="0" algn="ctr">
              <a:spcAft>
                <a:spcPts val="100"/>
              </a:spcAft>
              <a:buNone/>
            </a:pPr>
            <a:r>
              <a:rPr lang="en-US" sz="1150" b="1" dirty="0">
                <a:solidFill>
                  <a:srgbClr val="0012B5"/>
                </a:solidFill>
                <a:latin typeface="Verdana" pitchFamily="34" charset="0"/>
                <a:ea typeface="Verdana" pitchFamily="34" charset="-122"/>
                <a:cs typeface="Verdana" pitchFamily="34" charset="-120"/>
              </a:rPr>
              <a:t>Touristes</a:t>
            </a:r>
            <a:endParaRPr lang="en-US" sz="1250" dirty="0"/>
          </a:p>
          <a:p>
            <a:pPr marL="0" indent="0" algn="ctr">
              <a:spcAft>
                <a:spcPts val="100"/>
              </a:spcAft>
              <a:buNone/>
            </a:pPr>
            <a:r>
              <a:rPr lang="en-US" sz="950" dirty="0">
                <a:solidFill>
                  <a:srgbClr val="3A4658"/>
                </a:solidFill>
                <a:latin typeface="Verdana" pitchFamily="34" charset="0"/>
                <a:ea typeface="Verdana" pitchFamily="34" charset="-122"/>
                <a:cs typeface="Verdana" pitchFamily="34" charset="-120"/>
              </a:rPr>
              <a:t>pêche-tourisme</a:t>
            </a:r>
            <a:endParaRPr lang="en-US" sz="1250" dirty="0"/>
          </a:p>
        </p:txBody>
      </p:sp>
      <p:sp>
        <p:nvSpPr>
          <p:cNvPr id="44" name="Shape 42"/>
          <p:cNvSpPr/>
          <p:nvPr/>
        </p:nvSpPr>
        <p:spPr>
          <a:xfrm flipH="1">
            <a:off x="7360920" y="3611880"/>
            <a:ext cx="777240" cy="914"/>
          </a:xfrm>
          <a:prstGeom prst="line">
            <a:avLst/>
          </a:prstGeom>
          <a:noFill/>
          <a:ln w="15875">
            <a:solidFill>
              <a:srgbClr val="1F5BD6"/>
            </a:solidFill>
            <a:prstDash val="solid"/>
            <a:tailEnd type="triangle"/>
          </a:ln>
        </p:spPr>
        <p:txBody>
          <a:bodyPr/>
          <a:lstStyle/>
          <a:p>
            <a:endParaRPr lang="fr-FR"/>
          </a:p>
        </p:txBody>
      </p:sp>
      <p:sp>
        <p:nvSpPr>
          <p:cNvPr id="45" name="Shape 43"/>
          <p:cNvSpPr/>
          <p:nvPr/>
        </p:nvSpPr>
        <p:spPr>
          <a:xfrm>
            <a:off x="7626096" y="3511296"/>
            <a:ext cx="237744" cy="201168"/>
          </a:xfrm>
          <a:prstGeom prst="roundRect">
            <a:avLst>
              <a:gd name="adj" fmla="val 18182"/>
            </a:avLst>
          </a:prstGeom>
          <a:solidFill>
            <a:srgbClr val="FFFFFF"/>
          </a:solidFill>
          <a:ln w="12700">
            <a:solidFill>
              <a:srgbClr val="1F5BD6"/>
            </a:solidFill>
            <a:prstDash val="solid"/>
          </a:ln>
        </p:spPr>
        <p:txBody>
          <a:bodyPr/>
          <a:lstStyle/>
          <a:p>
            <a:endParaRPr lang="fr-FR"/>
          </a:p>
        </p:txBody>
      </p:sp>
      <p:sp>
        <p:nvSpPr>
          <p:cNvPr id="46" name="Text 44"/>
          <p:cNvSpPr txBox="1"/>
          <p:nvPr/>
        </p:nvSpPr>
        <p:spPr>
          <a:xfrm>
            <a:off x="7626096" y="3511296"/>
            <a:ext cx="237744" cy="201168"/>
          </a:xfrm>
          <a:prstGeom prst="rect">
            <a:avLst/>
          </a:prstGeom>
          <a:noFill/>
          <a:ln/>
        </p:spPr>
        <p:txBody>
          <a:bodyPr wrap="square" lIns="0" tIns="0" rIns="0" bIns="0" rtlCol="0" anchor="ctr"/>
          <a:lstStyle/>
          <a:p>
            <a:pPr marL="0" indent="0" algn="ctr">
              <a:buNone/>
            </a:pPr>
            <a:r>
              <a:rPr lang="en-US" sz="1000" b="1" dirty="0">
                <a:solidFill>
                  <a:srgbClr val="0012B5"/>
                </a:solidFill>
                <a:latin typeface="Verdana" pitchFamily="34" charset="0"/>
                <a:ea typeface="Verdana" pitchFamily="34" charset="-122"/>
                <a:cs typeface="Verdana" pitchFamily="34" charset="-120"/>
              </a:rPr>
              <a:t>€</a:t>
            </a:r>
            <a:endParaRPr lang="en-US" sz="1000" dirty="0"/>
          </a:p>
        </p:txBody>
      </p:sp>
      <p:sp>
        <p:nvSpPr>
          <p:cNvPr id="47" name="Shape 45"/>
          <p:cNvSpPr/>
          <p:nvPr/>
        </p:nvSpPr>
        <p:spPr>
          <a:xfrm>
            <a:off x="8138160" y="3822192"/>
            <a:ext cx="3108960" cy="347472"/>
          </a:xfrm>
          <a:prstGeom prst="roundRect">
            <a:avLst>
              <a:gd name="adj" fmla="val 21053"/>
            </a:avLst>
          </a:prstGeom>
          <a:solidFill>
            <a:srgbClr val="EEF4FD"/>
          </a:solidFill>
          <a:ln w="12700">
            <a:solidFill>
              <a:srgbClr val="1F5BD6"/>
            </a:solidFill>
            <a:prstDash val="solid"/>
          </a:ln>
        </p:spPr>
        <p:txBody>
          <a:bodyPr/>
          <a:lstStyle/>
          <a:p>
            <a:endParaRPr lang="fr-FR"/>
          </a:p>
        </p:txBody>
      </p:sp>
      <p:sp>
        <p:nvSpPr>
          <p:cNvPr id="48" name="Text 46"/>
          <p:cNvSpPr txBox="1"/>
          <p:nvPr/>
        </p:nvSpPr>
        <p:spPr>
          <a:xfrm>
            <a:off x="8211312" y="3822192"/>
            <a:ext cx="2962656" cy="347472"/>
          </a:xfrm>
          <a:prstGeom prst="rect">
            <a:avLst/>
          </a:prstGeom>
          <a:noFill/>
          <a:ln/>
        </p:spPr>
        <p:txBody>
          <a:bodyPr wrap="square" lIns="0" tIns="0" rIns="0" bIns="0" rtlCol="0" anchor="ctr"/>
          <a:lstStyle/>
          <a:p>
            <a:pPr marL="0" indent="0" algn="ctr">
              <a:spcAft>
                <a:spcPts val="100"/>
              </a:spcAft>
              <a:buNone/>
            </a:pPr>
            <a:r>
              <a:rPr lang="en-US" sz="1150" b="1" dirty="0">
                <a:solidFill>
                  <a:srgbClr val="0012B5"/>
                </a:solidFill>
                <a:latin typeface="Verdana" pitchFamily="34" charset="0"/>
                <a:ea typeface="Verdana" pitchFamily="34" charset="-122"/>
                <a:cs typeface="Verdana" pitchFamily="34" charset="-120"/>
              </a:rPr>
              <a:t>Bureaux d’études</a:t>
            </a:r>
            <a:endParaRPr lang="en-US" sz="1250" dirty="0"/>
          </a:p>
          <a:p>
            <a:pPr marL="0" indent="0" algn="ctr">
              <a:spcAft>
                <a:spcPts val="100"/>
              </a:spcAft>
              <a:buNone/>
            </a:pPr>
            <a:r>
              <a:rPr lang="en-US" sz="950" dirty="0">
                <a:solidFill>
                  <a:srgbClr val="3A4658"/>
                </a:solidFill>
                <a:latin typeface="Verdana" pitchFamily="34" charset="0"/>
                <a:ea typeface="Verdana" pitchFamily="34" charset="-122"/>
                <a:cs typeface="Verdana" pitchFamily="34" charset="-120"/>
              </a:rPr>
              <a:t>données en mer</a:t>
            </a:r>
            <a:endParaRPr lang="en-US" sz="1250" dirty="0"/>
          </a:p>
        </p:txBody>
      </p:sp>
      <p:sp>
        <p:nvSpPr>
          <p:cNvPr id="49" name="Shape 47"/>
          <p:cNvSpPr/>
          <p:nvPr/>
        </p:nvSpPr>
        <p:spPr>
          <a:xfrm flipH="1">
            <a:off x="7360920" y="3995928"/>
            <a:ext cx="777240" cy="914"/>
          </a:xfrm>
          <a:prstGeom prst="line">
            <a:avLst/>
          </a:prstGeom>
          <a:noFill/>
          <a:ln w="15875">
            <a:solidFill>
              <a:srgbClr val="1F5BD6"/>
            </a:solidFill>
            <a:prstDash val="solid"/>
            <a:tailEnd type="triangle"/>
          </a:ln>
        </p:spPr>
        <p:txBody>
          <a:bodyPr/>
          <a:lstStyle/>
          <a:p>
            <a:endParaRPr lang="fr-FR"/>
          </a:p>
        </p:txBody>
      </p:sp>
      <p:sp>
        <p:nvSpPr>
          <p:cNvPr id="50" name="Shape 48"/>
          <p:cNvSpPr/>
          <p:nvPr/>
        </p:nvSpPr>
        <p:spPr>
          <a:xfrm>
            <a:off x="7626096" y="3895344"/>
            <a:ext cx="237744" cy="201168"/>
          </a:xfrm>
          <a:prstGeom prst="roundRect">
            <a:avLst>
              <a:gd name="adj" fmla="val 18182"/>
            </a:avLst>
          </a:prstGeom>
          <a:solidFill>
            <a:srgbClr val="FFFFFF"/>
          </a:solidFill>
          <a:ln w="12700">
            <a:solidFill>
              <a:srgbClr val="1F5BD6"/>
            </a:solidFill>
            <a:prstDash val="solid"/>
          </a:ln>
        </p:spPr>
        <p:txBody>
          <a:bodyPr/>
          <a:lstStyle/>
          <a:p>
            <a:endParaRPr lang="fr-FR"/>
          </a:p>
        </p:txBody>
      </p:sp>
      <p:sp>
        <p:nvSpPr>
          <p:cNvPr id="51" name="Text 49"/>
          <p:cNvSpPr txBox="1"/>
          <p:nvPr/>
        </p:nvSpPr>
        <p:spPr>
          <a:xfrm>
            <a:off x="7626096" y="3895344"/>
            <a:ext cx="237744" cy="201168"/>
          </a:xfrm>
          <a:prstGeom prst="rect">
            <a:avLst/>
          </a:prstGeom>
          <a:noFill/>
          <a:ln/>
        </p:spPr>
        <p:txBody>
          <a:bodyPr wrap="square" lIns="0" tIns="0" rIns="0" bIns="0" rtlCol="0" anchor="ctr"/>
          <a:lstStyle/>
          <a:p>
            <a:pPr marL="0" indent="0" algn="ctr">
              <a:buNone/>
            </a:pPr>
            <a:r>
              <a:rPr lang="en-US" sz="1000" b="1" dirty="0">
                <a:solidFill>
                  <a:srgbClr val="0012B5"/>
                </a:solidFill>
                <a:latin typeface="Verdana" pitchFamily="34" charset="0"/>
                <a:ea typeface="Verdana" pitchFamily="34" charset="-122"/>
                <a:cs typeface="Verdana" pitchFamily="34" charset="-120"/>
              </a:rPr>
              <a:t>€</a:t>
            </a:r>
            <a:endParaRPr lang="en-US" sz="1000" dirty="0"/>
          </a:p>
        </p:txBody>
      </p:sp>
      <p:sp>
        <p:nvSpPr>
          <p:cNvPr id="52" name="Shape 50"/>
          <p:cNvSpPr/>
          <p:nvPr/>
        </p:nvSpPr>
        <p:spPr>
          <a:xfrm>
            <a:off x="8138160" y="4206240"/>
            <a:ext cx="3108960" cy="347472"/>
          </a:xfrm>
          <a:prstGeom prst="roundRect">
            <a:avLst>
              <a:gd name="adj" fmla="val 21053"/>
            </a:avLst>
          </a:prstGeom>
          <a:solidFill>
            <a:srgbClr val="EEF4FD"/>
          </a:solidFill>
          <a:ln w="12700">
            <a:solidFill>
              <a:srgbClr val="1F5BD6"/>
            </a:solidFill>
            <a:prstDash val="solid"/>
          </a:ln>
        </p:spPr>
        <p:txBody>
          <a:bodyPr/>
          <a:lstStyle/>
          <a:p>
            <a:endParaRPr lang="fr-FR"/>
          </a:p>
        </p:txBody>
      </p:sp>
      <p:sp>
        <p:nvSpPr>
          <p:cNvPr id="53" name="Text 51"/>
          <p:cNvSpPr txBox="1"/>
          <p:nvPr/>
        </p:nvSpPr>
        <p:spPr>
          <a:xfrm>
            <a:off x="8211312" y="4206240"/>
            <a:ext cx="2962656" cy="347472"/>
          </a:xfrm>
          <a:prstGeom prst="rect">
            <a:avLst/>
          </a:prstGeom>
          <a:noFill/>
          <a:ln/>
        </p:spPr>
        <p:txBody>
          <a:bodyPr wrap="square" lIns="0" tIns="0" rIns="0" bIns="0" rtlCol="0" anchor="ctr"/>
          <a:lstStyle/>
          <a:p>
            <a:pPr marL="0" indent="0" algn="ctr">
              <a:spcAft>
                <a:spcPts val="100"/>
              </a:spcAft>
              <a:buNone/>
            </a:pPr>
            <a:r>
              <a:rPr lang="en-US" sz="1150" b="1" dirty="0">
                <a:solidFill>
                  <a:srgbClr val="0012B5"/>
                </a:solidFill>
                <a:latin typeface="Verdana" pitchFamily="34" charset="0"/>
                <a:ea typeface="Verdana" pitchFamily="34" charset="-122"/>
                <a:cs typeface="Verdana" pitchFamily="34" charset="-120"/>
              </a:rPr>
              <a:t>Instituts de recherche</a:t>
            </a:r>
            <a:endParaRPr lang="en-US" sz="1250" dirty="0"/>
          </a:p>
          <a:p>
            <a:pPr marL="0" indent="0" algn="ctr">
              <a:spcAft>
                <a:spcPts val="100"/>
              </a:spcAft>
              <a:buNone/>
            </a:pPr>
            <a:r>
              <a:rPr lang="en-US" sz="950" dirty="0">
                <a:solidFill>
                  <a:srgbClr val="3A4658"/>
                </a:solidFill>
                <a:latin typeface="Verdana" pitchFamily="34" charset="0"/>
                <a:ea typeface="Verdana" pitchFamily="34" charset="-122"/>
                <a:cs typeface="Verdana" pitchFamily="34" charset="-120"/>
              </a:rPr>
              <a:t>campagnes</a:t>
            </a:r>
            <a:endParaRPr lang="en-US" sz="1250" dirty="0"/>
          </a:p>
        </p:txBody>
      </p:sp>
      <p:sp>
        <p:nvSpPr>
          <p:cNvPr id="54" name="Shape 52"/>
          <p:cNvSpPr/>
          <p:nvPr/>
        </p:nvSpPr>
        <p:spPr>
          <a:xfrm flipH="1">
            <a:off x="7360920" y="4379976"/>
            <a:ext cx="777240" cy="914"/>
          </a:xfrm>
          <a:prstGeom prst="line">
            <a:avLst/>
          </a:prstGeom>
          <a:noFill/>
          <a:ln w="15875">
            <a:solidFill>
              <a:srgbClr val="1F5BD6"/>
            </a:solidFill>
            <a:prstDash val="solid"/>
            <a:tailEnd type="triangle"/>
          </a:ln>
        </p:spPr>
        <p:txBody>
          <a:bodyPr/>
          <a:lstStyle/>
          <a:p>
            <a:endParaRPr lang="fr-FR"/>
          </a:p>
        </p:txBody>
      </p:sp>
      <p:sp>
        <p:nvSpPr>
          <p:cNvPr id="55" name="Shape 53"/>
          <p:cNvSpPr/>
          <p:nvPr/>
        </p:nvSpPr>
        <p:spPr>
          <a:xfrm>
            <a:off x="7626096" y="4279392"/>
            <a:ext cx="237744" cy="201168"/>
          </a:xfrm>
          <a:prstGeom prst="roundRect">
            <a:avLst>
              <a:gd name="adj" fmla="val 18182"/>
            </a:avLst>
          </a:prstGeom>
          <a:solidFill>
            <a:srgbClr val="FFFFFF"/>
          </a:solidFill>
          <a:ln w="12700">
            <a:solidFill>
              <a:srgbClr val="1F5BD6"/>
            </a:solidFill>
            <a:prstDash val="solid"/>
          </a:ln>
        </p:spPr>
        <p:txBody>
          <a:bodyPr/>
          <a:lstStyle/>
          <a:p>
            <a:endParaRPr lang="fr-FR"/>
          </a:p>
        </p:txBody>
      </p:sp>
      <p:sp>
        <p:nvSpPr>
          <p:cNvPr id="56" name="Text 54"/>
          <p:cNvSpPr txBox="1"/>
          <p:nvPr/>
        </p:nvSpPr>
        <p:spPr>
          <a:xfrm>
            <a:off x="7626096" y="4279392"/>
            <a:ext cx="237744" cy="201168"/>
          </a:xfrm>
          <a:prstGeom prst="rect">
            <a:avLst/>
          </a:prstGeom>
          <a:noFill/>
          <a:ln/>
        </p:spPr>
        <p:txBody>
          <a:bodyPr wrap="square" lIns="0" tIns="0" rIns="0" bIns="0" rtlCol="0" anchor="ctr"/>
          <a:lstStyle/>
          <a:p>
            <a:pPr marL="0" indent="0" algn="ctr">
              <a:buNone/>
            </a:pPr>
            <a:r>
              <a:rPr lang="en-US" sz="1000" b="1" dirty="0">
                <a:solidFill>
                  <a:srgbClr val="0012B5"/>
                </a:solidFill>
                <a:latin typeface="Verdana" pitchFamily="34" charset="0"/>
                <a:ea typeface="Verdana" pitchFamily="34" charset="-122"/>
                <a:cs typeface="Verdana" pitchFamily="34" charset="-120"/>
              </a:rPr>
              <a:t>€</a:t>
            </a:r>
            <a:endParaRPr lang="en-US" sz="1000" dirty="0"/>
          </a:p>
        </p:txBody>
      </p:sp>
      <p:sp>
        <p:nvSpPr>
          <p:cNvPr id="57" name="Shape 55"/>
          <p:cNvSpPr/>
          <p:nvPr/>
        </p:nvSpPr>
        <p:spPr>
          <a:xfrm>
            <a:off x="868680" y="4160520"/>
            <a:ext cx="914" cy="731520"/>
          </a:xfrm>
          <a:prstGeom prst="line">
            <a:avLst/>
          </a:prstGeom>
          <a:noFill/>
          <a:ln w="15875">
            <a:solidFill>
              <a:srgbClr val="1F5BD6"/>
            </a:solidFill>
            <a:prstDash val="solid"/>
            <a:tailEnd type="triangle"/>
          </a:ln>
        </p:spPr>
        <p:txBody>
          <a:bodyPr/>
          <a:lstStyle/>
          <a:p>
            <a:endParaRPr lang="fr-FR"/>
          </a:p>
        </p:txBody>
      </p:sp>
      <p:sp>
        <p:nvSpPr>
          <p:cNvPr id="58" name="Shape 56"/>
          <p:cNvSpPr/>
          <p:nvPr/>
        </p:nvSpPr>
        <p:spPr>
          <a:xfrm>
            <a:off x="749808" y="4425696"/>
            <a:ext cx="237744" cy="201168"/>
          </a:xfrm>
          <a:prstGeom prst="roundRect">
            <a:avLst>
              <a:gd name="adj" fmla="val 18182"/>
            </a:avLst>
          </a:prstGeom>
          <a:solidFill>
            <a:srgbClr val="FFFFFF"/>
          </a:solidFill>
          <a:ln w="12700">
            <a:solidFill>
              <a:srgbClr val="1F5BD6"/>
            </a:solidFill>
            <a:prstDash val="solid"/>
          </a:ln>
        </p:spPr>
        <p:txBody>
          <a:bodyPr/>
          <a:lstStyle/>
          <a:p>
            <a:endParaRPr lang="fr-FR"/>
          </a:p>
        </p:txBody>
      </p:sp>
      <p:sp>
        <p:nvSpPr>
          <p:cNvPr id="59" name="Text 57"/>
          <p:cNvSpPr txBox="1"/>
          <p:nvPr/>
        </p:nvSpPr>
        <p:spPr>
          <a:xfrm>
            <a:off x="749808" y="4425696"/>
            <a:ext cx="237744" cy="201168"/>
          </a:xfrm>
          <a:prstGeom prst="rect">
            <a:avLst/>
          </a:prstGeom>
          <a:noFill/>
          <a:ln/>
        </p:spPr>
        <p:txBody>
          <a:bodyPr wrap="square" lIns="0" tIns="0" rIns="0" bIns="0" rtlCol="0" anchor="ctr"/>
          <a:lstStyle/>
          <a:p>
            <a:pPr marL="0" indent="0" algn="ctr">
              <a:buNone/>
            </a:pPr>
            <a:r>
              <a:rPr lang="en-US" sz="1000" b="1" dirty="0">
                <a:solidFill>
                  <a:srgbClr val="0012B5"/>
                </a:solidFill>
                <a:latin typeface="Verdana" pitchFamily="34" charset="0"/>
                <a:ea typeface="Verdana" pitchFamily="34" charset="-122"/>
                <a:cs typeface="Verdana" pitchFamily="34" charset="-120"/>
              </a:rPr>
              <a:t>€</a:t>
            </a:r>
            <a:endParaRPr lang="en-US" sz="1000" dirty="0"/>
          </a:p>
        </p:txBody>
      </p:sp>
      <p:sp>
        <p:nvSpPr>
          <p:cNvPr id="60" name="Shape 58"/>
          <p:cNvSpPr/>
          <p:nvPr/>
        </p:nvSpPr>
        <p:spPr>
          <a:xfrm>
            <a:off x="320040" y="4892040"/>
            <a:ext cx="2331720" cy="822960"/>
          </a:xfrm>
          <a:prstGeom prst="roundRect">
            <a:avLst>
              <a:gd name="adj" fmla="val 8889"/>
            </a:avLst>
          </a:prstGeom>
          <a:solidFill>
            <a:srgbClr val="EEF4FD"/>
          </a:solidFill>
          <a:ln w="12700">
            <a:solidFill>
              <a:srgbClr val="1F5BD6"/>
            </a:solidFill>
            <a:prstDash val="solid"/>
          </a:ln>
        </p:spPr>
        <p:txBody>
          <a:bodyPr/>
          <a:lstStyle/>
          <a:p>
            <a:endParaRPr lang="fr-FR"/>
          </a:p>
        </p:txBody>
      </p:sp>
      <p:sp>
        <p:nvSpPr>
          <p:cNvPr id="61" name="Text 59"/>
          <p:cNvSpPr txBox="1"/>
          <p:nvPr/>
        </p:nvSpPr>
        <p:spPr>
          <a:xfrm>
            <a:off x="393192" y="4892040"/>
            <a:ext cx="2185416" cy="822960"/>
          </a:xfrm>
          <a:prstGeom prst="rect">
            <a:avLst/>
          </a:prstGeom>
          <a:noFill/>
          <a:ln/>
        </p:spPr>
        <p:txBody>
          <a:bodyPr wrap="square" lIns="0" tIns="0" rIns="0" bIns="0" rtlCol="0" anchor="ctr"/>
          <a:lstStyle/>
          <a:p>
            <a:pPr marL="0" indent="0" algn="ctr">
              <a:spcAft>
                <a:spcPts val="100"/>
              </a:spcAft>
              <a:buNone/>
            </a:pPr>
            <a:r>
              <a:rPr lang="en-US" sz="1150" b="1" dirty="0">
                <a:solidFill>
                  <a:srgbClr val="0012B5"/>
                </a:solidFill>
                <a:latin typeface="Verdana" pitchFamily="34" charset="0"/>
                <a:ea typeface="Verdana" pitchFamily="34" charset="-122"/>
                <a:cs typeface="Verdana" pitchFamily="34" charset="-120"/>
              </a:rPr>
              <a:t>Dépenses du projet</a:t>
            </a:r>
            <a:endParaRPr lang="en-US" sz="1250" dirty="0"/>
          </a:p>
          <a:p>
            <a:pPr marL="0" indent="0" algn="ctr">
              <a:spcAft>
                <a:spcPts val="100"/>
              </a:spcAft>
              <a:buNone/>
            </a:pPr>
            <a:r>
              <a:rPr lang="en-US" sz="950" dirty="0">
                <a:solidFill>
                  <a:srgbClr val="3A4658"/>
                </a:solidFill>
                <a:latin typeface="Verdana" pitchFamily="34" charset="0"/>
                <a:ea typeface="Verdana" pitchFamily="34" charset="-122"/>
                <a:cs typeface="Verdana" pitchFamily="34" charset="-120"/>
              </a:rPr>
              <a:t>concours définitivement consommé, contrepartie en livrables, données et résultats scientifiques</a:t>
            </a:r>
            <a:endParaRPr lang="en-US" sz="1250" dirty="0"/>
          </a:p>
        </p:txBody>
      </p:sp>
      <p:sp>
        <p:nvSpPr>
          <p:cNvPr id="62" name="Shape 60"/>
          <p:cNvSpPr/>
          <p:nvPr/>
        </p:nvSpPr>
        <p:spPr>
          <a:xfrm>
            <a:off x="2011680" y="4160520"/>
            <a:ext cx="914" cy="155448"/>
          </a:xfrm>
          <a:prstGeom prst="line">
            <a:avLst/>
          </a:prstGeom>
          <a:noFill/>
          <a:ln w="15875">
            <a:solidFill>
              <a:srgbClr val="1F5BD6"/>
            </a:solidFill>
            <a:prstDash val="dash"/>
          </a:ln>
        </p:spPr>
        <p:txBody>
          <a:bodyPr/>
          <a:lstStyle/>
          <a:p>
            <a:endParaRPr lang="fr-FR"/>
          </a:p>
        </p:txBody>
      </p:sp>
      <p:sp>
        <p:nvSpPr>
          <p:cNvPr id="63" name="Shape 61"/>
          <p:cNvSpPr/>
          <p:nvPr/>
        </p:nvSpPr>
        <p:spPr>
          <a:xfrm>
            <a:off x="2011680" y="4315968"/>
            <a:ext cx="2834640" cy="914"/>
          </a:xfrm>
          <a:prstGeom prst="line">
            <a:avLst/>
          </a:prstGeom>
          <a:noFill/>
          <a:ln w="15875">
            <a:solidFill>
              <a:srgbClr val="1F5BD6"/>
            </a:solidFill>
            <a:prstDash val="dash"/>
            <a:tailEnd type="triangle"/>
          </a:ln>
        </p:spPr>
        <p:txBody>
          <a:bodyPr/>
          <a:lstStyle/>
          <a:p>
            <a:endParaRPr lang="fr-FR"/>
          </a:p>
        </p:txBody>
      </p:sp>
      <p:sp>
        <p:nvSpPr>
          <p:cNvPr id="64" name="Text 62"/>
          <p:cNvSpPr txBox="1"/>
          <p:nvPr/>
        </p:nvSpPr>
        <p:spPr>
          <a:xfrm>
            <a:off x="2103120" y="4370832"/>
            <a:ext cx="2697480" cy="411480"/>
          </a:xfrm>
          <a:prstGeom prst="rect">
            <a:avLst/>
          </a:prstGeom>
          <a:noFill/>
          <a:ln/>
        </p:spPr>
        <p:txBody>
          <a:bodyPr wrap="square" lIns="0" tIns="0" rIns="0" bIns="0" rtlCol="0" anchor="t"/>
          <a:lstStyle/>
          <a:p>
            <a:pPr marL="0" indent="0">
              <a:buNone/>
            </a:pPr>
            <a:r>
              <a:rPr lang="en-US" sz="850" i="1" dirty="0">
                <a:solidFill>
                  <a:srgbClr val="66728A"/>
                </a:solidFill>
                <a:latin typeface="Verdana" pitchFamily="34" charset="0"/>
                <a:ea typeface="Verdana" pitchFamily="34" charset="-122"/>
                <a:cs typeface="Verdana" pitchFamily="34" charset="-120"/>
              </a:rPr>
              <a:t>si l’action implique des professionnels, l’organisme publie l’appel à candidatures sur la plateforme</a:t>
            </a:r>
            <a:endParaRPr lang="en-US" sz="850" dirty="0"/>
          </a:p>
        </p:txBody>
      </p:sp>
      <p:sp>
        <p:nvSpPr>
          <p:cNvPr id="65" name="Shape 63"/>
          <p:cNvSpPr/>
          <p:nvPr/>
        </p:nvSpPr>
        <p:spPr>
          <a:xfrm>
            <a:off x="6103620" y="4434840"/>
            <a:ext cx="914" cy="320040"/>
          </a:xfrm>
          <a:prstGeom prst="line">
            <a:avLst/>
          </a:prstGeom>
          <a:noFill/>
          <a:ln w="15875">
            <a:solidFill>
              <a:srgbClr val="1F5BD6"/>
            </a:solidFill>
            <a:prstDash val="solid"/>
            <a:tailEnd type="triangle"/>
          </a:ln>
        </p:spPr>
        <p:txBody>
          <a:bodyPr/>
          <a:lstStyle/>
          <a:p>
            <a:endParaRPr lang="fr-FR"/>
          </a:p>
        </p:txBody>
      </p:sp>
      <p:sp>
        <p:nvSpPr>
          <p:cNvPr id="66" name="Shape 64"/>
          <p:cNvSpPr/>
          <p:nvPr/>
        </p:nvSpPr>
        <p:spPr>
          <a:xfrm>
            <a:off x="3931920" y="4754880"/>
            <a:ext cx="2194560" cy="502920"/>
          </a:xfrm>
          <a:prstGeom prst="roundRect">
            <a:avLst>
              <a:gd name="adj" fmla="val 14545"/>
            </a:avLst>
          </a:prstGeom>
          <a:solidFill>
            <a:srgbClr val="EEF4FD"/>
          </a:solidFill>
          <a:ln w="12700">
            <a:solidFill>
              <a:srgbClr val="1F5BD6"/>
            </a:solidFill>
            <a:prstDash val="solid"/>
          </a:ln>
        </p:spPr>
        <p:txBody>
          <a:bodyPr/>
          <a:lstStyle/>
          <a:p>
            <a:endParaRPr lang="fr-FR"/>
          </a:p>
        </p:txBody>
      </p:sp>
      <p:sp>
        <p:nvSpPr>
          <p:cNvPr id="67" name="Text 65"/>
          <p:cNvSpPr txBox="1"/>
          <p:nvPr/>
        </p:nvSpPr>
        <p:spPr>
          <a:xfrm>
            <a:off x="4005072" y="4754880"/>
            <a:ext cx="2048256" cy="502920"/>
          </a:xfrm>
          <a:prstGeom prst="rect">
            <a:avLst/>
          </a:prstGeom>
          <a:noFill/>
          <a:ln/>
        </p:spPr>
        <p:txBody>
          <a:bodyPr wrap="square" lIns="0" tIns="0" rIns="0" bIns="0" rtlCol="0" anchor="ctr"/>
          <a:lstStyle/>
          <a:p>
            <a:pPr marL="0" indent="0" algn="ctr">
              <a:spcAft>
                <a:spcPts val="100"/>
              </a:spcAft>
              <a:buNone/>
            </a:pPr>
            <a:r>
              <a:rPr lang="en-US" sz="1150" b="1" dirty="0">
                <a:solidFill>
                  <a:srgbClr val="0012B5"/>
                </a:solidFill>
                <a:latin typeface="Verdana" pitchFamily="34" charset="0"/>
                <a:ea typeface="Verdana" pitchFamily="34" charset="-122"/>
                <a:cs typeface="Verdana" pitchFamily="34" charset="-120"/>
              </a:rPr>
              <a:t>Part du pêcheur 80 %</a:t>
            </a:r>
            <a:endParaRPr lang="en-US" sz="1250" dirty="0"/>
          </a:p>
          <a:p>
            <a:pPr marL="0" indent="0" algn="ctr">
              <a:spcAft>
                <a:spcPts val="100"/>
              </a:spcAft>
              <a:buNone/>
            </a:pPr>
            <a:r>
              <a:rPr lang="en-US" sz="950" dirty="0">
                <a:solidFill>
                  <a:srgbClr val="3A4658"/>
                </a:solidFill>
                <a:latin typeface="Verdana" pitchFamily="34" charset="0"/>
                <a:ea typeface="Verdana" pitchFamily="34" charset="-122"/>
                <a:cs typeface="Verdana" pitchFamily="34" charset="-120"/>
              </a:rPr>
              <a:t>rémunération de la mission</a:t>
            </a:r>
            <a:endParaRPr lang="en-US" sz="1250" dirty="0"/>
          </a:p>
        </p:txBody>
      </p:sp>
      <p:sp>
        <p:nvSpPr>
          <p:cNvPr id="68" name="Shape 66"/>
          <p:cNvSpPr/>
          <p:nvPr/>
        </p:nvSpPr>
        <p:spPr>
          <a:xfrm>
            <a:off x="6126480" y="4754880"/>
            <a:ext cx="1600200" cy="502920"/>
          </a:xfrm>
          <a:prstGeom prst="roundRect">
            <a:avLst>
              <a:gd name="adj" fmla="val 14545"/>
            </a:avLst>
          </a:prstGeom>
          <a:solidFill>
            <a:srgbClr val="D6E2F8"/>
          </a:solidFill>
          <a:ln w="12700">
            <a:solidFill>
              <a:srgbClr val="1F5BD6"/>
            </a:solidFill>
            <a:prstDash val="solid"/>
          </a:ln>
        </p:spPr>
        <p:txBody>
          <a:bodyPr/>
          <a:lstStyle/>
          <a:p>
            <a:endParaRPr lang="fr-FR"/>
          </a:p>
        </p:txBody>
      </p:sp>
      <p:sp>
        <p:nvSpPr>
          <p:cNvPr id="69" name="Text 67"/>
          <p:cNvSpPr txBox="1"/>
          <p:nvPr/>
        </p:nvSpPr>
        <p:spPr>
          <a:xfrm>
            <a:off x="6199632" y="4754880"/>
            <a:ext cx="1453896" cy="502920"/>
          </a:xfrm>
          <a:prstGeom prst="rect">
            <a:avLst/>
          </a:prstGeom>
          <a:noFill/>
          <a:ln/>
        </p:spPr>
        <p:txBody>
          <a:bodyPr wrap="square" lIns="0" tIns="0" rIns="0" bIns="0" rtlCol="0" anchor="ctr"/>
          <a:lstStyle/>
          <a:p>
            <a:pPr marL="0" indent="0" algn="ctr">
              <a:spcAft>
                <a:spcPts val="100"/>
              </a:spcAft>
              <a:buNone/>
            </a:pPr>
            <a:r>
              <a:rPr lang="en-US" sz="1150" b="1" dirty="0">
                <a:solidFill>
                  <a:srgbClr val="0012B5"/>
                </a:solidFill>
                <a:latin typeface="Verdana" pitchFamily="34" charset="0"/>
                <a:ea typeface="Verdana" pitchFamily="34" charset="-122"/>
                <a:cs typeface="Verdana" pitchFamily="34" charset="-120"/>
              </a:rPr>
              <a:t>Plateforme 20 %</a:t>
            </a:r>
            <a:endParaRPr lang="en-US" sz="1250" dirty="0"/>
          </a:p>
          <a:p>
            <a:pPr marL="0" indent="0" algn="ctr">
              <a:spcAft>
                <a:spcPts val="100"/>
              </a:spcAft>
              <a:buNone/>
            </a:pPr>
            <a:r>
              <a:rPr lang="en-US" sz="950" dirty="0">
                <a:solidFill>
                  <a:srgbClr val="3A4658"/>
                </a:solidFill>
                <a:latin typeface="Verdana" pitchFamily="34" charset="0"/>
                <a:ea typeface="Verdana" pitchFamily="34" charset="-122"/>
                <a:cs typeface="Verdana" pitchFamily="34" charset="-120"/>
              </a:rPr>
              <a:t>part conservée</a:t>
            </a:r>
            <a:endParaRPr lang="en-US" sz="1250" dirty="0"/>
          </a:p>
        </p:txBody>
      </p:sp>
      <p:sp>
        <p:nvSpPr>
          <p:cNvPr id="70" name="Shape 68"/>
          <p:cNvSpPr/>
          <p:nvPr/>
        </p:nvSpPr>
        <p:spPr>
          <a:xfrm>
            <a:off x="5029200" y="5257800"/>
            <a:ext cx="914" cy="301752"/>
          </a:xfrm>
          <a:prstGeom prst="line">
            <a:avLst/>
          </a:prstGeom>
          <a:noFill/>
          <a:ln w="15875">
            <a:solidFill>
              <a:srgbClr val="1F5BD6"/>
            </a:solidFill>
            <a:prstDash val="solid"/>
            <a:tailEnd type="triangle"/>
          </a:ln>
        </p:spPr>
        <p:txBody>
          <a:bodyPr/>
          <a:lstStyle/>
          <a:p>
            <a:endParaRPr lang="fr-FR"/>
          </a:p>
        </p:txBody>
      </p:sp>
      <p:sp>
        <p:nvSpPr>
          <p:cNvPr id="71" name="Shape 69"/>
          <p:cNvSpPr/>
          <p:nvPr/>
        </p:nvSpPr>
        <p:spPr>
          <a:xfrm>
            <a:off x="6922008" y="5257800"/>
            <a:ext cx="914" cy="301752"/>
          </a:xfrm>
          <a:prstGeom prst="line">
            <a:avLst/>
          </a:prstGeom>
          <a:noFill/>
          <a:ln w="15875">
            <a:solidFill>
              <a:srgbClr val="1F5BD6"/>
            </a:solidFill>
            <a:prstDash val="solid"/>
            <a:tailEnd type="triangle"/>
          </a:ln>
        </p:spPr>
        <p:txBody>
          <a:bodyPr/>
          <a:lstStyle/>
          <a:p>
            <a:endParaRPr lang="fr-FR"/>
          </a:p>
        </p:txBody>
      </p:sp>
      <p:sp>
        <p:nvSpPr>
          <p:cNvPr id="72" name="Text 70"/>
          <p:cNvSpPr txBox="1"/>
          <p:nvPr/>
        </p:nvSpPr>
        <p:spPr>
          <a:xfrm>
            <a:off x="2724912" y="5266944"/>
            <a:ext cx="2212848" cy="438912"/>
          </a:xfrm>
          <a:prstGeom prst="rect">
            <a:avLst/>
          </a:prstGeom>
          <a:noFill/>
          <a:ln/>
        </p:spPr>
        <p:txBody>
          <a:bodyPr wrap="square" lIns="0" tIns="0" rIns="0" bIns="0" rtlCol="0" anchor="t"/>
          <a:lstStyle/>
          <a:p>
            <a:pPr marL="0" indent="0" algn="r">
              <a:buNone/>
            </a:pPr>
            <a:r>
              <a:rPr lang="en-US" sz="850" i="1" dirty="0">
                <a:solidFill>
                  <a:srgbClr val="66728A"/>
                </a:solidFill>
                <a:latin typeface="Verdana" pitchFamily="34" charset="0"/>
                <a:ea typeface="Verdana" pitchFamily="34" charset="-122"/>
                <a:cs typeface="Verdana" pitchFamily="34" charset="-120"/>
              </a:rPr>
              <a:t>affectation volontaire de la fraction non perçue : ouvre des droits au capital</a:t>
            </a:r>
            <a:endParaRPr lang="en-US" sz="850" dirty="0"/>
          </a:p>
        </p:txBody>
      </p:sp>
      <p:sp>
        <p:nvSpPr>
          <p:cNvPr id="73" name="Text 71"/>
          <p:cNvSpPr txBox="1"/>
          <p:nvPr/>
        </p:nvSpPr>
        <p:spPr>
          <a:xfrm>
            <a:off x="7013448" y="5303520"/>
            <a:ext cx="1463040" cy="228600"/>
          </a:xfrm>
          <a:prstGeom prst="rect">
            <a:avLst/>
          </a:prstGeom>
          <a:noFill/>
          <a:ln/>
        </p:spPr>
        <p:txBody>
          <a:bodyPr wrap="square" lIns="0" tIns="0" rIns="0" bIns="0" rtlCol="0" anchor="t"/>
          <a:lstStyle/>
          <a:p>
            <a:pPr marL="0" indent="0">
              <a:buNone/>
            </a:pPr>
            <a:r>
              <a:rPr lang="en-US" sz="850" i="1" dirty="0">
                <a:solidFill>
                  <a:srgbClr val="66728A"/>
                </a:solidFill>
                <a:latin typeface="Verdana" pitchFamily="34" charset="0"/>
                <a:ea typeface="Verdana" pitchFamily="34" charset="-122"/>
                <a:cs typeface="Verdana" pitchFamily="34" charset="-120"/>
              </a:rPr>
              <a:t>réinjection automatique</a:t>
            </a:r>
            <a:endParaRPr lang="en-US" sz="850" dirty="0"/>
          </a:p>
        </p:txBody>
      </p:sp>
      <p:sp>
        <p:nvSpPr>
          <p:cNvPr id="74" name="Shape 72"/>
          <p:cNvSpPr/>
          <p:nvPr/>
        </p:nvSpPr>
        <p:spPr>
          <a:xfrm>
            <a:off x="3657600" y="5559552"/>
            <a:ext cx="4297680" cy="502920"/>
          </a:xfrm>
          <a:prstGeom prst="roundRect">
            <a:avLst>
              <a:gd name="adj" fmla="val 14545"/>
            </a:avLst>
          </a:prstGeom>
          <a:solidFill>
            <a:srgbClr val="EEF4FD"/>
          </a:solidFill>
          <a:ln w="12700">
            <a:solidFill>
              <a:srgbClr val="1F5BD6"/>
            </a:solidFill>
            <a:prstDash val="solid"/>
          </a:ln>
        </p:spPr>
        <p:txBody>
          <a:bodyPr/>
          <a:lstStyle/>
          <a:p>
            <a:endParaRPr lang="fr-FR"/>
          </a:p>
        </p:txBody>
      </p:sp>
      <p:sp>
        <p:nvSpPr>
          <p:cNvPr id="75" name="Text 73"/>
          <p:cNvSpPr txBox="1"/>
          <p:nvPr/>
        </p:nvSpPr>
        <p:spPr>
          <a:xfrm>
            <a:off x="3730752" y="5559552"/>
            <a:ext cx="4151376" cy="502920"/>
          </a:xfrm>
          <a:prstGeom prst="rect">
            <a:avLst/>
          </a:prstGeom>
          <a:noFill/>
          <a:ln/>
        </p:spPr>
        <p:txBody>
          <a:bodyPr wrap="square" lIns="0" tIns="0" rIns="0" bIns="0" rtlCol="0" anchor="ctr"/>
          <a:lstStyle/>
          <a:p>
            <a:pPr marL="0" indent="0" algn="ctr">
              <a:spcAft>
                <a:spcPts val="100"/>
              </a:spcAft>
              <a:buNone/>
            </a:pPr>
            <a:r>
              <a:rPr lang="en-US" sz="1150" b="1" dirty="0">
                <a:solidFill>
                  <a:srgbClr val="0012B5"/>
                </a:solidFill>
                <a:latin typeface="Verdana" pitchFamily="34" charset="0"/>
                <a:ea typeface="Verdana" pitchFamily="34" charset="-122"/>
                <a:cs typeface="Verdana" pitchFamily="34" charset="-120"/>
              </a:rPr>
              <a:t>Constitution de fonds propres</a:t>
            </a:r>
            <a:endParaRPr lang="en-US" sz="1250" dirty="0"/>
          </a:p>
          <a:p>
            <a:pPr marL="0" indent="0" algn="ctr">
              <a:spcAft>
                <a:spcPts val="100"/>
              </a:spcAft>
              <a:buNone/>
            </a:pPr>
            <a:r>
              <a:rPr lang="en-US" sz="950" dirty="0">
                <a:solidFill>
                  <a:srgbClr val="3A4658"/>
                </a:solidFill>
                <a:latin typeface="Verdana" pitchFamily="34" charset="0"/>
                <a:ea typeface="Verdana" pitchFamily="34" charset="-122"/>
                <a:cs typeface="Verdana" pitchFamily="34" charset="-120"/>
              </a:rPr>
              <a:t>start-up de programme (P1 à P4), si elle est créée</a:t>
            </a:r>
            <a:endParaRPr lang="en-US" sz="1250" dirty="0"/>
          </a:p>
        </p:txBody>
      </p:sp>
      <p:sp>
        <p:nvSpPr>
          <p:cNvPr id="76" name="Shape 74"/>
          <p:cNvSpPr/>
          <p:nvPr/>
        </p:nvSpPr>
        <p:spPr>
          <a:xfrm>
            <a:off x="5806440" y="6062472"/>
            <a:ext cx="914" cy="82296"/>
          </a:xfrm>
          <a:prstGeom prst="line">
            <a:avLst/>
          </a:prstGeom>
          <a:noFill/>
          <a:ln w="15875">
            <a:solidFill>
              <a:srgbClr val="1F5BD6"/>
            </a:solidFill>
            <a:prstDash val="dash"/>
          </a:ln>
        </p:spPr>
        <p:txBody>
          <a:bodyPr/>
          <a:lstStyle/>
          <a:p>
            <a:endParaRPr lang="fr-FR"/>
          </a:p>
        </p:txBody>
      </p:sp>
      <p:sp>
        <p:nvSpPr>
          <p:cNvPr id="77" name="Shape 75"/>
          <p:cNvSpPr/>
          <p:nvPr/>
        </p:nvSpPr>
        <p:spPr>
          <a:xfrm>
            <a:off x="4160520" y="6144768"/>
            <a:ext cx="3291840" cy="914"/>
          </a:xfrm>
          <a:prstGeom prst="line">
            <a:avLst/>
          </a:prstGeom>
          <a:noFill/>
          <a:ln w="15875">
            <a:solidFill>
              <a:srgbClr val="1F5BD6"/>
            </a:solidFill>
            <a:prstDash val="dash"/>
          </a:ln>
        </p:spPr>
        <p:txBody>
          <a:bodyPr/>
          <a:lstStyle/>
          <a:p>
            <a:endParaRPr lang="fr-FR"/>
          </a:p>
        </p:txBody>
      </p:sp>
      <p:sp>
        <p:nvSpPr>
          <p:cNvPr id="78" name="Shape 76"/>
          <p:cNvSpPr/>
          <p:nvPr/>
        </p:nvSpPr>
        <p:spPr>
          <a:xfrm>
            <a:off x="4160520" y="6144768"/>
            <a:ext cx="914" cy="91440"/>
          </a:xfrm>
          <a:prstGeom prst="line">
            <a:avLst/>
          </a:prstGeom>
          <a:noFill/>
          <a:ln w="15875">
            <a:solidFill>
              <a:srgbClr val="1F5BD6"/>
            </a:solidFill>
            <a:prstDash val="dash"/>
            <a:tailEnd type="triangle"/>
          </a:ln>
        </p:spPr>
        <p:txBody>
          <a:bodyPr/>
          <a:lstStyle/>
          <a:p>
            <a:endParaRPr lang="fr-FR"/>
          </a:p>
        </p:txBody>
      </p:sp>
      <p:sp>
        <p:nvSpPr>
          <p:cNvPr id="79" name="Shape 77"/>
          <p:cNvSpPr/>
          <p:nvPr/>
        </p:nvSpPr>
        <p:spPr>
          <a:xfrm>
            <a:off x="7452360" y="6144768"/>
            <a:ext cx="914" cy="91440"/>
          </a:xfrm>
          <a:prstGeom prst="line">
            <a:avLst/>
          </a:prstGeom>
          <a:noFill/>
          <a:ln w="15875">
            <a:solidFill>
              <a:srgbClr val="1F5BD6"/>
            </a:solidFill>
            <a:prstDash val="dash"/>
            <a:tailEnd type="triangle"/>
          </a:ln>
        </p:spPr>
        <p:txBody>
          <a:bodyPr/>
          <a:lstStyle/>
          <a:p>
            <a:endParaRPr lang="fr-FR"/>
          </a:p>
        </p:txBody>
      </p:sp>
      <p:sp>
        <p:nvSpPr>
          <p:cNvPr id="80" name="Shape 78"/>
          <p:cNvSpPr/>
          <p:nvPr/>
        </p:nvSpPr>
        <p:spPr>
          <a:xfrm>
            <a:off x="2834640" y="6236208"/>
            <a:ext cx="2651760" cy="411480"/>
          </a:xfrm>
          <a:prstGeom prst="roundRect">
            <a:avLst>
              <a:gd name="adj" fmla="val 17778"/>
            </a:avLst>
          </a:prstGeom>
          <a:solidFill>
            <a:srgbClr val="FFFFFF"/>
          </a:solidFill>
          <a:ln w="12700">
            <a:solidFill>
              <a:srgbClr val="1F5BD6"/>
            </a:solidFill>
            <a:prstDash val="dash"/>
          </a:ln>
        </p:spPr>
        <p:txBody>
          <a:bodyPr/>
          <a:lstStyle/>
          <a:p>
            <a:endParaRPr lang="fr-FR"/>
          </a:p>
        </p:txBody>
      </p:sp>
      <p:sp>
        <p:nvSpPr>
          <p:cNvPr id="81" name="Text 79"/>
          <p:cNvSpPr txBox="1"/>
          <p:nvPr/>
        </p:nvSpPr>
        <p:spPr>
          <a:xfrm>
            <a:off x="2907792" y="6236208"/>
            <a:ext cx="2505456" cy="411480"/>
          </a:xfrm>
          <a:prstGeom prst="rect">
            <a:avLst/>
          </a:prstGeom>
          <a:noFill/>
          <a:ln/>
        </p:spPr>
        <p:txBody>
          <a:bodyPr wrap="square" lIns="0" tIns="0" rIns="0" bIns="0" rtlCol="0" anchor="ctr"/>
          <a:lstStyle/>
          <a:p>
            <a:pPr marL="0" indent="0" algn="ctr">
              <a:spcAft>
                <a:spcPts val="100"/>
              </a:spcAft>
              <a:buNone/>
            </a:pPr>
            <a:r>
              <a:rPr lang="en-US" sz="1150" b="1" dirty="0">
                <a:solidFill>
                  <a:srgbClr val="0012B5"/>
                </a:solidFill>
                <a:latin typeface="Verdana" pitchFamily="34" charset="0"/>
                <a:ea typeface="Verdana" pitchFamily="34" charset="-122"/>
                <a:cs typeface="Verdana" pitchFamily="34" charset="-120"/>
              </a:rPr>
              <a:t>Résultat reversé au fonds</a:t>
            </a:r>
            <a:endParaRPr lang="en-US" sz="1250" dirty="0"/>
          </a:p>
          <a:p>
            <a:pPr marL="0" indent="0" algn="ctr">
              <a:spcAft>
                <a:spcPts val="100"/>
              </a:spcAft>
              <a:buNone/>
            </a:pPr>
            <a:r>
              <a:rPr lang="en-US" sz="950" dirty="0">
                <a:solidFill>
                  <a:srgbClr val="3A4658"/>
                </a:solidFill>
                <a:latin typeface="Verdana" pitchFamily="34" charset="0"/>
                <a:ea typeface="Verdana" pitchFamily="34" charset="-122"/>
                <a:cs typeface="Verdana" pitchFamily="34" charset="-120"/>
              </a:rPr>
              <a:t>affecté au programme de la mission</a:t>
            </a:r>
            <a:endParaRPr lang="en-US" sz="1250" dirty="0"/>
          </a:p>
        </p:txBody>
      </p:sp>
      <p:sp>
        <p:nvSpPr>
          <p:cNvPr id="82" name="Shape 80"/>
          <p:cNvSpPr/>
          <p:nvPr/>
        </p:nvSpPr>
        <p:spPr>
          <a:xfrm>
            <a:off x="6126480" y="6236208"/>
            <a:ext cx="2651760" cy="411480"/>
          </a:xfrm>
          <a:prstGeom prst="roundRect">
            <a:avLst>
              <a:gd name="adj" fmla="val 17778"/>
            </a:avLst>
          </a:prstGeom>
          <a:solidFill>
            <a:srgbClr val="FFFFFF"/>
          </a:solidFill>
          <a:ln w="12700">
            <a:solidFill>
              <a:srgbClr val="1F5BD6"/>
            </a:solidFill>
            <a:prstDash val="dash"/>
          </a:ln>
        </p:spPr>
        <p:txBody>
          <a:bodyPr/>
          <a:lstStyle/>
          <a:p>
            <a:endParaRPr lang="fr-FR"/>
          </a:p>
        </p:txBody>
      </p:sp>
      <p:sp>
        <p:nvSpPr>
          <p:cNvPr id="83" name="Text 81"/>
          <p:cNvSpPr txBox="1"/>
          <p:nvPr/>
        </p:nvSpPr>
        <p:spPr>
          <a:xfrm>
            <a:off x="6199632" y="6236208"/>
            <a:ext cx="2505456" cy="411480"/>
          </a:xfrm>
          <a:prstGeom prst="rect">
            <a:avLst/>
          </a:prstGeom>
          <a:noFill/>
          <a:ln/>
        </p:spPr>
        <p:txBody>
          <a:bodyPr wrap="square" lIns="0" tIns="0" rIns="0" bIns="0" rtlCol="0" anchor="ctr"/>
          <a:lstStyle/>
          <a:p>
            <a:pPr marL="0" indent="0" algn="ctr">
              <a:spcAft>
                <a:spcPts val="100"/>
              </a:spcAft>
              <a:buNone/>
            </a:pPr>
            <a:r>
              <a:rPr lang="en-US" sz="1150" b="1" dirty="0">
                <a:solidFill>
                  <a:srgbClr val="0012B5"/>
                </a:solidFill>
                <a:latin typeface="Verdana" pitchFamily="34" charset="0"/>
                <a:ea typeface="Verdana" pitchFamily="34" charset="-122"/>
                <a:cs typeface="Verdana" pitchFamily="34" charset="-120"/>
              </a:rPr>
              <a:t>Résultat versé aux pêcheurs</a:t>
            </a:r>
            <a:endParaRPr lang="en-US" sz="1250" dirty="0"/>
          </a:p>
          <a:p>
            <a:pPr marL="0" indent="0" algn="ctr">
              <a:spcAft>
                <a:spcPts val="100"/>
              </a:spcAft>
              <a:buNone/>
            </a:pPr>
            <a:r>
              <a:rPr lang="en-US" sz="950" dirty="0">
                <a:solidFill>
                  <a:srgbClr val="3A4658"/>
                </a:solidFill>
                <a:latin typeface="Verdana" pitchFamily="34" charset="0"/>
                <a:ea typeface="Verdana" pitchFamily="34" charset="-122"/>
                <a:cs typeface="Verdana" pitchFamily="34" charset="-120"/>
              </a:rPr>
              <a:t>actionnaires, au prorata des droits</a:t>
            </a:r>
            <a:endParaRPr lang="en-US" sz="1250" dirty="0"/>
          </a:p>
        </p:txBody>
      </p:sp>
      <p:sp>
        <p:nvSpPr>
          <p:cNvPr id="84" name="Shape 82"/>
          <p:cNvSpPr/>
          <p:nvPr/>
        </p:nvSpPr>
        <p:spPr>
          <a:xfrm>
            <a:off x="9098280" y="5400000"/>
            <a:ext cx="2560320" cy="1080000"/>
          </a:xfrm>
          <a:prstGeom prst="roundRect">
            <a:avLst>
              <a:gd name="adj" fmla="val 16000"/>
            </a:avLst>
          </a:prstGeom>
          <a:solidFill>
            <a:srgbClr val="F6F9FE"/>
          </a:solidFill>
          <a:ln w="9525">
            <a:solidFill>
              <a:srgbClr val="DCE5F2"/>
            </a:solidFill>
            <a:prstDash val="solid"/>
          </a:ln>
        </p:spPr>
        <p:txBody>
          <a:bodyPr/>
          <a:lstStyle/>
          <a:p>
            <a:endParaRPr lang="fr-FR"/>
          </a:p>
        </p:txBody>
      </p:sp>
      <p:sp>
        <p:nvSpPr>
          <p:cNvPr id="85" name="Shape 83"/>
          <p:cNvSpPr/>
          <p:nvPr/>
        </p:nvSpPr>
        <p:spPr>
          <a:xfrm>
            <a:off x="9253728" y="5546304"/>
            <a:ext cx="237744" cy="201168"/>
          </a:xfrm>
          <a:prstGeom prst="roundRect">
            <a:avLst>
              <a:gd name="adj" fmla="val 18182"/>
            </a:avLst>
          </a:prstGeom>
          <a:solidFill>
            <a:srgbClr val="FFFFFF"/>
          </a:solidFill>
          <a:ln w="12700">
            <a:solidFill>
              <a:srgbClr val="1F5BD6"/>
            </a:solidFill>
            <a:prstDash val="solid"/>
          </a:ln>
        </p:spPr>
        <p:txBody>
          <a:bodyPr/>
          <a:lstStyle/>
          <a:p>
            <a:endParaRPr lang="fr-FR"/>
          </a:p>
        </p:txBody>
      </p:sp>
      <p:sp>
        <p:nvSpPr>
          <p:cNvPr id="86" name="Text 84"/>
          <p:cNvSpPr txBox="1"/>
          <p:nvPr/>
        </p:nvSpPr>
        <p:spPr>
          <a:xfrm>
            <a:off x="9253728" y="5546304"/>
            <a:ext cx="237744" cy="201168"/>
          </a:xfrm>
          <a:prstGeom prst="rect">
            <a:avLst/>
          </a:prstGeom>
          <a:noFill/>
          <a:ln/>
        </p:spPr>
        <p:txBody>
          <a:bodyPr wrap="square" lIns="0" tIns="0" rIns="0" bIns="0" rtlCol="0" anchor="ctr"/>
          <a:lstStyle/>
          <a:p>
            <a:pPr marL="0" indent="0" algn="ctr">
              <a:buNone/>
            </a:pPr>
            <a:r>
              <a:rPr lang="en-US" sz="1000" b="1" dirty="0">
                <a:solidFill>
                  <a:srgbClr val="0012B5"/>
                </a:solidFill>
                <a:latin typeface="Verdana" pitchFamily="34" charset="0"/>
                <a:ea typeface="Verdana" pitchFamily="34" charset="-122"/>
                <a:cs typeface="Verdana" pitchFamily="34" charset="-120"/>
              </a:rPr>
              <a:t>€</a:t>
            </a:r>
            <a:endParaRPr lang="en-US" sz="1000" dirty="0"/>
          </a:p>
        </p:txBody>
      </p:sp>
      <p:sp>
        <p:nvSpPr>
          <p:cNvPr id="87" name="Text 85"/>
          <p:cNvSpPr txBox="1"/>
          <p:nvPr/>
        </p:nvSpPr>
        <p:spPr>
          <a:xfrm>
            <a:off x="9601200" y="5546304"/>
            <a:ext cx="2011680" cy="201168"/>
          </a:xfrm>
          <a:prstGeom prst="rect">
            <a:avLst/>
          </a:prstGeom>
          <a:noFill/>
          <a:ln/>
        </p:spPr>
        <p:txBody>
          <a:bodyPr wrap="square" lIns="0" tIns="0" rIns="0" bIns="0" rtlCol="0" anchor="t"/>
          <a:lstStyle/>
          <a:p>
            <a:pPr marL="0" indent="0">
              <a:buNone/>
            </a:pPr>
            <a:r>
              <a:rPr lang="en-US" sz="900" dirty="0">
                <a:solidFill>
                  <a:srgbClr val="3A4658"/>
                </a:solidFill>
                <a:latin typeface="Verdana" pitchFamily="34" charset="0"/>
                <a:ea typeface="Verdana" pitchFamily="34" charset="-122"/>
                <a:cs typeface="Verdana" pitchFamily="34" charset="-120"/>
              </a:rPr>
              <a:t>flux financier</a:t>
            </a:r>
            <a:endParaRPr lang="en-US" sz="900" dirty="0"/>
          </a:p>
        </p:txBody>
      </p:sp>
      <p:sp>
        <p:nvSpPr>
          <p:cNvPr id="88" name="Shape 86"/>
          <p:cNvSpPr/>
          <p:nvPr/>
        </p:nvSpPr>
        <p:spPr>
          <a:xfrm>
            <a:off x="9253728" y="5948640"/>
            <a:ext cx="237744" cy="914"/>
          </a:xfrm>
          <a:prstGeom prst="line">
            <a:avLst/>
          </a:prstGeom>
          <a:noFill/>
          <a:ln w="15875">
            <a:solidFill>
              <a:srgbClr val="1F5BD6"/>
            </a:solidFill>
            <a:prstDash val="dash"/>
          </a:ln>
        </p:spPr>
        <p:txBody>
          <a:bodyPr/>
          <a:lstStyle/>
          <a:p>
            <a:endParaRPr lang="fr-FR"/>
          </a:p>
        </p:txBody>
      </p:sp>
      <p:sp>
        <p:nvSpPr>
          <p:cNvPr id="89" name="Text 87"/>
          <p:cNvSpPr txBox="1"/>
          <p:nvPr/>
        </p:nvSpPr>
        <p:spPr>
          <a:xfrm>
            <a:off x="9601200" y="5848056"/>
            <a:ext cx="2011680" cy="201168"/>
          </a:xfrm>
          <a:prstGeom prst="rect">
            <a:avLst/>
          </a:prstGeom>
          <a:noFill/>
          <a:ln/>
        </p:spPr>
        <p:txBody>
          <a:bodyPr wrap="square" lIns="0" tIns="0" rIns="0" bIns="0" rtlCol="0" anchor="t"/>
          <a:lstStyle/>
          <a:p>
            <a:pPr marL="0" indent="0">
              <a:buNone/>
            </a:pPr>
            <a:r>
              <a:rPr lang="en-US" sz="900" dirty="0">
                <a:solidFill>
                  <a:srgbClr val="3A4658"/>
                </a:solidFill>
                <a:latin typeface="Verdana" pitchFamily="34" charset="0"/>
                <a:ea typeface="Verdana" pitchFamily="34" charset="-122"/>
                <a:cs typeface="Verdana" pitchFamily="34" charset="-120"/>
              </a:rPr>
              <a:t>cas conditionnel ou éventuel</a:t>
            </a:r>
            <a:endParaRPr lang="en-US" sz="900" dirty="0"/>
          </a:p>
        </p:txBody>
      </p:sp>
      <p:sp>
        <p:nvSpPr>
          <p:cNvPr id="90" name="Text 88"/>
          <p:cNvSpPr txBox="1"/>
          <p:nvPr/>
        </p:nvSpPr>
        <p:spPr>
          <a:xfrm>
            <a:off x="9253728" y="6104088"/>
            <a:ext cx="2331720" cy="365760"/>
          </a:xfrm>
          <a:prstGeom prst="rect">
            <a:avLst/>
          </a:prstGeom>
          <a:noFill/>
          <a:ln/>
        </p:spPr>
        <p:txBody>
          <a:bodyPr wrap="square" lIns="0" tIns="0" rIns="0" bIns="0" rtlCol="0" anchor="t"/>
          <a:lstStyle/>
          <a:p>
            <a:pPr marL="0" indent="0">
              <a:buNone/>
            </a:pPr>
            <a:r>
              <a:rPr lang="en-US" sz="900" i="1" dirty="0">
                <a:solidFill>
                  <a:srgbClr val="66728A"/>
                </a:solidFill>
                <a:latin typeface="Verdana" pitchFamily="34" charset="0"/>
                <a:ea typeface="Verdana" pitchFamily="34" charset="-122"/>
                <a:cs typeface="Verdana" pitchFamily="34" charset="-120"/>
              </a:rPr>
              <a:t>Taux et montants : hypothèses de travail</a:t>
            </a:r>
            <a:endParaRPr lang="en-US" sz="900" dirty="0"/>
          </a:p>
        </p:txBody>
      </p:sp>
      <p:sp>
        <p:nvSpPr>
          <p:cNvPr id="91" name="Text 89"/>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43</a:t>
            </a:r>
            <a:endParaRPr lang="en-US" sz="1150" dirty="0"/>
          </a:p>
        </p:txBody>
      </p:sp>
      <p:sp>
        <p:nvSpPr>
          <p:cNvPr id="92" name="Shape 64"/>
          <p:cNvSpPr/>
          <p:nvPr/>
        </p:nvSpPr>
        <p:spPr>
          <a:xfrm>
            <a:off x="9098280" y="4700000"/>
            <a:ext cx="2560320" cy="612000"/>
          </a:xfrm>
          <a:prstGeom prst="roundRect">
            <a:avLst>
              <a:gd name="adj" fmla="val 14545"/>
            </a:avLst>
          </a:prstGeom>
          <a:solidFill>
            <a:srgbClr val="EEF4FD"/>
          </a:solidFill>
          <a:ln w="12700">
            <a:solidFill>
              <a:srgbClr val="1F5BD6"/>
            </a:solidFill>
            <a:prstDash val="solid"/>
          </a:ln>
        </p:spPr>
        <p:txBody>
          <a:bodyPr/>
          <a:lstStyle/>
          <a:p>
            <a:endParaRPr lang="fr-FR"/>
          </a:p>
        </p:txBody>
      </p:sp>
      <p:sp>
        <p:nvSpPr>
          <p:cNvPr id="93" name="Text 65"/>
          <p:cNvSpPr txBox="1"/>
          <p:nvPr/>
        </p:nvSpPr>
        <p:spPr>
          <a:xfrm>
            <a:off x="9171432" y="4700000"/>
            <a:ext cx="2414016" cy="612000"/>
          </a:xfrm>
          <a:prstGeom prst="rect">
            <a:avLst/>
          </a:prstGeom>
          <a:noFill/>
          <a:ln/>
        </p:spPr>
        <p:txBody>
          <a:bodyPr wrap="square" lIns="0" tIns="0" rIns="0" bIns="0" rtlCol="0" anchor="ctr"/>
          <a:lstStyle/>
          <a:p>
            <a:pPr marL="0" indent="0" algn="ctr">
              <a:spcAft>
                <a:spcPts val="100"/>
              </a:spcAft>
              <a:buNone/>
            </a:pPr>
            <a:r>
              <a:rPr lang="en-US" sz="1150" b="1" dirty="0">
                <a:solidFill>
                  <a:srgbClr val="0012B5"/>
                </a:solidFill>
                <a:latin typeface="Verdana" pitchFamily="34" charset="0"/>
                <a:ea typeface="Verdana" pitchFamily="34" charset="-122"/>
                <a:cs typeface="Verdana" pitchFamily="34" charset="-120"/>
              </a:rPr>
              <a:t>Association Mare Durabilis</a:t>
            </a:r>
            <a:endParaRPr lang="en-US" sz="1250" dirty="0"/>
          </a:p>
          <a:p>
            <a:pPr marL="0" indent="0" algn="ctr">
              <a:spcAft>
                <a:spcPts val="100"/>
              </a:spcAft>
              <a:buNone/>
            </a:pPr>
            <a:r>
              <a:rPr lang="en-US" sz="950" dirty="0">
                <a:solidFill>
                  <a:srgbClr val="3A4658"/>
                </a:solidFill>
                <a:latin typeface="Verdana" pitchFamily="34" charset="0"/>
                <a:ea typeface="Verdana" pitchFamily="34" charset="-122"/>
                <a:cs typeface="Verdana" pitchFamily="34" charset="-120"/>
              </a:rPr>
              <a:t>refacture 0,20 ETP du chef de projet</a:t>
            </a:r>
            <a:endParaRPr lang="en-US" sz="1250" dirty="0"/>
          </a:p>
        </p:txBody>
      </p:sp>
      <p:sp>
        <p:nvSpPr>
          <p:cNvPr id="94" name="Shape 42"/>
          <p:cNvSpPr/>
          <p:nvPr/>
        </p:nvSpPr>
        <p:spPr>
          <a:xfrm>
            <a:off x="7726680" y="5006000"/>
            <a:ext cx="1371600" cy="914"/>
          </a:xfrm>
          <a:prstGeom prst="line">
            <a:avLst/>
          </a:prstGeom>
          <a:noFill/>
          <a:ln w="15875">
            <a:solidFill>
              <a:srgbClr val="1F5BD6"/>
            </a:solidFill>
            <a:prstDash val="solid"/>
            <a:tailEnd type="triangle"/>
          </a:ln>
        </p:spPr>
        <p:txBody>
          <a:bodyPr/>
          <a:lstStyle/>
          <a:p>
            <a:endParaRPr lang="fr-FR"/>
          </a:p>
        </p:txBody>
      </p:sp>
      <p:sp>
        <p:nvSpPr>
          <p:cNvPr id="95" name="Shape 43"/>
          <p:cNvSpPr/>
          <p:nvPr/>
        </p:nvSpPr>
        <p:spPr>
          <a:xfrm>
            <a:off x="8293608" y="4905416"/>
            <a:ext cx="237744" cy="201168"/>
          </a:xfrm>
          <a:prstGeom prst="roundRect">
            <a:avLst>
              <a:gd name="adj" fmla="val 18182"/>
            </a:avLst>
          </a:prstGeom>
          <a:solidFill>
            <a:srgbClr val="FFFFFF"/>
          </a:solidFill>
          <a:ln w="12700">
            <a:solidFill>
              <a:srgbClr val="1F5BD6"/>
            </a:solidFill>
            <a:prstDash val="solid"/>
          </a:ln>
        </p:spPr>
        <p:txBody>
          <a:bodyPr/>
          <a:lstStyle/>
          <a:p>
            <a:endParaRPr lang="fr-FR"/>
          </a:p>
        </p:txBody>
      </p:sp>
      <p:sp>
        <p:nvSpPr>
          <p:cNvPr id="96" name="Text 44"/>
          <p:cNvSpPr txBox="1"/>
          <p:nvPr/>
        </p:nvSpPr>
        <p:spPr>
          <a:xfrm>
            <a:off x="8293608" y="4905416"/>
            <a:ext cx="237744" cy="201168"/>
          </a:xfrm>
          <a:prstGeom prst="rect">
            <a:avLst/>
          </a:prstGeom>
          <a:noFill/>
          <a:ln/>
        </p:spPr>
        <p:txBody>
          <a:bodyPr wrap="square" lIns="0" tIns="0" rIns="0" bIns="0" rtlCol="0" anchor="ctr"/>
          <a:lstStyle/>
          <a:p>
            <a:pPr marL="0" indent="0" algn="ctr">
              <a:buNone/>
            </a:pPr>
            <a:r>
              <a:rPr lang="en-US" sz="1000" b="1" dirty="0">
                <a:solidFill>
                  <a:srgbClr val="0012B5"/>
                </a:solidFill>
                <a:latin typeface="Verdana" pitchFamily="34" charset="0"/>
                <a:ea typeface="Verdana" pitchFamily="34" charset="-122"/>
                <a:cs typeface="Verdana" pitchFamily="34" charset="-120"/>
              </a:rPr>
              <a:t>€</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CADRE JURIDIQUE · EN CLAIR</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Trois sources, un partage, des fonds propres</a:t>
            </a:r>
            <a:endParaRPr lang="en-US" sz="2300" dirty="0"/>
          </a:p>
        </p:txBody>
      </p:sp>
      <p:sp>
        <p:nvSpPr>
          <p:cNvPr id="4" name="Shape 2"/>
          <p:cNvSpPr/>
          <p:nvPr/>
        </p:nvSpPr>
        <p:spPr>
          <a:xfrm>
            <a:off x="548640" y="1417320"/>
            <a:ext cx="3611880" cy="2926080"/>
          </a:xfrm>
          <a:prstGeom prst="roundRect">
            <a:avLst>
              <a:gd name="adj" fmla="val 6250"/>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5" name="Shape 3"/>
          <p:cNvSpPr/>
          <p:nvPr/>
        </p:nvSpPr>
        <p:spPr>
          <a:xfrm>
            <a:off x="749808" y="1600200"/>
            <a:ext cx="512064" cy="512064"/>
          </a:xfrm>
          <a:prstGeom prst="ellipse">
            <a:avLst/>
          </a:prstGeom>
          <a:solidFill>
            <a:srgbClr val="0012B5"/>
          </a:solidFill>
          <a:ln w="12700">
            <a:solidFill>
              <a:srgbClr val="0012B5"/>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877824" y="1728216"/>
            <a:ext cx="256032" cy="256032"/>
          </a:xfrm>
          <a:prstGeom prst="rect">
            <a:avLst/>
          </a:prstGeom>
        </p:spPr>
      </p:pic>
      <p:sp>
        <p:nvSpPr>
          <p:cNvPr id="7" name="Text 4"/>
          <p:cNvSpPr txBox="1"/>
          <p:nvPr/>
        </p:nvSpPr>
        <p:spPr>
          <a:xfrm>
            <a:off x="1389888" y="1600200"/>
            <a:ext cx="2606040" cy="512064"/>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La commande du fonds</a:t>
            </a:r>
            <a:endParaRPr lang="en-US" sz="1550" dirty="0"/>
          </a:p>
        </p:txBody>
      </p:sp>
      <p:sp>
        <p:nvSpPr>
          <p:cNvPr id="8" name="Text 5"/>
          <p:cNvSpPr txBox="1"/>
          <p:nvPr/>
        </p:nvSpPr>
        <p:spPr>
          <a:xfrm>
            <a:off x="749808" y="2286000"/>
            <a:ext cx="3209544" cy="1965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3A4658"/>
                </a:solidFill>
                <a:latin typeface="Verdana" pitchFamily="34" charset="0"/>
                <a:ea typeface="Verdana" pitchFamily="34" charset="-122"/>
                <a:cs typeface="Verdana" pitchFamily="34" charset="-120"/>
              </a:rPr>
              <a:t>Les enveloppes de programme (P1 à P4) financent des missions, sur cahier des charges.</a:t>
            </a:r>
            <a:endParaRPr lang="en-US" sz="1300" dirty="0"/>
          </a:p>
          <a:p>
            <a:pPr marL="177800" indent="-177800">
              <a:spcAft>
                <a:spcPts val="600"/>
              </a:spcAft>
              <a:buSzPct val="100000"/>
              <a:buChar char="•"/>
            </a:pPr>
            <a:r>
              <a:rPr lang="en-US" sz="1300" dirty="0">
                <a:solidFill>
                  <a:srgbClr val="3A4658"/>
                </a:solidFill>
                <a:latin typeface="Verdana" pitchFamily="34" charset="0"/>
                <a:ea typeface="Verdana" pitchFamily="34" charset="-122"/>
                <a:cs typeface="Verdana" pitchFamily="34" charset="-120"/>
              </a:rPr>
              <a:t>Missions pour les pros : publiées sur la plateforme.</a:t>
            </a:r>
            <a:endParaRPr lang="en-US" sz="1300" dirty="0"/>
          </a:p>
          <a:p>
            <a:pPr marL="177800" indent="-177800">
              <a:spcAft>
                <a:spcPts val="600"/>
              </a:spcAft>
              <a:buSzPct val="100000"/>
              <a:buChar char="•"/>
            </a:pPr>
            <a:r>
              <a:rPr lang="en-US" sz="1300" dirty="0">
                <a:solidFill>
                  <a:srgbClr val="3A4658"/>
                </a:solidFill>
                <a:latin typeface="Verdana" pitchFamily="34" charset="0"/>
                <a:ea typeface="Verdana" pitchFamily="34" charset="-122"/>
                <a:cs typeface="Verdana" pitchFamily="34" charset="-120"/>
              </a:rPr>
              <a:t>Commande hors plateforme : passage obligé par la plateforme dès qu’un pro est mobilisé.</a:t>
            </a:r>
            <a:endParaRPr lang="en-US" sz="1300" dirty="0"/>
          </a:p>
        </p:txBody>
      </p:sp>
      <p:sp>
        <p:nvSpPr>
          <p:cNvPr id="9" name="Shape 6"/>
          <p:cNvSpPr/>
          <p:nvPr/>
        </p:nvSpPr>
        <p:spPr>
          <a:xfrm>
            <a:off x="4343400" y="1417320"/>
            <a:ext cx="3611880" cy="2926080"/>
          </a:xfrm>
          <a:prstGeom prst="roundRect">
            <a:avLst>
              <a:gd name="adj" fmla="val 6250"/>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0" name="Shape 7"/>
          <p:cNvSpPr/>
          <p:nvPr/>
        </p:nvSpPr>
        <p:spPr>
          <a:xfrm>
            <a:off x="4544568" y="1600200"/>
            <a:ext cx="512064" cy="512064"/>
          </a:xfrm>
          <a:prstGeom prst="ellipse">
            <a:avLst/>
          </a:prstGeom>
          <a:solidFill>
            <a:srgbClr val="1F5BD6"/>
          </a:solidFill>
          <a:ln w="12700">
            <a:solidFill>
              <a:srgbClr val="1F5BD6"/>
            </a:solidFill>
            <a:prstDash val="solid"/>
          </a:ln>
        </p:spPr>
        <p:txBody>
          <a:bodyPr/>
          <a:lstStyle/>
          <a:p>
            <a:endParaRPr lang="fr-FR"/>
          </a:p>
        </p:txBody>
      </p:sp>
      <p:pic>
        <p:nvPicPr>
          <p:cNvPr id="11" name="Image 1" descr="preencoded.png"/>
          <p:cNvPicPr>
            <a:picLocks noChangeAspect="1"/>
          </p:cNvPicPr>
          <p:nvPr/>
        </p:nvPicPr>
        <p:blipFill>
          <a:blip r:embed="rId4"/>
          <a:stretch>
            <a:fillRect/>
          </a:stretch>
        </p:blipFill>
        <p:spPr>
          <a:xfrm>
            <a:off x="4672584" y="1728216"/>
            <a:ext cx="256032" cy="256032"/>
          </a:xfrm>
          <a:prstGeom prst="rect">
            <a:avLst/>
          </a:prstGeom>
        </p:spPr>
      </p:pic>
      <p:sp>
        <p:nvSpPr>
          <p:cNvPr id="12" name="Text 8"/>
          <p:cNvSpPr txBox="1"/>
          <p:nvPr/>
        </p:nvSpPr>
        <p:spPr>
          <a:xfrm>
            <a:off x="5184648" y="1600200"/>
            <a:ext cx="2606040" cy="512064"/>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Le financement du fonds</a:t>
            </a:r>
            <a:endParaRPr lang="en-US" sz="1550" dirty="0"/>
          </a:p>
        </p:txBody>
      </p:sp>
      <p:sp>
        <p:nvSpPr>
          <p:cNvPr id="13" name="Text 9"/>
          <p:cNvSpPr txBox="1"/>
          <p:nvPr/>
        </p:nvSpPr>
        <p:spPr>
          <a:xfrm>
            <a:off x="4544568" y="2286000"/>
            <a:ext cx="3209544" cy="1965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3A4658"/>
                </a:solidFill>
                <a:latin typeface="Verdana" pitchFamily="34" charset="0"/>
                <a:ea typeface="Verdana" pitchFamily="34" charset="-122"/>
                <a:cs typeface="Verdana" pitchFamily="34" charset="-120"/>
              </a:rPr>
              <a:t>L’enveloppe de moyens communs apporte le démarrage : constitution, capital initial.</a:t>
            </a:r>
            <a:endParaRPr lang="en-US" sz="1300" dirty="0"/>
          </a:p>
          <a:p>
            <a:pPr marL="177800" indent="-177800">
              <a:spcAft>
                <a:spcPts val="600"/>
              </a:spcAft>
              <a:buSzPct val="100000"/>
              <a:buChar char="•"/>
            </a:pPr>
            <a:r>
              <a:rPr lang="en-US" sz="1300" dirty="0">
                <a:solidFill>
                  <a:srgbClr val="3A4658"/>
                </a:solidFill>
                <a:latin typeface="Verdana" pitchFamily="34" charset="0"/>
                <a:ea typeface="Verdana" pitchFamily="34" charset="-122"/>
                <a:cs typeface="Verdana" pitchFamily="34" charset="-120"/>
              </a:rPr>
              <a:t>Elle couvre les charges d’exploitation que la part conservée ne couvre pas encore.</a:t>
            </a:r>
            <a:endParaRPr lang="en-US" sz="1300" dirty="0"/>
          </a:p>
        </p:txBody>
      </p:sp>
      <p:sp>
        <p:nvSpPr>
          <p:cNvPr id="14" name="Shape 10"/>
          <p:cNvSpPr/>
          <p:nvPr/>
        </p:nvSpPr>
        <p:spPr>
          <a:xfrm>
            <a:off x="8138160" y="1417320"/>
            <a:ext cx="3611880" cy="2926080"/>
          </a:xfrm>
          <a:prstGeom prst="roundRect">
            <a:avLst>
              <a:gd name="adj" fmla="val 6250"/>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5" name="Shape 11"/>
          <p:cNvSpPr/>
          <p:nvPr/>
        </p:nvSpPr>
        <p:spPr>
          <a:xfrm>
            <a:off x="8339328" y="1600200"/>
            <a:ext cx="512064" cy="512064"/>
          </a:xfrm>
          <a:prstGeom prst="ellipse">
            <a:avLst/>
          </a:prstGeom>
          <a:solidFill>
            <a:srgbClr val="00A7B5"/>
          </a:solidFill>
          <a:ln w="12700">
            <a:solidFill>
              <a:srgbClr val="00A7B5"/>
            </a:solidFill>
            <a:prstDash val="solid"/>
          </a:ln>
        </p:spPr>
        <p:txBody>
          <a:bodyPr/>
          <a:lstStyle/>
          <a:p>
            <a:endParaRPr lang="fr-FR"/>
          </a:p>
        </p:txBody>
      </p:sp>
      <p:pic>
        <p:nvPicPr>
          <p:cNvPr id="16" name="Image 2" descr="preencoded.png"/>
          <p:cNvPicPr>
            <a:picLocks noChangeAspect="1"/>
          </p:cNvPicPr>
          <p:nvPr/>
        </p:nvPicPr>
        <p:blipFill>
          <a:blip r:embed="rId5"/>
          <a:stretch>
            <a:fillRect/>
          </a:stretch>
        </p:blipFill>
        <p:spPr>
          <a:xfrm>
            <a:off x="8467344" y="1728216"/>
            <a:ext cx="256032" cy="256032"/>
          </a:xfrm>
          <a:prstGeom prst="rect">
            <a:avLst/>
          </a:prstGeom>
        </p:spPr>
      </p:pic>
      <p:sp>
        <p:nvSpPr>
          <p:cNvPr id="17" name="Text 12"/>
          <p:cNvSpPr txBox="1"/>
          <p:nvPr/>
        </p:nvSpPr>
        <p:spPr>
          <a:xfrm>
            <a:off x="8979408" y="1600200"/>
            <a:ext cx="2606040" cy="512064"/>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La demande extérieure</a:t>
            </a:r>
            <a:endParaRPr lang="en-US" sz="1550" dirty="0"/>
          </a:p>
        </p:txBody>
      </p:sp>
      <p:sp>
        <p:nvSpPr>
          <p:cNvPr id="18" name="Text 13"/>
          <p:cNvSpPr txBox="1"/>
          <p:nvPr/>
        </p:nvSpPr>
        <p:spPr>
          <a:xfrm>
            <a:off x="8339328" y="2286000"/>
            <a:ext cx="3209544" cy="1965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3A4658"/>
                </a:solidFill>
                <a:latin typeface="Verdana" pitchFamily="34" charset="0"/>
                <a:ea typeface="Verdana" pitchFamily="34" charset="-122"/>
                <a:cs typeface="Verdana" pitchFamily="34" charset="-120"/>
              </a:rPr>
              <a:t>Touristes : pesca-tourisme.</a:t>
            </a:r>
            <a:endParaRPr lang="en-US" sz="1300" dirty="0"/>
          </a:p>
          <a:p>
            <a:pPr marL="177800" indent="-177800">
              <a:spcAft>
                <a:spcPts val="600"/>
              </a:spcAft>
              <a:buSzPct val="100000"/>
              <a:buChar char="•"/>
            </a:pPr>
            <a:r>
              <a:rPr lang="en-US" sz="1300" dirty="0">
                <a:solidFill>
                  <a:srgbClr val="3A4658"/>
                </a:solidFill>
                <a:latin typeface="Verdana" pitchFamily="34" charset="0"/>
                <a:ea typeface="Verdana" pitchFamily="34" charset="-122"/>
                <a:cs typeface="Verdana" pitchFamily="34" charset="-120"/>
              </a:rPr>
              <a:t>Bureaux d’études : données en mer.</a:t>
            </a:r>
            <a:endParaRPr lang="en-US" sz="1300" dirty="0"/>
          </a:p>
          <a:p>
            <a:pPr marL="177800" indent="-177800">
              <a:spcAft>
                <a:spcPts val="600"/>
              </a:spcAft>
              <a:buSzPct val="100000"/>
              <a:buChar char="•"/>
            </a:pPr>
            <a:r>
              <a:rPr lang="en-US" sz="1300" dirty="0">
                <a:solidFill>
                  <a:srgbClr val="3A4658"/>
                </a:solidFill>
                <a:latin typeface="Verdana" pitchFamily="34" charset="0"/>
                <a:ea typeface="Verdana" pitchFamily="34" charset="-122"/>
                <a:cs typeface="Verdana" pitchFamily="34" charset="-120"/>
              </a:rPr>
              <a:t>Instituts de recherche : campagnes.</a:t>
            </a:r>
            <a:endParaRPr lang="en-US" sz="1300" dirty="0"/>
          </a:p>
        </p:txBody>
      </p:sp>
      <p:sp>
        <p:nvSpPr>
          <p:cNvPr id="19" name="Shape 14"/>
          <p:cNvSpPr/>
          <p:nvPr/>
        </p:nvSpPr>
        <p:spPr>
          <a:xfrm>
            <a:off x="548640" y="4572000"/>
            <a:ext cx="11094415" cy="1828800"/>
          </a:xfrm>
          <a:prstGeom prst="roundRect">
            <a:avLst>
              <a:gd name="adj" fmla="val 10000"/>
            </a:avLst>
          </a:prstGeom>
          <a:solidFill>
            <a:srgbClr val="FFFFFF"/>
          </a:solidFill>
          <a:ln w="9525">
            <a:solidFill>
              <a:srgbClr val="E1E9F5"/>
            </a:solidFill>
            <a:prstDash val="solid"/>
          </a:ln>
        </p:spPr>
        <p:txBody>
          <a:bodyPr/>
          <a:lstStyle/>
          <a:p>
            <a:endParaRPr lang="fr-FR"/>
          </a:p>
        </p:txBody>
      </p:sp>
      <p:sp>
        <p:nvSpPr>
          <p:cNvPr id="20" name="Shape 15"/>
          <p:cNvSpPr/>
          <p:nvPr/>
        </p:nvSpPr>
        <p:spPr>
          <a:xfrm>
            <a:off x="777240" y="4754880"/>
            <a:ext cx="457200" cy="457200"/>
          </a:xfrm>
          <a:prstGeom prst="ellipse">
            <a:avLst/>
          </a:prstGeom>
          <a:solidFill>
            <a:srgbClr val="0E9F6E"/>
          </a:solidFill>
          <a:ln w="12700">
            <a:solidFill>
              <a:srgbClr val="0E9F6E"/>
            </a:solidFill>
            <a:prstDash val="solid"/>
          </a:ln>
        </p:spPr>
        <p:txBody>
          <a:bodyPr/>
          <a:lstStyle/>
          <a:p>
            <a:endParaRPr lang="fr-FR"/>
          </a:p>
        </p:txBody>
      </p:sp>
      <p:sp>
        <p:nvSpPr>
          <p:cNvPr id="21" name="Text 16"/>
          <p:cNvSpPr txBox="1"/>
          <p:nvPr/>
        </p:nvSpPr>
        <p:spPr>
          <a:xfrm>
            <a:off x="777240" y="4754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1</a:t>
            </a:r>
            <a:endParaRPr lang="en-US" sz="1400" dirty="0"/>
          </a:p>
        </p:txBody>
      </p:sp>
      <p:sp>
        <p:nvSpPr>
          <p:cNvPr id="22" name="Text 17"/>
          <p:cNvSpPr txBox="1"/>
          <p:nvPr/>
        </p:nvSpPr>
        <p:spPr>
          <a:xfrm>
            <a:off x="1417320" y="4773168"/>
            <a:ext cx="2880360" cy="310896"/>
          </a:xfrm>
          <a:prstGeom prst="rect">
            <a:avLst/>
          </a:prstGeom>
          <a:noFill/>
          <a:ln/>
        </p:spPr>
        <p:txBody>
          <a:bodyPr wrap="square" lIns="0" tIns="0" rIns="0" bIns="0" rtlCol="0" anchor="ctr"/>
          <a:lstStyle/>
          <a:p>
            <a:pPr marL="0" indent="0">
              <a:buNone/>
            </a:pPr>
            <a:r>
              <a:rPr lang="en-US" sz="1500" b="1" dirty="0">
                <a:solidFill>
                  <a:srgbClr val="0012B5"/>
                </a:solidFill>
                <a:latin typeface="Verdana" pitchFamily="34" charset="0"/>
                <a:ea typeface="Verdana" pitchFamily="34" charset="-122"/>
                <a:cs typeface="Verdana" pitchFamily="34" charset="-120"/>
              </a:rPr>
              <a:t>80 % au pêcheur</a:t>
            </a:r>
            <a:endParaRPr lang="en-US" sz="1500" dirty="0"/>
          </a:p>
        </p:txBody>
      </p:sp>
      <p:sp>
        <p:nvSpPr>
          <p:cNvPr id="23" name="Text 18"/>
          <p:cNvSpPr txBox="1"/>
          <p:nvPr/>
        </p:nvSpPr>
        <p:spPr>
          <a:xfrm>
            <a:off x="1417320" y="5138928"/>
            <a:ext cx="2880360" cy="1143000"/>
          </a:xfrm>
          <a:prstGeom prst="rect">
            <a:avLst/>
          </a:prstGeom>
          <a:noFill/>
          <a:ln/>
        </p:spPr>
        <p:txBody>
          <a:bodyPr wrap="square" lIns="0" tIns="0" rIns="0" bIns="0" rtlCol="0" anchor="t"/>
          <a:lstStyle/>
          <a:p>
            <a:pPr marL="0" indent="0">
              <a:buNone/>
            </a:pPr>
            <a:r>
              <a:rPr lang="en-US" sz="1250" dirty="0">
                <a:solidFill>
                  <a:srgbClr val="3A4658"/>
                </a:solidFill>
                <a:latin typeface="Verdana" pitchFamily="34" charset="0"/>
                <a:ea typeface="Verdana" pitchFamily="34" charset="-122"/>
                <a:cs typeface="Verdana" pitchFamily="34" charset="-120"/>
              </a:rPr>
              <a:t>Rémunération de la mission. Il peut affecter volontairement une fraction aux fonds propres : elle lui ouvre des droits au capital.</a:t>
            </a:r>
            <a:endParaRPr lang="en-US" sz="1250" dirty="0"/>
          </a:p>
        </p:txBody>
      </p:sp>
      <p:sp>
        <p:nvSpPr>
          <p:cNvPr id="24" name="Shape 19"/>
          <p:cNvSpPr/>
          <p:nvPr/>
        </p:nvSpPr>
        <p:spPr>
          <a:xfrm>
            <a:off x="4480560" y="4754880"/>
            <a:ext cx="457200" cy="457200"/>
          </a:xfrm>
          <a:prstGeom prst="ellipse">
            <a:avLst/>
          </a:prstGeom>
          <a:solidFill>
            <a:srgbClr val="1F5BD6"/>
          </a:solidFill>
          <a:ln w="12700">
            <a:solidFill>
              <a:srgbClr val="1F5BD6"/>
            </a:solidFill>
            <a:prstDash val="solid"/>
          </a:ln>
        </p:spPr>
        <p:txBody>
          <a:bodyPr/>
          <a:lstStyle/>
          <a:p>
            <a:endParaRPr lang="fr-FR"/>
          </a:p>
        </p:txBody>
      </p:sp>
      <p:sp>
        <p:nvSpPr>
          <p:cNvPr id="25" name="Text 20"/>
          <p:cNvSpPr txBox="1"/>
          <p:nvPr/>
        </p:nvSpPr>
        <p:spPr>
          <a:xfrm>
            <a:off x="4480560" y="4754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2</a:t>
            </a:r>
            <a:endParaRPr lang="en-US" sz="1400" dirty="0"/>
          </a:p>
        </p:txBody>
      </p:sp>
      <p:sp>
        <p:nvSpPr>
          <p:cNvPr id="26" name="Text 21"/>
          <p:cNvSpPr txBox="1"/>
          <p:nvPr/>
        </p:nvSpPr>
        <p:spPr>
          <a:xfrm>
            <a:off x="5120640" y="4773168"/>
            <a:ext cx="2880360" cy="310896"/>
          </a:xfrm>
          <a:prstGeom prst="rect">
            <a:avLst/>
          </a:prstGeom>
          <a:noFill/>
          <a:ln/>
        </p:spPr>
        <p:txBody>
          <a:bodyPr wrap="square" lIns="0" tIns="0" rIns="0" bIns="0" rtlCol="0" anchor="ctr"/>
          <a:lstStyle/>
          <a:p>
            <a:pPr marL="0" indent="0">
              <a:buNone/>
            </a:pPr>
            <a:r>
              <a:rPr lang="en-US" sz="1500" b="1" dirty="0">
                <a:solidFill>
                  <a:srgbClr val="0012B5"/>
                </a:solidFill>
                <a:latin typeface="Verdana" pitchFamily="34" charset="0"/>
                <a:ea typeface="Verdana" pitchFamily="34" charset="-122"/>
                <a:cs typeface="Verdana" pitchFamily="34" charset="-120"/>
              </a:rPr>
              <a:t>20 % à Mare Services</a:t>
            </a:r>
            <a:endParaRPr lang="en-US" sz="1500" dirty="0"/>
          </a:p>
        </p:txBody>
      </p:sp>
      <p:sp>
        <p:nvSpPr>
          <p:cNvPr id="27" name="Text 22"/>
          <p:cNvSpPr txBox="1"/>
          <p:nvPr/>
        </p:nvSpPr>
        <p:spPr>
          <a:xfrm>
            <a:off x="5120640" y="5138928"/>
            <a:ext cx="2880360" cy="1143000"/>
          </a:xfrm>
          <a:prstGeom prst="rect">
            <a:avLst/>
          </a:prstGeom>
          <a:noFill/>
          <a:ln/>
        </p:spPr>
        <p:txBody>
          <a:bodyPr wrap="square" lIns="0" tIns="0" rIns="0" bIns="0" rtlCol="0" anchor="t"/>
          <a:lstStyle/>
          <a:p>
            <a:pPr marL="0" indent="0">
              <a:buNone/>
            </a:pPr>
            <a:r>
              <a:rPr lang="en-US" sz="1250" dirty="0">
                <a:solidFill>
                  <a:srgbClr val="3A4658"/>
                </a:solidFill>
                <a:latin typeface="Verdana" pitchFamily="34" charset="0"/>
                <a:ea typeface="Verdana" pitchFamily="34" charset="-122"/>
                <a:cs typeface="Verdana" pitchFamily="34" charset="-120"/>
              </a:rPr>
              <a:t>Couvre les charges : outils, paiement, temps du chef de projet et moyens matériels refacturés par l’association. Le surplus éventuel rejoint les fonds propres, sans droits associés.</a:t>
            </a:r>
            <a:endParaRPr lang="en-US" sz="1250" dirty="0"/>
          </a:p>
        </p:txBody>
      </p:sp>
      <p:sp>
        <p:nvSpPr>
          <p:cNvPr id="28" name="Shape 23"/>
          <p:cNvSpPr/>
          <p:nvPr/>
        </p:nvSpPr>
        <p:spPr>
          <a:xfrm>
            <a:off x="8183880" y="4754880"/>
            <a:ext cx="457200" cy="457200"/>
          </a:xfrm>
          <a:prstGeom prst="ellipse">
            <a:avLst/>
          </a:prstGeom>
          <a:solidFill>
            <a:srgbClr val="0012B5"/>
          </a:solidFill>
          <a:ln w="12700">
            <a:solidFill>
              <a:srgbClr val="0012B5"/>
            </a:solidFill>
            <a:prstDash val="solid"/>
          </a:ln>
        </p:spPr>
        <p:txBody>
          <a:bodyPr/>
          <a:lstStyle/>
          <a:p>
            <a:endParaRPr lang="fr-FR"/>
          </a:p>
        </p:txBody>
      </p:sp>
      <p:sp>
        <p:nvSpPr>
          <p:cNvPr id="29" name="Text 24"/>
          <p:cNvSpPr txBox="1"/>
          <p:nvPr/>
        </p:nvSpPr>
        <p:spPr>
          <a:xfrm>
            <a:off x="8183880" y="4754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3</a:t>
            </a:r>
            <a:endParaRPr lang="en-US" sz="1400" dirty="0"/>
          </a:p>
        </p:txBody>
      </p:sp>
      <p:sp>
        <p:nvSpPr>
          <p:cNvPr id="30" name="Text 25"/>
          <p:cNvSpPr txBox="1"/>
          <p:nvPr/>
        </p:nvSpPr>
        <p:spPr>
          <a:xfrm>
            <a:off x="8823960" y="4773168"/>
            <a:ext cx="2880360" cy="310896"/>
          </a:xfrm>
          <a:prstGeom prst="rect">
            <a:avLst/>
          </a:prstGeom>
          <a:noFill/>
          <a:ln/>
        </p:spPr>
        <p:txBody>
          <a:bodyPr wrap="square" lIns="0" tIns="0" rIns="0" bIns="0" rtlCol="0" anchor="ctr"/>
          <a:lstStyle/>
          <a:p>
            <a:pPr marL="0" indent="0">
              <a:buNone/>
            </a:pPr>
            <a:r>
              <a:rPr lang="en-US" sz="1500" b="1" dirty="0">
                <a:solidFill>
                  <a:srgbClr val="0012B5"/>
                </a:solidFill>
                <a:latin typeface="Verdana" pitchFamily="34" charset="0"/>
                <a:ea typeface="Verdana" pitchFamily="34" charset="-122"/>
                <a:cs typeface="Verdana" pitchFamily="34" charset="-120"/>
              </a:rPr>
              <a:t>Les fonds propres</a:t>
            </a:r>
            <a:endParaRPr lang="en-US" sz="1500" dirty="0"/>
          </a:p>
        </p:txBody>
      </p:sp>
      <p:sp>
        <p:nvSpPr>
          <p:cNvPr id="31" name="Text 26"/>
          <p:cNvSpPr txBox="1"/>
          <p:nvPr/>
        </p:nvSpPr>
        <p:spPr>
          <a:xfrm>
            <a:off x="8823960" y="5138928"/>
            <a:ext cx="2880360" cy="1143000"/>
          </a:xfrm>
          <a:prstGeom prst="rect">
            <a:avLst/>
          </a:prstGeom>
          <a:noFill/>
          <a:ln/>
        </p:spPr>
        <p:txBody>
          <a:bodyPr wrap="square" lIns="0" tIns="0" rIns="0" bIns="0" rtlCol="0" anchor="t"/>
          <a:lstStyle/>
          <a:p>
            <a:pPr marL="0" indent="0">
              <a:buNone/>
            </a:pPr>
            <a:r>
              <a:rPr lang="en-US" sz="1250" dirty="0">
                <a:solidFill>
                  <a:srgbClr val="3A4658"/>
                </a:solidFill>
                <a:latin typeface="Verdana" pitchFamily="34" charset="0"/>
                <a:ea typeface="Verdana" pitchFamily="34" charset="-122"/>
                <a:cs typeface="Verdana" pitchFamily="34" charset="-120"/>
              </a:rPr>
              <a:t>Pour une start-up de programme, si l’on décide d’en créer une. Résultat : au fonds et aux pêcheurs actionnaires.</a:t>
            </a:r>
            <a:endParaRPr lang="en-US" sz="1250" dirty="0"/>
          </a:p>
        </p:txBody>
      </p:sp>
      <p:sp>
        <p:nvSpPr>
          <p:cNvPr id="32" name="Text 27"/>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44</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BUSINESS MODEL · PREMIÈRE OPTION</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La simulation 2027 : faire tourner le mécanisme</a:t>
            </a:r>
            <a:endParaRPr lang="en-US" sz="2300" dirty="0"/>
          </a:p>
        </p:txBody>
      </p:sp>
      <p:sp>
        <p:nvSpPr>
          <p:cNvPr id="4" name="Shape 2"/>
          <p:cNvSpPr/>
          <p:nvPr/>
        </p:nvSpPr>
        <p:spPr>
          <a:xfrm>
            <a:off x="7589520" y="329184"/>
            <a:ext cx="4069080" cy="292608"/>
          </a:xfrm>
          <a:prstGeom prst="roundRect">
            <a:avLst>
              <a:gd name="adj" fmla="val 50000"/>
            </a:avLst>
          </a:prstGeom>
          <a:solidFill>
            <a:srgbClr val="FFF4DC"/>
          </a:solidFill>
          <a:ln w="12700">
            <a:solidFill>
              <a:srgbClr val="FFF4DC"/>
            </a:solidFill>
            <a:prstDash val="solid"/>
          </a:ln>
        </p:spPr>
        <p:txBody>
          <a:bodyPr/>
          <a:lstStyle/>
          <a:p>
            <a:endParaRPr lang="fr-FR"/>
          </a:p>
        </p:txBody>
      </p:sp>
      <p:sp>
        <p:nvSpPr>
          <p:cNvPr id="5" name="Text 3"/>
          <p:cNvSpPr txBox="1"/>
          <p:nvPr/>
        </p:nvSpPr>
        <p:spPr>
          <a:xfrm>
            <a:off x="7589520" y="329184"/>
            <a:ext cx="4069080" cy="292608"/>
          </a:xfrm>
          <a:prstGeom prst="rect">
            <a:avLst/>
          </a:prstGeom>
          <a:noFill/>
          <a:ln/>
        </p:spPr>
        <p:txBody>
          <a:bodyPr wrap="square" lIns="0" tIns="0" rIns="0" bIns="0" rtlCol="0" anchor="ctr"/>
          <a:lstStyle/>
          <a:p>
            <a:pPr marL="0" indent="0" algn="ctr">
              <a:buNone/>
            </a:pPr>
            <a:r>
              <a:rPr lang="en-US" sz="1050" b="1" dirty="0">
                <a:solidFill>
                  <a:srgbClr val="B45309"/>
                </a:solidFill>
                <a:latin typeface="Verdana" pitchFamily="34" charset="0"/>
                <a:ea typeface="Verdana" pitchFamily="34" charset="-122"/>
                <a:cs typeface="Verdana" pitchFamily="34" charset="-120"/>
              </a:rPr>
              <a:t>Hypothèses de travail · aucun engagement</a:t>
            </a:r>
            <a:endParaRPr lang="en-US" sz="1050" dirty="0"/>
          </a:p>
        </p:txBody>
      </p:sp>
      <p:sp>
        <p:nvSpPr>
          <p:cNvPr id="6" name="Shape 4"/>
          <p:cNvSpPr/>
          <p:nvPr/>
        </p:nvSpPr>
        <p:spPr>
          <a:xfrm>
            <a:off x="548640" y="1417320"/>
            <a:ext cx="2679192" cy="1874520"/>
          </a:xfrm>
          <a:prstGeom prst="roundRect">
            <a:avLst>
              <a:gd name="adj" fmla="val 9756"/>
            </a:avLst>
          </a:prstGeom>
          <a:solidFill>
            <a:srgbClr val="EEF4FD"/>
          </a:solidFill>
          <a:ln w="12700">
            <a:solidFill>
              <a:srgbClr val="EEF4FD"/>
            </a:solidFill>
            <a:prstDash val="solid"/>
          </a:ln>
        </p:spPr>
        <p:txBody>
          <a:bodyPr/>
          <a:lstStyle/>
          <a:p>
            <a:endParaRPr lang="fr-FR"/>
          </a:p>
        </p:txBody>
      </p:sp>
      <p:sp>
        <p:nvSpPr>
          <p:cNvPr id="7" name="Text 5"/>
          <p:cNvSpPr txBox="1"/>
          <p:nvPr/>
        </p:nvSpPr>
        <p:spPr>
          <a:xfrm>
            <a:off x="548640" y="1508760"/>
            <a:ext cx="2679192" cy="685800"/>
          </a:xfrm>
          <a:prstGeom prst="rect">
            <a:avLst/>
          </a:prstGeom>
          <a:noFill/>
          <a:ln/>
        </p:spPr>
        <p:txBody>
          <a:bodyPr wrap="square" lIns="0" tIns="0" rIns="0" bIns="0" rtlCol="0" anchor="ctr"/>
          <a:lstStyle/>
          <a:p>
            <a:pPr marL="0" indent="0" algn="ctr">
              <a:buNone/>
            </a:pPr>
            <a:r>
              <a:rPr lang="en-US" sz="2800" b="1" dirty="0">
                <a:solidFill>
                  <a:srgbClr val="1F5BD6"/>
                </a:solidFill>
                <a:latin typeface="Verdana" pitchFamily="34" charset="0"/>
                <a:ea typeface="Verdana" pitchFamily="34" charset="-122"/>
                <a:cs typeface="Verdana" pitchFamily="34" charset="-120"/>
              </a:rPr>
              <a:t>22</a:t>
            </a:r>
            <a:endParaRPr lang="en-US" sz="2800" dirty="0"/>
          </a:p>
        </p:txBody>
      </p:sp>
      <p:sp>
        <p:nvSpPr>
          <p:cNvPr id="8" name="Text 6"/>
          <p:cNvSpPr txBox="1"/>
          <p:nvPr/>
        </p:nvSpPr>
        <p:spPr>
          <a:xfrm>
            <a:off x="685800" y="2212848"/>
            <a:ext cx="2404872" cy="457200"/>
          </a:xfrm>
          <a:prstGeom prst="rect">
            <a:avLst/>
          </a:prstGeom>
          <a:noFill/>
          <a:ln/>
        </p:spPr>
        <p:txBody>
          <a:bodyPr wrap="square" lIns="0" tIns="0" rIns="0" bIns="0" rtlCol="0" anchor="t"/>
          <a:lstStyle/>
          <a:p>
            <a:pPr marL="0" indent="0" algn="ctr">
              <a:buNone/>
            </a:pPr>
            <a:r>
              <a:rPr lang="en-US" sz="1300" b="1" dirty="0">
                <a:solidFill>
                  <a:srgbClr val="0012B5"/>
                </a:solidFill>
                <a:latin typeface="Verdana" pitchFamily="34" charset="0"/>
                <a:ea typeface="Verdana" pitchFamily="34" charset="-122"/>
                <a:cs typeface="Verdana" pitchFamily="34" charset="-120"/>
              </a:rPr>
              <a:t>missions et sorties par an</a:t>
            </a:r>
            <a:endParaRPr lang="en-US" sz="1300" dirty="0"/>
          </a:p>
        </p:txBody>
      </p:sp>
      <p:sp>
        <p:nvSpPr>
          <p:cNvPr id="9" name="Text 7"/>
          <p:cNvSpPr txBox="1"/>
          <p:nvPr/>
        </p:nvSpPr>
        <p:spPr>
          <a:xfrm>
            <a:off x="685800" y="2697480"/>
            <a:ext cx="2404872" cy="502920"/>
          </a:xfrm>
          <a:prstGeom prst="rect">
            <a:avLst/>
          </a:prstGeom>
          <a:noFill/>
          <a:ln/>
        </p:spPr>
        <p:txBody>
          <a:bodyPr wrap="square" lIns="0" tIns="0" rIns="0" bIns="0" rtlCol="0" anchor="t"/>
          <a:lstStyle/>
          <a:p>
            <a:pPr marL="0" indent="0" algn="ctr">
              <a:buNone/>
            </a:pPr>
            <a:r>
              <a:rPr lang="en-US" sz="1200" dirty="0">
                <a:solidFill>
                  <a:srgbClr val="3A4658"/>
                </a:solidFill>
                <a:latin typeface="Verdana" pitchFamily="34" charset="0"/>
                <a:ea typeface="Verdana" pitchFamily="34" charset="-122"/>
                <a:cs typeface="Verdana" pitchFamily="34" charset="-120"/>
              </a:rPr>
              <a:t>12 scientifiques (P1), 10 de pesca-tourisme</a:t>
            </a:r>
            <a:endParaRPr lang="en-US" sz="1200" dirty="0"/>
          </a:p>
        </p:txBody>
      </p:sp>
      <p:sp>
        <p:nvSpPr>
          <p:cNvPr id="10" name="Shape 8"/>
          <p:cNvSpPr/>
          <p:nvPr/>
        </p:nvSpPr>
        <p:spPr>
          <a:xfrm>
            <a:off x="3383280" y="1417320"/>
            <a:ext cx="2679192" cy="1874520"/>
          </a:xfrm>
          <a:prstGeom prst="roundRect">
            <a:avLst>
              <a:gd name="adj" fmla="val 9756"/>
            </a:avLst>
          </a:prstGeom>
          <a:solidFill>
            <a:srgbClr val="EEF4FD"/>
          </a:solidFill>
          <a:ln w="12700">
            <a:solidFill>
              <a:srgbClr val="EEF4FD"/>
            </a:solidFill>
            <a:prstDash val="solid"/>
          </a:ln>
        </p:spPr>
        <p:txBody>
          <a:bodyPr/>
          <a:lstStyle/>
          <a:p>
            <a:endParaRPr lang="fr-FR"/>
          </a:p>
        </p:txBody>
      </p:sp>
      <p:sp>
        <p:nvSpPr>
          <p:cNvPr id="11" name="Text 9"/>
          <p:cNvSpPr txBox="1"/>
          <p:nvPr/>
        </p:nvSpPr>
        <p:spPr>
          <a:xfrm>
            <a:off x="3383280" y="1508760"/>
            <a:ext cx="2679192" cy="685800"/>
          </a:xfrm>
          <a:prstGeom prst="rect">
            <a:avLst/>
          </a:prstGeom>
          <a:noFill/>
          <a:ln/>
        </p:spPr>
        <p:txBody>
          <a:bodyPr wrap="square" lIns="0" tIns="0" rIns="0" bIns="0" rtlCol="0" anchor="ctr"/>
          <a:lstStyle/>
          <a:p>
            <a:pPr marL="0" indent="0" algn="ctr">
              <a:buNone/>
            </a:pPr>
            <a:r>
              <a:rPr lang="en-US" sz="2800" b="1" dirty="0">
                <a:solidFill>
                  <a:srgbClr val="1F5BD6"/>
                </a:solidFill>
                <a:latin typeface="Verdana" pitchFamily="34" charset="0"/>
                <a:ea typeface="Verdana" pitchFamily="34" charset="-122"/>
                <a:cs typeface="Verdana" pitchFamily="34" charset="-120"/>
              </a:rPr>
              <a:t>35 600 €</a:t>
            </a:r>
            <a:endParaRPr lang="en-US" sz="2800" dirty="0"/>
          </a:p>
        </p:txBody>
      </p:sp>
      <p:sp>
        <p:nvSpPr>
          <p:cNvPr id="12" name="Text 10"/>
          <p:cNvSpPr txBox="1"/>
          <p:nvPr/>
        </p:nvSpPr>
        <p:spPr>
          <a:xfrm>
            <a:off x="3520440" y="2212848"/>
            <a:ext cx="2404872" cy="457200"/>
          </a:xfrm>
          <a:prstGeom prst="rect">
            <a:avLst/>
          </a:prstGeom>
          <a:noFill/>
          <a:ln/>
        </p:spPr>
        <p:txBody>
          <a:bodyPr wrap="square" lIns="0" tIns="0" rIns="0" bIns="0" rtlCol="0" anchor="t"/>
          <a:lstStyle/>
          <a:p>
            <a:pPr marL="0" indent="0" algn="ctr">
              <a:buNone/>
            </a:pPr>
            <a:r>
              <a:rPr lang="en-US" sz="1300" b="1" dirty="0">
                <a:solidFill>
                  <a:srgbClr val="0012B5"/>
                </a:solidFill>
                <a:latin typeface="Verdana" pitchFamily="34" charset="0"/>
                <a:ea typeface="Verdana" pitchFamily="34" charset="-122"/>
                <a:cs typeface="Verdana" pitchFamily="34" charset="-120"/>
              </a:rPr>
              <a:t>de missions facturées</a:t>
            </a:r>
            <a:endParaRPr lang="en-US" sz="1300" dirty="0"/>
          </a:p>
        </p:txBody>
      </p:sp>
      <p:sp>
        <p:nvSpPr>
          <p:cNvPr id="13" name="Text 11"/>
          <p:cNvSpPr txBox="1"/>
          <p:nvPr/>
        </p:nvSpPr>
        <p:spPr>
          <a:xfrm>
            <a:off x="3520440" y="2697480"/>
            <a:ext cx="2404872" cy="502920"/>
          </a:xfrm>
          <a:prstGeom prst="rect">
            <a:avLst/>
          </a:prstGeom>
          <a:noFill/>
          <a:ln/>
        </p:spPr>
        <p:txBody>
          <a:bodyPr wrap="square" lIns="0" tIns="0" rIns="0" bIns="0" rtlCol="0" anchor="t"/>
          <a:lstStyle/>
          <a:p>
            <a:pPr marL="0" indent="0" algn="ctr">
              <a:buNone/>
            </a:pPr>
            <a:r>
              <a:rPr lang="en-US" sz="1200" dirty="0">
                <a:solidFill>
                  <a:srgbClr val="3A4658"/>
                </a:solidFill>
                <a:latin typeface="Verdana" pitchFamily="34" charset="0"/>
                <a:ea typeface="Verdana" pitchFamily="34" charset="-122"/>
                <a:cs typeface="Verdana" pitchFamily="34" charset="-120"/>
              </a:rPr>
              <a:t>33 600 € de sciences, 2 000 € de pesca-tourisme</a:t>
            </a:r>
            <a:endParaRPr lang="en-US" sz="1200" dirty="0"/>
          </a:p>
        </p:txBody>
      </p:sp>
      <p:sp>
        <p:nvSpPr>
          <p:cNvPr id="14" name="Shape 12"/>
          <p:cNvSpPr/>
          <p:nvPr/>
        </p:nvSpPr>
        <p:spPr>
          <a:xfrm>
            <a:off x="6217920" y="1417320"/>
            <a:ext cx="2679192" cy="1874520"/>
          </a:xfrm>
          <a:prstGeom prst="roundRect">
            <a:avLst>
              <a:gd name="adj" fmla="val 9756"/>
            </a:avLst>
          </a:prstGeom>
          <a:solidFill>
            <a:srgbClr val="EEF4FD"/>
          </a:solidFill>
          <a:ln w="12700">
            <a:solidFill>
              <a:srgbClr val="EEF4FD"/>
            </a:solidFill>
            <a:prstDash val="solid"/>
          </a:ln>
        </p:spPr>
        <p:txBody>
          <a:bodyPr/>
          <a:lstStyle/>
          <a:p>
            <a:endParaRPr lang="fr-FR"/>
          </a:p>
        </p:txBody>
      </p:sp>
      <p:sp>
        <p:nvSpPr>
          <p:cNvPr id="15" name="Text 13"/>
          <p:cNvSpPr txBox="1"/>
          <p:nvPr/>
        </p:nvSpPr>
        <p:spPr>
          <a:xfrm>
            <a:off x="6217920" y="1508760"/>
            <a:ext cx="2679192" cy="685800"/>
          </a:xfrm>
          <a:prstGeom prst="rect">
            <a:avLst/>
          </a:prstGeom>
          <a:noFill/>
          <a:ln/>
        </p:spPr>
        <p:txBody>
          <a:bodyPr wrap="square" lIns="0" tIns="0" rIns="0" bIns="0" rtlCol="0" anchor="ctr"/>
          <a:lstStyle/>
          <a:p>
            <a:pPr marL="0" indent="0" algn="ctr">
              <a:buNone/>
            </a:pPr>
            <a:r>
              <a:rPr lang="en-US" sz="2800" b="1" dirty="0">
                <a:solidFill>
                  <a:srgbClr val="1F5BD6"/>
                </a:solidFill>
                <a:latin typeface="Verdana" pitchFamily="34" charset="0"/>
                <a:ea typeface="Verdana" pitchFamily="34" charset="-122"/>
                <a:cs typeface="Verdana" pitchFamily="34" charset="-120"/>
              </a:rPr>
              <a:t>28 480 €</a:t>
            </a:r>
            <a:endParaRPr lang="en-US" sz="2800" dirty="0"/>
          </a:p>
        </p:txBody>
      </p:sp>
      <p:sp>
        <p:nvSpPr>
          <p:cNvPr id="16" name="Text 14"/>
          <p:cNvSpPr txBox="1"/>
          <p:nvPr/>
        </p:nvSpPr>
        <p:spPr>
          <a:xfrm>
            <a:off x="6355080" y="2212848"/>
            <a:ext cx="2404872" cy="457200"/>
          </a:xfrm>
          <a:prstGeom prst="rect">
            <a:avLst/>
          </a:prstGeom>
          <a:noFill/>
          <a:ln/>
        </p:spPr>
        <p:txBody>
          <a:bodyPr wrap="square" lIns="0" tIns="0" rIns="0" bIns="0" rtlCol="0" anchor="t"/>
          <a:lstStyle/>
          <a:p>
            <a:pPr marL="0" indent="0" algn="ctr">
              <a:buNone/>
            </a:pPr>
            <a:r>
              <a:rPr lang="en-US" sz="1300" b="1" dirty="0">
                <a:solidFill>
                  <a:srgbClr val="0012B5"/>
                </a:solidFill>
                <a:latin typeface="Verdana" pitchFamily="34" charset="0"/>
                <a:ea typeface="Verdana" pitchFamily="34" charset="-122"/>
                <a:cs typeface="Verdana" pitchFamily="34" charset="-120"/>
              </a:rPr>
              <a:t>dus aux professionnels (80 %)</a:t>
            </a:r>
            <a:endParaRPr lang="en-US" sz="1300" dirty="0"/>
          </a:p>
        </p:txBody>
      </p:sp>
      <p:sp>
        <p:nvSpPr>
          <p:cNvPr id="17" name="Text 15"/>
          <p:cNvSpPr txBox="1"/>
          <p:nvPr/>
        </p:nvSpPr>
        <p:spPr>
          <a:xfrm>
            <a:off x="6355080" y="2697480"/>
            <a:ext cx="2404872" cy="502920"/>
          </a:xfrm>
          <a:prstGeom prst="rect">
            <a:avLst/>
          </a:prstGeom>
          <a:noFill/>
          <a:ln/>
        </p:spPr>
        <p:txBody>
          <a:bodyPr wrap="square" lIns="0" tIns="0" rIns="0" bIns="0" rtlCol="0" anchor="t"/>
          <a:lstStyle/>
          <a:p>
            <a:pPr marL="0" indent="0" algn="ctr">
              <a:buNone/>
            </a:pPr>
            <a:r>
              <a:rPr lang="en-US" sz="1200" dirty="0">
                <a:solidFill>
                  <a:srgbClr val="3A4658"/>
                </a:solidFill>
                <a:latin typeface="Verdana" pitchFamily="34" charset="0"/>
                <a:ea typeface="Verdana" pitchFamily="34" charset="-122"/>
                <a:cs typeface="Verdana" pitchFamily="34" charset="-120"/>
              </a:rPr>
              <a:t>dont 22 880 € versés</a:t>
            </a:r>
            <a:endParaRPr lang="en-US" sz="1200" dirty="0"/>
          </a:p>
        </p:txBody>
      </p:sp>
      <p:sp>
        <p:nvSpPr>
          <p:cNvPr id="18" name="Shape 16"/>
          <p:cNvSpPr/>
          <p:nvPr/>
        </p:nvSpPr>
        <p:spPr>
          <a:xfrm>
            <a:off x="9052560" y="1417320"/>
            <a:ext cx="2679192" cy="1874520"/>
          </a:xfrm>
          <a:prstGeom prst="roundRect">
            <a:avLst>
              <a:gd name="adj" fmla="val 9756"/>
            </a:avLst>
          </a:prstGeom>
          <a:solidFill>
            <a:srgbClr val="FFF7EC"/>
          </a:solidFill>
          <a:ln w="12700">
            <a:solidFill>
              <a:srgbClr val="FFF7EC"/>
            </a:solidFill>
            <a:prstDash val="solid"/>
          </a:ln>
        </p:spPr>
        <p:txBody>
          <a:bodyPr/>
          <a:lstStyle/>
          <a:p>
            <a:endParaRPr lang="fr-FR"/>
          </a:p>
        </p:txBody>
      </p:sp>
      <p:sp>
        <p:nvSpPr>
          <p:cNvPr id="19" name="Text 17"/>
          <p:cNvSpPr txBox="1"/>
          <p:nvPr/>
        </p:nvSpPr>
        <p:spPr>
          <a:xfrm>
            <a:off x="9052560" y="1508760"/>
            <a:ext cx="2679192" cy="685800"/>
          </a:xfrm>
          <a:prstGeom prst="rect">
            <a:avLst/>
          </a:prstGeom>
          <a:noFill/>
          <a:ln/>
        </p:spPr>
        <p:txBody>
          <a:bodyPr wrap="square" lIns="0" tIns="0" rIns="0" bIns="0" rtlCol="0" anchor="ctr"/>
          <a:lstStyle/>
          <a:p>
            <a:pPr marL="0" indent="0" algn="ctr">
              <a:buNone/>
            </a:pPr>
            <a:r>
              <a:rPr lang="en-US" sz="2800" b="1" dirty="0">
                <a:solidFill>
                  <a:srgbClr val="B45309"/>
                </a:solidFill>
                <a:latin typeface="Verdana" pitchFamily="34" charset="0"/>
                <a:ea typeface="Verdana" pitchFamily="34" charset="-122"/>
                <a:cs typeface="Verdana" pitchFamily="34" charset="-120"/>
              </a:rPr>
              <a:t>7 120 €</a:t>
            </a:r>
            <a:endParaRPr lang="en-US" sz="2800" dirty="0"/>
          </a:p>
        </p:txBody>
      </p:sp>
      <p:sp>
        <p:nvSpPr>
          <p:cNvPr id="20" name="Text 18"/>
          <p:cNvSpPr txBox="1"/>
          <p:nvPr/>
        </p:nvSpPr>
        <p:spPr>
          <a:xfrm>
            <a:off x="9189720" y="2212848"/>
            <a:ext cx="2404872" cy="457200"/>
          </a:xfrm>
          <a:prstGeom prst="rect">
            <a:avLst/>
          </a:prstGeom>
          <a:noFill/>
          <a:ln/>
        </p:spPr>
        <p:txBody>
          <a:bodyPr wrap="square" lIns="0" tIns="0" rIns="0" bIns="0" rtlCol="0" anchor="t"/>
          <a:lstStyle/>
          <a:p>
            <a:pPr marL="0" indent="0" algn="ctr">
              <a:buNone/>
            </a:pPr>
            <a:r>
              <a:rPr lang="en-US" sz="1300" b="1" dirty="0">
                <a:solidFill>
                  <a:srgbClr val="0012B5"/>
                </a:solidFill>
                <a:latin typeface="Verdana" pitchFamily="34" charset="0"/>
                <a:ea typeface="Verdana" pitchFamily="34" charset="-122"/>
                <a:cs typeface="Verdana" pitchFamily="34" charset="-120"/>
              </a:rPr>
              <a:t>conservés par la plateforme (20 %)</a:t>
            </a:r>
            <a:endParaRPr lang="en-US" sz="1300" dirty="0"/>
          </a:p>
        </p:txBody>
      </p:sp>
      <p:sp>
        <p:nvSpPr>
          <p:cNvPr id="21" name="Text 19"/>
          <p:cNvSpPr txBox="1"/>
          <p:nvPr/>
        </p:nvSpPr>
        <p:spPr>
          <a:xfrm>
            <a:off x="9189720" y="2697480"/>
            <a:ext cx="2404872" cy="502920"/>
          </a:xfrm>
          <a:prstGeom prst="rect">
            <a:avLst/>
          </a:prstGeom>
          <a:noFill/>
          <a:ln/>
        </p:spPr>
        <p:txBody>
          <a:bodyPr wrap="square" lIns="0" tIns="0" rIns="0" bIns="0" rtlCol="0" anchor="t"/>
          <a:lstStyle/>
          <a:p>
            <a:pPr marL="0" indent="0" algn="ctr">
              <a:buNone/>
            </a:pPr>
            <a:r>
              <a:rPr lang="en-US" sz="1200" dirty="0">
                <a:solidFill>
                  <a:srgbClr val="3A4658"/>
                </a:solidFill>
                <a:latin typeface="Verdana" pitchFamily="34" charset="0"/>
                <a:ea typeface="Verdana" pitchFamily="34" charset="-122"/>
                <a:cs typeface="Verdana" pitchFamily="34" charset="-120"/>
              </a:rPr>
              <a:t>face à 7 308 € de charges en 2027</a:t>
            </a:r>
            <a:endParaRPr lang="en-US" sz="1200" dirty="0"/>
          </a:p>
        </p:txBody>
      </p:sp>
      <p:sp>
        <p:nvSpPr>
          <p:cNvPr id="22" name="Shape 20"/>
          <p:cNvSpPr/>
          <p:nvPr/>
        </p:nvSpPr>
        <p:spPr>
          <a:xfrm>
            <a:off x="548640" y="3566160"/>
            <a:ext cx="5486400" cy="2834640"/>
          </a:xfrm>
          <a:prstGeom prst="roundRect">
            <a:avLst>
              <a:gd name="adj" fmla="val 6452"/>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3" name="Shape 21"/>
          <p:cNvSpPr/>
          <p:nvPr/>
        </p:nvSpPr>
        <p:spPr>
          <a:xfrm>
            <a:off x="777240" y="3767328"/>
            <a:ext cx="512064" cy="512064"/>
          </a:xfrm>
          <a:prstGeom prst="ellipse">
            <a:avLst/>
          </a:prstGeom>
          <a:solidFill>
            <a:srgbClr val="0E9F6E"/>
          </a:solidFill>
          <a:ln w="12700">
            <a:solidFill>
              <a:srgbClr val="0E9F6E"/>
            </a:solidFill>
            <a:prstDash val="solid"/>
          </a:ln>
        </p:spPr>
        <p:txBody>
          <a:bodyPr/>
          <a:lstStyle/>
          <a:p>
            <a:endParaRPr lang="fr-FR"/>
          </a:p>
        </p:txBody>
      </p:sp>
      <p:pic>
        <p:nvPicPr>
          <p:cNvPr id="24" name="Image 0" descr="preencoded.png"/>
          <p:cNvPicPr>
            <a:picLocks noChangeAspect="1"/>
          </p:cNvPicPr>
          <p:nvPr/>
        </p:nvPicPr>
        <p:blipFill>
          <a:blip r:embed="rId3"/>
          <a:stretch>
            <a:fillRect/>
          </a:stretch>
        </p:blipFill>
        <p:spPr>
          <a:xfrm>
            <a:off x="905256" y="3895344"/>
            <a:ext cx="256032" cy="256032"/>
          </a:xfrm>
          <a:prstGeom prst="rect">
            <a:avLst/>
          </a:prstGeom>
        </p:spPr>
      </p:pic>
      <p:sp>
        <p:nvSpPr>
          <p:cNvPr id="25" name="Text 22"/>
          <p:cNvSpPr txBox="1"/>
          <p:nvPr/>
        </p:nvSpPr>
        <p:spPr>
          <a:xfrm>
            <a:off x="1417320" y="3767328"/>
            <a:ext cx="4480560" cy="512064"/>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L’épargne confiée par les pêcheurs</a:t>
            </a:r>
            <a:endParaRPr lang="en-US" sz="1550" dirty="0"/>
          </a:p>
        </p:txBody>
      </p:sp>
      <p:sp>
        <p:nvSpPr>
          <p:cNvPr id="26" name="Text 23"/>
          <p:cNvSpPr txBox="1"/>
          <p:nvPr/>
        </p:nvSpPr>
        <p:spPr>
          <a:xfrm>
            <a:off x="777240" y="4389120"/>
            <a:ext cx="5029200" cy="1920240"/>
          </a:xfrm>
          <a:prstGeom prst="rect">
            <a:avLst/>
          </a:prstGeom>
          <a:noFill/>
          <a:ln/>
        </p:spPr>
        <p:txBody>
          <a:bodyPr wrap="square" lIns="0" tIns="0" rIns="0" bIns="0" rtlCol="0" anchor="t"/>
          <a:lstStyle/>
          <a:p>
            <a:pPr marL="0" indent="0">
              <a:spcAft>
                <a:spcPts val="400"/>
              </a:spcAft>
              <a:buNone/>
            </a:pPr>
            <a:r>
              <a:rPr lang="en-US" sz="2600" b="1" dirty="0">
                <a:solidFill>
                  <a:srgbClr val="0E9F6E"/>
                </a:solidFill>
                <a:latin typeface="Verdana" pitchFamily="34" charset="0"/>
                <a:ea typeface="Verdana" pitchFamily="34" charset="-122"/>
                <a:cs typeface="Verdana" pitchFamily="34" charset="-120"/>
              </a:rPr>
              <a:t>5 600 €</a:t>
            </a:r>
            <a:endParaRPr lang="en-US" sz="1450" dirty="0"/>
          </a:p>
          <a:p>
            <a:pPr marL="0" indent="0">
              <a:spcAft>
                <a:spcPts val="400"/>
              </a:spcAft>
              <a:buNone/>
            </a:pPr>
            <a:r>
              <a:rPr lang="en-US" sz="1300" dirty="0">
                <a:solidFill>
                  <a:srgbClr val="3A4658"/>
                </a:solidFill>
                <a:latin typeface="Verdana" pitchFamily="34" charset="0"/>
                <a:ea typeface="Verdana" pitchFamily="34" charset="-122"/>
                <a:cs typeface="Verdana" pitchFamily="34" charset="-120"/>
              </a:rPr>
              <a:t>Chaque année, 5 des 12 pêcheurs des missions scientifiques confient la moitié de leur part au fonds, qui l’investira en leur nom dans une start-up ou une structure de la filière. Ces sommes deviennent des parts à leur nom ; elles leur sont restituées si la structure n’est pas créée.</a:t>
            </a:r>
            <a:endParaRPr lang="en-US" sz="1450" dirty="0"/>
          </a:p>
        </p:txBody>
      </p:sp>
      <p:sp>
        <p:nvSpPr>
          <p:cNvPr id="27" name="Shape 24"/>
          <p:cNvSpPr/>
          <p:nvPr/>
        </p:nvSpPr>
        <p:spPr>
          <a:xfrm>
            <a:off x="6263640" y="3566160"/>
            <a:ext cx="5394960" cy="2834640"/>
          </a:xfrm>
          <a:prstGeom prst="roundRect">
            <a:avLst>
              <a:gd name="adj" fmla="val 6452"/>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8" name="Shape 25"/>
          <p:cNvSpPr/>
          <p:nvPr/>
        </p:nvSpPr>
        <p:spPr>
          <a:xfrm>
            <a:off x="6492240" y="3767328"/>
            <a:ext cx="512064" cy="512064"/>
          </a:xfrm>
          <a:prstGeom prst="ellipse">
            <a:avLst/>
          </a:prstGeom>
          <a:solidFill>
            <a:srgbClr val="B45309"/>
          </a:solidFill>
          <a:ln w="12700">
            <a:solidFill>
              <a:srgbClr val="B45309"/>
            </a:solidFill>
            <a:prstDash val="solid"/>
          </a:ln>
        </p:spPr>
        <p:txBody>
          <a:bodyPr/>
          <a:lstStyle/>
          <a:p>
            <a:endParaRPr lang="fr-FR"/>
          </a:p>
        </p:txBody>
      </p:sp>
      <p:pic>
        <p:nvPicPr>
          <p:cNvPr id="29" name="Image 1" descr="preencoded.png"/>
          <p:cNvPicPr>
            <a:picLocks noChangeAspect="1"/>
          </p:cNvPicPr>
          <p:nvPr/>
        </p:nvPicPr>
        <p:blipFill>
          <a:blip r:embed="rId4"/>
          <a:stretch>
            <a:fillRect/>
          </a:stretch>
        </p:blipFill>
        <p:spPr>
          <a:xfrm>
            <a:off x="6620256" y="3895344"/>
            <a:ext cx="256032" cy="256032"/>
          </a:xfrm>
          <a:prstGeom prst="rect">
            <a:avLst/>
          </a:prstGeom>
        </p:spPr>
      </p:pic>
      <p:sp>
        <p:nvSpPr>
          <p:cNvPr id="30" name="Text 26"/>
          <p:cNvSpPr txBox="1"/>
          <p:nvPr/>
        </p:nvSpPr>
        <p:spPr>
          <a:xfrm>
            <a:off x="7132320" y="3767328"/>
            <a:ext cx="4389120" cy="512064"/>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L’équilibre, garanti par le fonds</a:t>
            </a:r>
            <a:endParaRPr lang="en-US" sz="1550" dirty="0"/>
          </a:p>
        </p:txBody>
      </p:sp>
      <p:sp>
        <p:nvSpPr>
          <p:cNvPr id="31" name="Text 27"/>
          <p:cNvSpPr txBox="1"/>
          <p:nvPr/>
        </p:nvSpPr>
        <p:spPr>
          <a:xfrm>
            <a:off x="6492240" y="4389120"/>
            <a:ext cx="4983480" cy="1920240"/>
          </a:xfrm>
          <a:prstGeom prst="rect">
            <a:avLst/>
          </a:prstGeom>
          <a:noFill/>
          <a:ln/>
        </p:spPr>
        <p:txBody>
          <a:bodyPr wrap="square" lIns="0" tIns="0" rIns="0" bIns="0" rtlCol="0" anchor="t"/>
          <a:lstStyle/>
          <a:p>
            <a:pPr marL="0" indent="0">
              <a:spcAft>
                <a:spcPts val="400"/>
              </a:spcAft>
              <a:buNone/>
            </a:pPr>
            <a:r>
              <a:rPr lang="en-US" sz="2600" b="1" dirty="0">
                <a:solidFill>
                  <a:srgbClr val="B45309"/>
                </a:solidFill>
                <a:latin typeface="Verdana" pitchFamily="34" charset="0"/>
                <a:ea typeface="Verdana" pitchFamily="34" charset="-122"/>
                <a:cs typeface="Verdana" pitchFamily="34" charset="-120"/>
              </a:rPr>
              <a:t>− 188 €</a:t>
            </a:r>
            <a:endParaRPr lang="en-US" sz="1450" dirty="0"/>
          </a:p>
          <a:p>
            <a:pPr marL="0" indent="0">
              <a:spcAft>
                <a:spcPts val="400"/>
              </a:spcAft>
              <a:buNone/>
            </a:pPr>
            <a:r>
              <a:rPr lang="en-US" sz="1300" dirty="0">
                <a:solidFill>
                  <a:srgbClr val="3A4658"/>
                </a:solidFill>
                <a:latin typeface="Verdana" pitchFamily="34" charset="0"/>
                <a:ea typeface="Verdana" pitchFamily="34" charset="-122"/>
                <a:cs typeface="Verdana" pitchFamily="34" charset="-120"/>
              </a:rPr>
              <a:t>En 2027, la commission ne couvre pas toutes les charges : il manque 188 €, pris en charge par les moyens communs du fonds (bloc B.1), alors que le chef de projet n’est refacturé que six mois (5 686 €, plus 590 € de moyens matériels). En année pleine, le déficit atteint environ 6 400 €. Équilibre : 13 637 € de charges fixes (2029) ÷ 20 % ≈ 68 200 € de missions par an.</a:t>
            </a:r>
            <a:endParaRPr lang="en-US" sz="1450" dirty="0"/>
          </a:p>
        </p:txBody>
      </p:sp>
      <p:sp>
        <p:nvSpPr>
          <p:cNvPr id="32" name="Text 28"/>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45</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BUSINESS MODEL · PREMIÈRE OPTION</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Le budget de la plateforme, 2026-2029</a:t>
            </a:r>
            <a:endParaRPr lang="en-US" sz="2500" dirty="0"/>
          </a:p>
        </p:txBody>
      </p:sp>
      <p:sp>
        <p:nvSpPr>
          <p:cNvPr id="4" name="Shape 2"/>
          <p:cNvSpPr/>
          <p:nvPr/>
        </p:nvSpPr>
        <p:spPr>
          <a:xfrm>
            <a:off x="7406640" y="329184"/>
            <a:ext cx="4251960" cy="292608"/>
          </a:xfrm>
          <a:prstGeom prst="roundRect">
            <a:avLst>
              <a:gd name="adj" fmla="val 50000"/>
            </a:avLst>
          </a:prstGeom>
          <a:solidFill>
            <a:srgbClr val="FFF4DC"/>
          </a:solidFill>
          <a:ln w="12700">
            <a:solidFill>
              <a:srgbClr val="FFF4DC"/>
            </a:solidFill>
            <a:prstDash val="solid"/>
          </a:ln>
        </p:spPr>
        <p:txBody>
          <a:bodyPr/>
          <a:lstStyle/>
          <a:p>
            <a:endParaRPr lang="fr-FR"/>
          </a:p>
        </p:txBody>
      </p:sp>
      <p:sp>
        <p:nvSpPr>
          <p:cNvPr id="5" name="Text 3"/>
          <p:cNvSpPr txBox="1"/>
          <p:nvPr/>
        </p:nvSpPr>
        <p:spPr>
          <a:xfrm>
            <a:off x="7406640" y="329184"/>
            <a:ext cx="4251960" cy="292608"/>
          </a:xfrm>
          <a:prstGeom prst="rect">
            <a:avLst/>
          </a:prstGeom>
          <a:noFill/>
          <a:ln/>
        </p:spPr>
        <p:txBody>
          <a:bodyPr wrap="square" lIns="0" tIns="0" rIns="0" bIns="0" rtlCol="0" anchor="ctr"/>
          <a:lstStyle/>
          <a:p>
            <a:pPr marL="0" indent="0" algn="ctr">
              <a:buNone/>
            </a:pPr>
            <a:r>
              <a:rPr lang="en-US" sz="1050" b="1" dirty="0">
                <a:solidFill>
                  <a:srgbClr val="B45309"/>
                </a:solidFill>
                <a:latin typeface="Verdana" pitchFamily="34" charset="0"/>
                <a:ea typeface="Verdana" pitchFamily="34" charset="-122"/>
                <a:cs typeface="Verdana" pitchFamily="34" charset="-120"/>
              </a:rPr>
              <a:t>Hypothèses de travail · mise à jour sept. 2026</a:t>
            </a:r>
            <a:endParaRPr lang="en-US" sz="10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4640000"/>
        </p:xfrm>
        <a:graphic>
          <a:graphicData uri="http://schemas.openxmlformats.org/drawingml/2006/table">
            <a:tbl>
              <a:tblPr/>
              <a:tblGrid>
                <a:gridCol w="2649440">
                  <a:extLst>
                    <a:ext uri="{9D8B030D-6E8A-4147-A177-3AD203B41FA5}">
                      <a16:colId xmlns:a16="http://schemas.microsoft.com/office/drawing/2014/main" val="20000"/>
                    </a:ext>
                  </a:extLst>
                </a:gridCol>
                <a:gridCol w="860000">
                  <a:extLst>
                    <a:ext uri="{9D8B030D-6E8A-4147-A177-3AD203B41FA5}">
                      <a16:colId xmlns:a16="http://schemas.microsoft.com/office/drawing/2014/main" val="20001"/>
                    </a:ext>
                  </a:extLst>
                </a:gridCol>
                <a:gridCol w="860000">
                  <a:extLst>
                    <a:ext uri="{9D8B030D-6E8A-4147-A177-3AD203B41FA5}">
                      <a16:colId xmlns:a16="http://schemas.microsoft.com/office/drawing/2014/main" val="20002"/>
                    </a:ext>
                  </a:extLst>
                </a:gridCol>
                <a:gridCol w="860000">
                  <a:extLst>
                    <a:ext uri="{9D8B030D-6E8A-4147-A177-3AD203B41FA5}">
                      <a16:colId xmlns:a16="http://schemas.microsoft.com/office/drawing/2014/main" val="291360620"/>
                    </a:ext>
                  </a:extLst>
                </a:gridCol>
                <a:gridCol w="860000">
                  <a:extLst>
                    <a:ext uri="{9D8B030D-6E8A-4147-A177-3AD203B41FA5}">
                      <a16:colId xmlns:a16="http://schemas.microsoft.com/office/drawing/2014/main" val="4076251118"/>
                    </a:ext>
                  </a:extLst>
                </a:gridCol>
                <a:gridCol w="860000">
                  <a:extLst>
                    <a:ext uri="{9D8B030D-6E8A-4147-A177-3AD203B41FA5}">
                      <a16:colId xmlns:a16="http://schemas.microsoft.com/office/drawing/2014/main" val="20003"/>
                    </a:ext>
                  </a:extLst>
                </a:gridCol>
              </a:tblGrid>
              <a:tr h="290000">
                <a:tc>
                  <a:txBody>
                    <a:bodyPr/>
                    <a:lstStyle/>
                    <a:p>
                      <a:pPr marL="0" indent="0" algn="l">
                        <a:buNone/>
                      </a:pPr>
                      <a:r>
                        <a:rPr lang="en-US" sz="950" b="1" dirty="0">
                          <a:solidFill>
                            <a:srgbClr val="FFFFFF"/>
                          </a:solidFill>
                          <a:latin typeface="Verdana" pitchFamily="34" charset="0"/>
                          <a:ea typeface="Verdana" pitchFamily="34" charset="-122"/>
                          <a:cs typeface="Verdana" pitchFamily="34" charset="-120"/>
                        </a:rPr>
                        <a:t>Poste</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tc>
                  <a:txBody>
                    <a:bodyPr/>
                    <a:lstStyle/>
                    <a:p>
                      <a:pPr marL="0" indent="0" algn="l">
                        <a:buNone/>
                      </a:pPr>
                      <a:r>
                        <a:rPr lang="en-US" sz="950" b="1" dirty="0">
                          <a:solidFill>
                            <a:srgbClr val="FFFFFF"/>
                          </a:solidFill>
                          <a:latin typeface="Verdana" pitchFamily="34" charset="0"/>
                          <a:ea typeface="Verdana" pitchFamily="34" charset="-122"/>
                          <a:cs typeface="Verdana" pitchFamily="34" charset="-120"/>
                        </a:rPr>
                        <a:t>2026</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tc>
                  <a:txBody>
                    <a:bodyPr/>
                    <a:lstStyle/>
                    <a:p>
                      <a:pPr marL="0" indent="0" algn="l">
                        <a:buNone/>
                      </a:pPr>
                      <a:r>
                        <a:rPr lang="en-US" sz="950" b="1" dirty="0">
                          <a:solidFill>
                            <a:srgbClr val="FFFFFF"/>
                          </a:solidFill>
                          <a:latin typeface="Verdana" pitchFamily="34" charset="0"/>
                          <a:ea typeface="Verdana" pitchFamily="34" charset="-122"/>
                          <a:cs typeface="Verdana" pitchFamily="34" charset="-120"/>
                        </a:rPr>
                        <a:t>2027</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tc>
                  <a:txBody>
                    <a:bodyPr/>
                    <a:lstStyle/>
                    <a:p>
                      <a:pPr marL="0" indent="0" algn="l">
                        <a:buNone/>
                      </a:pPr>
                      <a:r>
                        <a:rPr lang="en-US" sz="950" b="1" dirty="0">
                          <a:solidFill>
                            <a:srgbClr val="FFFFFF"/>
                          </a:solidFill>
                          <a:latin typeface="Verdana" pitchFamily="34" charset="0"/>
                          <a:ea typeface="Verdana" pitchFamily="34" charset="-122"/>
                          <a:cs typeface="Verdana" pitchFamily="34" charset="-120"/>
                        </a:rPr>
                        <a:t>2028</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tc>
                  <a:txBody>
                    <a:bodyPr/>
                    <a:lstStyle/>
                    <a:p>
                      <a:pPr marL="0" indent="0" algn="l">
                        <a:buNone/>
                      </a:pPr>
                      <a:r>
                        <a:rPr lang="en-US" sz="950" b="1" dirty="0">
                          <a:solidFill>
                            <a:srgbClr val="FFFFFF"/>
                          </a:solidFill>
                          <a:latin typeface="Verdana" pitchFamily="34" charset="0"/>
                          <a:ea typeface="Verdana" pitchFamily="34" charset="-122"/>
                          <a:cs typeface="Verdana" pitchFamily="34" charset="-120"/>
                        </a:rPr>
                        <a:t>2029</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tc>
                  <a:txBody>
                    <a:bodyPr/>
                    <a:lstStyle/>
                    <a:p>
                      <a:pPr marL="0" indent="0" algn="l">
                        <a:buNone/>
                      </a:pPr>
                      <a:r>
                        <a:rPr lang="en-US" sz="950" b="1" dirty="0">
                          <a:solidFill>
                            <a:srgbClr val="FFFFFF"/>
                          </a:solidFill>
                          <a:latin typeface="Verdana" pitchFamily="34" charset="0"/>
                          <a:ea typeface="Verdana" pitchFamily="34" charset="-122"/>
                          <a:cs typeface="Verdana" pitchFamily="34" charset="-120"/>
                        </a:rPr>
                        <a:t>Cumul</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1F5BD6"/>
                    </a:solidFill>
                  </a:tcPr>
                </a:tc>
                <a:extLst>
                  <a:ext uri="{0D108BD9-81ED-4DB2-BD59-A6C34878D82A}">
                    <a16:rowId xmlns:a16="http://schemas.microsoft.com/office/drawing/2014/main" val="10000"/>
                  </a:ext>
                </a:extLst>
              </a:tr>
              <a:tr h="290000">
                <a:tc gridSpan="6">
                  <a:txBody>
                    <a:bodyPr/>
                    <a:lstStyle/>
                    <a:p>
                      <a:pPr marL="0" indent="0" algn="l">
                        <a:buNone/>
                      </a:pPr>
                      <a:r>
                        <a:rPr lang="en-US" sz="950" b="1" dirty="0">
                          <a:solidFill>
                            <a:srgbClr val="0012B5"/>
                          </a:solidFill>
                          <a:latin typeface="Verdana" pitchFamily="34" charset="0"/>
                          <a:ea typeface="Verdana" pitchFamily="34" charset="-122"/>
                          <a:cs typeface="Verdana" pitchFamily="34" charset="-120"/>
                        </a:rPr>
                        <a:t>Missions et partage</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EEF4FD"/>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290000">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Missions scientifiques — P1</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33 600 €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33 600 €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33 600 €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100 800 €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0000">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Pesca-tourisme (hors programmes)</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2 000 €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2 000 €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2 000 €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6 000 €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762116141"/>
                  </a:ext>
                </a:extLst>
              </a:tr>
              <a:tr h="290000">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Part due aux professionnels (80 %)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28 480 €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28 480 €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28 480 €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85 440 €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4129822979"/>
                  </a:ext>
                </a:extLst>
              </a:tr>
              <a:tr h="290000">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   dont versée</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22 880 €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22 880 €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22 880 €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68 640 €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0000">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   dont confiée au fonds par les pêcheurs</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5 600 €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5 600 €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5 600 €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16 800 €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3301682836"/>
                  </a:ext>
                </a:extLst>
              </a:tr>
              <a:tr h="290000">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Part conservée — plateforme (20 %)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7 120 €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7 120 €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7 120 €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21 360 €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89917519"/>
                  </a:ext>
                </a:extLst>
              </a:tr>
              <a:tr h="290000">
                <a:tc gridSpan="6">
                  <a:txBody>
                    <a:bodyPr/>
                    <a:lstStyle/>
                    <a:p>
                      <a:pPr marL="0" indent="0" algn="l">
                        <a:buNone/>
                      </a:pPr>
                      <a:r>
                        <a:rPr lang="en-US" sz="950" b="1" dirty="0">
                          <a:solidFill>
                            <a:srgbClr val="0012B5"/>
                          </a:solidFill>
                          <a:latin typeface="Verdana" pitchFamily="34" charset="0"/>
                          <a:ea typeface="Verdana" pitchFamily="34" charset="-122"/>
                          <a:cs typeface="Verdana" pitchFamily="34" charset="-120"/>
                        </a:rPr>
                        <a:t>Équilibre de la plateforme</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EEF4FD"/>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4264076224"/>
                  </a:ext>
                </a:extLst>
              </a:tr>
              <a:tr h="290000">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Frais de constitution</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− 400 €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− 400 €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556460068"/>
                  </a:ext>
                </a:extLst>
              </a:tr>
              <a:tr h="290000">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Capital initial de la structure</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à arrêter</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à arrêter</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778212652"/>
                  </a:ext>
                </a:extLst>
              </a:tr>
              <a:tr h="290000">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Charges d’exploitation</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− 6 908 €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− 13 397 €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− 13 637 €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− 33 942 €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2333791385"/>
                  </a:ext>
                </a:extLst>
              </a:tr>
              <a:tr h="290000">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Excédent reversé au fonds (P1)</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2333791385"/>
                  </a:ext>
                </a:extLst>
              </a:tr>
              <a:tr h="290000">
                <a:tc>
                  <a:txBody>
                    <a:bodyPr/>
                    <a:lstStyle/>
                    <a:p>
                      <a:pPr marL="0" indent="0" algn="l">
                        <a:buNone/>
                      </a:pPr>
                      <a:r>
                        <a:rPr lang="en-US" sz="950" b="1" dirty="0">
                          <a:solidFill>
                            <a:srgbClr val="1D2838"/>
                          </a:solidFill>
                          <a:latin typeface="Verdana" pitchFamily="34" charset="0"/>
                          <a:ea typeface="Verdana" pitchFamily="34" charset="-122"/>
                          <a:cs typeface="Verdana" pitchFamily="34" charset="-120"/>
                        </a:rPr>
                        <a:t>Déficit couvert par le fonds (B.1)</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1D2838"/>
                          </a:solidFill>
                          <a:latin typeface="Verdana" pitchFamily="34" charset="0"/>
                          <a:ea typeface="Verdana" pitchFamily="34" charset="-122"/>
                          <a:cs typeface="Verdana" pitchFamily="34" charset="-120"/>
                        </a:rPr>
                        <a:t>188 €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1D2838"/>
                          </a:solidFill>
                          <a:latin typeface="Verdana" pitchFamily="34" charset="0"/>
                          <a:ea typeface="Verdana" pitchFamily="34" charset="-122"/>
                          <a:cs typeface="Verdana" pitchFamily="34" charset="-120"/>
                        </a:rPr>
                        <a:t>6 277 €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1D2838"/>
                          </a:solidFill>
                          <a:latin typeface="Verdana" pitchFamily="34" charset="0"/>
                          <a:ea typeface="Verdana" pitchFamily="34" charset="-122"/>
                          <a:cs typeface="Verdana" pitchFamily="34" charset="-120"/>
                        </a:rPr>
                        <a:t>6 517 €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1D2838"/>
                          </a:solidFill>
                          <a:latin typeface="Verdana" pitchFamily="34" charset="0"/>
                          <a:ea typeface="Verdana" pitchFamily="34" charset="-122"/>
                          <a:cs typeface="Verdana" pitchFamily="34" charset="-120"/>
                        </a:rPr>
                        <a:t>12 982 €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90000">
                <a:tc gridSpan="6">
                  <a:txBody>
                    <a:bodyPr/>
                    <a:lstStyle/>
                    <a:p>
                      <a:pPr marL="0" indent="0" algn="l">
                        <a:buNone/>
                      </a:pPr>
                      <a:r>
                        <a:rPr lang="en-US" sz="950" b="1" dirty="0">
                          <a:solidFill>
                            <a:srgbClr val="0012B5"/>
                          </a:solidFill>
                          <a:latin typeface="Verdana" pitchFamily="34" charset="0"/>
                          <a:ea typeface="Verdana" pitchFamily="34" charset="-122"/>
                          <a:cs typeface="Verdana" pitchFamily="34" charset="-120"/>
                        </a:rPr>
                        <a:t>Épargne confiée par les pêcheurs</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EEF4FD"/>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410025642"/>
                  </a:ext>
                </a:extLst>
              </a:tr>
              <a:tr h="290000">
                <a:tc>
                  <a:txBody>
                    <a:bodyPr/>
                    <a:lstStyle/>
                    <a:p>
                      <a:pPr marL="0" indent="0" algn="l">
                        <a:buNone/>
                      </a:pPr>
                      <a:r>
                        <a:rPr lang="en-US" sz="950" b="1" dirty="0">
                          <a:solidFill>
                            <a:srgbClr val="1D2838"/>
                          </a:solidFill>
                          <a:latin typeface="Verdana" pitchFamily="34" charset="0"/>
                          <a:ea typeface="Verdana" pitchFamily="34" charset="-122"/>
                          <a:cs typeface="Verdana" pitchFamily="34" charset="-120"/>
                        </a:rPr>
                        <a:t>Épargne détenue pour les pêcheurs (fin d’année)</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1D2838"/>
                          </a:solidFill>
                          <a:latin typeface="Verdana" pitchFamily="34" charset="0"/>
                          <a:ea typeface="Verdana" pitchFamily="34" charset="-122"/>
                          <a:cs typeface="Verdana" pitchFamily="34" charset="-120"/>
                        </a:rPr>
                        <a:t>5 600 €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1D2838"/>
                          </a:solidFill>
                          <a:latin typeface="Verdana" pitchFamily="34" charset="0"/>
                          <a:ea typeface="Verdana" pitchFamily="34" charset="-122"/>
                          <a:cs typeface="Verdana" pitchFamily="34" charset="-120"/>
                        </a:rPr>
                        <a:t>11 200 €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1D2838"/>
                          </a:solidFill>
                          <a:latin typeface="Verdana" pitchFamily="34" charset="0"/>
                          <a:ea typeface="Verdana" pitchFamily="34" charset="-122"/>
                          <a:cs typeface="Verdana" pitchFamily="34" charset="-120"/>
                        </a:rPr>
                        <a:t>16 800 €</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1D2838"/>
                          </a:solidFill>
                          <a:latin typeface="Verdana" pitchFamily="34" charset="0"/>
                          <a:ea typeface="Verdana" pitchFamily="34" charset="-122"/>
                          <a:cs typeface="Verdana" pitchFamily="34" charset="-120"/>
                        </a:rPr>
                        <a:t>—</a:t>
                      </a:r>
                      <a:endParaRPr lang="en-US" sz="950" dirty="0">
                        <a:latin typeface="Verdana" charset="0"/>
                        <a:ea typeface="Verdana" charset="0"/>
                        <a:cs typeface="Verdana" charset="0"/>
                      </a:endParaRPr>
                    </a:p>
                  </a:txBody>
                  <a:tcPr marL="76200" marR="76200" marT="25400" marB="25400" anchor="ctr">
                    <a:lnL w="9525" cap="flat" cmpd="sng" algn="ctr">
                      <a:solidFill>
                        <a:srgbClr val="D6E2F3"/>
                      </a:solidFill>
                      <a:prstDash val="solid"/>
                      <a:round/>
                      <a:headEnd type="none" w="med" len="med"/>
                      <a:tailEnd type="none" w="med" len="med"/>
                    </a:lnL>
                    <a:lnR w="9525" cap="flat" cmpd="sng" algn="ctr">
                      <a:solidFill>
                        <a:srgbClr val="D6E2F3"/>
                      </a:solidFill>
                      <a:prstDash val="solid"/>
                      <a:round/>
                      <a:headEnd type="none" w="med" len="med"/>
                      <a:tailEnd type="none" w="med" len="med"/>
                    </a:lnR>
                    <a:lnT w="9525" cap="flat" cmpd="sng" algn="ctr">
                      <a:solidFill>
                        <a:srgbClr val="D6E2F3"/>
                      </a:solidFill>
                      <a:prstDash val="solid"/>
                      <a:round/>
                      <a:headEnd type="none" w="med" len="med"/>
                      <a:tailEnd type="none" w="med" len="med"/>
                    </a:lnT>
                    <a:lnB w="9525" cap="flat" cmpd="sng" algn="ctr">
                      <a:solidFill>
                        <a:srgbClr val="D6E2F3"/>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7" name="Shape 4"/>
          <p:cNvSpPr/>
          <p:nvPr/>
        </p:nvSpPr>
        <p:spPr>
          <a:xfrm>
            <a:off x="7772400" y="1371600"/>
            <a:ext cx="3886200" cy="3977640"/>
          </a:xfrm>
          <a:prstGeom prst="roundRect">
            <a:avLst>
              <a:gd name="adj" fmla="val 470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8" name="Text 5"/>
          <p:cNvSpPr txBox="1"/>
          <p:nvPr/>
        </p:nvSpPr>
        <p:spPr>
          <a:xfrm>
            <a:off x="8001000" y="1508760"/>
            <a:ext cx="3474720" cy="320040"/>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Charges d’exploitation</a:t>
            </a:r>
            <a:endParaRPr lang="en-US" sz="1550" dirty="0"/>
          </a:p>
        </p:txBody>
      </p:sp>
      <p:sp>
        <p:nvSpPr>
          <p:cNvPr id="9" name="Text 6"/>
          <p:cNvSpPr txBox="1"/>
          <p:nvPr/>
        </p:nvSpPr>
        <p:spPr>
          <a:xfrm>
            <a:off x="8001000" y="1874520"/>
            <a:ext cx="914400" cy="91440"/>
          </a:xfrm>
          <a:prstGeom prst="rect">
            <a:avLst/>
          </a:prstGeom>
          <a:noFill/>
          <a:ln/>
        </p:spPr>
        <p:txBody>
          <a:bodyPr wrap="square" lIns="0" tIns="0" rIns="0" bIns="0" rtlCol="0" anchor="t"/>
          <a:lstStyle/>
          <a:p>
            <a:pPr marL="0" indent="0">
              <a:buNone/>
            </a:pPr>
            <a:endParaRPr lang="en-US" sz="1450" dirty="0"/>
          </a:p>
        </p:txBody>
      </p:sp>
      <p:sp>
        <p:nvSpPr>
          <p:cNvPr id="10" name="Text 7"/>
          <p:cNvSpPr txBox="1"/>
          <p:nvPr/>
        </p:nvSpPr>
        <p:spPr>
          <a:xfrm>
            <a:off x="9525720" y="1874520"/>
            <a:ext cx="650000" cy="228600"/>
          </a:xfrm>
          <a:prstGeom prst="rect">
            <a:avLst/>
          </a:prstGeom>
          <a:noFill/>
          <a:ln/>
        </p:spPr>
        <p:txBody>
          <a:bodyPr wrap="square" lIns="0" tIns="0" rIns="0" bIns="0" rtlCol="0" anchor="t"/>
          <a:lstStyle/>
          <a:p>
            <a:pPr marL="0" indent="0" algn="r">
              <a:buNone/>
            </a:pPr>
            <a:r>
              <a:rPr lang="en-US" sz="1050" b="1" dirty="0">
                <a:solidFill>
                  <a:srgbClr val="66728A"/>
                </a:solidFill>
                <a:latin typeface="Verdana" pitchFamily="34" charset="0"/>
                <a:ea typeface="Verdana" pitchFamily="34" charset="-122"/>
                <a:cs typeface="Verdana" pitchFamily="34" charset="-120"/>
              </a:rPr>
              <a:t>2027</a:t>
            </a:r>
            <a:endParaRPr lang="en-US" sz="1050" dirty="0"/>
          </a:p>
        </p:txBody>
      </p:sp>
      <p:sp>
        <p:nvSpPr>
          <p:cNvPr id="11" name="Text 8"/>
          <p:cNvSpPr txBox="1"/>
          <p:nvPr/>
        </p:nvSpPr>
        <p:spPr>
          <a:xfrm>
            <a:off x="10175720" y="1874520"/>
            <a:ext cx="650000" cy="228600"/>
          </a:xfrm>
          <a:prstGeom prst="rect">
            <a:avLst/>
          </a:prstGeom>
          <a:noFill/>
          <a:ln/>
        </p:spPr>
        <p:txBody>
          <a:bodyPr wrap="square" lIns="0" tIns="0" rIns="0" bIns="0" rtlCol="0" anchor="t"/>
          <a:lstStyle/>
          <a:p>
            <a:pPr marL="0" indent="0" algn="r">
              <a:buNone/>
            </a:pPr>
            <a:r>
              <a:rPr lang="en-US" sz="1050" b="1" dirty="0">
                <a:solidFill>
                  <a:srgbClr val="66728A"/>
                </a:solidFill>
                <a:latin typeface="Verdana" pitchFamily="34" charset="0"/>
                <a:ea typeface="Verdana" pitchFamily="34" charset="-122"/>
                <a:cs typeface="Verdana" pitchFamily="34" charset="-120"/>
              </a:rPr>
              <a:t>2028</a:t>
            </a:r>
            <a:endParaRPr lang="en-US" sz="1050" dirty="0"/>
          </a:p>
        </p:txBody>
      </p:sp>
      <p:sp>
        <p:nvSpPr>
          <p:cNvPr id="47" name="Text 47"/>
          <p:cNvSpPr txBox="1"/>
          <p:nvPr/>
        </p:nvSpPr>
        <p:spPr>
          <a:xfrm>
            <a:off x="10825720" y="1874520"/>
            <a:ext cx="650000" cy="228600"/>
          </a:xfrm>
          <a:prstGeom prst="rect">
            <a:avLst/>
          </a:prstGeom>
          <a:noFill/>
          <a:ln/>
        </p:spPr>
        <p:txBody>
          <a:bodyPr wrap="square" lIns="0" tIns="0" rIns="0" bIns="0" rtlCol="0" anchor="t"/>
          <a:lstStyle/>
          <a:p>
            <a:pPr marL="0" indent="0" algn="r">
              <a:buNone/>
            </a:pPr>
            <a:r>
              <a:rPr lang="en-US" sz="1050" b="1" dirty="0">
                <a:solidFill>
                  <a:srgbClr val="66728A"/>
                </a:solidFill>
                <a:latin typeface="Verdana" pitchFamily="34" charset="0"/>
                <a:ea typeface="Verdana" pitchFamily="34" charset="-122"/>
                <a:cs typeface="Verdana" pitchFamily="34" charset="-120"/>
              </a:rPr>
              <a:t>2029</a:t>
            </a:r>
            <a:endParaRPr lang="en-US" sz="1050" dirty="0"/>
          </a:p>
        </p:txBody>
      </p:sp>
      <p:sp>
        <p:nvSpPr>
          <p:cNvPr id="12" name="Text 9"/>
          <p:cNvSpPr txBox="1"/>
          <p:nvPr/>
        </p:nvSpPr>
        <p:spPr>
          <a:xfrm>
            <a:off x="8001000" y="2148840"/>
            <a:ext cx="1464720" cy="384048"/>
          </a:xfrm>
          <a:prstGeom prst="rect">
            <a:avLst/>
          </a:prstGeom>
          <a:noFill/>
          <a:ln/>
        </p:spPr>
        <p:txBody>
          <a:bodyPr wrap="square" lIns="0" tIns="0" rIns="0" bIns="0" rtlCol="0" anchor="ctr"/>
          <a:lstStyle/>
          <a:p>
            <a:pPr marL="0" indent="0">
              <a:buNone/>
            </a:pPr>
            <a:r>
              <a:rPr lang="en-US" sz="1150" dirty="0">
                <a:solidFill>
                  <a:srgbClr val="3A4658"/>
                </a:solidFill>
                <a:latin typeface="Verdana" pitchFamily="34" charset="0"/>
                <a:ea typeface="Verdana" pitchFamily="34" charset="-122"/>
                <a:cs typeface="Verdana" pitchFamily="34" charset="-120"/>
              </a:rPr>
              <a:t>Outils (Vercel, Supabase, Brevo)</a:t>
            </a:r>
            <a:endParaRPr lang="en-US" sz="1150" dirty="0"/>
          </a:p>
        </p:txBody>
      </p:sp>
      <p:sp>
        <p:nvSpPr>
          <p:cNvPr id="13" name="Text 10"/>
          <p:cNvSpPr txBox="1"/>
          <p:nvPr/>
        </p:nvSpPr>
        <p:spPr>
          <a:xfrm>
            <a:off x="9525720" y="2148840"/>
            <a:ext cx="650000" cy="384048"/>
          </a:xfrm>
          <a:prstGeom prst="rect">
            <a:avLst/>
          </a:prstGeom>
          <a:noFill/>
          <a:ln/>
        </p:spPr>
        <p:txBody>
          <a:bodyPr wrap="square" lIns="0" tIns="0" rIns="0" bIns="0" rtlCol="0" anchor="ctr"/>
          <a:lstStyle/>
          <a:p>
            <a:pPr marL="0" indent="0" algn="r">
              <a:buNone/>
            </a:pPr>
            <a:r>
              <a:rPr lang="en-US" sz="1150" dirty="0">
                <a:solidFill>
                  <a:srgbClr val="3A4658"/>
                </a:solidFill>
                <a:latin typeface="Verdana" pitchFamily="34" charset="0"/>
                <a:ea typeface="Verdana" pitchFamily="34" charset="-122"/>
                <a:cs typeface="Verdana" pitchFamily="34" charset="-120"/>
              </a:rPr>
              <a:t>600</a:t>
            </a:r>
            <a:endParaRPr lang="en-US" sz="1150" dirty="0"/>
          </a:p>
        </p:txBody>
      </p:sp>
      <p:sp>
        <p:nvSpPr>
          <p:cNvPr id="14" name="Text 11"/>
          <p:cNvSpPr txBox="1"/>
          <p:nvPr/>
        </p:nvSpPr>
        <p:spPr>
          <a:xfrm>
            <a:off x="10175720" y="2148840"/>
            <a:ext cx="650000" cy="384048"/>
          </a:xfrm>
          <a:prstGeom prst="rect">
            <a:avLst/>
          </a:prstGeom>
          <a:noFill/>
          <a:ln/>
        </p:spPr>
        <p:txBody>
          <a:bodyPr wrap="square" lIns="0" tIns="0" rIns="0" bIns="0" rtlCol="0" anchor="ctr"/>
          <a:lstStyle/>
          <a:p>
            <a:pPr marL="0" indent="0" algn="r">
              <a:buNone/>
            </a:pPr>
            <a:r>
              <a:rPr lang="en-US" sz="1150" dirty="0">
                <a:solidFill>
                  <a:srgbClr val="3A4658"/>
                </a:solidFill>
                <a:latin typeface="Verdana" pitchFamily="34" charset="0"/>
                <a:ea typeface="Verdana" pitchFamily="34" charset="-122"/>
                <a:cs typeface="Verdana" pitchFamily="34" charset="-120"/>
              </a:rPr>
              <a:t>600</a:t>
            </a:r>
            <a:endParaRPr lang="en-US" sz="1150" dirty="0"/>
          </a:p>
        </p:txBody>
      </p:sp>
      <p:sp>
        <p:nvSpPr>
          <p:cNvPr id="48" name="Text 48"/>
          <p:cNvSpPr txBox="1"/>
          <p:nvPr/>
        </p:nvSpPr>
        <p:spPr>
          <a:xfrm>
            <a:off x="10825720" y="2148840"/>
            <a:ext cx="650000" cy="384048"/>
          </a:xfrm>
          <a:prstGeom prst="rect">
            <a:avLst/>
          </a:prstGeom>
          <a:noFill/>
          <a:ln/>
        </p:spPr>
        <p:txBody>
          <a:bodyPr wrap="square" lIns="0" tIns="0" rIns="0" bIns="0" rtlCol="0" anchor="ctr"/>
          <a:lstStyle/>
          <a:p>
            <a:pPr marL="0" indent="0" algn="r">
              <a:buNone/>
            </a:pPr>
            <a:r>
              <a:rPr lang="en-US" sz="1150" dirty="0">
                <a:solidFill>
                  <a:srgbClr val="3A4658"/>
                </a:solidFill>
                <a:latin typeface="Verdana" pitchFamily="34" charset="0"/>
                <a:ea typeface="Verdana" pitchFamily="34" charset="-122"/>
                <a:cs typeface="Verdana" pitchFamily="34" charset="-120"/>
              </a:rPr>
              <a:t>600</a:t>
            </a:r>
            <a:endParaRPr lang="en-US" sz="1150" dirty="0"/>
          </a:p>
        </p:txBody>
      </p:sp>
      <p:sp>
        <p:nvSpPr>
          <p:cNvPr id="15" name="Text 12"/>
          <p:cNvSpPr txBox="1"/>
          <p:nvPr/>
        </p:nvSpPr>
        <p:spPr>
          <a:xfrm>
            <a:off x="8001000" y="2578608"/>
            <a:ext cx="1464720" cy="384048"/>
          </a:xfrm>
          <a:prstGeom prst="rect">
            <a:avLst/>
          </a:prstGeom>
          <a:noFill/>
          <a:ln/>
        </p:spPr>
        <p:txBody>
          <a:bodyPr wrap="square" lIns="0" tIns="0" rIns="0" bIns="0" rtlCol="0" anchor="ctr"/>
          <a:lstStyle/>
          <a:p>
            <a:pPr marL="0" indent="0">
              <a:buNone/>
            </a:pPr>
            <a:r>
              <a:rPr lang="en-US" sz="1150" dirty="0">
                <a:solidFill>
                  <a:srgbClr val="3A4658"/>
                </a:solidFill>
                <a:latin typeface="Verdana" pitchFamily="34" charset="0"/>
                <a:ea typeface="Verdana" pitchFamily="34" charset="-122"/>
                <a:cs typeface="Verdana" pitchFamily="34" charset="-120"/>
              </a:rPr>
              <a:t>Stripe (pesca-tourisme)</a:t>
            </a:r>
            <a:endParaRPr lang="en-US" sz="1150" dirty="0"/>
          </a:p>
        </p:txBody>
      </p:sp>
      <p:sp>
        <p:nvSpPr>
          <p:cNvPr id="16" name="Text 13"/>
          <p:cNvSpPr txBox="1"/>
          <p:nvPr/>
        </p:nvSpPr>
        <p:spPr>
          <a:xfrm>
            <a:off x="9525720" y="2578608"/>
            <a:ext cx="650000" cy="384048"/>
          </a:xfrm>
          <a:prstGeom prst="rect">
            <a:avLst/>
          </a:prstGeom>
          <a:noFill/>
          <a:ln/>
        </p:spPr>
        <p:txBody>
          <a:bodyPr wrap="square" lIns="0" tIns="0" rIns="0" bIns="0" rtlCol="0" anchor="ctr"/>
          <a:lstStyle/>
          <a:p>
            <a:pPr marL="0" indent="0" algn="r">
              <a:buNone/>
            </a:pPr>
            <a:r>
              <a:rPr lang="en-US" sz="1150" dirty="0">
                <a:solidFill>
                  <a:srgbClr val="3A4658"/>
                </a:solidFill>
                <a:latin typeface="Verdana" pitchFamily="34" charset="0"/>
                <a:ea typeface="Verdana" pitchFamily="34" charset="-122"/>
                <a:cs typeface="Verdana" pitchFamily="34" charset="-120"/>
              </a:rPr>
              <a:t>33</a:t>
            </a:r>
            <a:endParaRPr lang="en-US" sz="1150" dirty="0"/>
          </a:p>
        </p:txBody>
      </p:sp>
      <p:sp>
        <p:nvSpPr>
          <p:cNvPr id="17" name="Text 14"/>
          <p:cNvSpPr txBox="1"/>
          <p:nvPr/>
        </p:nvSpPr>
        <p:spPr>
          <a:xfrm>
            <a:off x="10175720" y="2578608"/>
            <a:ext cx="650000" cy="384048"/>
          </a:xfrm>
          <a:prstGeom prst="rect">
            <a:avLst/>
          </a:prstGeom>
          <a:noFill/>
          <a:ln/>
        </p:spPr>
        <p:txBody>
          <a:bodyPr wrap="square" lIns="0" tIns="0" rIns="0" bIns="0" rtlCol="0" anchor="ctr"/>
          <a:lstStyle/>
          <a:p>
            <a:pPr marL="0" indent="0" algn="r">
              <a:buNone/>
            </a:pPr>
            <a:r>
              <a:rPr lang="en-US" sz="1150" dirty="0">
                <a:solidFill>
                  <a:srgbClr val="3A4658"/>
                </a:solidFill>
                <a:latin typeface="Verdana" pitchFamily="34" charset="0"/>
                <a:ea typeface="Verdana" pitchFamily="34" charset="-122"/>
                <a:cs typeface="Verdana" pitchFamily="34" charset="-120"/>
              </a:rPr>
              <a:t>33</a:t>
            </a:r>
            <a:endParaRPr lang="en-US" sz="1150" dirty="0"/>
          </a:p>
        </p:txBody>
      </p:sp>
      <p:sp>
        <p:nvSpPr>
          <p:cNvPr id="49" name="Text 49"/>
          <p:cNvSpPr txBox="1"/>
          <p:nvPr/>
        </p:nvSpPr>
        <p:spPr>
          <a:xfrm>
            <a:off x="10825720" y="2578608"/>
            <a:ext cx="650000" cy="384048"/>
          </a:xfrm>
          <a:prstGeom prst="rect">
            <a:avLst/>
          </a:prstGeom>
          <a:noFill/>
          <a:ln/>
        </p:spPr>
        <p:txBody>
          <a:bodyPr wrap="square" lIns="0" tIns="0" rIns="0" bIns="0" rtlCol="0" anchor="ctr"/>
          <a:lstStyle/>
          <a:p>
            <a:pPr marL="0" indent="0" algn="r">
              <a:buNone/>
            </a:pPr>
            <a:r>
              <a:rPr lang="en-US" sz="1150" dirty="0">
                <a:solidFill>
                  <a:srgbClr val="3A4658"/>
                </a:solidFill>
                <a:latin typeface="Verdana" pitchFamily="34" charset="0"/>
                <a:ea typeface="Verdana" pitchFamily="34" charset="-122"/>
                <a:cs typeface="Verdana" pitchFamily="34" charset="-120"/>
              </a:rPr>
              <a:t>33</a:t>
            </a:r>
            <a:endParaRPr lang="en-US" sz="1150" dirty="0"/>
          </a:p>
        </p:txBody>
      </p:sp>
      <p:sp>
        <p:nvSpPr>
          <p:cNvPr id="18" name="Text 15"/>
          <p:cNvSpPr txBox="1"/>
          <p:nvPr/>
        </p:nvSpPr>
        <p:spPr>
          <a:xfrm>
            <a:off x="8001000" y="3008376"/>
            <a:ext cx="1464720" cy="384048"/>
          </a:xfrm>
          <a:prstGeom prst="rect">
            <a:avLst/>
          </a:prstGeom>
          <a:noFill/>
          <a:ln/>
        </p:spPr>
        <p:txBody>
          <a:bodyPr wrap="square" lIns="0" tIns="0" rIns="0" bIns="0" rtlCol="0" anchor="ctr"/>
          <a:lstStyle/>
          <a:p>
            <a:pPr marL="0" indent="0">
              <a:buNone/>
            </a:pPr>
            <a:r>
              <a:rPr lang="en-US" sz="1150" dirty="0">
                <a:solidFill>
                  <a:srgbClr val="3A4658"/>
                </a:solidFill>
                <a:latin typeface="Verdana" pitchFamily="34" charset="0"/>
                <a:ea typeface="Verdana" pitchFamily="34" charset="-122"/>
                <a:cs typeface="Verdana" pitchFamily="34" charset="-120"/>
              </a:rPr>
              <a:t>Refacturation par l’association</a:t>
            </a:r>
            <a:endParaRPr lang="en-US" sz="1150" dirty="0"/>
          </a:p>
        </p:txBody>
      </p:sp>
      <p:sp>
        <p:nvSpPr>
          <p:cNvPr id="19" name="Text 16"/>
          <p:cNvSpPr txBox="1"/>
          <p:nvPr/>
        </p:nvSpPr>
        <p:spPr>
          <a:xfrm>
            <a:off x="9525720" y="3008376"/>
            <a:ext cx="650000" cy="384048"/>
          </a:xfrm>
          <a:prstGeom prst="rect">
            <a:avLst/>
          </a:prstGeom>
          <a:noFill/>
          <a:ln/>
        </p:spPr>
        <p:txBody>
          <a:bodyPr wrap="square" lIns="0" tIns="0" rIns="0" bIns="0" rtlCol="0" anchor="ctr"/>
          <a:lstStyle/>
          <a:p>
            <a:pPr marL="0" indent="0" algn="r">
              <a:buNone/>
            </a:pPr>
            <a:r>
              <a:rPr lang="en-US" sz="1150" dirty="0">
                <a:solidFill>
                  <a:srgbClr val="3A4658"/>
                </a:solidFill>
                <a:latin typeface="Verdana" pitchFamily="34" charset="0"/>
                <a:ea typeface="Verdana" pitchFamily="34" charset="-122"/>
                <a:cs typeface="Verdana" pitchFamily="34" charset="-120"/>
              </a:rPr>
              <a:t>6 275</a:t>
            </a:r>
            <a:endParaRPr lang="en-US" sz="1150" dirty="0"/>
          </a:p>
        </p:txBody>
      </p:sp>
      <p:sp>
        <p:nvSpPr>
          <p:cNvPr id="20" name="Text 17"/>
          <p:cNvSpPr txBox="1"/>
          <p:nvPr/>
        </p:nvSpPr>
        <p:spPr>
          <a:xfrm>
            <a:off x="10175720" y="3008376"/>
            <a:ext cx="650000" cy="384048"/>
          </a:xfrm>
          <a:prstGeom prst="rect">
            <a:avLst/>
          </a:prstGeom>
          <a:noFill/>
          <a:ln/>
        </p:spPr>
        <p:txBody>
          <a:bodyPr wrap="square" lIns="0" tIns="0" rIns="0" bIns="0" rtlCol="0" anchor="ctr"/>
          <a:lstStyle/>
          <a:p>
            <a:pPr marL="0" indent="0" algn="r">
              <a:buNone/>
            </a:pPr>
            <a:r>
              <a:rPr lang="en-US" sz="1150" dirty="0">
                <a:solidFill>
                  <a:srgbClr val="3A4658"/>
                </a:solidFill>
                <a:latin typeface="Verdana" pitchFamily="34" charset="0"/>
                <a:ea typeface="Verdana" pitchFamily="34" charset="-122"/>
                <a:cs typeface="Verdana" pitchFamily="34" charset="-120"/>
              </a:rPr>
              <a:t>12 764</a:t>
            </a:r>
            <a:endParaRPr lang="en-US" sz="1150" dirty="0"/>
          </a:p>
        </p:txBody>
      </p:sp>
      <p:sp>
        <p:nvSpPr>
          <p:cNvPr id="50" name="Text 50"/>
          <p:cNvSpPr txBox="1"/>
          <p:nvPr/>
        </p:nvSpPr>
        <p:spPr>
          <a:xfrm>
            <a:off x="10825720" y="3008376"/>
            <a:ext cx="650000" cy="384048"/>
          </a:xfrm>
          <a:prstGeom prst="rect">
            <a:avLst/>
          </a:prstGeom>
          <a:noFill/>
          <a:ln/>
        </p:spPr>
        <p:txBody>
          <a:bodyPr wrap="square" lIns="0" tIns="0" rIns="0" bIns="0" rtlCol="0" anchor="ctr"/>
          <a:lstStyle/>
          <a:p>
            <a:pPr marL="0" indent="0" algn="r">
              <a:buNone/>
            </a:pPr>
            <a:r>
              <a:rPr lang="en-US" sz="1150" dirty="0">
                <a:solidFill>
                  <a:srgbClr val="3A4658"/>
                </a:solidFill>
                <a:latin typeface="Verdana" pitchFamily="34" charset="0"/>
                <a:ea typeface="Verdana" pitchFamily="34" charset="-122"/>
                <a:cs typeface="Verdana" pitchFamily="34" charset="-120"/>
              </a:rPr>
              <a:t>13 004</a:t>
            </a:r>
            <a:endParaRPr lang="en-US" sz="1150" dirty="0"/>
          </a:p>
        </p:txBody>
      </p:sp>
      <p:sp>
        <p:nvSpPr>
          <p:cNvPr id="21" name="Text 18"/>
          <p:cNvSpPr txBox="1"/>
          <p:nvPr/>
        </p:nvSpPr>
        <p:spPr>
          <a:xfrm>
            <a:off x="8001000" y="3438144"/>
            <a:ext cx="1464720" cy="384048"/>
          </a:xfrm>
          <a:prstGeom prst="rect">
            <a:avLst/>
          </a:prstGeom>
          <a:noFill/>
          <a:ln/>
        </p:spPr>
        <p:txBody>
          <a:bodyPr wrap="square" lIns="0" tIns="0" rIns="0" bIns="0" rtlCol="0" anchor="ctr"/>
          <a:lstStyle/>
          <a:p>
            <a:pPr marL="0" indent="0">
              <a:buNone/>
            </a:pPr>
            <a:r>
              <a:rPr lang="en-US" sz="1150" dirty="0">
                <a:solidFill>
                  <a:srgbClr val="3A4658"/>
                </a:solidFill>
                <a:latin typeface="Verdana" pitchFamily="34" charset="0"/>
                <a:ea typeface="Verdana" pitchFamily="34" charset="-122"/>
                <a:cs typeface="Verdana" pitchFamily="34" charset="-120"/>
              </a:rPr>
              <a:t>Assurance RC professionnelle</a:t>
            </a:r>
            <a:endParaRPr lang="en-US" sz="1150" dirty="0"/>
          </a:p>
        </p:txBody>
      </p:sp>
      <p:sp>
        <p:nvSpPr>
          <p:cNvPr id="22" name="Text 19"/>
          <p:cNvSpPr txBox="1"/>
          <p:nvPr/>
        </p:nvSpPr>
        <p:spPr>
          <a:xfrm>
            <a:off x="9525720" y="3438144"/>
            <a:ext cx="1950000" cy="384048"/>
          </a:xfrm>
          <a:prstGeom prst="rect">
            <a:avLst/>
          </a:prstGeom>
          <a:noFill/>
          <a:ln/>
        </p:spPr>
        <p:txBody>
          <a:bodyPr wrap="square" lIns="0" tIns="0" rIns="0" bIns="0" rtlCol="0" anchor="ctr"/>
          <a:lstStyle/>
          <a:p>
            <a:pPr marL="0" indent="0" algn="r">
              <a:buNone/>
            </a:pPr>
            <a:r>
              <a:rPr lang="en-US" sz="1150" dirty="0">
                <a:solidFill>
                  <a:srgbClr val="3A4658"/>
                </a:solidFill>
                <a:latin typeface="Verdana" pitchFamily="34" charset="0"/>
                <a:ea typeface="Verdana" pitchFamily="34" charset="-122"/>
                <a:cs typeface="Verdana" pitchFamily="34" charset="-120"/>
              </a:rPr>
              <a:t>à chiffrer</a:t>
            </a:r>
            <a:endParaRPr lang="en-US" sz="1150" dirty="0"/>
          </a:p>
        </p:txBody>
      </p:sp>
      <p:sp>
        <p:nvSpPr>
          <p:cNvPr id="24" name="Text 21"/>
          <p:cNvSpPr txBox="1"/>
          <p:nvPr/>
        </p:nvSpPr>
        <p:spPr>
          <a:xfrm>
            <a:off x="8001000" y="3867912"/>
            <a:ext cx="1464720" cy="384048"/>
          </a:xfrm>
          <a:prstGeom prst="rect">
            <a:avLst/>
          </a:prstGeom>
          <a:noFill/>
          <a:ln/>
        </p:spPr>
        <p:txBody>
          <a:bodyPr wrap="square" lIns="0" tIns="0" rIns="0" bIns="0" rtlCol="0" anchor="ctr"/>
          <a:lstStyle/>
          <a:p>
            <a:pPr marL="0" indent="0">
              <a:buNone/>
            </a:pPr>
            <a:r>
              <a:rPr lang="en-US" sz="1150" dirty="0">
                <a:solidFill>
                  <a:srgbClr val="3A4658"/>
                </a:solidFill>
                <a:latin typeface="Verdana" pitchFamily="34" charset="0"/>
                <a:ea typeface="Verdana" pitchFamily="34" charset="-122"/>
                <a:cs typeface="Verdana" pitchFamily="34" charset="-120"/>
              </a:rPr>
              <a:t>Comptabilité, obligations</a:t>
            </a:r>
            <a:endParaRPr lang="en-US" sz="1150" dirty="0"/>
          </a:p>
        </p:txBody>
      </p:sp>
      <p:sp>
        <p:nvSpPr>
          <p:cNvPr id="25" name="Text 22"/>
          <p:cNvSpPr txBox="1"/>
          <p:nvPr/>
        </p:nvSpPr>
        <p:spPr>
          <a:xfrm>
            <a:off x="9525720" y="3867912"/>
            <a:ext cx="1950000" cy="384048"/>
          </a:xfrm>
          <a:prstGeom prst="rect">
            <a:avLst/>
          </a:prstGeom>
          <a:noFill/>
          <a:ln/>
        </p:spPr>
        <p:txBody>
          <a:bodyPr wrap="square" lIns="0" tIns="0" rIns="0" bIns="0" rtlCol="0" anchor="ctr"/>
          <a:lstStyle/>
          <a:p>
            <a:pPr marL="0" indent="0" algn="r">
              <a:buNone/>
            </a:pPr>
            <a:r>
              <a:rPr lang="en-US" sz="1150" dirty="0">
                <a:solidFill>
                  <a:srgbClr val="3A4658"/>
                </a:solidFill>
                <a:latin typeface="Verdana" pitchFamily="34" charset="0"/>
                <a:ea typeface="Verdana" pitchFamily="34" charset="-122"/>
                <a:cs typeface="Verdana" pitchFamily="34" charset="-120"/>
              </a:rPr>
              <a:t>à chiffrer</a:t>
            </a:r>
            <a:endParaRPr lang="en-US" sz="1150" dirty="0"/>
          </a:p>
        </p:txBody>
      </p:sp>
      <p:sp>
        <p:nvSpPr>
          <p:cNvPr id="30" name="Shape 27"/>
          <p:cNvSpPr/>
          <p:nvPr/>
        </p:nvSpPr>
        <p:spPr>
          <a:xfrm>
            <a:off x="8001000" y="4754880"/>
            <a:ext cx="3474720" cy="0"/>
          </a:xfrm>
          <a:prstGeom prst="line">
            <a:avLst/>
          </a:prstGeom>
          <a:noFill/>
          <a:ln w="9525">
            <a:solidFill>
              <a:srgbClr val="DCE5F2"/>
            </a:solidFill>
            <a:prstDash val="solid"/>
          </a:ln>
        </p:spPr>
        <p:txBody>
          <a:bodyPr/>
          <a:lstStyle/>
          <a:p>
            <a:endParaRPr lang="fr-FR"/>
          </a:p>
        </p:txBody>
      </p:sp>
      <p:sp>
        <p:nvSpPr>
          <p:cNvPr id="31" name="Text 28"/>
          <p:cNvSpPr txBox="1"/>
          <p:nvPr/>
        </p:nvSpPr>
        <p:spPr>
          <a:xfrm>
            <a:off x="8001000" y="4800600"/>
            <a:ext cx="1464720" cy="384048"/>
          </a:xfrm>
          <a:prstGeom prst="rect">
            <a:avLst/>
          </a:prstGeom>
          <a:noFill/>
          <a:ln/>
        </p:spPr>
        <p:txBody>
          <a:bodyPr wrap="square" lIns="0" tIns="0" rIns="0" bIns="0" rtlCol="0" anchor="ctr"/>
          <a:lstStyle/>
          <a:p>
            <a:pPr marL="0" indent="0">
              <a:buNone/>
            </a:pPr>
            <a:r>
              <a:rPr lang="en-US" sz="1200" b="1" dirty="0">
                <a:solidFill>
                  <a:srgbClr val="0012B5"/>
                </a:solidFill>
                <a:latin typeface="Verdana" pitchFamily="34" charset="0"/>
                <a:ea typeface="Verdana" pitchFamily="34" charset="-122"/>
                <a:cs typeface="Verdana" pitchFamily="34" charset="-120"/>
              </a:rPr>
              <a:t>Total chiffré (€)</a:t>
            </a:r>
            <a:endParaRPr lang="en-US" sz="1200" dirty="0"/>
          </a:p>
        </p:txBody>
      </p:sp>
      <p:sp>
        <p:nvSpPr>
          <p:cNvPr id="32" name="Text 29"/>
          <p:cNvSpPr txBox="1"/>
          <p:nvPr/>
        </p:nvSpPr>
        <p:spPr>
          <a:xfrm>
            <a:off x="9525720" y="4800600"/>
            <a:ext cx="650000" cy="384048"/>
          </a:xfrm>
          <a:prstGeom prst="rect">
            <a:avLst/>
          </a:prstGeom>
          <a:noFill/>
          <a:ln/>
        </p:spPr>
        <p:txBody>
          <a:bodyPr wrap="square" lIns="0" tIns="0" rIns="0" bIns="0" rtlCol="0" anchor="ctr"/>
          <a:lstStyle/>
          <a:p>
            <a:pPr marL="0" indent="0" algn="r">
              <a:buNone/>
            </a:pPr>
            <a:r>
              <a:rPr lang="en-US" sz="1150" b="1" dirty="0">
                <a:solidFill>
                  <a:srgbClr val="0012B5"/>
                </a:solidFill>
                <a:latin typeface="Verdana" pitchFamily="34" charset="0"/>
                <a:ea typeface="Verdana" pitchFamily="34" charset="-122"/>
                <a:cs typeface="Verdana" pitchFamily="34" charset="-120"/>
              </a:rPr>
              <a:t>6 908</a:t>
            </a:r>
            <a:endParaRPr lang="en-US" sz="1200" dirty="0"/>
          </a:p>
        </p:txBody>
      </p:sp>
      <p:sp>
        <p:nvSpPr>
          <p:cNvPr id="33" name="Text 30"/>
          <p:cNvSpPr txBox="1"/>
          <p:nvPr/>
        </p:nvSpPr>
        <p:spPr>
          <a:xfrm>
            <a:off x="10175720" y="4800600"/>
            <a:ext cx="650000" cy="384048"/>
          </a:xfrm>
          <a:prstGeom prst="rect">
            <a:avLst/>
          </a:prstGeom>
          <a:noFill/>
          <a:ln/>
        </p:spPr>
        <p:txBody>
          <a:bodyPr wrap="square" lIns="0" tIns="0" rIns="0" bIns="0" rtlCol="0" anchor="ctr"/>
          <a:lstStyle/>
          <a:p>
            <a:pPr marL="0" indent="0" algn="r">
              <a:buNone/>
            </a:pPr>
            <a:r>
              <a:rPr lang="en-US" sz="1150" b="1" dirty="0">
                <a:solidFill>
                  <a:srgbClr val="0012B5"/>
                </a:solidFill>
                <a:latin typeface="Verdana" pitchFamily="34" charset="0"/>
                <a:ea typeface="Verdana" pitchFamily="34" charset="-122"/>
                <a:cs typeface="Verdana" pitchFamily="34" charset="-120"/>
              </a:rPr>
              <a:t>13 397</a:t>
            </a:r>
            <a:endParaRPr lang="en-US" sz="1200" dirty="0"/>
          </a:p>
        </p:txBody>
      </p:sp>
      <p:sp>
        <p:nvSpPr>
          <p:cNvPr id="51" name="Text 51"/>
          <p:cNvSpPr txBox="1"/>
          <p:nvPr/>
        </p:nvSpPr>
        <p:spPr>
          <a:xfrm>
            <a:off x="10825720" y="4800600"/>
            <a:ext cx="650000" cy="384048"/>
          </a:xfrm>
          <a:prstGeom prst="rect">
            <a:avLst/>
          </a:prstGeom>
          <a:noFill/>
          <a:ln/>
        </p:spPr>
        <p:txBody>
          <a:bodyPr wrap="square" lIns="0" tIns="0" rIns="0" bIns="0" rtlCol="0" anchor="ctr"/>
          <a:lstStyle/>
          <a:p>
            <a:pPr marL="0" indent="0" algn="r">
              <a:buNone/>
            </a:pPr>
            <a:r>
              <a:rPr lang="en-US" sz="1150" b="1" dirty="0">
                <a:solidFill>
                  <a:srgbClr val="0012B5"/>
                </a:solidFill>
                <a:latin typeface="Verdana" pitchFamily="34" charset="0"/>
                <a:ea typeface="Verdana" pitchFamily="34" charset="-122"/>
                <a:cs typeface="Verdana" pitchFamily="34" charset="-120"/>
              </a:rPr>
              <a:t>13 637</a:t>
            </a:r>
            <a:endParaRPr lang="en-US" sz="1200" dirty="0"/>
          </a:p>
        </p:txBody>
      </p:sp>
      <p:sp>
        <p:nvSpPr>
          <p:cNvPr id="34" name="Shape 31"/>
          <p:cNvSpPr/>
          <p:nvPr/>
        </p:nvSpPr>
        <p:spPr>
          <a:xfrm>
            <a:off x="7772400" y="5532120"/>
            <a:ext cx="3886200" cy="868680"/>
          </a:xfrm>
          <a:prstGeom prst="roundRect">
            <a:avLst>
              <a:gd name="adj" fmla="val 21053"/>
            </a:avLst>
          </a:prstGeom>
          <a:solidFill>
            <a:srgbClr val="FFF7EC"/>
          </a:solidFill>
          <a:ln w="12700">
            <a:solidFill>
              <a:srgbClr val="FFF7EC"/>
            </a:solidFill>
            <a:prstDash val="solid"/>
          </a:ln>
        </p:spPr>
        <p:txBody>
          <a:bodyPr/>
          <a:lstStyle/>
          <a:p>
            <a:endParaRPr lang="fr-FR"/>
          </a:p>
        </p:txBody>
      </p:sp>
      <p:sp>
        <p:nvSpPr>
          <p:cNvPr id="35" name="Text 32"/>
          <p:cNvSpPr txBox="1"/>
          <p:nvPr/>
        </p:nvSpPr>
        <p:spPr>
          <a:xfrm>
            <a:off x="8046720" y="5532120"/>
            <a:ext cx="3337560" cy="868680"/>
          </a:xfrm>
          <a:prstGeom prst="rect">
            <a:avLst/>
          </a:prstGeom>
          <a:noFill/>
          <a:ln/>
        </p:spPr>
        <p:txBody>
          <a:bodyPr wrap="square" lIns="0" tIns="0" rIns="0" bIns="0" rtlCol="0" anchor="ctr"/>
          <a:lstStyle/>
          <a:p>
            <a:pPr marL="0" indent="0">
              <a:buNone/>
            </a:pPr>
            <a:r>
              <a:rPr lang="en-US" sz="1200" dirty="0">
                <a:solidFill>
                  <a:srgbClr val="3A4658"/>
                </a:solidFill>
                <a:latin typeface="Verdana" pitchFamily="34" charset="0"/>
                <a:ea typeface="Verdana" pitchFamily="34" charset="-122"/>
                <a:cs typeface="Verdana" pitchFamily="34" charset="-120"/>
              </a:rPr>
              <a:t>Missions réglées par virement, Stripe réservé au pesca-tourisme : ≈ 507 €/an économisés (1 521 € sur 2027-2029). Assurance, comptabilité : à chiffrer.</a:t>
            </a:r>
            <a:endParaRPr lang="en-US" sz="1200" dirty="0"/>
          </a:p>
        </p:txBody>
      </p:sp>
      <p:sp>
        <p:nvSpPr>
          <p:cNvPr id="36" name="Text 33"/>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46</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CADRE JURIDIQUE · 5 OCTOBRE</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Ce que nous proposons à Fidal le 5 octobre</a:t>
            </a:r>
            <a:endParaRPr lang="en-US" sz="2500" dirty="0"/>
          </a:p>
        </p:txBody>
      </p:sp>
      <p:sp>
        <p:nvSpPr>
          <p:cNvPr id="4" name="Text 2"/>
          <p:cNvSpPr txBox="1"/>
          <p:nvPr/>
        </p:nvSpPr>
        <p:spPr>
          <a:xfrm>
            <a:off x="548640" y="1216152"/>
            <a:ext cx="11094415" cy="457200"/>
          </a:xfrm>
          <a:prstGeom prst="rect">
            <a:avLst/>
          </a:prstGeom>
          <a:noFill/>
          <a:ln/>
        </p:spPr>
        <p:txBody>
          <a:bodyPr wrap="square" lIns="0" tIns="0" rIns="0" bIns="0" rtlCol="0" anchor="t"/>
          <a:lstStyle/>
          <a:p>
            <a:pPr marL="0" indent="0">
              <a:buNone/>
            </a:pPr>
            <a:r>
              <a:rPr lang="en-US" sz="1550" dirty="0">
                <a:solidFill>
                  <a:srgbClr val="66728A"/>
                </a:solidFill>
                <a:latin typeface="Verdana" pitchFamily="34" charset="0"/>
                <a:ea typeface="Verdana" pitchFamily="34" charset="-122"/>
                <a:cs typeface="Verdana" pitchFamily="34" charset="-120"/>
              </a:rPr>
              <a:t>Une première option, pour ouvrir la discussion : elle évoluera avec le cadrage juridique et fiscal.</a:t>
            </a:r>
            <a:endParaRPr lang="en-US" sz="1550" dirty="0"/>
          </a:p>
        </p:txBody>
      </p:sp>
      <p:sp>
        <p:nvSpPr>
          <p:cNvPr id="5" name="Shape 3"/>
          <p:cNvSpPr/>
          <p:nvPr/>
        </p:nvSpPr>
        <p:spPr>
          <a:xfrm>
            <a:off x="548640" y="1828800"/>
            <a:ext cx="3566160" cy="2103120"/>
          </a:xfrm>
          <a:prstGeom prst="roundRect">
            <a:avLst>
              <a:gd name="adj" fmla="val 869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6" name="Shape 4"/>
          <p:cNvSpPr/>
          <p:nvPr/>
        </p:nvSpPr>
        <p:spPr>
          <a:xfrm>
            <a:off x="749808" y="2029968"/>
            <a:ext cx="512064" cy="512064"/>
          </a:xfrm>
          <a:prstGeom prst="ellipse">
            <a:avLst/>
          </a:prstGeom>
          <a:solidFill>
            <a:srgbClr val="0012B5"/>
          </a:solidFill>
          <a:ln w="12700">
            <a:solidFill>
              <a:srgbClr val="0012B5"/>
            </a:solidFill>
            <a:prstDash val="solid"/>
          </a:ln>
        </p:spPr>
        <p:txBody>
          <a:bodyPr/>
          <a:lstStyle/>
          <a:p>
            <a:endParaRPr lang="fr-FR"/>
          </a:p>
        </p:txBody>
      </p:sp>
      <p:pic>
        <p:nvPicPr>
          <p:cNvPr id="7" name="Image 0" descr="preencoded.png"/>
          <p:cNvPicPr>
            <a:picLocks noChangeAspect="1"/>
          </p:cNvPicPr>
          <p:nvPr/>
        </p:nvPicPr>
        <p:blipFill>
          <a:blip r:embed="rId3"/>
          <a:stretch>
            <a:fillRect/>
          </a:stretch>
        </p:blipFill>
        <p:spPr>
          <a:xfrm>
            <a:off x="877824" y="2157984"/>
            <a:ext cx="256032" cy="256032"/>
          </a:xfrm>
          <a:prstGeom prst="rect">
            <a:avLst/>
          </a:prstGeom>
        </p:spPr>
      </p:pic>
      <p:sp>
        <p:nvSpPr>
          <p:cNvPr id="8" name="Text 5"/>
          <p:cNvSpPr txBox="1"/>
          <p:nvPr/>
        </p:nvSpPr>
        <p:spPr>
          <a:xfrm>
            <a:off x="1389888" y="2029968"/>
            <a:ext cx="2606040" cy="512064"/>
          </a:xfrm>
          <a:prstGeom prst="rect">
            <a:avLst/>
          </a:prstGeom>
          <a:noFill/>
          <a:ln/>
        </p:spPr>
        <p:txBody>
          <a:bodyPr wrap="square" lIns="0" tIns="0" rIns="0" bIns="0" rtlCol="0" anchor="ctr"/>
          <a:lstStyle/>
          <a:p>
            <a:pPr marL="0" indent="0">
              <a:buNone/>
            </a:pPr>
            <a:r>
              <a:rPr lang="en-US" sz="1500" b="1" dirty="0">
                <a:solidFill>
                  <a:srgbClr val="0012B5"/>
                </a:solidFill>
                <a:latin typeface="Verdana" pitchFamily="34" charset="0"/>
                <a:ea typeface="Verdana" pitchFamily="34" charset="-122"/>
                <a:cs typeface="Verdana" pitchFamily="34" charset="-120"/>
              </a:rPr>
              <a:t>La lecture des statuts</a:t>
            </a:r>
            <a:endParaRPr lang="en-US" sz="1500" dirty="0"/>
          </a:p>
        </p:txBody>
      </p:sp>
      <p:sp>
        <p:nvSpPr>
          <p:cNvPr id="9" name="Text 6"/>
          <p:cNvSpPr txBox="1"/>
          <p:nvPr/>
        </p:nvSpPr>
        <p:spPr>
          <a:xfrm>
            <a:off x="749808" y="2697480"/>
            <a:ext cx="3163824" cy="1143000"/>
          </a:xfrm>
          <a:prstGeom prst="rect">
            <a:avLst/>
          </a:prstGeom>
          <a:noFill/>
          <a:ln/>
        </p:spPr>
        <p:txBody>
          <a:bodyPr wrap="square" lIns="0" tIns="0" rIns="0" bIns="0" rtlCol="0" anchor="t"/>
          <a:lstStyle/>
          <a:p>
            <a:pPr marL="0" indent="0">
              <a:buNone/>
            </a:pPr>
            <a:r>
              <a:rPr lang="en-US" sz="1300" dirty="0">
                <a:solidFill>
                  <a:srgbClr val="3A4658"/>
                </a:solidFill>
                <a:latin typeface="Verdana" pitchFamily="34" charset="0"/>
                <a:ea typeface="Verdana" pitchFamily="34" charset="-122"/>
                <a:cs typeface="Verdana" pitchFamily="34" charset="-120"/>
              </a:rPr>
              <a:t>La vente accessoire de services permet-elle de couvrir les frais de fonctionnement par les dons du fonds ?</a:t>
            </a:r>
            <a:endParaRPr lang="en-US" sz="1300" dirty="0"/>
          </a:p>
        </p:txBody>
      </p:sp>
      <p:sp>
        <p:nvSpPr>
          <p:cNvPr id="10" name="Shape 7"/>
          <p:cNvSpPr/>
          <p:nvPr/>
        </p:nvSpPr>
        <p:spPr>
          <a:xfrm>
            <a:off x="4297680" y="1828800"/>
            <a:ext cx="3566160" cy="2103120"/>
          </a:xfrm>
          <a:prstGeom prst="roundRect">
            <a:avLst>
              <a:gd name="adj" fmla="val 869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1" name="Shape 8"/>
          <p:cNvSpPr/>
          <p:nvPr/>
        </p:nvSpPr>
        <p:spPr>
          <a:xfrm>
            <a:off x="4498848" y="2029968"/>
            <a:ext cx="512064" cy="512064"/>
          </a:xfrm>
          <a:prstGeom prst="ellipse">
            <a:avLst/>
          </a:prstGeom>
          <a:solidFill>
            <a:srgbClr val="1F5BD6"/>
          </a:solidFill>
          <a:ln w="12700">
            <a:solidFill>
              <a:srgbClr val="1F5BD6"/>
            </a:solidFill>
            <a:prstDash val="solid"/>
          </a:ln>
        </p:spPr>
        <p:txBody>
          <a:bodyPr/>
          <a:lstStyle/>
          <a:p>
            <a:endParaRPr lang="fr-FR"/>
          </a:p>
        </p:txBody>
      </p:sp>
      <p:pic>
        <p:nvPicPr>
          <p:cNvPr id="12" name="Image 1" descr="preencoded.png"/>
          <p:cNvPicPr>
            <a:picLocks noChangeAspect="1"/>
          </p:cNvPicPr>
          <p:nvPr/>
        </p:nvPicPr>
        <p:blipFill>
          <a:blip r:embed="rId4"/>
          <a:stretch>
            <a:fillRect/>
          </a:stretch>
        </p:blipFill>
        <p:spPr>
          <a:xfrm>
            <a:off x="4626864" y="2157984"/>
            <a:ext cx="256032" cy="256032"/>
          </a:xfrm>
          <a:prstGeom prst="rect">
            <a:avLst/>
          </a:prstGeom>
        </p:spPr>
      </p:pic>
      <p:sp>
        <p:nvSpPr>
          <p:cNvPr id="13" name="Text 9"/>
          <p:cNvSpPr txBox="1"/>
          <p:nvPr/>
        </p:nvSpPr>
        <p:spPr>
          <a:xfrm>
            <a:off x="5138928" y="2029968"/>
            <a:ext cx="2606040" cy="512064"/>
          </a:xfrm>
          <a:prstGeom prst="rect">
            <a:avLst/>
          </a:prstGeom>
          <a:noFill/>
          <a:ln/>
        </p:spPr>
        <p:txBody>
          <a:bodyPr wrap="square" lIns="0" tIns="0" rIns="0" bIns="0" rtlCol="0" anchor="ctr"/>
          <a:lstStyle/>
          <a:p>
            <a:pPr marL="0" indent="0">
              <a:buNone/>
            </a:pPr>
            <a:r>
              <a:rPr lang="en-US" sz="1500" b="1" dirty="0">
                <a:solidFill>
                  <a:srgbClr val="0012B5"/>
                </a:solidFill>
                <a:latin typeface="Verdana" pitchFamily="34" charset="0"/>
                <a:ea typeface="Verdana" pitchFamily="34" charset="-122"/>
                <a:cs typeface="Verdana" pitchFamily="34" charset="-120"/>
              </a:rPr>
              <a:t>La structure</a:t>
            </a:r>
            <a:endParaRPr lang="en-US" sz="1500" dirty="0"/>
          </a:p>
        </p:txBody>
      </p:sp>
      <p:sp>
        <p:nvSpPr>
          <p:cNvPr id="14" name="Text 10"/>
          <p:cNvSpPr txBox="1"/>
          <p:nvPr/>
        </p:nvSpPr>
        <p:spPr>
          <a:xfrm>
            <a:off x="4498848" y="2697480"/>
            <a:ext cx="3163824" cy="1143000"/>
          </a:xfrm>
          <a:prstGeom prst="rect">
            <a:avLst/>
          </a:prstGeom>
          <a:noFill/>
          <a:ln/>
        </p:spPr>
        <p:txBody>
          <a:bodyPr wrap="square" lIns="0" tIns="0" rIns="0" bIns="0" rtlCol="0" anchor="t"/>
          <a:lstStyle/>
          <a:p>
            <a:pPr marL="0" indent="0">
              <a:buNone/>
            </a:pPr>
            <a:r>
              <a:rPr lang="en-US" sz="1300" dirty="0">
                <a:solidFill>
                  <a:srgbClr val="3A4658"/>
                </a:solidFill>
                <a:latin typeface="Verdana" pitchFamily="34" charset="0"/>
                <a:ea typeface="Verdana" pitchFamily="34" charset="-122"/>
                <a:cs typeface="Verdana" pitchFamily="34" charset="-120"/>
              </a:rPr>
              <a:t>Qui porte Mare Services : forme, statuts, capital initial à arrêter, liens avec le fonds.</a:t>
            </a:r>
            <a:endParaRPr lang="en-US" sz="1300" dirty="0"/>
          </a:p>
        </p:txBody>
      </p:sp>
      <p:sp>
        <p:nvSpPr>
          <p:cNvPr id="15" name="Shape 11"/>
          <p:cNvSpPr/>
          <p:nvPr/>
        </p:nvSpPr>
        <p:spPr>
          <a:xfrm>
            <a:off x="8046720" y="1828800"/>
            <a:ext cx="3566160" cy="2103120"/>
          </a:xfrm>
          <a:prstGeom prst="roundRect">
            <a:avLst>
              <a:gd name="adj" fmla="val 869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6" name="Shape 12"/>
          <p:cNvSpPr/>
          <p:nvPr/>
        </p:nvSpPr>
        <p:spPr>
          <a:xfrm>
            <a:off x="8247888" y="2029968"/>
            <a:ext cx="512064" cy="512064"/>
          </a:xfrm>
          <a:prstGeom prst="ellipse">
            <a:avLst/>
          </a:prstGeom>
          <a:solidFill>
            <a:srgbClr val="00A7B5"/>
          </a:solidFill>
          <a:ln w="12700">
            <a:solidFill>
              <a:srgbClr val="00A7B5"/>
            </a:solidFill>
            <a:prstDash val="solid"/>
          </a:ln>
        </p:spPr>
        <p:txBody>
          <a:bodyPr/>
          <a:lstStyle/>
          <a:p>
            <a:endParaRPr lang="fr-FR"/>
          </a:p>
        </p:txBody>
      </p:sp>
      <p:pic>
        <p:nvPicPr>
          <p:cNvPr id="17" name="Image 2" descr="preencoded.png"/>
          <p:cNvPicPr>
            <a:picLocks noChangeAspect="1"/>
          </p:cNvPicPr>
          <p:nvPr/>
        </p:nvPicPr>
        <p:blipFill>
          <a:blip r:embed="rId5"/>
          <a:stretch>
            <a:fillRect/>
          </a:stretch>
        </p:blipFill>
        <p:spPr>
          <a:xfrm>
            <a:off x="8375904" y="2157984"/>
            <a:ext cx="256032" cy="256032"/>
          </a:xfrm>
          <a:prstGeom prst="rect">
            <a:avLst/>
          </a:prstGeom>
        </p:spPr>
      </p:pic>
      <p:sp>
        <p:nvSpPr>
          <p:cNvPr id="18" name="Text 13"/>
          <p:cNvSpPr txBox="1"/>
          <p:nvPr/>
        </p:nvSpPr>
        <p:spPr>
          <a:xfrm>
            <a:off x="8887968" y="2029968"/>
            <a:ext cx="2606040" cy="512064"/>
          </a:xfrm>
          <a:prstGeom prst="rect">
            <a:avLst/>
          </a:prstGeom>
          <a:noFill/>
          <a:ln/>
        </p:spPr>
        <p:txBody>
          <a:bodyPr wrap="square" lIns="0" tIns="0" rIns="0" bIns="0" rtlCol="0" anchor="ctr"/>
          <a:lstStyle/>
          <a:p>
            <a:pPr marL="0" indent="0">
              <a:buNone/>
            </a:pPr>
            <a:r>
              <a:rPr lang="en-US" sz="1500" b="1" dirty="0">
                <a:solidFill>
                  <a:srgbClr val="0012B5"/>
                </a:solidFill>
                <a:latin typeface="Verdana" pitchFamily="34" charset="0"/>
                <a:ea typeface="Verdana" pitchFamily="34" charset="-122"/>
                <a:cs typeface="Verdana" pitchFamily="34" charset="-120"/>
              </a:rPr>
              <a:t>Le partage 80 / 20</a:t>
            </a:r>
            <a:endParaRPr lang="en-US" sz="1500" dirty="0"/>
          </a:p>
        </p:txBody>
      </p:sp>
      <p:sp>
        <p:nvSpPr>
          <p:cNvPr id="19" name="Text 14"/>
          <p:cNvSpPr txBox="1"/>
          <p:nvPr/>
        </p:nvSpPr>
        <p:spPr>
          <a:xfrm>
            <a:off x="8247888" y="2697480"/>
            <a:ext cx="3163824" cy="1143000"/>
          </a:xfrm>
          <a:prstGeom prst="rect">
            <a:avLst/>
          </a:prstGeom>
          <a:noFill/>
          <a:ln/>
        </p:spPr>
        <p:txBody>
          <a:bodyPr wrap="square" lIns="0" tIns="0" rIns="0" bIns="0" rtlCol="0" anchor="t"/>
          <a:lstStyle/>
          <a:p>
            <a:pPr marL="0" indent="0">
              <a:buNone/>
            </a:pPr>
            <a:r>
              <a:rPr lang="en-US" sz="1300" dirty="0">
                <a:solidFill>
                  <a:srgbClr val="3A4658"/>
                </a:solidFill>
                <a:latin typeface="Verdana" pitchFamily="34" charset="0"/>
                <a:ea typeface="Verdana" pitchFamily="34" charset="-122"/>
                <a:cs typeface="Verdana" pitchFamily="34" charset="-120"/>
              </a:rPr>
              <a:t>Règlement de la plateforme : part du professionnel, part conservée, taux définitif.</a:t>
            </a:r>
            <a:endParaRPr lang="en-US" sz="1300" dirty="0"/>
          </a:p>
        </p:txBody>
      </p:sp>
      <p:sp>
        <p:nvSpPr>
          <p:cNvPr id="20" name="Shape 15"/>
          <p:cNvSpPr/>
          <p:nvPr/>
        </p:nvSpPr>
        <p:spPr>
          <a:xfrm>
            <a:off x="548640" y="4114800"/>
            <a:ext cx="3566160" cy="2103120"/>
          </a:xfrm>
          <a:prstGeom prst="roundRect">
            <a:avLst>
              <a:gd name="adj" fmla="val 869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1" name="Shape 16"/>
          <p:cNvSpPr/>
          <p:nvPr/>
        </p:nvSpPr>
        <p:spPr>
          <a:xfrm>
            <a:off x="749808" y="4315968"/>
            <a:ext cx="512064" cy="512064"/>
          </a:xfrm>
          <a:prstGeom prst="ellipse">
            <a:avLst/>
          </a:prstGeom>
          <a:solidFill>
            <a:srgbClr val="0E9F6E"/>
          </a:solidFill>
          <a:ln w="12700">
            <a:solidFill>
              <a:srgbClr val="0E9F6E"/>
            </a:solidFill>
            <a:prstDash val="solid"/>
          </a:ln>
        </p:spPr>
        <p:txBody>
          <a:bodyPr/>
          <a:lstStyle/>
          <a:p>
            <a:endParaRPr lang="fr-FR"/>
          </a:p>
        </p:txBody>
      </p:sp>
      <p:pic>
        <p:nvPicPr>
          <p:cNvPr id="22" name="Image 3" descr="preencoded.png"/>
          <p:cNvPicPr>
            <a:picLocks noChangeAspect="1"/>
          </p:cNvPicPr>
          <p:nvPr/>
        </p:nvPicPr>
        <p:blipFill>
          <a:blip r:embed="rId6"/>
          <a:stretch>
            <a:fillRect/>
          </a:stretch>
        </p:blipFill>
        <p:spPr>
          <a:xfrm>
            <a:off x="877824" y="4443984"/>
            <a:ext cx="256032" cy="256032"/>
          </a:xfrm>
          <a:prstGeom prst="rect">
            <a:avLst/>
          </a:prstGeom>
        </p:spPr>
      </p:pic>
      <p:sp>
        <p:nvSpPr>
          <p:cNvPr id="23" name="Text 17"/>
          <p:cNvSpPr txBox="1"/>
          <p:nvPr/>
        </p:nvSpPr>
        <p:spPr>
          <a:xfrm>
            <a:off x="1389888" y="4315968"/>
            <a:ext cx="2606040" cy="512064"/>
          </a:xfrm>
          <a:prstGeom prst="rect">
            <a:avLst/>
          </a:prstGeom>
          <a:noFill/>
          <a:ln/>
        </p:spPr>
        <p:txBody>
          <a:bodyPr wrap="square" lIns="0" tIns="0" rIns="0" bIns="0" rtlCol="0" anchor="ctr"/>
          <a:lstStyle/>
          <a:p>
            <a:pPr marL="0" indent="0">
              <a:buNone/>
            </a:pPr>
            <a:r>
              <a:rPr lang="en-US" sz="1500" b="1" dirty="0">
                <a:solidFill>
                  <a:srgbClr val="0012B5"/>
                </a:solidFill>
                <a:latin typeface="Verdana" pitchFamily="34" charset="0"/>
                <a:ea typeface="Verdana" pitchFamily="34" charset="-122"/>
                <a:cs typeface="Verdana" pitchFamily="34" charset="-120"/>
              </a:rPr>
              <a:t>Les droits des pêcheurs</a:t>
            </a:r>
            <a:endParaRPr lang="en-US" sz="1500" dirty="0"/>
          </a:p>
        </p:txBody>
      </p:sp>
      <p:sp>
        <p:nvSpPr>
          <p:cNvPr id="24" name="Text 18"/>
          <p:cNvSpPr txBox="1"/>
          <p:nvPr/>
        </p:nvSpPr>
        <p:spPr>
          <a:xfrm>
            <a:off x="749808" y="4983480"/>
            <a:ext cx="3163824" cy="1143000"/>
          </a:xfrm>
          <a:prstGeom prst="rect">
            <a:avLst/>
          </a:prstGeom>
          <a:noFill/>
          <a:ln/>
        </p:spPr>
        <p:txBody>
          <a:bodyPr wrap="square" lIns="0" tIns="0" rIns="0" bIns="0" rtlCol="0" anchor="t"/>
          <a:lstStyle/>
          <a:p>
            <a:pPr marL="0" indent="0">
              <a:buNone/>
            </a:pPr>
            <a:r>
              <a:rPr lang="en-US" sz="1300" dirty="0">
                <a:solidFill>
                  <a:srgbClr val="3A4658"/>
                </a:solidFill>
                <a:latin typeface="Verdana" pitchFamily="34" charset="0"/>
                <a:ea typeface="Verdana" pitchFamily="34" charset="-122"/>
                <a:cs typeface="Verdana" pitchFamily="34" charset="-120"/>
              </a:rPr>
              <a:t>Affectations volontaires ouvrant des droits au capital ; résultat versé au prorata.</a:t>
            </a:r>
            <a:endParaRPr lang="en-US" sz="1300" dirty="0"/>
          </a:p>
        </p:txBody>
      </p:sp>
      <p:sp>
        <p:nvSpPr>
          <p:cNvPr id="25" name="Shape 19"/>
          <p:cNvSpPr/>
          <p:nvPr/>
        </p:nvSpPr>
        <p:spPr>
          <a:xfrm>
            <a:off x="4297680" y="4114800"/>
            <a:ext cx="3566160" cy="2103120"/>
          </a:xfrm>
          <a:prstGeom prst="roundRect">
            <a:avLst>
              <a:gd name="adj" fmla="val 869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6" name="Shape 20"/>
          <p:cNvSpPr/>
          <p:nvPr/>
        </p:nvSpPr>
        <p:spPr>
          <a:xfrm>
            <a:off x="4498848" y="4315968"/>
            <a:ext cx="512064" cy="512064"/>
          </a:xfrm>
          <a:prstGeom prst="ellipse">
            <a:avLst/>
          </a:prstGeom>
          <a:solidFill>
            <a:srgbClr val="B45309"/>
          </a:solidFill>
          <a:ln w="12700">
            <a:solidFill>
              <a:srgbClr val="B45309"/>
            </a:solidFill>
            <a:prstDash val="solid"/>
          </a:ln>
        </p:spPr>
        <p:txBody>
          <a:bodyPr/>
          <a:lstStyle/>
          <a:p>
            <a:endParaRPr lang="fr-FR"/>
          </a:p>
        </p:txBody>
      </p:sp>
      <p:pic>
        <p:nvPicPr>
          <p:cNvPr id="27" name="Image 4" descr="preencoded.png"/>
          <p:cNvPicPr>
            <a:picLocks noChangeAspect="1"/>
          </p:cNvPicPr>
          <p:nvPr/>
        </p:nvPicPr>
        <p:blipFill>
          <a:blip r:embed="rId7"/>
          <a:stretch>
            <a:fillRect/>
          </a:stretch>
        </p:blipFill>
        <p:spPr>
          <a:xfrm>
            <a:off x="4626864" y="4443984"/>
            <a:ext cx="256032" cy="256032"/>
          </a:xfrm>
          <a:prstGeom prst="rect">
            <a:avLst/>
          </a:prstGeom>
        </p:spPr>
      </p:pic>
      <p:sp>
        <p:nvSpPr>
          <p:cNvPr id="28" name="Text 21"/>
          <p:cNvSpPr txBox="1"/>
          <p:nvPr/>
        </p:nvSpPr>
        <p:spPr>
          <a:xfrm>
            <a:off x="5138928" y="4315968"/>
            <a:ext cx="2606040" cy="512064"/>
          </a:xfrm>
          <a:prstGeom prst="rect">
            <a:avLst/>
          </a:prstGeom>
          <a:noFill/>
          <a:ln/>
        </p:spPr>
        <p:txBody>
          <a:bodyPr wrap="square" lIns="0" tIns="0" rIns="0" bIns="0" rtlCol="0" anchor="ctr"/>
          <a:lstStyle/>
          <a:p>
            <a:pPr marL="0" indent="0">
              <a:buNone/>
            </a:pPr>
            <a:r>
              <a:rPr lang="en-US" sz="1500" b="1" dirty="0">
                <a:solidFill>
                  <a:srgbClr val="0012B5"/>
                </a:solidFill>
                <a:latin typeface="Verdana" pitchFamily="34" charset="0"/>
                <a:ea typeface="Verdana" pitchFamily="34" charset="-122"/>
                <a:cs typeface="Verdana" pitchFamily="34" charset="-120"/>
              </a:rPr>
              <a:t>Le retour au fonds</a:t>
            </a:r>
            <a:endParaRPr lang="en-US" sz="1500" dirty="0"/>
          </a:p>
        </p:txBody>
      </p:sp>
      <p:sp>
        <p:nvSpPr>
          <p:cNvPr id="29" name="Text 22"/>
          <p:cNvSpPr txBox="1"/>
          <p:nvPr/>
        </p:nvSpPr>
        <p:spPr>
          <a:xfrm>
            <a:off x="4498848" y="4983480"/>
            <a:ext cx="3163824" cy="1143000"/>
          </a:xfrm>
          <a:prstGeom prst="rect">
            <a:avLst/>
          </a:prstGeom>
          <a:noFill/>
          <a:ln/>
        </p:spPr>
        <p:txBody>
          <a:bodyPr wrap="square" lIns="0" tIns="0" rIns="0" bIns="0" rtlCol="0" anchor="t"/>
          <a:lstStyle/>
          <a:p>
            <a:pPr marL="0" indent="0">
              <a:buNone/>
            </a:pPr>
            <a:r>
              <a:rPr lang="en-US" sz="1300" dirty="0">
                <a:solidFill>
                  <a:srgbClr val="3A4658"/>
                </a:solidFill>
                <a:latin typeface="Verdana" pitchFamily="34" charset="0"/>
                <a:ea typeface="Verdana" pitchFamily="34" charset="-122"/>
                <a:cs typeface="Verdana" pitchFamily="34" charset="-120"/>
              </a:rPr>
              <a:t>Résultat reversé au fonds et affecté au programme de la mission.</a:t>
            </a:r>
            <a:endParaRPr lang="en-US" sz="1300" dirty="0"/>
          </a:p>
        </p:txBody>
      </p:sp>
      <p:sp>
        <p:nvSpPr>
          <p:cNvPr id="30" name="Shape 23"/>
          <p:cNvSpPr/>
          <p:nvPr/>
        </p:nvSpPr>
        <p:spPr>
          <a:xfrm>
            <a:off x="8046720" y="4114800"/>
            <a:ext cx="3566160" cy="2103120"/>
          </a:xfrm>
          <a:prstGeom prst="roundRect">
            <a:avLst>
              <a:gd name="adj" fmla="val 869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31" name="Shape 24"/>
          <p:cNvSpPr/>
          <p:nvPr/>
        </p:nvSpPr>
        <p:spPr>
          <a:xfrm>
            <a:off x="8247888" y="4315968"/>
            <a:ext cx="512064" cy="512064"/>
          </a:xfrm>
          <a:prstGeom prst="ellipse">
            <a:avLst/>
          </a:prstGeom>
          <a:solidFill>
            <a:srgbClr val="0074B5"/>
          </a:solidFill>
          <a:ln w="12700">
            <a:solidFill>
              <a:srgbClr val="0074B5"/>
            </a:solidFill>
            <a:prstDash val="solid"/>
          </a:ln>
        </p:spPr>
        <p:txBody>
          <a:bodyPr/>
          <a:lstStyle/>
          <a:p>
            <a:endParaRPr lang="fr-FR"/>
          </a:p>
        </p:txBody>
      </p:sp>
      <p:pic>
        <p:nvPicPr>
          <p:cNvPr id="32" name="Image 5" descr="preencoded.png"/>
          <p:cNvPicPr>
            <a:picLocks noChangeAspect="1"/>
          </p:cNvPicPr>
          <p:nvPr/>
        </p:nvPicPr>
        <p:blipFill>
          <a:blip r:embed="rId8"/>
          <a:stretch>
            <a:fillRect/>
          </a:stretch>
        </p:blipFill>
        <p:spPr>
          <a:xfrm>
            <a:off x="8375904" y="4443984"/>
            <a:ext cx="256032" cy="256032"/>
          </a:xfrm>
          <a:prstGeom prst="rect">
            <a:avLst/>
          </a:prstGeom>
        </p:spPr>
      </p:pic>
      <p:sp>
        <p:nvSpPr>
          <p:cNvPr id="33" name="Text 25"/>
          <p:cNvSpPr txBox="1"/>
          <p:nvPr/>
        </p:nvSpPr>
        <p:spPr>
          <a:xfrm>
            <a:off x="8887968" y="4315968"/>
            <a:ext cx="2606040" cy="512064"/>
          </a:xfrm>
          <a:prstGeom prst="rect">
            <a:avLst/>
          </a:prstGeom>
          <a:noFill/>
          <a:ln/>
        </p:spPr>
        <p:txBody>
          <a:bodyPr wrap="square" lIns="0" tIns="0" rIns="0" bIns="0" rtlCol="0" anchor="ctr"/>
          <a:lstStyle/>
          <a:p>
            <a:pPr marL="0" indent="0">
              <a:buNone/>
            </a:pPr>
            <a:r>
              <a:rPr lang="en-US" sz="1500" b="1" dirty="0">
                <a:solidFill>
                  <a:srgbClr val="0012B5"/>
                </a:solidFill>
                <a:latin typeface="Verdana" pitchFamily="34" charset="0"/>
                <a:ea typeface="Verdana" pitchFamily="34" charset="-122"/>
                <a:cs typeface="Verdana" pitchFamily="34" charset="-120"/>
              </a:rPr>
              <a:t>La mise en service</a:t>
            </a:r>
            <a:endParaRPr lang="en-US" sz="1500" dirty="0"/>
          </a:p>
        </p:txBody>
      </p:sp>
      <p:sp>
        <p:nvSpPr>
          <p:cNvPr id="34" name="Text 26"/>
          <p:cNvSpPr txBox="1"/>
          <p:nvPr/>
        </p:nvSpPr>
        <p:spPr>
          <a:xfrm>
            <a:off x="8247888" y="4983480"/>
            <a:ext cx="3163824" cy="1143000"/>
          </a:xfrm>
          <a:prstGeom prst="rect">
            <a:avLst/>
          </a:prstGeom>
          <a:noFill/>
          <a:ln/>
        </p:spPr>
        <p:txBody>
          <a:bodyPr wrap="square" lIns="0" tIns="0" rIns="0" bIns="0" rtlCol="0" anchor="t"/>
          <a:lstStyle/>
          <a:p>
            <a:pPr marL="0" indent="0">
              <a:buNone/>
            </a:pPr>
            <a:r>
              <a:rPr lang="en-US" sz="1300" dirty="0">
                <a:solidFill>
                  <a:srgbClr val="3A4658"/>
                </a:solidFill>
                <a:latin typeface="Verdana" pitchFamily="34" charset="0"/>
                <a:ea typeface="Verdana" pitchFamily="34" charset="-122"/>
                <a:cs typeface="Verdana" pitchFamily="34" charset="-120"/>
              </a:rPr>
              <a:t>Conditions de vente, encaissement réel, rémunération des patrons.</a:t>
            </a:r>
            <a:endParaRPr lang="en-US" sz="1300" dirty="0"/>
          </a:p>
        </p:txBody>
      </p:sp>
      <p:sp>
        <p:nvSpPr>
          <p:cNvPr id="35" name="Text 27"/>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47</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FEUILLE DE ROUTE</a:t>
            </a:r>
            <a:endParaRPr lang="en-US" sz="1200" dirty="0"/>
          </a:p>
        </p:txBody>
      </p:sp>
      <p:sp>
        <p:nvSpPr>
          <p:cNvPr id="3" name="Text 1"/>
          <p:cNvSpPr txBox="1"/>
          <p:nvPr/>
        </p:nvSpPr>
        <p:spPr>
          <a:xfrm>
            <a:off x="548640" y="621792"/>
            <a:ext cx="5852160" cy="868680"/>
          </a:xfrm>
          <a:prstGeom prst="rect">
            <a:avLst/>
          </a:prstGeom>
          <a:noFill/>
          <a:ln/>
        </p:spPr>
        <p:txBody>
          <a:bodyPr wrap="square" lIns="0" tIns="0" rIns="0" bIns="0" rtlCol="0" anchor="ctr"/>
          <a:lstStyle/>
          <a:p>
            <a:pPr marL="0" indent="0">
              <a:buNone/>
            </a:pPr>
            <a:r>
              <a:rPr lang="en-US" sz="2100" b="1" dirty="0">
                <a:solidFill>
                  <a:srgbClr val="0012B5"/>
                </a:solidFill>
                <a:latin typeface="Verdana" pitchFamily="34" charset="0"/>
                <a:ea typeface="Verdana" pitchFamily="34" charset="-122"/>
                <a:cs typeface="Verdana" pitchFamily="34" charset="-120"/>
              </a:rPr>
              <a:t>Prochaines étapes : rendre la plateforme opérationnelle</a:t>
            </a:r>
            <a:endParaRPr lang="en-US" sz="2100" dirty="0"/>
          </a:p>
        </p:txBody>
      </p:sp>
      <p:sp>
        <p:nvSpPr>
          <p:cNvPr id="4" name="Shape 2"/>
          <p:cNvSpPr/>
          <p:nvPr/>
        </p:nvSpPr>
        <p:spPr>
          <a:xfrm>
            <a:off x="548640" y="1737360"/>
            <a:ext cx="457200" cy="457200"/>
          </a:xfrm>
          <a:prstGeom prst="ellipse">
            <a:avLst/>
          </a:prstGeom>
          <a:solidFill>
            <a:srgbClr val="0012B5"/>
          </a:solidFill>
          <a:ln w="12700">
            <a:solidFill>
              <a:srgbClr val="0012B5"/>
            </a:solidFill>
            <a:prstDash val="solid"/>
          </a:ln>
        </p:spPr>
        <p:txBody>
          <a:bodyPr/>
          <a:lstStyle/>
          <a:p>
            <a:endParaRPr lang="fr-FR"/>
          </a:p>
        </p:txBody>
      </p:sp>
      <p:sp>
        <p:nvSpPr>
          <p:cNvPr id="5" name="Text 3"/>
          <p:cNvSpPr txBox="1"/>
          <p:nvPr/>
        </p:nvSpPr>
        <p:spPr>
          <a:xfrm>
            <a:off x="548640" y="17373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1</a:t>
            </a:r>
            <a:endParaRPr lang="en-US" sz="1400" dirty="0"/>
          </a:p>
        </p:txBody>
      </p:sp>
      <p:sp>
        <p:nvSpPr>
          <p:cNvPr id="6" name="Text 4"/>
          <p:cNvSpPr txBox="1"/>
          <p:nvPr/>
        </p:nvSpPr>
        <p:spPr>
          <a:xfrm>
            <a:off x="1188720" y="1755648"/>
            <a:ext cx="493776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Dépôt des statuts</a:t>
            </a:r>
            <a:endParaRPr lang="en-US" sz="1700" dirty="0"/>
          </a:p>
        </p:txBody>
      </p:sp>
      <p:sp>
        <p:nvSpPr>
          <p:cNvPr id="7" name="Text 5"/>
          <p:cNvSpPr txBox="1"/>
          <p:nvPr/>
        </p:nvSpPr>
        <p:spPr>
          <a:xfrm>
            <a:off x="1188720" y="2121408"/>
            <a:ext cx="4937760" cy="68580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Cadrer la structure qui porte Mare Services : réunion avec Fidal le 5 octobre.</a:t>
            </a:r>
            <a:endParaRPr lang="en-US" sz="1450" dirty="0"/>
          </a:p>
        </p:txBody>
      </p:sp>
      <p:sp>
        <p:nvSpPr>
          <p:cNvPr id="8" name="Shape 6"/>
          <p:cNvSpPr/>
          <p:nvPr/>
        </p:nvSpPr>
        <p:spPr>
          <a:xfrm>
            <a:off x="548640" y="2907792"/>
            <a:ext cx="457200" cy="457200"/>
          </a:xfrm>
          <a:prstGeom prst="ellipse">
            <a:avLst/>
          </a:prstGeom>
          <a:solidFill>
            <a:srgbClr val="1F5BD6"/>
          </a:solidFill>
          <a:ln w="12700">
            <a:solidFill>
              <a:srgbClr val="1F5BD6"/>
            </a:solidFill>
            <a:prstDash val="solid"/>
          </a:ln>
        </p:spPr>
        <p:txBody>
          <a:bodyPr/>
          <a:lstStyle/>
          <a:p>
            <a:endParaRPr lang="fr-FR"/>
          </a:p>
        </p:txBody>
      </p:sp>
      <p:sp>
        <p:nvSpPr>
          <p:cNvPr id="9" name="Text 7"/>
          <p:cNvSpPr txBox="1"/>
          <p:nvPr/>
        </p:nvSpPr>
        <p:spPr>
          <a:xfrm>
            <a:off x="548640" y="290779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2</a:t>
            </a:r>
            <a:endParaRPr lang="en-US" sz="1400" dirty="0"/>
          </a:p>
        </p:txBody>
      </p:sp>
      <p:sp>
        <p:nvSpPr>
          <p:cNvPr id="10" name="Text 8"/>
          <p:cNvSpPr txBox="1"/>
          <p:nvPr/>
        </p:nvSpPr>
        <p:spPr>
          <a:xfrm>
            <a:off x="1188720" y="2926080"/>
            <a:ext cx="493776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Paiement réel</a:t>
            </a:r>
            <a:endParaRPr lang="en-US" sz="1700" dirty="0"/>
          </a:p>
        </p:txBody>
      </p:sp>
      <p:sp>
        <p:nvSpPr>
          <p:cNvPr id="11" name="Text 9"/>
          <p:cNvSpPr txBox="1"/>
          <p:nvPr/>
        </p:nvSpPr>
        <p:spPr>
          <a:xfrm>
            <a:off x="1188720" y="3291840"/>
            <a:ext cx="4937760" cy="68580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Stripe en mode réel, conditions de vente et encaissement validés juridiquement.</a:t>
            </a:r>
            <a:endParaRPr lang="en-US" sz="1450" dirty="0"/>
          </a:p>
        </p:txBody>
      </p:sp>
      <p:sp>
        <p:nvSpPr>
          <p:cNvPr id="12" name="Shape 10"/>
          <p:cNvSpPr/>
          <p:nvPr/>
        </p:nvSpPr>
        <p:spPr>
          <a:xfrm>
            <a:off x="548640" y="4078224"/>
            <a:ext cx="457200" cy="457200"/>
          </a:xfrm>
          <a:prstGeom prst="ellipse">
            <a:avLst/>
          </a:prstGeom>
          <a:solidFill>
            <a:srgbClr val="00A7B5"/>
          </a:solidFill>
          <a:ln w="12700">
            <a:solidFill>
              <a:srgbClr val="00A7B5"/>
            </a:solidFill>
            <a:prstDash val="solid"/>
          </a:ln>
        </p:spPr>
        <p:txBody>
          <a:bodyPr/>
          <a:lstStyle/>
          <a:p>
            <a:endParaRPr lang="fr-FR"/>
          </a:p>
        </p:txBody>
      </p:sp>
      <p:sp>
        <p:nvSpPr>
          <p:cNvPr id="13" name="Text 11"/>
          <p:cNvSpPr txBox="1"/>
          <p:nvPr/>
        </p:nvSpPr>
        <p:spPr>
          <a:xfrm>
            <a:off x="548640" y="40782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3</a:t>
            </a:r>
            <a:endParaRPr lang="en-US" sz="1400" dirty="0"/>
          </a:p>
        </p:txBody>
      </p:sp>
      <p:sp>
        <p:nvSpPr>
          <p:cNvPr id="14" name="Text 12"/>
          <p:cNvSpPr txBox="1"/>
          <p:nvPr/>
        </p:nvSpPr>
        <p:spPr>
          <a:xfrm>
            <a:off x="1188720" y="4096512"/>
            <a:ext cx="493776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Rémunération des patrons</a:t>
            </a:r>
            <a:endParaRPr lang="en-US" sz="1700" dirty="0"/>
          </a:p>
        </p:txBody>
      </p:sp>
      <p:sp>
        <p:nvSpPr>
          <p:cNvPr id="15" name="Text 13"/>
          <p:cNvSpPr txBox="1"/>
          <p:nvPr/>
        </p:nvSpPr>
        <p:spPr>
          <a:xfrm>
            <a:off x="1188720" y="4462272"/>
            <a:ext cx="4937760" cy="68580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Virement automatisé, suivi depuis la plateforme après chaque sortie.</a:t>
            </a:r>
            <a:endParaRPr lang="en-US" sz="1450" dirty="0"/>
          </a:p>
        </p:txBody>
      </p:sp>
      <p:sp>
        <p:nvSpPr>
          <p:cNvPr id="16" name="Shape 14"/>
          <p:cNvSpPr/>
          <p:nvPr/>
        </p:nvSpPr>
        <p:spPr>
          <a:xfrm>
            <a:off x="548640" y="5248656"/>
            <a:ext cx="457200" cy="457200"/>
          </a:xfrm>
          <a:prstGeom prst="ellipse">
            <a:avLst/>
          </a:prstGeom>
          <a:solidFill>
            <a:srgbClr val="0E9F6E"/>
          </a:solidFill>
          <a:ln w="12700">
            <a:solidFill>
              <a:srgbClr val="0E9F6E"/>
            </a:solidFill>
            <a:prstDash val="solid"/>
          </a:ln>
        </p:spPr>
        <p:txBody>
          <a:bodyPr/>
          <a:lstStyle/>
          <a:p>
            <a:endParaRPr lang="fr-FR"/>
          </a:p>
        </p:txBody>
      </p:sp>
      <p:sp>
        <p:nvSpPr>
          <p:cNvPr id="17" name="Text 15"/>
          <p:cNvSpPr txBox="1"/>
          <p:nvPr/>
        </p:nvSpPr>
        <p:spPr>
          <a:xfrm>
            <a:off x="548640" y="524865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4</a:t>
            </a:r>
            <a:endParaRPr lang="en-US" sz="1400" dirty="0"/>
          </a:p>
        </p:txBody>
      </p:sp>
      <p:sp>
        <p:nvSpPr>
          <p:cNvPr id="18" name="Text 16"/>
          <p:cNvSpPr txBox="1"/>
          <p:nvPr/>
        </p:nvSpPr>
        <p:spPr>
          <a:xfrm>
            <a:off x="1188720" y="5266944"/>
            <a:ext cx="4937760" cy="310896"/>
          </a:xfrm>
          <a:prstGeom prst="rect">
            <a:avLst/>
          </a:prstGeom>
          <a:noFill/>
          <a:ln/>
        </p:spPr>
        <p:txBody>
          <a:bodyPr wrap="square" lIns="0" tIns="0" rIns="0" bIns="0" rtlCol="0" anchor="ctr"/>
          <a:lstStyle/>
          <a:p>
            <a:pPr marL="0" indent="0">
              <a:buNone/>
            </a:pPr>
            <a:r>
              <a:rPr lang="en-US" sz="1700" b="1" dirty="0">
                <a:solidFill>
                  <a:srgbClr val="0012B5"/>
                </a:solidFill>
                <a:latin typeface="Verdana" pitchFamily="34" charset="0"/>
                <a:ea typeface="Verdana" pitchFamily="34" charset="-122"/>
                <a:cs typeface="Verdana" pitchFamily="34" charset="-120"/>
              </a:rPr>
              <a:t>Adresses CROSS · SNSM</a:t>
            </a:r>
            <a:endParaRPr lang="en-US" sz="1700" dirty="0"/>
          </a:p>
        </p:txBody>
      </p:sp>
      <p:sp>
        <p:nvSpPr>
          <p:cNvPr id="19" name="Text 17"/>
          <p:cNvSpPr txBox="1"/>
          <p:nvPr/>
        </p:nvSpPr>
        <p:spPr>
          <a:xfrm>
            <a:off x="1188720" y="5632704"/>
            <a:ext cx="4937760" cy="685800"/>
          </a:xfrm>
          <a:prstGeom prst="rect">
            <a:avLst/>
          </a:prstGeom>
          <a:noFill/>
          <a:ln/>
        </p:spPr>
        <p:txBody>
          <a:bodyPr wrap="square" lIns="0" tIns="0" rIns="0" bIns="0" rtlCol="0" anchor="t"/>
          <a:lstStyle/>
          <a:p>
            <a:pPr marL="0" indent="0">
              <a:buNone/>
            </a:pPr>
            <a:r>
              <a:rPr lang="en-US" sz="1450" dirty="0">
                <a:solidFill>
                  <a:srgbClr val="3A4658"/>
                </a:solidFill>
                <a:latin typeface="Verdana" pitchFamily="34" charset="0"/>
                <a:ea typeface="Verdana" pitchFamily="34" charset="-122"/>
                <a:cs typeface="Verdana" pitchFamily="34" charset="-120"/>
              </a:rPr>
              <a:t>Aujourd’hui en démonstration : les déclarations partent sur une adresse de test.</a:t>
            </a:r>
            <a:endParaRPr lang="en-US" sz="1450" dirty="0"/>
          </a:p>
        </p:txBody>
      </p:sp>
      <p:sp>
        <p:nvSpPr>
          <p:cNvPr id="20" name="Shape 18"/>
          <p:cNvSpPr/>
          <p:nvPr/>
        </p:nvSpPr>
        <p:spPr>
          <a:xfrm>
            <a:off x="6400800" y="411480"/>
            <a:ext cx="5257800" cy="6035040"/>
          </a:xfrm>
          <a:prstGeom prst="roundRect">
            <a:avLst>
              <a:gd name="adj" fmla="val 3478"/>
            </a:avLst>
          </a:prstGeom>
          <a:solidFill>
            <a:srgbClr val="EEF4FD"/>
          </a:solidFill>
          <a:ln w="12700">
            <a:solidFill>
              <a:srgbClr val="EEF4FD"/>
            </a:solidFill>
            <a:prstDash val="solid"/>
          </a:ln>
        </p:spPr>
        <p:txBody>
          <a:bodyPr/>
          <a:lstStyle/>
          <a:p>
            <a:endParaRPr lang="fr-FR"/>
          </a:p>
        </p:txBody>
      </p:sp>
      <p:pic>
        <p:nvPicPr>
          <p:cNvPr id="21" name="Image 0" descr="/home/claude/deck/crop3/sp-accueil_3594_50_50_20_h.jpg"/>
          <p:cNvPicPr>
            <a:picLocks noChangeAspect="1"/>
          </p:cNvPicPr>
          <p:nvPr/>
        </p:nvPicPr>
        <p:blipFill>
          <a:blip r:embed="rId3"/>
          <a:stretch>
            <a:fillRect/>
          </a:stretch>
        </p:blipFill>
        <p:spPr>
          <a:xfrm>
            <a:off x="6400800" y="411480"/>
            <a:ext cx="5257800" cy="1463040"/>
          </a:xfrm>
          <a:prstGeom prst="rect">
            <a:avLst/>
          </a:prstGeom>
        </p:spPr>
      </p:pic>
      <p:sp>
        <p:nvSpPr>
          <p:cNvPr id="22" name="Text 19"/>
          <p:cNvSpPr txBox="1"/>
          <p:nvPr/>
        </p:nvSpPr>
        <p:spPr>
          <a:xfrm>
            <a:off x="6675120" y="2011680"/>
            <a:ext cx="4754880" cy="365760"/>
          </a:xfrm>
          <a:prstGeom prst="rect">
            <a:avLst/>
          </a:prstGeom>
          <a:noFill/>
          <a:ln/>
        </p:spPr>
        <p:txBody>
          <a:bodyPr wrap="square" lIns="0" tIns="0" rIns="0" bIns="0" rtlCol="0" anchor="t"/>
          <a:lstStyle/>
          <a:p>
            <a:pPr marL="0" indent="0">
              <a:buNone/>
            </a:pPr>
            <a:r>
              <a:rPr lang="en-US" sz="1900" b="1" dirty="0">
                <a:solidFill>
                  <a:srgbClr val="0012B5"/>
                </a:solidFill>
                <a:latin typeface="Verdana" pitchFamily="34" charset="0"/>
                <a:ea typeface="Verdana" pitchFamily="34" charset="-122"/>
                <a:cs typeface="Verdana" pitchFamily="34" charset="-120"/>
              </a:rPr>
              <a:t>Partenariats à boucler</a:t>
            </a:r>
            <a:endParaRPr lang="en-US" sz="1900" dirty="0"/>
          </a:p>
        </p:txBody>
      </p:sp>
      <p:sp>
        <p:nvSpPr>
          <p:cNvPr id="23" name="Shape 20"/>
          <p:cNvSpPr/>
          <p:nvPr/>
        </p:nvSpPr>
        <p:spPr>
          <a:xfrm>
            <a:off x="6629400" y="2514600"/>
            <a:ext cx="4800600" cy="1874520"/>
          </a:xfrm>
          <a:prstGeom prst="roundRect">
            <a:avLst>
              <a:gd name="adj" fmla="val 975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4" name="Shape 21"/>
          <p:cNvSpPr/>
          <p:nvPr/>
        </p:nvSpPr>
        <p:spPr>
          <a:xfrm>
            <a:off x="6812280" y="2697480"/>
            <a:ext cx="512064" cy="512064"/>
          </a:xfrm>
          <a:prstGeom prst="ellipse">
            <a:avLst/>
          </a:prstGeom>
          <a:solidFill>
            <a:srgbClr val="1F5BD6"/>
          </a:solidFill>
          <a:ln w="12700">
            <a:solidFill>
              <a:srgbClr val="1F5BD6"/>
            </a:solidFill>
            <a:prstDash val="solid"/>
          </a:ln>
        </p:spPr>
        <p:txBody>
          <a:bodyPr/>
          <a:lstStyle/>
          <a:p>
            <a:endParaRPr lang="fr-FR"/>
          </a:p>
        </p:txBody>
      </p:sp>
      <p:pic>
        <p:nvPicPr>
          <p:cNvPr id="25" name="Image 1" descr="preencoded.png"/>
          <p:cNvPicPr>
            <a:picLocks noChangeAspect="1"/>
          </p:cNvPicPr>
          <p:nvPr/>
        </p:nvPicPr>
        <p:blipFill>
          <a:blip r:embed="rId4"/>
          <a:stretch>
            <a:fillRect/>
          </a:stretch>
        </p:blipFill>
        <p:spPr>
          <a:xfrm>
            <a:off x="6940296" y="2825496"/>
            <a:ext cx="256032" cy="256032"/>
          </a:xfrm>
          <a:prstGeom prst="rect">
            <a:avLst/>
          </a:prstGeom>
        </p:spPr>
      </p:pic>
      <p:sp>
        <p:nvSpPr>
          <p:cNvPr id="26" name="Text 22"/>
          <p:cNvSpPr txBox="1"/>
          <p:nvPr/>
        </p:nvSpPr>
        <p:spPr>
          <a:xfrm>
            <a:off x="7452360" y="2679192"/>
            <a:ext cx="3840480" cy="548640"/>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Offices de tourisme du littoral</a:t>
            </a:r>
            <a:endParaRPr lang="en-US" sz="1550" dirty="0"/>
          </a:p>
        </p:txBody>
      </p:sp>
      <p:sp>
        <p:nvSpPr>
          <p:cNvPr id="27" name="Text 23"/>
          <p:cNvSpPr txBox="1"/>
          <p:nvPr/>
        </p:nvSpPr>
        <p:spPr>
          <a:xfrm>
            <a:off x="6812280" y="3291840"/>
            <a:ext cx="4480560" cy="685800"/>
          </a:xfrm>
          <a:prstGeom prst="rect">
            <a:avLst/>
          </a:prstGeom>
          <a:noFill/>
          <a:ln/>
        </p:spPr>
        <p:txBody>
          <a:bodyPr wrap="square" lIns="0" tIns="0" rIns="0" bIns="0" rtlCol="0" anchor="t"/>
          <a:lstStyle/>
          <a:p>
            <a:pPr marL="0" indent="0">
              <a:buNone/>
            </a:pPr>
            <a:r>
              <a:rPr lang="en-US" sz="1300" dirty="0">
                <a:solidFill>
                  <a:srgbClr val="3A4658"/>
                </a:solidFill>
                <a:latin typeface="Verdana" pitchFamily="34" charset="0"/>
                <a:ea typeface="Verdana" pitchFamily="34" charset="-122"/>
                <a:cs typeface="Verdana" pitchFamily="34" charset="-120"/>
              </a:rPr>
              <a:t>Toutes sont intéressées : reste à boucler les partenariats. Elles relaient les sorties auprès de leurs visiteurs.</a:t>
            </a:r>
            <a:endParaRPr lang="en-US" sz="1300" dirty="0"/>
          </a:p>
        </p:txBody>
      </p:sp>
      <p:sp>
        <p:nvSpPr>
          <p:cNvPr id="28" name="Shape 24"/>
          <p:cNvSpPr/>
          <p:nvPr/>
        </p:nvSpPr>
        <p:spPr>
          <a:xfrm>
            <a:off x="6812280" y="3995928"/>
            <a:ext cx="1920240" cy="274320"/>
          </a:xfrm>
          <a:prstGeom prst="roundRect">
            <a:avLst>
              <a:gd name="adj" fmla="val 50000"/>
            </a:avLst>
          </a:prstGeom>
          <a:solidFill>
            <a:srgbClr val="E6F6EC"/>
          </a:solidFill>
          <a:ln w="12700">
            <a:solidFill>
              <a:srgbClr val="E6F6EC"/>
            </a:solidFill>
            <a:prstDash val="solid"/>
          </a:ln>
        </p:spPr>
        <p:txBody>
          <a:bodyPr/>
          <a:lstStyle/>
          <a:p>
            <a:endParaRPr lang="fr-FR"/>
          </a:p>
        </p:txBody>
      </p:sp>
      <p:sp>
        <p:nvSpPr>
          <p:cNvPr id="29" name="Text 25"/>
          <p:cNvSpPr txBox="1"/>
          <p:nvPr/>
        </p:nvSpPr>
        <p:spPr>
          <a:xfrm>
            <a:off x="6812280" y="3995928"/>
            <a:ext cx="1920240" cy="274320"/>
          </a:xfrm>
          <a:prstGeom prst="rect">
            <a:avLst/>
          </a:prstGeom>
          <a:noFill/>
          <a:ln/>
        </p:spPr>
        <p:txBody>
          <a:bodyPr wrap="square" lIns="0" tIns="0" rIns="0" bIns="0" rtlCol="0" anchor="ctr"/>
          <a:lstStyle/>
          <a:p>
            <a:pPr marL="0" indent="0" algn="ctr">
              <a:buNone/>
            </a:pPr>
            <a:r>
              <a:rPr lang="en-US" sz="1150" b="1" dirty="0">
                <a:solidFill>
                  <a:srgbClr val="1B7A3D"/>
                </a:solidFill>
                <a:latin typeface="Verdana" pitchFamily="34" charset="0"/>
                <a:ea typeface="Verdana" pitchFamily="34" charset="-122"/>
                <a:cs typeface="Verdana" pitchFamily="34" charset="-120"/>
              </a:rPr>
              <a:t>Intérêt confirmé</a:t>
            </a:r>
            <a:endParaRPr lang="en-US" sz="1150" dirty="0"/>
          </a:p>
        </p:txBody>
      </p:sp>
      <p:sp>
        <p:nvSpPr>
          <p:cNvPr id="30" name="Shape 26"/>
          <p:cNvSpPr/>
          <p:nvPr/>
        </p:nvSpPr>
        <p:spPr>
          <a:xfrm>
            <a:off x="6629400" y="4507992"/>
            <a:ext cx="4800600" cy="1874520"/>
          </a:xfrm>
          <a:prstGeom prst="roundRect">
            <a:avLst>
              <a:gd name="adj" fmla="val 975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31" name="Shape 27"/>
          <p:cNvSpPr/>
          <p:nvPr/>
        </p:nvSpPr>
        <p:spPr>
          <a:xfrm>
            <a:off x="6812280" y="4690872"/>
            <a:ext cx="512064" cy="512064"/>
          </a:xfrm>
          <a:prstGeom prst="ellipse">
            <a:avLst/>
          </a:prstGeom>
          <a:solidFill>
            <a:srgbClr val="1F5BD6"/>
          </a:solidFill>
          <a:ln w="12700">
            <a:solidFill>
              <a:srgbClr val="1F5BD6"/>
            </a:solidFill>
            <a:prstDash val="solid"/>
          </a:ln>
        </p:spPr>
        <p:txBody>
          <a:bodyPr/>
          <a:lstStyle/>
          <a:p>
            <a:endParaRPr lang="fr-FR"/>
          </a:p>
        </p:txBody>
      </p:sp>
      <p:pic>
        <p:nvPicPr>
          <p:cNvPr id="32" name="Image 2" descr="preencoded.png"/>
          <p:cNvPicPr>
            <a:picLocks noChangeAspect="1"/>
          </p:cNvPicPr>
          <p:nvPr/>
        </p:nvPicPr>
        <p:blipFill>
          <a:blip r:embed="rId5"/>
          <a:stretch>
            <a:fillRect/>
          </a:stretch>
        </p:blipFill>
        <p:spPr>
          <a:xfrm>
            <a:off x="6940296" y="4818888"/>
            <a:ext cx="256032" cy="256032"/>
          </a:xfrm>
          <a:prstGeom prst="rect">
            <a:avLst/>
          </a:prstGeom>
        </p:spPr>
      </p:pic>
      <p:sp>
        <p:nvSpPr>
          <p:cNvPr id="33" name="Text 28"/>
          <p:cNvSpPr txBox="1"/>
          <p:nvPr/>
        </p:nvSpPr>
        <p:spPr>
          <a:xfrm>
            <a:off x="7452360" y="4672584"/>
            <a:ext cx="3840480" cy="548640"/>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Hôtels et groupes hôteliers</a:t>
            </a:r>
            <a:endParaRPr lang="en-US" sz="1550" dirty="0"/>
          </a:p>
        </p:txBody>
      </p:sp>
      <p:sp>
        <p:nvSpPr>
          <p:cNvPr id="34" name="Text 29"/>
          <p:cNvSpPr txBox="1"/>
          <p:nvPr/>
        </p:nvSpPr>
        <p:spPr>
          <a:xfrm>
            <a:off x="6812280" y="5285232"/>
            <a:ext cx="4480560" cy="685800"/>
          </a:xfrm>
          <a:prstGeom prst="rect">
            <a:avLst/>
          </a:prstGeom>
          <a:noFill/>
          <a:ln/>
        </p:spPr>
        <p:txBody>
          <a:bodyPr wrap="square" lIns="0" tIns="0" rIns="0" bIns="0" rtlCol="0" anchor="t"/>
          <a:lstStyle/>
          <a:p>
            <a:pPr marL="0" indent="0">
              <a:buNone/>
            </a:pPr>
            <a:r>
              <a:rPr lang="en-US" sz="1300" dirty="0">
                <a:solidFill>
                  <a:srgbClr val="3A4658"/>
                </a:solidFill>
                <a:latin typeface="Verdana" pitchFamily="34" charset="0"/>
                <a:ea typeface="Verdana" pitchFamily="34" charset="-122"/>
                <a:cs typeface="Verdana" pitchFamily="34" charset="-120"/>
              </a:rPr>
              <a:t>Volonté de nouer des partenariats sur toute la façade méditerranéenne, pour leurs clients.</a:t>
            </a:r>
            <a:endParaRPr lang="en-US" sz="1300" dirty="0"/>
          </a:p>
        </p:txBody>
      </p:sp>
      <p:sp>
        <p:nvSpPr>
          <p:cNvPr id="35" name="Shape 30"/>
          <p:cNvSpPr/>
          <p:nvPr/>
        </p:nvSpPr>
        <p:spPr>
          <a:xfrm>
            <a:off x="6812280" y="5989320"/>
            <a:ext cx="1920240" cy="274320"/>
          </a:xfrm>
          <a:prstGeom prst="roundRect">
            <a:avLst>
              <a:gd name="adj" fmla="val 50000"/>
            </a:avLst>
          </a:prstGeom>
          <a:solidFill>
            <a:srgbClr val="FFF4DC"/>
          </a:solidFill>
          <a:ln w="12700">
            <a:solidFill>
              <a:srgbClr val="FFF4DC"/>
            </a:solidFill>
            <a:prstDash val="solid"/>
          </a:ln>
        </p:spPr>
        <p:txBody>
          <a:bodyPr/>
          <a:lstStyle/>
          <a:p>
            <a:endParaRPr lang="fr-FR"/>
          </a:p>
        </p:txBody>
      </p:sp>
      <p:sp>
        <p:nvSpPr>
          <p:cNvPr id="36" name="Text 31"/>
          <p:cNvSpPr txBox="1"/>
          <p:nvPr/>
        </p:nvSpPr>
        <p:spPr>
          <a:xfrm>
            <a:off x="6812280" y="5989320"/>
            <a:ext cx="1920240" cy="274320"/>
          </a:xfrm>
          <a:prstGeom prst="rect">
            <a:avLst/>
          </a:prstGeom>
          <a:noFill/>
          <a:ln/>
        </p:spPr>
        <p:txBody>
          <a:bodyPr wrap="square" lIns="0" tIns="0" rIns="0" bIns="0" rtlCol="0" anchor="ctr"/>
          <a:lstStyle/>
          <a:p>
            <a:pPr marL="0" indent="0" algn="ctr">
              <a:buNone/>
            </a:pPr>
            <a:r>
              <a:rPr lang="en-US" sz="1150" b="1" dirty="0">
                <a:solidFill>
                  <a:srgbClr val="B45309"/>
                </a:solidFill>
                <a:latin typeface="Verdana" pitchFamily="34" charset="0"/>
                <a:ea typeface="Verdana" pitchFamily="34" charset="-122"/>
                <a:cs typeface="Verdana" pitchFamily="34" charset="-120"/>
              </a:rPr>
              <a:t>À engager</a:t>
            </a:r>
            <a:endParaRPr lang="en-US" sz="1150" dirty="0"/>
          </a:p>
        </p:txBody>
      </p:sp>
      <p:sp>
        <p:nvSpPr>
          <p:cNvPr id="37" name="Text 32"/>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48</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ET DEMAIN</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Ce qui arrive : les ouvertures possibles</a:t>
            </a:r>
            <a:endParaRPr lang="en-US" sz="2500" dirty="0"/>
          </a:p>
        </p:txBody>
      </p:sp>
      <p:sp>
        <p:nvSpPr>
          <p:cNvPr id="4" name="Text 2"/>
          <p:cNvSpPr txBox="1"/>
          <p:nvPr/>
        </p:nvSpPr>
        <p:spPr>
          <a:xfrm>
            <a:off x="548640" y="1216152"/>
            <a:ext cx="11094415" cy="457200"/>
          </a:xfrm>
          <a:prstGeom prst="rect">
            <a:avLst/>
          </a:prstGeom>
          <a:noFill/>
          <a:ln/>
        </p:spPr>
        <p:txBody>
          <a:bodyPr wrap="square" lIns="0" tIns="0" rIns="0" bIns="0" rtlCol="0" anchor="t"/>
          <a:lstStyle/>
          <a:p>
            <a:pPr marL="0" indent="0">
              <a:buNone/>
            </a:pPr>
            <a:r>
              <a:rPr lang="en-US" sz="1550" dirty="0">
                <a:solidFill>
                  <a:srgbClr val="66728A"/>
                </a:solidFill>
                <a:latin typeface="Verdana" pitchFamily="34" charset="0"/>
                <a:ea typeface="Verdana" pitchFamily="34" charset="-122"/>
                <a:cs typeface="Verdana" pitchFamily="34" charset="-120"/>
              </a:rPr>
              <a:t>De nouveaux services, sur les mêmes briques : comptes vérifiés, validation, paiement, messages.</a:t>
            </a:r>
            <a:endParaRPr lang="en-US" sz="1550" dirty="0"/>
          </a:p>
        </p:txBody>
      </p:sp>
      <p:sp>
        <p:nvSpPr>
          <p:cNvPr id="5" name="Shape 3"/>
          <p:cNvSpPr/>
          <p:nvPr/>
        </p:nvSpPr>
        <p:spPr>
          <a:xfrm>
            <a:off x="548640" y="1828800"/>
            <a:ext cx="2679192" cy="457200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6" name="Image 0" descr="/home/claude/deck/crop3/pq-assiette_1953_50_40_20_h_F6F9FE.jpg"/>
          <p:cNvPicPr>
            <a:picLocks noChangeAspect="1"/>
          </p:cNvPicPr>
          <p:nvPr/>
        </p:nvPicPr>
        <p:blipFill>
          <a:blip r:embed="rId3"/>
          <a:stretch>
            <a:fillRect/>
          </a:stretch>
        </p:blipFill>
        <p:spPr>
          <a:xfrm>
            <a:off x="548640" y="1828800"/>
            <a:ext cx="2679192" cy="1371600"/>
          </a:xfrm>
          <a:prstGeom prst="rect">
            <a:avLst/>
          </a:prstGeom>
        </p:spPr>
      </p:pic>
      <p:sp>
        <p:nvSpPr>
          <p:cNvPr id="7" name="Shape 4"/>
          <p:cNvSpPr/>
          <p:nvPr/>
        </p:nvSpPr>
        <p:spPr>
          <a:xfrm>
            <a:off x="731520" y="3346704"/>
            <a:ext cx="1600200" cy="274320"/>
          </a:xfrm>
          <a:prstGeom prst="roundRect">
            <a:avLst>
              <a:gd name="adj" fmla="val 50000"/>
            </a:avLst>
          </a:prstGeom>
          <a:solidFill>
            <a:srgbClr val="FFF4DC"/>
          </a:solidFill>
          <a:ln w="12700">
            <a:solidFill>
              <a:srgbClr val="FFF4DC"/>
            </a:solidFill>
            <a:prstDash val="solid"/>
          </a:ln>
        </p:spPr>
        <p:txBody>
          <a:bodyPr/>
          <a:lstStyle/>
          <a:p>
            <a:endParaRPr lang="fr-FR"/>
          </a:p>
        </p:txBody>
      </p:sp>
      <p:sp>
        <p:nvSpPr>
          <p:cNvPr id="8" name="Text 5"/>
          <p:cNvSpPr txBox="1"/>
          <p:nvPr/>
        </p:nvSpPr>
        <p:spPr>
          <a:xfrm>
            <a:off x="731520" y="3346704"/>
            <a:ext cx="1600200" cy="274320"/>
          </a:xfrm>
          <a:prstGeom prst="rect">
            <a:avLst/>
          </a:prstGeom>
          <a:noFill/>
          <a:ln/>
        </p:spPr>
        <p:txBody>
          <a:bodyPr wrap="square" lIns="0" tIns="0" rIns="0" bIns="0" rtlCol="0" anchor="ctr"/>
          <a:lstStyle/>
          <a:p>
            <a:pPr marL="0" indent="0" algn="ctr">
              <a:buNone/>
            </a:pPr>
            <a:r>
              <a:rPr lang="en-US" sz="1050" b="1" dirty="0">
                <a:solidFill>
                  <a:srgbClr val="B45309"/>
                </a:solidFill>
                <a:latin typeface="Verdana" pitchFamily="34" charset="0"/>
                <a:ea typeface="Verdana" pitchFamily="34" charset="-122"/>
                <a:cs typeface="Verdana" pitchFamily="34" charset="-120"/>
              </a:rPr>
              <a:t>Principe envisagé</a:t>
            </a:r>
            <a:endParaRPr lang="en-US" sz="1050" dirty="0"/>
          </a:p>
        </p:txBody>
      </p:sp>
      <p:sp>
        <p:nvSpPr>
          <p:cNvPr id="9" name="Text 6"/>
          <p:cNvSpPr txBox="1"/>
          <p:nvPr/>
        </p:nvSpPr>
        <p:spPr>
          <a:xfrm>
            <a:off x="731520" y="3703320"/>
            <a:ext cx="2313432" cy="566928"/>
          </a:xfrm>
          <a:prstGeom prst="rect">
            <a:avLst/>
          </a:prstGeom>
          <a:noFill/>
          <a:ln/>
        </p:spPr>
        <p:txBody>
          <a:bodyPr wrap="square" lIns="0" tIns="0" rIns="0" bIns="0" rtlCol="0" anchor="t"/>
          <a:lstStyle/>
          <a:p>
            <a:pPr marL="0" indent="0">
              <a:buNone/>
            </a:pPr>
            <a:r>
              <a:rPr lang="en-US" sz="1400" b="1" dirty="0">
                <a:solidFill>
                  <a:srgbClr val="0012B5"/>
                </a:solidFill>
                <a:latin typeface="Verdana" pitchFamily="34" charset="0"/>
                <a:ea typeface="Verdana" pitchFamily="34" charset="-122"/>
                <a:cs typeface="Verdana" pitchFamily="34" charset="-120"/>
              </a:rPr>
              <a:t>Les dégustations des pêcheurs</a:t>
            </a:r>
            <a:endParaRPr lang="en-US" sz="1400" dirty="0"/>
          </a:p>
        </p:txBody>
      </p:sp>
      <p:sp>
        <p:nvSpPr>
          <p:cNvPr id="10" name="Text 7"/>
          <p:cNvSpPr txBox="1"/>
          <p:nvPr/>
        </p:nvSpPr>
        <p:spPr>
          <a:xfrm>
            <a:off x="731520" y="4343400"/>
            <a:ext cx="2313432" cy="196596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150" dirty="0">
                <a:solidFill>
                  <a:srgbClr val="3A4658"/>
                </a:solidFill>
                <a:latin typeface="Verdana" pitchFamily="34" charset="0"/>
                <a:ea typeface="Verdana" pitchFamily="34" charset="-122"/>
                <a:cs typeface="Verdana" pitchFamily="34" charset="-120"/>
              </a:rPr>
              <a:t>Le patron crée l’événement : date, lieu, places, prix.</a:t>
            </a:r>
            <a:endParaRPr lang="en-US" sz="1150" dirty="0"/>
          </a:p>
          <a:p>
            <a:pPr marL="342900" indent="-342900">
              <a:spcAft>
                <a:spcPts val="500"/>
              </a:spcAft>
              <a:buSzPct val="100000"/>
              <a:buFont typeface="+mj-lt"/>
              <a:buAutoNum type="arabicPeriod"/>
            </a:pPr>
            <a:r>
              <a:rPr lang="en-US" sz="1150" dirty="0">
                <a:solidFill>
                  <a:srgbClr val="3A4658"/>
                </a:solidFill>
                <a:latin typeface="Verdana" pitchFamily="34" charset="0"/>
                <a:ea typeface="Verdana" pitchFamily="34" charset="-122"/>
                <a:cs typeface="Verdana" pitchFamily="34" charset="-120"/>
              </a:rPr>
              <a:t>L’équipe le valide.</a:t>
            </a:r>
            <a:endParaRPr lang="en-US" sz="1150" dirty="0"/>
          </a:p>
          <a:p>
            <a:pPr marL="342900" indent="-342900">
              <a:spcAft>
                <a:spcPts val="500"/>
              </a:spcAft>
              <a:buSzPct val="100000"/>
              <a:buFont typeface="+mj-lt"/>
              <a:buAutoNum type="arabicPeriod"/>
            </a:pPr>
            <a:r>
              <a:rPr lang="en-US" sz="1150" dirty="0">
                <a:solidFill>
                  <a:srgbClr val="3A4658"/>
                </a:solidFill>
                <a:latin typeface="Verdana" pitchFamily="34" charset="0"/>
                <a:ea typeface="Verdana" pitchFamily="34" charset="-122"/>
                <a:cs typeface="Verdana" pitchFamily="34" charset="-120"/>
              </a:rPr>
              <a:t>Le public s’inscrit et paie en ligne.</a:t>
            </a:r>
            <a:endParaRPr lang="en-US" sz="1150" dirty="0"/>
          </a:p>
        </p:txBody>
      </p:sp>
      <p:sp>
        <p:nvSpPr>
          <p:cNvPr id="11" name="Shape 8"/>
          <p:cNvSpPr/>
          <p:nvPr/>
        </p:nvSpPr>
        <p:spPr>
          <a:xfrm>
            <a:off x="3383280" y="1828800"/>
            <a:ext cx="2679192" cy="457200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12" name="Image 1" descr="/home/claude/deck/crop3/galerie-equipage_1953_50_40_20_h_F6F9FE.jpg"/>
          <p:cNvPicPr>
            <a:picLocks noChangeAspect="1"/>
          </p:cNvPicPr>
          <p:nvPr/>
        </p:nvPicPr>
        <p:blipFill>
          <a:blip r:embed="rId4"/>
          <a:stretch>
            <a:fillRect/>
          </a:stretch>
        </p:blipFill>
        <p:spPr>
          <a:xfrm>
            <a:off x="3383280" y="1828800"/>
            <a:ext cx="2679192" cy="1371600"/>
          </a:xfrm>
          <a:prstGeom prst="rect">
            <a:avLst/>
          </a:prstGeom>
        </p:spPr>
      </p:pic>
      <p:sp>
        <p:nvSpPr>
          <p:cNvPr id="13" name="Shape 9"/>
          <p:cNvSpPr/>
          <p:nvPr/>
        </p:nvSpPr>
        <p:spPr>
          <a:xfrm>
            <a:off x="3566160" y="3346704"/>
            <a:ext cx="1600200" cy="274320"/>
          </a:xfrm>
          <a:prstGeom prst="roundRect">
            <a:avLst>
              <a:gd name="adj" fmla="val 50000"/>
            </a:avLst>
          </a:prstGeom>
          <a:solidFill>
            <a:srgbClr val="FFF4DC"/>
          </a:solidFill>
          <a:ln w="12700">
            <a:solidFill>
              <a:srgbClr val="FFF4DC"/>
            </a:solidFill>
            <a:prstDash val="solid"/>
          </a:ln>
        </p:spPr>
        <p:txBody>
          <a:bodyPr/>
          <a:lstStyle/>
          <a:p>
            <a:endParaRPr lang="fr-FR"/>
          </a:p>
        </p:txBody>
      </p:sp>
      <p:sp>
        <p:nvSpPr>
          <p:cNvPr id="14" name="Text 10"/>
          <p:cNvSpPr txBox="1"/>
          <p:nvPr/>
        </p:nvSpPr>
        <p:spPr>
          <a:xfrm>
            <a:off x="3566160" y="3346704"/>
            <a:ext cx="1600200" cy="274320"/>
          </a:xfrm>
          <a:prstGeom prst="rect">
            <a:avLst/>
          </a:prstGeom>
          <a:noFill/>
          <a:ln/>
        </p:spPr>
        <p:txBody>
          <a:bodyPr wrap="square" lIns="0" tIns="0" rIns="0" bIns="0" rtlCol="0" anchor="ctr"/>
          <a:lstStyle/>
          <a:p>
            <a:pPr marL="0" indent="0" algn="ctr">
              <a:buNone/>
            </a:pPr>
            <a:r>
              <a:rPr lang="en-US" sz="1050" b="1" dirty="0">
                <a:solidFill>
                  <a:srgbClr val="B45309"/>
                </a:solidFill>
                <a:latin typeface="Verdana" pitchFamily="34" charset="0"/>
                <a:ea typeface="Verdana" pitchFamily="34" charset="-122"/>
                <a:cs typeface="Verdana" pitchFamily="34" charset="-120"/>
              </a:rPr>
              <a:t>Principe envisagé</a:t>
            </a:r>
            <a:endParaRPr lang="en-US" sz="1050" dirty="0"/>
          </a:p>
        </p:txBody>
      </p:sp>
      <p:sp>
        <p:nvSpPr>
          <p:cNvPr id="15" name="Text 11"/>
          <p:cNvSpPr txBox="1"/>
          <p:nvPr/>
        </p:nvSpPr>
        <p:spPr>
          <a:xfrm>
            <a:off x="3566160" y="3703320"/>
            <a:ext cx="2313432" cy="566928"/>
          </a:xfrm>
          <a:prstGeom prst="rect">
            <a:avLst/>
          </a:prstGeom>
          <a:noFill/>
          <a:ln/>
        </p:spPr>
        <p:txBody>
          <a:bodyPr wrap="square" lIns="0" tIns="0" rIns="0" bIns="0" rtlCol="0" anchor="t"/>
          <a:lstStyle/>
          <a:p>
            <a:pPr marL="0" indent="0">
              <a:buNone/>
            </a:pPr>
            <a:r>
              <a:rPr lang="en-US" sz="1400" b="1" dirty="0">
                <a:solidFill>
                  <a:srgbClr val="0012B5"/>
                </a:solidFill>
                <a:latin typeface="Verdana" pitchFamily="34" charset="0"/>
                <a:ea typeface="Verdana" pitchFamily="34" charset="-122"/>
                <a:cs typeface="Verdana" pitchFamily="34" charset="-120"/>
              </a:rPr>
              <a:t>La mise à disposition de marins</a:t>
            </a:r>
            <a:endParaRPr lang="en-US" sz="1400" dirty="0"/>
          </a:p>
        </p:txBody>
      </p:sp>
      <p:sp>
        <p:nvSpPr>
          <p:cNvPr id="16" name="Text 12"/>
          <p:cNvSpPr txBox="1"/>
          <p:nvPr/>
        </p:nvSpPr>
        <p:spPr>
          <a:xfrm>
            <a:off x="3566160" y="4343400"/>
            <a:ext cx="2313432" cy="196596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150" dirty="0">
                <a:solidFill>
                  <a:srgbClr val="3A4658"/>
                </a:solidFill>
                <a:latin typeface="Verdana" pitchFamily="34" charset="0"/>
                <a:ea typeface="Verdana" pitchFamily="34" charset="-122"/>
                <a:cs typeface="Verdana" pitchFamily="34" charset="-120"/>
              </a:rPr>
              <a:t>Compte marin : titres, métiers, disponibilités.</a:t>
            </a:r>
            <a:endParaRPr lang="en-US" sz="1150" dirty="0"/>
          </a:p>
          <a:p>
            <a:pPr marL="342900" indent="-342900">
              <a:spcAft>
                <a:spcPts val="500"/>
              </a:spcAft>
              <a:buSzPct val="100000"/>
              <a:buFont typeface="+mj-lt"/>
              <a:buAutoNum type="arabicPeriod"/>
            </a:pPr>
            <a:r>
              <a:rPr lang="en-US" sz="1150" dirty="0">
                <a:solidFill>
                  <a:srgbClr val="3A4658"/>
                </a:solidFill>
                <a:latin typeface="Verdana" pitchFamily="34" charset="0"/>
                <a:ea typeface="Verdana" pitchFamily="34" charset="-122"/>
                <a:cs typeface="Verdana" pitchFamily="34" charset="-120"/>
              </a:rPr>
              <a:t>L’équipe vérifie les titres.</a:t>
            </a:r>
            <a:endParaRPr lang="en-US" sz="1150" dirty="0"/>
          </a:p>
          <a:p>
            <a:pPr marL="342900" indent="-342900">
              <a:spcAft>
                <a:spcPts val="500"/>
              </a:spcAft>
              <a:buSzPct val="100000"/>
              <a:buFont typeface="+mj-lt"/>
              <a:buAutoNum type="arabicPeriod"/>
            </a:pPr>
            <a:r>
              <a:rPr lang="en-US" sz="1150" dirty="0">
                <a:solidFill>
                  <a:srgbClr val="3A4658"/>
                </a:solidFill>
                <a:latin typeface="Verdana" pitchFamily="34" charset="0"/>
                <a:ea typeface="Verdana" pitchFamily="34" charset="-122"/>
                <a:cs typeface="Verdana" pitchFamily="34" charset="-120"/>
              </a:rPr>
              <a:t>Le patron trouve qui est libre.</a:t>
            </a:r>
            <a:endParaRPr lang="en-US" sz="1150" dirty="0"/>
          </a:p>
        </p:txBody>
      </p:sp>
      <p:sp>
        <p:nvSpPr>
          <p:cNvPr id="17" name="Shape 13"/>
          <p:cNvSpPr/>
          <p:nvPr/>
        </p:nvSpPr>
        <p:spPr>
          <a:xfrm>
            <a:off x="6217920" y="1828800"/>
            <a:ext cx="2679192" cy="457200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18" name="Image 2" descr="/home/claude/deck/crop3/galerie-patron_1953_50_40_20_h_F6F9FE.jpg"/>
          <p:cNvPicPr>
            <a:picLocks noChangeAspect="1"/>
          </p:cNvPicPr>
          <p:nvPr/>
        </p:nvPicPr>
        <p:blipFill>
          <a:blip r:embed="rId5"/>
          <a:stretch>
            <a:fillRect/>
          </a:stretch>
        </p:blipFill>
        <p:spPr>
          <a:xfrm>
            <a:off x="6217920" y="1828800"/>
            <a:ext cx="2679192" cy="1371600"/>
          </a:xfrm>
          <a:prstGeom prst="rect">
            <a:avLst/>
          </a:prstGeom>
        </p:spPr>
      </p:pic>
      <p:sp>
        <p:nvSpPr>
          <p:cNvPr id="19" name="Shape 14"/>
          <p:cNvSpPr/>
          <p:nvPr/>
        </p:nvSpPr>
        <p:spPr>
          <a:xfrm>
            <a:off x="6400800" y="3346704"/>
            <a:ext cx="1600200" cy="274320"/>
          </a:xfrm>
          <a:prstGeom prst="roundRect">
            <a:avLst>
              <a:gd name="adj" fmla="val 50000"/>
            </a:avLst>
          </a:prstGeom>
          <a:solidFill>
            <a:srgbClr val="FFF4DC"/>
          </a:solidFill>
          <a:ln w="12700">
            <a:solidFill>
              <a:srgbClr val="FFF4DC"/>
            </a:solidFill>
            <a:prstDash val="solid"/>
          </a:ln>
        </p:spPr>
        <p:txBody>
          <a:bodyPr/>
          <a:lstStyle/>
          <a:p>
            <a:endParaRPr lang="fr-FR"/>
          </a:p>
        </p:txBody>
      </p:sp>
      <p:sp>
        <p:nvSpPr>
          <p:cNvPr id="20" name="Text 15"/>
          <p:cNvSpPr txBox="1"/>
          <p:nvPr/>
        </p:nvSpPr>
        <p:spPr>
          <a:xfrm>
            <a:off x="6400800" y="3346704"/>
            <a:ext cx="1600200" cy="274320"/>
          </a:xfrm>
          <a:prstGeom prst="rect">
            <a:avLst/>
          </a:prstGeom>
          <a:noFill/>
          <a:ln/>
        </p:spPr>
        <p:txBody>
          <a:bodyPr wrap="square" lIns="0" tIns="0" rIns="0" bIns="0" rtlCol="0" anchor="ctr"/>
          <a:lstStyle/>
          <a:p>
            <a:pPr marL="0" indent="0" algn="ctr">
              <a:buNone/>
            </a:pPr>
            <a:r>
              <a:rPr lang="en-US" sz="1050" b="1" dirty="0">
                <a:solidFill>
                  <a:srgbClr val="B45309"/>
                </a:solidFill>
                <a:latin typeface="Verdana" pitchFamily="34" charset="0"/>
                <a:ea typeface="Verdana" pitchFamily="34" charset="-122"/>
                <a:cs typeface="Verdana" pitchFamily="34" charset="-120"/>
              </a:rPr>
              <a:t>Principe envisagé</a:t>
            </a:r>
            <a:endParaRPr lang="en-US" sz="1050" dirty="0"/>
          </a:p>
        </p:txBody>
      </p:sp>
      <p:sp>
        <p:nvSpPr>
          <p:cNvPr id="21" name="Text 16"/>
          <p:cNvSpPr txBox="1"/>
          <p:nvPr/>
        </p:nvSpPr>
        <p:spPr>
          <a:xfrm>
            <a:off x="6400800" y="3703320"/>
            <a:ext cx="2313432" cy="566928"/>
          </a:xfrm>
          <a:prstGeom prst="rect">
            <a:avLst/>
          </a:prstGeom>
          <a:noFill/>
          <a:ln/>
        </p:spPr>
        <p:txBody>
          <a:bodyPr wrap="square" lIns="0" tIns="0" rIns="0" bIns="0" rtlCol="0" anchor="t"/>
          <a:lstStyle/>
          <a:p>
            <a:pPr marL="0" indent="0">
              <a:buNone/>
            </a:pPr>
            <a:r>
              <a:rPr lang="en-US" sz="1400" b="1" dirty="0">
                <a:solidFill>
                  <a:srgbClr val="0012B5"/>
                </a:solidFill>
                <a:latin typeface="Verdana" pitchFamily="34" charset="0"/>
                <a:ea typeface="Verdana" pitchFamily="34" charset="-122"/>
                <a:cs typeface="Verdana" pitchFamily="34" charset="-120"/>
              </a:rPr>
              <a:t>L’aide administrative aux pêcheurs</a:t>
            </a:r>
            <a:endParaRPr lang="en-US" sz="1400" dirty="0"/>
          </a:p>
        </p:txBody>
      </p:sp>
      <p:sp>
        <p:nvSpPr>
          <p:cNvPr id="22" name="Text 17"/>
          <p:cNvSpPr txBox="1"/>
          <p:nvPr/>
        </p:nvSpPr>
        <p:spPr>
          <a:xfrm>
            <a:off x="6400800" y="4343400"/>
            <a:ext cx="2313432" cy="196596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150" dirty="0">
                <a:solidFill>
                  <a:srgbClr val="3A4658"/>
                </a:solidFill>
                <a:latin typeface="Verdana" pitchFamily="34" charset="0"/>
                <a:ea typeface="Verdana" pitchFamily="34" charset="-122"/>
                <a:cs typeface="Verdana" pitchFamily="34" charset="-120"/>
              </a:rPr>
              <a:t>Démarches et dossiers du navire, de l’équipage, des aides.</a:t>
            </a:r>
            <a:endParaRPr lang="en-US" sz="1150" dirty="0"/>
          </a:p>
          <a:p>
            <a:pPr marL="342900" indent="-342900">
              <a:spcAft>
                <a:spcPts val="500"/>
              </a:spcAft>
              <a:buSzPct val="100000"/>
              <a:buFont typeface="+mj-lt"/>
              <a:buAutoNum type="arabicPeriod"/>
            </a:pPr>
            <a:r>
              <a:rPr lang="en-US" sz="1150" dirty="0">
                <a:solidFill>
                  <a:srgbClr val="3A4658"/>
                </a:solidFill>
                <a:latin typeface="Verdana" pitchFamily="34" charset="0"/>
                <a:ea typeface="Verdana" pitchFamily="34" charset="-122"/>
                <a:cs typeface="Verdana" pitchFamily="34" charset="-120"/>
              </a:rPr>
              <a:t>Demandée depuis l’espace pêcheur.</a:t>
            </a:r>
            <a:endParaRPr lang="en-US" sz="1150" dirty="0"/>
          </a:p>
          <a:p>
            <a:pPr marL="342900" indent="-342900">
              <a:spcAft>
                <a:spcPts val="500"/>
              </a:spcAft>
              <a:buSzPct val="100000"/>
              <a:buFont typeface="+mj-lt"/>
              <a:buAutoNum type="arabicPeriod"/>
            </a:pPr>
            <a:r>
              <a:rPr lang="en-US" sz="1150" dirty="0">
                <a:solidFill>
                  <a:srgbClr val="3A4658"/>
                </a:solidFill>
                <a:latin typeface="Verdana" pitchFamily="34" charset="0"/>
                <a:ea typeface="Verdana" pitchFamily="34" charset="-122"/>
                <a:cs typeface="Verdana" pitchFamily="34" charset="-120"/>
              </a:rPr>
              <a:t>Suivie par l’équipe, avec rappels d’échéances.</a:t>
            </a:r>
            <a:endParaRPr lang="en-US" sz="1150" dirty="0"/>
          </a:p>
        </p:txBody>
      </p:sp>
      <p:sp>
        <p:nvSpPr>
          <p:cNvPr id="23" name="Shape 18"/>
          <p:cNvSpPr/>
          <p:nvPr/>
        </p:nvSpPr>
        <p:spPr>
          <a:xfrm>
            <a:off x="9052560" y="1828800"/>
            <a:ext cx="2679192" cy="4572000"/>
          </a:xfrm>
          <a:prstGeom prst="roundRect">
            <a:avLst>
              <a:gd name="adj" fmla="val 6826"/>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24" name="Image 3" descr="/home/claude/deck/crop3/hero-accueil-bateau_1953_50_40_20_h_F6F9FE.jpg"/>
          <p:cNvPicPr>
            <a:picLocks noChangeAspect="1"/>
          </p:cNvPicPr>
          <p:nvPr/>
        </p:nvPicPr>
        <p:blipFill>
          <a:blip r:embed="rId6"/>
          <a:stretch>
            <a:fillRect/>
          </a:stretch>
        </p:blipFill>
        <p:spPr>
          <a:xfrm>
            <a:off x="9052560" y="1828800"/>
            <a:ext cx="2679192" cy="1371600"/>
          </a:xfrm>
          <a:prstGeom prst="rect">
            <a:avLst/>
          </a:prstGeom>
        </p:spPr>
      </p:pic>
      <p:sp>
        <p:nvSpPr>
          <p:cNvPr id="25" name="Shape 19"/>
          <p:cNvSpPr/>
          <p:nvPr/>
        </p:nvSpPr>
        <p:spPr>
          <a:xfrm>
            <a:off x="9235440" y="3346704"/>
            <a:ext cx="1600200" cy="274320"/>
          </a:xfrm>
          <a:prstGeom prst="roundRect">
            <a:avLst>
              <a:gd name="adj" fmla="val 50000"/>
            </a:avLst>
          </a:prstGeom>
          <a:solidFill>
            <a:srgbClr val="FFF4DC"/>
          </a:solidFill>
          <a:ln w="12700">
            <a:solidFill>
              <a:srgbClr val="FFF4DC"/>
            </a:solidFill>
            <a:prstDash val="solid"/>
          </a:ln>
        </p:spPr>
        <p:txBody>
          <a:bodyPr/>
          <a:lstStyle/>
          <a:p>
            <a:endParaRPr lang="fr-FR"/>
          </a:p>
        </p:txBody>
      </p:sp>
      <p:sp>
        <p:nvSpPr>
          <p:cNvPr id="26" name="Text 20"/>
          <p:cNvSpPr txBox="1"/>
          <p:nvPr/>
        </p:nvSpPr>
        <p:spPr>
          <a:xfrm>
            <a:off x="9235440" y="3346704"/>
            <a:ext cx="1600200" cy="274320"/>
          </a:xfrm>
          <a:prstGeom prst="rect">
            <a:avLst/>
          </a:prstGeom>
          <a:noFill/>
          <a:ln/>
        </p:spPr>
        <p:txBody>
          <a:bodyPr wrap="square" lIns="0" tIns="0" rIns="0" bIns="0" rtlCol="0" anchor="ctr"/>
          <a:lstStyle/>
          <a:p>
            <a:pPr marL="0" indent="0" algn="ctr">
              <a:buNone/>
            </a:pPr>
            <a:r>
              <a:rPr lang="en-US" sz="1050" b="1" dirty="0">
                <a:solidFill>
                  <a:srgbClr val="B45309"/>
                </a:solidFill>
                <a:latin typeface="Verdana" pitchFamily="34" charset="0"/>
                <a:ea typeface="Verdana" pitchFamily="34" charset="-122"/>
                <a:cs typeface="Verdana" pitchFamily="34" charset="-120"/>
              </a:rPr>
              <a:t>Principe envisagé</a:t>
            </a:r>
            <a:endParaRPr lang="en-US" sz="1050" dirty="0"/>
          </a:p>
        </p:txBody>
      </p:sp>
      <p:sp>
        <p:nvSpPr>
          <p:cNvPr id="27" name="Text 21"/>
          <p:cNvSpPr txBox="1"/>
          <p:nvPr/>
        </p:nvSpPr>
        <p:spPr>
          <a:xfrm>
            <a:off x="9235440" y="3703320"/>
            <a:ext cx="2313432" cy="566928"/>
          </a:xfrm>
          <a:prstGeom prst="rect">
            <a:avLst/>
          </a:prstGeom>
          <a:noFill/>
          <a:ln/>
        </p:spPr>
        <p:txBody>
          <a:bodyPr wrap="square" lIns="0" tIns="0" rIns="0" bIns="0" rtlCol="0" anchor="t"/>
          <a:lstStyle/>
          <a:p>
            <a:pPr marL="0" indent="0">
              <a:buNone/>
            </a:pPr>
            <a:r>
              <a:rPr lang="en-US" sz="1400" b="1" dirty="0">
                <a:solidFill>
                  <a:srgbClr val="0012B5"/>
                </a:solidFill>
                <a:latin typeface="Verdana" pitchFamily="34" charset="0"/>
                <a:ea typeface="Verdana" pitchFamily="34" charset="-122"/>
                <a:cs typeface="Verdana" pitchFamily="34" charset="-120"/>
              </a:rPr>
              <a:t>Les navires en direct sur la carte</a:t>
            </a:r>
            <a:endParaRPr lang="en-US" sz="1400" dirty="0"/>
          </a:p>
        </p:txBody>
      </p:sp>
      <p:sp>
        <p:nvSpPr>
          <p:cNvPr id="28" name="Text 22"/>
          <p:cNvSpPr txBox="1"/>
          <p:nvPr/>
        </p:nvSpPr>
        <p:spPr>
          <a:xfrm>
            <a:off x="9235440" y="4343400"/>
            <a:ext cx="2313432" cy="196596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150" dirty="0">
                <a:solidFill>
                  <a:srgbClr val="3A4658"/>
                </a:solidFill>
                <a:latin typeface="Verdana" pitchFamily="34" charset="0"/>
                <a:ea typeface="Verdana" pitchFamily="34" charset="-122"/>
                <a:cs typeface="Verdana" pitchFamily="34" charset="-120"/>
              </a:rPr>
              <a:t>Positions AIS / VMS sur la carte.</a:t>
            </a:r>
            <a:endParaRPr lang="en-US" sz="1150" dirty="0"/>
          </a:p>
          <a:p>
            <a:pPr marL="342900" indent="-342900">
              <a:spcAft>
                <a:spcPts val="500"/>
              </a:spcAft>
              <a:buSzPct val="100000"/>
              <a:buFont typeface="+mj-lt"/>
              <a:buAutoNum type="arabicPeriod"/>
            </a:pPr>
            <a:r>
              <a:rPr lang="en-US" sz="1150" dirty="0">
                <a:solidFill>
                  <a:srgbClr val="3A4658"/>
                </a:solidFill>
                <a:latin typeface="Verdana" pitchFamily="34" charset="0"/>
                <a:ea typeface="Verdana" pitchFamily="34" charset="-122"/>
                <a:cs typeface="Verdana" pitchFamily="34" charset="-120"/>
              </a:rPr>
              <a:t>Une fois l’accès aux données activé.</a:t>
            </a:r>
            <a:endParaRPr lang="en-US" sz="1150" dirty="0"/>
          </a:p>
          <a:p>
            <a:pPr marL="342900" indent="-342900">
              <a:spcAft>
                <a:spcPts val="500"/>
              </a:spcAft>
              <a:buSzPct val="100000"/>
              <a:buFont typeface="+mj-lt"/>
              <a:buAutoNum type="arabicPeriod"/>
            </a:pPr>
            <a:r>
              <a:rPr lang="en-US" sz="1150" dirty="0">
                <a:solidFill>
                  <a:srgbClr val="3A4658"/>
                </a:solidFill>
                <a:latin typeface="Verdana" pitchFamily="34" charset="0"/>
                <a:ea typeface="Verdana" pitchFamily="34" charset="-122"/>
                <a:cs typeface="Verdana" pitchFamily="34" charset="-120"/>
              </a:rPr>
              <a:t>Utile au public et à l’État.</a:t>
            </a:r>
            <a:endParaRPr lang="en-US" sz="1150" dirty="0"/>
          </a:p>
        </p:txBody>
      </p:sp>
      <p:sp>
        <p:nvSpPr>
          <p:cNvPr id="29" name="Text 23"/>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49</a:t>
            </a:r>
            <a:endParaRPr lang="en-US" sz="11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ET DEMAIN · MISE À DISPOSITION DE MARINS</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Le compte marin : trouver un matelot disponible</a:t>
            </a:r>
            <a:endParaRPr lang="en-US" sz="2300" dirty="0"/>
          </a:p>
        </p:txBody>
      </p:sp>
      <p:sp>
        <p:nvSpPr>
          <p:cNvPr id="4" name="Shape 2"/>
          <p:cNvSpPr/>
          <p:nvPr/>
        </p:nvSpPr>
        <p:spPr>
          <a:xfrm>
            <a:off x="548640" y="1463040"/>
            <a:ext cx="457200" cy="457200"/>
          </a:xfrm>
          <a:prstGeom prst="ellipse">
            <a:avLst/>
          </a:prstGeom>
          <a:solidFill>
            <a:srgbClr val="0012B5"/>
          </a:solidFill>
          <a:ln w="12700">
            <a:solidFill>
              <a:srgbClr val="0012B5"/>
            </a:solidFill>
            <a:prstDash val="solid"/>
          </a:ln>
        </p:spPr>
        <p:txBody>
          <a:bodyPr/>
          <a:lstStyle/>
          <a:p>
            <a:endParaRPr lang="fr-FR"/>
          </a:p>
        </p:txBody>
      </p:sp>
      <p:sp>
        <p:nvSpPr>
          <p:cNvPr id="5" name="Text 3"/>
          <p:cNvSpPr txBox="1"/>
          <p:nvPr/>
        </p:nvSpPr>
        <p:spPr>
          <a:xfrm>
            <a:off x="548640" y="14630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1</a:t>
            </a:r>
            <a:endParaRPr lang="en-US" sz="1400" dirty="0"/>
          </a:p>
        </p:txBody>
      </p:sp>
      <p:sp>
        <p:nvSpPr>
          <p:cNvPr id="6" name="Text 4"/>
          <p:cNvSpPr txBox="1"/>
          <p:nvPr/>
        </p:nvSpPr>
        <p:spPr>
          <a:xfrm>
            <a:off x="1188720" y="1481328"/>
            <a:ext cx="2971800" cy="310896"/>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Le marin s’inscrit</a:t>
            </a:r>
            <a:endParaRPr lang="en-US" sz="1550" dirty="0"/>
          </a:p>
        </p:txBody>
      </p:sp>
      <p:sp>
        <p:nvSpPr>
          <p:cNvPr id="7" name="Text 5"/>
          <p:cNvSpPr txBox="1"/>
          <p:nvPr/>
        </p:nvSpPr>
        <p:spPr>
          <a:xfrm>
            <a:off x="1188720" y="1847088"/>
            <a:ext cx="2971800" cy="73152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Titres, métiers, port, aptitude médicale, disponibilités.</a:t>
            </a:r>
            <a:endParaRPr lang="en-US" sz="1400" dirty="0"/>
          </a:p>
        </p:txBody>
      </p:sp>
      <p:sp>
        <p:nvSpPr>
          <p:cNvPr id="8" name="Shape 6"/>
          <p:cNvSpPr/>
          <p:nvPr/>
        </p:nvSpPr>
        <p:spPr>
          <a:xfrm>
            <a:off x="548640" y="2679192"/>
            <a:ext cx="457200" cy="457200"/>
          </a:xfrm>
          <a:prstGeom prst="ellipse">
            <a:avLst/>
          </a:prstGeom>
          <a:solidFill>
            <a:srgbClr val="1F5BD6"/>
          </a:solidFill>
          <a:ln w="12700">
            <a:solidFill>
              <a:srgbClr val="1F5BD6"/>
            </a:solidFill>
            <a:prstDash val="solid"/>
          </a:ln>
        </p:spPr>
        <p:txBody>
          <a:bodyPr/>
          <a:lstStyle/>
          <a:p>
            <a:endParaRPr lang="fr-FR"/>
          </a:p>
        </p:txBody>
      </p:sp>
      <p:sp>
        <p:nvSpPr>
          <p:cNvPr id="9" name="Text 7"/>
          <p:cNvSpPr txBox="1"/>
          <p:nvPr/>
        </p:nvSpPr>
        <p:spPr>
          <a:xfrm>
            <a:off x="548640" y="267919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2</a:t>
            </a:r>
            <a:endParaRPr lang="en-US" sz="1400" dirty="0"/>
          </a:p>
        </p:txBody>
      </p:sp>
      <p:sp>
        <p:nvSpPr>
          <p:cNvPr id="10" name="Text 8"/>
          <p:cNvSpPr txBox="1"/>
          <p:nvPr/>
        </p:nvSpPr>
        <p:spPr>
          <a:xfrm>
            <a:off x="1188720" y="2697480"/>
            <a:ext cx="2971800" cy="310896"/>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L’équipe vérifie</a:t>
            </a:r>
            <a:endParaRPr lang="en-US" sz="1550" dirty="0"/>
          </a:p>
        </p:txBody>
      </p:sp>
      <p:sp>
        <p:nvSpPr>
          <p:cNvPr id="11" name="Text 9"/>
          <p:cNvSpPr txBox="1"/>
          <p:nvPr/>
        </p:nvSpPr>
        <p:spPr>
          <a:xfrm>
            <a:off x="1188720" y="3063240"/>
            <a:ext cx="2971800" cy="73152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Titres et aptitude contrôlés, comme pour les navires.</a:t>
            </a:r>
            <a:endParaRPr lang="en-US" sz="1400" dirty="0"/>
          </a:p>
        </p:txBody>
      </p:sp>
      <p:sp>
        <p:nvSpPr>
          <p:cNvPr id="12" name="Shape 10"/>
          <p:cNvSpPr/>
          <p:nvPr/>
        </p:nvSpPr>
        <p:spPr>
          <a:xfrm>
            <a:off x="548640" y="3895344"/>
            <a:ext cx="457200" cy="457200"/>
          </a:xfrm>
          <a:prstGeom prst="ellipse">
            <a:avLst/>
          </a:prstGeom>
          <a:solidFill>
            <a:srgbClr val="00A7B5"/>
          </a:solidFill>
          <a:ln w="12700">
            <a:solidFill>
              <a:srgbClr val="00A7B5"/>
            </a:solidFill>
            <a:prstDash val="solid"/>
          </a:ln>
        </p:spPr>
        <p:txBody>
          <a:bodyPr/>
          <a:lstStyle/>
          <a:p>
            <a:endParaRPr lang="fr-FR"/>
          </a:p>
        </p:txBody>
      </p:sp>
      <p:sp>
        <p:nvSpPr>
          <p:cNvPr id="13" name="Text 11"/>
          <p:cNvSpPr txBox="1"/>
          <p:nvPr/>
        </p:nvSpPr>
        <p:spPr>
          <a:xfrm>
            <a:off x="548640" y="389534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3</a:t>
            </a:r>
            <a:endParaRPr lang="en-US" sz="1400" dirty="0"/>
          </a:p>
        </p:txBody>
      </p:sp>
      <p:sp>
        <p:nvSpPr>
          <p:cNvPr id="14" name="Text 12"/>
          <p:cNvSpPr txBox="1"/>
          <p:nvPr/>
        </p:nvSpPr>
        <p:spPr>
          <a:xfrm>
            <a:off x="1188720" y="3913632"/>
            <a:ext cx="2971800" cy="310896"/>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Le patron cherche</a:t>
            </a:r>
            <a:endParaRPr lang="en-US" sz="1550" dirty="0"/>
          </a:p>
        </p:txBody>
      </p:sp>
      <p:sp>
        <p:nvSpPr>
          <p:cNvPr id="15" name="Text 13"/>
          <p:cNvSpPr txBox="1"/>
          <p:nvPr/>
        </p:nvSpPr>
        <p:spPr>
          <a:xfrm>
            <a:off x="1188720" y="4279392"/>
            <a:ext cx="2971800" cy="73152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Une date, un port, un poste : il voit qui est libre.</a:t>
            </a:r>
            <a:endParaRPr lang="en-US" sz="1400" dirty="0"/>
          </a:p>
        </p:txBody>
      </p:sp>
      <p:sp>
        <p:nvSpPr>
          <p:cNvPr id="16" name="Shape 14"/>
          <p:cNvSpPr/>
          <p:nvPr/>
        </p:nvSpPr>
        <p:spPr>
          <a:xfrm>
            <a:off x="548640" y="5111496"/>
            <a:ext cx="457200" cy="457200"/>
          </a:xfrm>
          <a:prstGeom prst="ellipse">
            <a:avLst/>
          </a:prstGeom>
          <a:solidFill>
            <a:srgbClr val="0E9F6E"/>
          </a:solidFill>
          <a:ln w="12700">
            <a:solidFill>
              <a:srgbClr val="0E9F6E"/>
            </a:solidFill>
            <a:prstDash val="solid"/>
          </a:ln>
        </p:spPr>
        <p:txBody>
          <a:bodyPr/>
          <a:lstStyle/>
          <a:p>
            <a:endParaRPr lang="fr-FR"/>
          </a:p>
        </p:txBody>
      </p:sp>
      <p:sp>
        <p:nvSpPr>
          <p:cNvPr id="17" name="Text 15"/>
          <p:cNvSpPr txBox="1"/>
          <p:nvPr/>
        </p:nvSpPr>
        <p:spPr>
          <a:xfrm>
            <a:off x="548640" y="511149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4</a:t>
            </a:r>
            <a:endParaRPr lang="en-US" sz="1400" dirty="0"/>
          </a:p>
        </p:txBody>
      </p:sp>
      <p:sp>
        <p:nvSpPr>
          <p:cNvPr id="18" name="Text 16"/>
          <p:cNvSpPr txBox="1"/>
          <p:nvPr/>
        </p:nvSpPr>
        <p:spPr>
          <a:xfrm>
            <a:off x="1188720" y="5129784"/>
            <a:ext cx="2971800" cy="310896"/>
          </a:xfrm>
          <a:prstGeom prst="rect">
            <a:avLst/>
          </a:prstGeom>
          <a:noFill/>
          <a:ln/>
        </p:spPr>
        <p:txBody>
          <a:bodyPr wrap="square" lIns="0" tIns="0" rIns="0" bIns="0" rtlCol="0" anchor="ctr"/>
          <a:lstStyle/>
          <a:p>
            <a:pPr marL="0" indent="0">
              <a:buNone/>
            </a:pPr>
            <a:r>
              <a:rPr lang="en-US" sz="1550" b="1" dirty="0">
                <a:solidFill>
                  <a:srgbClr val="0012B5"/>
                </a:solidFill>
                <a:latin typeface="Verdana" pitchFamily="34" charset="0"/>
                <a:ea typeface="Verdana" pitchFamily="34" charset="-122"/>
                <a:cs typeface="Verdana" pitchFamily="34" charset="-120"/>
              </a:rPr>
              <a:t>Mise en relation</a:t>
            </a:r>
            <a:endParaRPr lang="en-US" sz="1550" dirty="0"/>
          </a:p>
        </p:txBody>
      </p:sp>
      <p:sp>
        <p:nvSpPr>
          <p:cNvPr id="19" name="Text 17"/>
          <p:cNvSpPr txBox="1"/>
          <p:nvPr/>
        </p:nvSpPr>
        <p:spPr>
          <a:xfrm>
            <a:off x="1188720" y="5495544"/>
            <a:ext cx="2971800" cy="731520"/>
          </a:xfrm>
          <a:prstGeom prst="rect">
            <a:avLst/>
          </a:prstGeom>
          <a:noFill/>
          <a:ln/>
        </p:spPr>
        <p:txBody>
          <a:bodyPr wrap="square" lIns="0" tIns="0" rIns="0" bIns="0" rtlCol="0" anchor="t"/>
          <a:lstStyle/>
          <a:p>
            <a:pPr marL="0" indent="0">
              <a:buNone/>
            </a:pPr>
            <a:r>
              <a:rPr lang="en-US" sz="1400" dirty="0">
                <a:solidFill>
                  <a:srgbClr val="3A4658"/>
                </a:solidFill>
                <a:latin typeface="Verdana" pitchFamily="34" charset="0"/>
                <a:ea typeface="Verdana" pitchFamily="34" charset="-122"/>
                <a:cs typeface="Verdana" pitchFamily="34" charset="-120"/>
              </a:rPr>
              <a:t>Coordonnées échangées si les deux sont d’accord.</a:t>
            </a:r>
            <a:endParaRPr lang="en-US" sz="1400" dirty="0"/>
          </a:p>
        </p:txBody>
      </p:sp>
      <p:sp>
        <p:nvSpPr>
          <p:cNvPr id="20" name="Shape 18"/>
          <p:cNvSpPr/>
          <p:nvPr/>
        </p:nvSpPr>
        <p:spPr>
          <a:xfrm>
            <a:off x="4389120" y="1371600"/>
            <a:ext cx="7345375" cy="5074920"/>
          </a:xfrm>
          <a:prstGeom prst="roundRect">
            <a:avLst>
              <a:gd name="adj" fmla="val 3604"/>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1" name="Shape 19"/>
          <p:cNvSpPr/>
          <p:nvPr/>
        </p:nvSpPr>
        <p:spPr>
          <a:xfrm>
            <a:off x="4389120" y="1371600"/>
            <a:ext cx="7345375" cy="603504"/>
          </a:xfrm>
          <a:prstGeom prst="roundRect">
            <a:avLst>
              <a:gd name="adj" fmla="val 30303"/>
            </a:avLst>
          </a:prstGeom>
          <a:solidFill>
            <a:srgbClr val="1F5BD6"/>
          </a:solidFill>
          <a:ln w="12700">
            <a:solidFill>
              <a:srgbClr val="1F5BD6"/>
            </a:solidFill>
            <a:prstDash val="solid"/>
          </a:ln>
        </p:spPr>
        <p:txBody>
          <a:bodyPr/>
          <a:lstStyle/>
          <a:p>
            <a:endParaRPr lang="fr-FR"/>
          </a:p>
        </p:txBody>
      </p:sp>
      <p:sp>
        <p:nvSpPr>
          <p:cNvPr id="22" name="Shape 20"/>
          <p:cNvSpPr/>
          <p:nvPr/>
        </p:nvSpPr>
        <p:spPr>
          <a:xfrm>
            <a:off x="4389120" y="1737360"/>
            <a:ext cx="7345375" cy="237744"/>
          </a:xfrm>
          <a:prstGeom prst="rect">
            <a:avLst/>
          </a:prstGeom>
          <a:solidFill>
            <a:srgbClr val="1F5BD6"/>
          </a:solidFill>
          <a:ln w="12700">
            <a:solidFill>
              <a:srgbClr val="1F5BD6"/>
            </a:solidFill>
            <a:prstDash val="solid"/>
          </a:ln>
        </p:spPr>
        <p:txBody>
          <a:bodyPr/>
          <a:lstStyle/>
          <a:p>
            <a:endParaRPr lang="fr-FR"/>
          </a:p>
        </p:txBody>
      </p:sp>
      <p:sp>
        <p:nvSpPr>
          <p:cNvPr id="23" name="Text 21"/>
          <p:cNvSpPr txBox="1"/>
          <p:nvPr/>
        </p:nvSpPr>
        <p:spPr>
          <a:xfrm>
            <a:off x="4617720" y="1444752"/>
            <a:ext cx="4937760" cy="457200"/>
          </a:xfrm>
          <a:prstGeom prst="rect">
            <a:avLst/>
          </a:prstGeom>
          <a:noFill/>
          <a:ln/>
        </p:spPr>
        <p:txBody>
          <a:bodyPr wrap="square" lIns="0" tIns="0" rIns="0" bIns="0" rtlCol="0" anchor="ctr"/>
          <a:lstStyle/>
          <a:p>
            <a:pPr marL="0" indent="0">
              <a:buNone/>
            </a:pPr>
            <a:r>
              <a:rPr lang="en-US" sz="1250" b="1" dirty="0">
                <a:solidFill>
                  <a:srgbClr val="FFFFFF"/>
                </a:solidFill>
                <a:latin typeface="Verdana" pitchFamily="34" charset="0"/>
                <a:ea typeface="Verdana" pitchFamily="34" charset="-122"/>
                <a:cs typeface="Verdana" pitchFamily="34" charset="-120"/>
              </a:rPr>
              <a:t>Marins disponibles — semaine du 12 octobre</a:t>
            </a:r>
            <a:endParaRPr lang="en-US" sz="1250" dirty="0"/>
          </a:p>
        </p:txBody>
      </p:sp>
      <p:sp>
        <p:nvSpPr>
          <p:cNvPr id="24" name="Shape 22"/>
          <p:cNvSpPr/>
          <p:nvPr/>
        </p:nvSpPr>
        <p:spPr>
          <a:xfrm>
            <a:off x="9768535" y="1517904"/>
            <a:ext cx="1783080" cy="292608"/>
          </a:xfrm>
          <a:prstGeom prst="roundRect">
            <a:avLst>
              <a:gd name="adj" fmla="val 50000"/>
            </a:avLst>
          </a:prstGeom>
          <a:solidFill>
            <a:srgbClr val="FFF4DC"/>
          </a:solidFill>
          <a:ln w="12700">
            <a:solidFill>
              <a:srgbClr val="FFF4DC"/>
            </a:solidFill>
            <a:prstDash val="solid"/>
          </a:ln>
        </p:spPr>
        <p:txBody>
          <a:bodyPr/>
          <a:lstStyle/>
          <a:p>
            <a:endParaRPr lang="fr-FR"/>
          </a:p>
        </p:txBody>
      </p:sp>
      <p:sp>
        <p:nvSpPr>
          <p:cNvPr id="25" name="Text 23"/>
          <p:cNvSpPr txBox="1"/>
          <p:nvPr/>
        </p:nvSpPr>
        <p:spPr>
          <a:xfrm>
            <a:off x="9768535" y="1517904"/>
            <a:ext cx="1783080" cy="292608"/>
          </a:xfrm>
          <a:prstGeom prst="rect">
            <a:avLst/>
          </a:prstGeom>
          <a:noFill/>
          <a:ln/>
        </p:spPr>
        <p:txBody>
          <a:bodyPr wrap="square" lIns="0" tIns="0" rIns="0" bIns="0" rtlCol="0" anchor="ctr"/>
          <a:lstStyle/>
          <a:p>
            <a:pPr marL="0" indent="0" algn="ctr">
              <a:buNone/>
            </a:pPr>
            <a:r>
              <a:rPr lang="en-US" sz="900" b="1" dirty="0">
                <a:solidFill>
                  <a:srgbClr val="B45309"/>
                </a:solidFill>
                <a:latin typeface="Verdana" pitchFamily="34" charset="0"/>
                <a:ea typeface="Verdana" pitchFamily="34" charset="-122"/>
                <a:cs typeface="Verdana" pitchFamily="34" charset="-120"/>
              </a:rPr>
              <a:t>Données fictives · démo</a:t>
            </a:r>
            <a:endParaRPr lang="en-US" sz="900" dirty="0"/>
          </a:p>
        </p:txBody>
      </p:sp>
      <p:sp>
        <p:nvSpPr>
          <p:cNvPr id="26" name="Shape 24"/>
          <p:cNvSpPr/>
          <p:nvPr/>
        </p:nvSpPr>
        <p:spPr>
          <a:xfrm>
            <a:off x="4590288" y="2258568"/>
            <a:ext cx="420624" cy="420624"/>
          </a:xfrm>
          <a:prstGeom prst="ellipse">
            <a:avLst/>
          </a:prstGeom>
          <a:solidFill>
            <a:srgbClr val="0012B5"/>
          </a:solidFill>
          <a:ln w="12700">
            <a:solidFill>
              <a:srgbClr val="0012B5"/>
            </a:solidFill>
            <a:prstDash val="solid"/>
          </a:ln>
        </p:spPr>
        <p:txBody>
          <a:bodyPr/>
          <a:lstStyle/>
          <a:p>
            <a:endParaRPr lang="fr-FR"/>
          </a:p>
        </p:txBody>
      </p:sp>
      <p:sp>
        <p:nvSpPr>
          <p:cNvPr id="27" name="Text 25"/>
          <p:cNvSpPr txBox="1"/>
          <p:nvPr/>
        </p:nvSpPr>
        <p:spPr>
          <a:xfrm>
            <a:off x="4590288" y="2258568"/>
            <a:ext cx="420624"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JR</a:t>
            </a:r>
            <a:endParaRPr lang="en-US" sz="1000" dirty="0"/>
          </a:p>
        </p:txBody>
      </p:sp>
      <p:sp>
        <p:nvSpPr>
          <p:cNvPr id="28" name="Text 26"/>
          <p:cNvSpPr txBox="1"/>
          <p:nvPr/>
        </p:nvSpPr>
        <p:spPr>
          <a:xfrm>
            <a:off x="5138928" y="2212848"/>
            <a:ext cx="1828800" cy="274320"/>
          </a:xfrm>
          <a:prstGeom prst="rect">
            <a:avLst/>
          </a:prstGeom>
          <a:noFill/>
          <a:ln/>
        </p:spPr>
        <p:txBody>
          <a:bodyPr wrap="square" lIns="0" tIns="0" rIns="0" bIns="0" rtlCol="0" anchor="t"/>
          <a:lstStyle/>
          <a:p>
            <a:pPr marL="0" indent="0">
              <a:buNone/>
            </a:pPr>
            <a:r>
              <a:rPr lang="en-US" sz="1150" b="1" dirty="0">
                <a:solidFill>
                  <a:srgbClr val="0012B5"/>
                </a:solidFill>
                <a:latin typeface="Verdana" pitchFamily="34" charset="0"/>
                <a:ea typeface="Verdana" pitchFamily="34" charset="-122"/>
                <a:cs typeface="Verdana" pitchFamily="34" charset="-120"/>
              </a:rPr>
              <a:t>Julien R.</a:t>
            </a:r>
            <a:endParaRPr lang="en-US" sz="1150" dirty="0"/>
          </a:p>
        </p:txBody>
      </p:sp>
      <p:sp>
        <p:nvSpPr>
          <p:cNvPr id="29" name="Text 27"/>
          <p:cNvSpPr txBox="1"/>
          <p:nvPr/>
        </p:nvSpPr>
        <p:spPr>
          <a:xfrm>
            <a:off x="5138928" y="2487168"/>
            <a:ext cx="1920240" cy="237744"/>
          </a:xfrm>
          <a:prstGeom prst="rect">
            <a:avLst/>
          </a:prstGeom>
          <a:noFill/>
          <a:ln/>
        </p:spPr>
        <p:txBody>
          <a:bodyPr wrap="square" lIns="0" tIns="0" rIns="0" bIns="0" rtlCol="0" anchor="t"/>
          <a:lstStyle/>
          <a:p>
            <a:pPr marL="0" indent="0">
              <a:buNone/>
            </a:pPr>
            <a:r>
              <a:rPr lang="en-US" sz="950" dirty="0">
                <a:solidFill>
                  <a:srgbClr val="66728A"/>
                </a:solidFill>
                <a:latin typeface="Verdana" pitchFamily="34" charset="0"/>
                <a:ea typeface="Verdana" pitchFamily="34" charset="-122"/>
                <a:cs typeface="Verdana" pitchFamily="34" charset="-120"/>
              </a:rPr>
              <a:t>Matelot pont · 8 ans</a:t>
            </a:r>
            <a:endParaRPr lang="en-US" sz="950" dirty="0"/>
          </a:p>
        </p:txBody>
      </p:sp>
      <p:sp>
        <p:nvSpPr>
          <p:cNvPr id="30" name="Text 28"/>
          <p:cNvSpPr txBox="1"/>
          <p:nvPr/>
        </p:nvSpPr>
        <p:spPr>
          <a:xfrm>
            <a:off x="7086600" y="2212848"/>
            <a:ext cx="1325880" cy="274320"/>
          </a:xfrm>
          <a:prstGeom prst="rect">
            <a:avLst/>
          </a:prstGeom>
          <a:noFill/>
          <a:ln/>
        </p:spPr>
        <p:txBody>
          <a:bodyPr wrap="square" lIns="0" tIns="0" rIns="0" bIns="0" rtlCol="0" anchor="t"/>
          <a:lstStyle/>
          <a:p>
            <a:pPr marL="0" indent="0">
              <a:buNone/>
            </a:pPr>
            <a:r>
              <a:rPr lang="en-US" sz="1050" b="1" dirty="0">
                <a:solidFill>
                  <a:srgbClr val="1D2838"/>
                </a:solidFill>
                <a:latin typeface="Verdana" pitchFamily="34" charset="0"/>
                <a:ea typeface="Verdana" pitchFamily="34" charset="-122"/>
                <a:cs typeface="Verdana" pitchFamily="34" charset="-120"/>
              </a:rPr>
              <a:t>Sète</a:t>
            </a:r>
            <a:endParaRPr lang="en-US" sz="1050" dirty="0"/>
          </a:p>
        </p:txBody>
      </p:sp>
      <p:sp>
        <p:nvSpPr>
          <p:cNvPr id="31" name="Text 29"/>
          <p:cNvSpPr txBox="1"/>
          <p:nvPr/>
        </p:nvSpPr>
        <p:spPr>
          <a:xfrm>
            <a:off x="7086600" y="2487168"/>
            <a:ext cx="1371600" cy="237744"/>
          </a:xfrm>
          <a:prstGeom prst="rect">
            <a:avLst/>
          </a:prstGeom>
          <a:noFill/>
          <a:ln/>
        </p:spPr>
        <p:txBody>
          <a:bodyPr wrap="square" lIns="0" tIns="0" rIns="0" bIns="0" rtlCol="0" anchor="t"/>
          <a:lstStyle/>
          <a:p>
            <a:pPr marL="0" indent="0">
              <a:buNone/>
            </a:pPr>
            <a:r>
              <a:rPr lang="en-US" sz="950" dirty="0">
                <a:solidFill>
                  <a:srgbClr val="66728A"/>
                </a:solidFill>
                <a:latin typeface="Verdana" pitchFamily="34" charset="0"/>
                <a:ea typeface="Verdana" pitchFamily="34" charset="-122"/>
                <a:cs typeface="Verdana" pitchFamily="34" charset="-120"/>
              </a:rPr>
              <a:t>Chalut, filet</a:t>
            </a:r>
            <a:endParaRPr lang="en-US" sz="950" dirty="0"/>
          </a:p>
        </p:txBody>
      </p:sp>
      <p:sp>
        <p:nvSpPr>
          <p:cNvPr id="32" name="Text 30"/>
          <p:cNvSpPr txBox="1"/>
          <p:nvPr/>
        </p:nvSpPr>
        <p:spPr>
          <a:xfrm>
            <a:off x="8458200" y="2240280"/>
            <a:ext cx="1234440" cy="457200"/>
          </a:xfrm>
          <a:prstGeom prst="rect">
            <a:avLst/>
          </a:prstGeom>
          <a:noFill/>
          <a:ln/>
        </p:spPr>
        <p:txBody>
          <a:bodyPr wrap="square" lIns="0" tIns="0" rIns="0" bIns="0" rtlCol="0" anchor="ctr"/>
          <a:lstStyle/>
          <a:p>
            <a:pPr marL="0" indent="0">
              <a:buNone/>
            </a:pPr>
            <a:r>
              <a:rPr lang="en-US" sz="950" b="1" dirty="0">
                <a:solidFill>
                  <a:srgbClr val="0074B5"/>
                </a:solidFill>
                <a:latin typeface="Verdana" pitchFamily="34" charset="0"/>
                <a:ea typeface="Verdana" pitchFamily="34" charset="-122"/>
                <a:cs typeface="Verdana" pitchFamily="34" charset="-120"/>
              </a:rPr>
              <a:t>CMP · CIN</a:t>
            </a:r>
            <a:endParaRPr lang="en-US" sz="950" dirty="0"/>
          </a:p>
        </p:txBody>
      </p:sp>
      <p:sp>
        <p:nvSpPr>
          <p:cNvPr id="33" name="Shape 31"/>
          <p:cNvSpPr/>
          <p:nvPr/>
        </p:nvSpPr>
        <p:spPr>
          <a:xfrm>
            <a:off x="9738360" y="234086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34" name="Text 32"/>
          <p:cNvSpPr txBox="1"/>
          <p:nvPr/>
        </p:nvSpPr>
        <p:spPr>
          <a:xfrm>
            <a:off x="9738360" y="234086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L</a:t>
            </a:r>
            <a:endParaRPr lang="en-US" sz="750" dirty="0"/>
          </a:p>
        </p:txBody>
      </p:sp>
      <p:sp>
        <p:nvSpPr>
          <p:cNvPr id="35" name="Shape 33"/>
          <p:cNvSpPr/>
          <p:nvPr/>
        </p:nvSpPr>
        <p:spPr>
          <a:xfrm>
            <a:off x="9934956" y="234086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36" name="Text 34"/>
          <p:cNvSpPr txBox="1"/>
          <p:nvPr/>
        </p:nvSpPr>
        <p:spPr>
          <a:xfrm>
            <a:off x="9934956" y="234086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M</a:t>
            </a:r>
            <a:endParaRPr lang="en-US" sz="750" dirty="0"/>
          </a:p>
        </p:txBody>
      </p:sp>
      <p:sp>
        <p:nvSpPr>
          <p:cNvPr id="37" name="Shape 35"/>
          <p:cNvSpPr/>
          <p:nvPr/>
        </p:nvSpPr>
        <p:spPr>
          <a:xfrm>
            <a:off x="10131552" y="234086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38" name="Text 36"/>
          <p:cNvSpPr txBox="1"/>
          <p:nvPr/>
        </p:nvSpPr>
        <p:spPr>
          <a:xfrm>
            <a:off x="10131552" y="234086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M</a:t>
            </a:r>
            <a:endParaRPr lang="en-US" sz="750" dirty="0"/>
          </a:p>
        </p:txBody>
      </p:sp>
      <p:sp>
        <p:nvSpPr>
          <p:cNvPr id="39" name="Shape 37"/>
          <p:cNvSpPr/>
          <p:nvPr/>
        </p:nvSpPr>
        <p:spPr>
          <a:xfrm>
            <a:off x="10328148" y="234086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40" name="Text 38"/>
          <p:cNvSpPr txBox="1"/>
          <p:nvPr/>
        </p:nvSpPr>
        <p:spPr>
          <a:xfrm>
            <a:off x="10328148" y="234086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J</a:t>
            </a:r>
            <a:endParaRPr lang="en-US" sz="750" dirty="0"/>
          </a:p>
        </p:txBody>
      </p:sp>
      <p:sp>
        <p:nvSpPr>
          <p:cNvPr id="41" name="Shape 39"/>
          <p:cNvSpPr/>
          <p:nvPr/>
        </p:nvSpPr>
        <p:spPr>
          <a:xfrm>
            <a:off x="10524744" y="234086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42" name="Text 40"/>
          <p:cNvSpPr txBox="1"/>
          <p:nvPr/>
        </p:nvSpPr>
        <p:spPr>
          <a:xfrm>
            <a:off x="10524744" y="234086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V</a:t>
            </a:r>
            <a:endParaRPr lang="en-US" sz="750" dirty="0"/>
          </a:p>
        </p:txBody>
      </p:sp>
      <p:sp>
        <p:nvSpPr>
          <p:cNvPr id="43" name="Shape 41"/>
          <p:cNvSpPr/>
          <p:nvPr/>
        </p:nvSpPr>
        <p:spPr>
          <a:xfrm>
            <a:off x="10721340" y="234086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44" name="Text 42"/>
          <p:cNvSpPr txBox="1"/>
          <p:nvPr/>
        </p:nvSpPr>
        <p:spPr>
          <a:xfrm>
            <a:off x="10721340" y="234086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S</a:t>
            </a:r>
            <a:endParaRPr lang="en-US" sz="750" dirty="0"/>
          </a:p>
        </p:txBody>
      </p:sp>
      <p:sp>
        <p:nvSpPr>
          <p:cNvPr id="45" name="Shape 43"/>
          <p:cNvSpPr/>
          <p:nvPr/>
        </p:nvSpPr>
        <p:spPr>
          <a:xfrm>
            <a:off x="10917936" y="234086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46" name="Text 44"/>
          <p:cNvSpPr txBox="1"/>
          <p:nvPr/>
        </p:nvSpPr>
        <p:spPr>
          <a:xfrm>
            <a:off x="10917936" y="234086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D</a:t>
            </a:r>
            <a:endParaRPr lang="en-US" sz="750" dirty="0"/>
          </a:p>
        </p:txBody>
      </p:sp>
      <p:sp>
        <p:nvSpPr>
          <p:cNvPr id="47" name="Text 45"/>
          <p:cNvSpPr txBox="1"/>
          <p:nvPr/>
        </p:nvSpPr>
        <p:spPr>
          <a:xfrm>
            <a:off x="11155680" y="2240280"/>
            <a:ext cx="566928" cy="457200"/>
          </a:xfrm>
          <a:prstGeom prst="rect">
            <a:avLst/>
          </a:prstGeom>
          <a:noFill/>
          <a:ln/>
        </p:spPr>
        <p:txBody>
          <a:bodyPr wrap="square" lIns="0" tIns="0" rIns="0" bIns="0" rtlCol="0" anchor="ctr"/>
          <a:lstStyle/>
          <a:p>
            <a:pPr marL="0" indent="0" algn="ctr">
              <a:buNone/>
            </a:pPr>
            <a:r>
              <a:rPr lang="en-US" sz="950" b="1" dirty="0">
                <a:solidFill>
                  <a:srgbClr val="8A6D1A"/>
                </a:solidFill>
                <a:latin typeface="Verdana" pitchFamily="34" charset="0"/>
                <a:ea typeface="Verdana" pitchFamily="34" charset="-122"/>
                <a:cs typeface="Verdana" pitchFamily="34" charset="-120"/>
              </a:rPr>
              <a:t>★ 4,9</a:t>
            </a:r>
            <a:endParaRPr lang="en-US" sz="950" dirty="0"/>
          </a:p>
        </p:txBody>
      </p:sp>
      <p:sp>
        <p:nvSpPr>
          <p:cNvPr id="48" name="Shape 46"/>
          <p:cNvSpPr/>
          <p:nvPr/>
        </p:nvSpPr>
        <p:spPr>
          <a:xfrm>
            <a:off x="4572000" y="2788920"/>
            <a:ext cx="6979615" cy="0"/>
          </a:xfrm>
          <a:prstGeom prst="line">
            <a:avLst/>
          </a:prstGeom>
          <a:noFill/>
          <a:ln w="9525">
            <a:solidFill>
              <a:srgbClr val="E6ECF5"/>
            </a:solidFill>
            <a:prstDash val="solid"/>
          </a:ln>
        </p:spPr>
        <p:txBody>
          <a:bodyPr/>
          <a:lstStyle/>
          <a:p>
            <a:endParaRPr lang="fr-FR"/>
          </a:p>
        </p:txBody>
      </p:sp>
      <p:sp>
        <p:nvSpPr>
          <p:cNvPr id="49" name="Shape 47"/>
          <p:cNvSpPr/>
          <p:nvPr/>
        </p:nvSpPr>
        <p:spPr>
          <a:xfrm>
            <a:off x="4590288" y="2898648"/>
            <a:ext cx="420624" cy="420624"/>
          </a:xfrm>
          <a:prstGeom prst="ellipse">
            <a:avLst/>
          </a:prstGeom>
          <a:solidFill>
            <a:srgbClr val="1F5BD6"/>
          </a:solidFill>
          <a:ln w="12700">
            <a:solidFill>
              <a:srgbClr val="1F5BD6"/>
            </a:solidFill>
            <a:prstDash val="solid"/>
          </a:ln>
        </p:spPr>
        <p:txBody>
          <a:bodyPr/>
          <a:lstStyle/>
          <a:p>
            <a:endParaRPr lang="fr-FR"/>
          </a:p>
        </p:txBody>
      </p:sp>
      <p:sp>
        <p:nvSpPr>
          <p:cNvPr id="50" name="Text 48"/>
          <p:cNvSpPr txBox="1"/>
          <p:nvPr/>
        </p:nvSpPr>
        <p:spPr>
          <a:xfrm>
            <a:off x="4590288" y="2898648"/>
            <a:ext cx="420624"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KB</a:t>
            </a:r>
            <a:endParaRPr lang="en-US" sz="1000" dirty="0"/>
          </a:p>
        </p:txBody>
      </p:sp>
      <p:sp>
        <p:nvSpPr>
          <p:cNvPr id="51" name="Text 49"/>
          <p:cNvSpPr txBox="1"/>
          <p:nvPr/>
        </p:nvSpPr>
        <p:spPr>
          <a:xfrm>
            <a:off x="5138928" y="2852928"/>
            <a:ext cx="1828800" cy="274320"/>
          </a:xfrm>
          <a:prstGeom prst="rect">
            <a:avLst/>
          </a:prstGeom>
          <a:noFill/>
          <a:ln/>
        </p:spPr>
        <p:txBody>
          <a:bodyPr wrap="square" lIns="0" tIns="0" rIns="0" bIns="0" rtlCol="0" anchor="t"/>
          <a:lstStyle/>
          <a:p>
            <a:pPr marL="0" indent="0">
              <a:buNone/>
            </a:pPr>
            <a:r>
              <a:rPr lang="en-US" sz="1150" b="1" dirty="0">
                <a:solidFill>
                  <a:srgbClr val="0012B5"/>
                </a:solidFill>
                <a:latin typeface="Verdana" pitchFamily="34" charset="0"/>
                <a:ea typeface="Verdana" pitchFamily="34" charset="-122"/>
                <a:cs typeface="Verdana" pitchFamily="34" charset="-120"/>
              </a:rPr>
              <a:t>Karim B.</a:t>
            </a:r>
            <a:endParaRPr lang="en-US" sz="1150" dirty="0"/>
          </a:p>
        </p:txBody>
      </p:sp>
      <p:sp>
        <p:nvSpPr>
          <p:cNvPr id="52" name="Text 50"/>
          <p:cNvSpPr txBox="1"/>
          <p:nvPr/>
        </p:nvSpPr>
        <p:spPr>
          <a:xfrm>
            <a:off x="5138928" y="3127248"/>
            <a:ext cx="1920240" cy="237744"/>
          </a:xfrm>
          <a:prstGeom prst="rect">
            <a:avLst/>
          </a:prstGeom>
          <a:noFill/>
          <a:ln/>
        </p:spPr>
        <p:txBody>
          <a:bodyPr wrap="square" lIns="0" tIns="0" rIns="0" bIns="0" rtlCol="0" anchor="t"/>
          <a:lstStyle/>
          <a:p>
            <a:pPr marL="0" indent="0">
              <a:buNone/>
            </a:pPr>
            <a:r>
              <a:rPr lang="en-US" sz="950" dirty="0">
                <a:solidFill>
                  <a:srgbClr val="66728A"/>
                </a:solidFill>
                <a:latin typeface="Verdana" pitchFamily="34" charset="0"/>
                <a:ea typeface="Verdana" pitchFamily="34" charset="-122"/>
                <a:cs typeface="Verdana" pitchFamily="34" charset="-120"/>
              </a:rPr>
              <a:t>Mécanicien · 12 ans</a:t>
            </a:r>
            <a:endParaRPr lang="en-US" sz="950" dirty="0"/>
          </a:p>
        </p:txBody>
      </p:sp>
      <p:sp>
        <p:nvSpPr>
          <p:cNvPr id="53" name="Text 51"/>
          <p:cNvSpPr txBox="1"/>
          <p:nvPr/>
        </p:nvSpPr>
        <p:spPr>
          <a:xfrm>
            <a:off x="7086600" y="2852928"/>
            <a:ext cx="1325880" cy="274320"/>
          </a:xfrm>
          <a:prstGeom prst="rect">
            <a:avLst/>
          </a:prstGeom>
          <a:noFill/>
          <a:ln/>
        </p:spPr>
        <p:txBody>
          <a:bodyPr wrap="square" lIns="0" tIns="0" rIns="0" bIns="0" rtlCol="0" anchor="t"/>
          <a:lstStyle/>
          <a:p>
            <a:pPr marL="0" indent="0">
              <a:buNone/>
            </a:pPr>
            <a:r>
              <a:rPr lang="en-US" sz="1050" b="1" dirty="0">
                <a:solidFill>
                  <a:srgbClr val="1D2838"/>
                </a:solidFill>
                <a:latin typeface="Verdana" pitchFamily="34" charset="0"/>
                <a:ea typeface="Verdana" pitchFamily="34" charset="-122"/>
                <a:cs typeface="Verdana" pitchFamily="34" charset="-120"/>
              </a:rPr>
              <a:t>Agde</a:t>
            </a:r>
            <a:endParaRPr lang="en-US" sz="1050" dirty="0"/>
          </a:p>
        </p:txBody>
      </p:sp>
      <p:sp>
        <p:nvSpPr>
          <p:cNvPr id="54" name="Text 52"/>
          <p:cNvSpPr txBox="1"/>
          <p:nvPr/>
        </p:nvSpPr>
        <p:spPr>
          <a:xfrm>
            <a:off x="7086600" y="3127248"/>
            <a:ext cx="1371600" cy="237744"/>
          </a:xfrm>
          <a:prstGeom prst="rect">
            <a:avLst/>
          </a:prstGeom>
          <a:noFill/>
          <a:ln/>
        </p:spPr>
        <p:txBody>
          <a:bodyPr wrap="square" lIns="0" tIns="0" rIns="0" bIns="0" rtlCol="0" anchor="t"/>
          <a:lstStyle/>
          <a:p>
            <a:pPr marL="0" indent="0">
              <a:buNone/>
            </a:pPr>
            <a:r>
              <a:rPr lang="en-US" sz="950" dirty="0">
                <a:solidFill>
                  <a:srgbClr val="66728A"/>
                </a:solidFill>
                <a:latin typeface="Verdana" pitchFamily="34" charset="0"/>
                <a:ea typeface="Verdana" pitchFamily="34" charset="-122"/>
                <a:cs typeface="Verdana" pitchFamily="34" charset="-120"/>
              </a:rPr>
              <a:t>Chalut</a:t>
            </a:r>
            <a:endParaRPr lang="en-US" sz="950" dirty="0"/>
          </a:p>
        </p:txBody>
      </p:sp>
      <p:sp>
        <p:nvSpPr>
          <p:cNvPr id="55" name="Text 53"/>
          <p:cNvSpPr txBox="1"/>
          <p:nvPr/>
        </p:nvSpPr>
        <p:spPr>
          <a:xfrm>
            <a:off x="8458200" y="2880360"/>
            <a:ext cx="1234440" cy="457200"/>
          </a:xfrm>
          <a:prstGeom prst="rect">
            <a:avLst/>
          </a:prstGeom>
          <a:noFill/>
          <a:ln/>
        </p:spPr>
        <p:txBody>
          <a:bodyPr wrap="square" lIns="0" tIns="0" rIns="0" bIns="0" rtlCol="0" anchor="ctr"/>
          <a:lstStyle/>
          <a:p>
            <a:pPr marL="0" indent="0">
              <a:buNone/>
            </a:pPr>
            <a:r>
              <a:rPr lang="en-US" sz="950" b="1" dirty="0">
                <a:solidFill>
                  <a:srgbClr val="0074B5"/>
                </a:solidFill>
                <a:latin typeface="Verdana" pitchFamily="34" charset="0"/>
                <a:ea typeface="Verdana" pitchFamily="34" charset="-122"/>
                <a:cs typeface="Verdana" pitchFamily="34" charset="-120"/>
              </a:rPr>
              <a:t>Méca. 250 kW · CRR</a:t>
            </a:r>
            <a:endParaRPr lang="en-US" sz="950" dirty="0"/>
          </a:p>
        </p:txBody>
      </p:sp>
      <p:sp>
        <p:nvSpPr>
          <p:cNvPr id="56" name="Shape 54"/>
          <p:cNvSpPr/>
          <p:nvPr/>
        </p:nvSpPr>
        <p:spPr>
          <a:xfrm>
            <a:off x="9738360" y="298094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57" name="Text 55"/>
          <p:cNvSpPr txBox="1"/>
          <p:nvPr/>
        </p:nvSpPr>
        <p:spPr>
          <a:xfrm>
            <a:off x="9738360" y="298094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L</a:t>
            </a:r>
            <a:endParaRPr lang="en-US" sz="750" dirty="0"/>
          </a:p>
        </p:txBody>
      </p:sp>
      <p:sp>
        <p:nvSpPr>
          <p:cNvPr id="58" name="Shape 56"/>
          <p:cNvSpPr/>
          <p:nvPr/>
        </p:nvSpPr>
        <p:spPr>
          <a:xfrm>
            <a:off x="9934956" y="298094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59" name="Text 57"/>
          <p:cNvSpPr txBox="1"/>
          <p:nvPr/>
        </p:nvSpPr>
        <p:spPr>
          <a:xfrm>
            <a:off x="9934956" y="298094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M</a:t>
            </a:r>
            <a:endParaRPr lang="en-US" sz="750" dirty="0"/>
          </a:p>
        </p:txBody>
      </p:sp>
      <p:sp>
        <p:nvSpPr>
          <p:cNvPr id="60" name="Shape 58"/>
          <p:cNvSpPr/>
          <p:nvPr/>
        </p:nvSpPr>
        <p:spPr>
          <a:xfrm>
            <a:off x="10131552" y="298094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61" name="Text 59"/>
          <p:cNvSpPr txBox="1"/>
          <p:nvPr/>
        </p:nvSpPr>
        <p:spPr>
          <a:xfrm>
            <a:off x="10131552" y="298094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M</a:t>
            </a:r>
            <a:endParaRPr lang="en-US" sz="750" dirty="0"/>
          </a:p>
        </p:txBody>
      </p:sp>
      <p:sp>
        <p:nvSpPr>
          <p:cNvPr id="62" name="Shape 60"/>
          <p:cNvSpPr/>
          <p:nvPr/>
        </p:nvSpPr>
        <p:spPr>
          <a:xfrm>
            <a:off x="10328148" y="298094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63" name="Text 61"/>
          <p:cNvSpPr txBox="1"/>
          <p:nvPr/>
        </p:nvSpPr>
        <p:spPr>
          <a:xfrm>
            <a:off x="10328148" y="298094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J</a:t>
            </a:r>
            <a:endParaRPr lang="en-US" sz="750" dirty="0"/>
          </a:p>
        </p:txBody>
      </p:sp>
      <p:sp>
        <p:nvSpPr>
          <p:cNvPr id="64" name="Shape 62"/>
          <p:cNvSpPr/>
          <p:nvPr/>
        </p:nvSpPr>
        <p:spPr>
          <a:xfrm>
            <a:off x="10524744" y="298094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65" name="Text 63"/>
          <p:cNvSpPr txBox="1"/>
          <p:nvPr/>
        </p:nvSpPr>
        <p:spPr>
          <a:xfrm>
            <a:off x="10524744" y="298094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V</a:t>
            </a:r>
            <a:endParaRPr lang="en-US" sz="750" dirty="0"/>
          </a:p>
        </p:txBody>
      </p:sp>
      <p:sp>
        <p:nvSpPr>
          <p:cNvPr id="66" name="Shape 64"/>
          <p:cNvSpPr/>
          <p:nvPr/>
        </p:nvSpPr>
        <p:spPr>
          <a:xfrm>
            <a:off x="10721340" y="298094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67" name="Text 65"/>
          <p:cNvSpPr txBox="1"/>
          <p:nvPr/>
        </p:nvSpPr>
        <p:spPr>
          <a:xfrm>
            <a:off x="10721340" y="298094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S</a:t>
            </a:r>
            <a:endParaRPr lang="en-US" sz="750" dirty="0"/>
          </a:p>
        </p:txBody>
      </p:sp>
      <p:sp>
        <p:nvSpPr>
          <p:cNvPr id="68" name="Shape 66"/>
          <p:cNvSpPr/>
          <p:nvPr/>
        </p:nvSpPr>
        <p:spPr>
          <a:xfrm>
            <a:off x="10917936" y="298094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69" name="Text 67"/>
          <p:cNvSpPr txBox="1"/>
          <p:nvPr/>
        </p:nvSpPr>
        <p:spPr>
          <a:xfrm>
            <a:off x="10917936" y="298094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D</a:t>
            </a:r>
            <a:endParaRPr lang="en-US" sz="750" dirty="0"/>
          </a:p>
        </p:txBody>
      </p:sp>
      <p:sp>
        <p:nvSpPr>
          <p:cNvPr id="70" name="Text 68"/>
          <p:cNvSpPr txBox="1"/>
          <p:nvPr/>
        </p:nvSpPr>
        <p:spPr>
          <a:xfrm>
            <a:off x="11155680" y="2880360"/>
            <a:ext cx="566928" cy="457200"/>
          </a:xfrm>
          <a:prstGeom prst="rect">
            <a:avLst/>
          </a:prstGeom>
          <a:noFill/>
          <a:ln/>
        </p:spPr>
        <p:txBody>
          <a:bodyPr wrap="square" lIns="0" tIns="0" rIns="0" bIns="0" rtlCol="0" anchor="ctr"/>
          <a:lstStyle/>
          <a:p>
            <a:pPr marL="0" indent="0" algn="ctr">
              <a:buNone/>
            </a:pPr>
            <a:r>
              <a:rPr lang="en-US" sz="950" b="1" dirty="0">
                <a:solidFill>
                  <a:srgbClr val="8A6D1A"/>
                </a:solidFill>
                <a:latin typeface="Verdana" pitchFamily="34" charset="0"/>
                <a:ea typeface="Verdana" pitchFamily="34" charset="-122"/>
                <a:cs typeface="Verdana" pitchFamily="34" charset="-120"/>
              </a:rPr>
              <a:t>★ 4,8</a:t>
            </a:r>
            <a:endParaRPr lang="en-US" sz="950" dirty="0"/>
          </a:p>
        </p:txBody>
      </p:sp>
      <p:sp>
        <p:nvSpPr>
          <p:cNvPr id="71" name="Shape 69"/>
          <p:cNvSpPr/>
          <p:nvPr/>
        </p:nvSpPr>
        <p:spPr>
          <a:xfrm>
            <a:off x="4572000" y="3429000"/>
            <a:ext cx="6979615" cy="0"/>
          </a:xfrm>
          <a:prstGeom prst="line">
            <a:avLst/>
          </a:prstGeom>
          <a:noFill/>
          <a:ln w="9525">
            <a:solidFill>
              <a:srgbClr val="E6ECF5"/>
            </a:solidFill>
            <a:prstDash val="solid"/>
          </a:ln>
        </p:spPr>
        <p:txBody>
          <a:bodyPr/>
          <a:lstStyle/>
          <a:p>
            <a:endParaRPr lang="fr-FR"/>
          </a:p>
        </p:txBody>
      </p:sp>
      <p:sp>
        <p:nvSpPr>
          <p:cNvPr id="72" name="Shape 70"/>
          <p:cNvSpPr/>
          <p:nvPr/>
        </p:nvSpPr>
        <p:spPr>
          <a:xfrm>
            <a:off x="4590288" y="3538728"/>
            <a:ext cx="420624" cy="420624"/>
          </a:xfrm>
          <a:prstGeom prst="ellipse">
            <a:avLst/>
          </a:prstGeom>
          <a:solidFill>
            <a:srgbClr val="00A7B5"/>
          </a:solidFill>
          <a:ln w="12700">
            <a:solidFill>
              <a:srgbClr val="00A7B5"/>
            </a:solidFill>
            <a:prstDash val="solid"/>
          </a:ln>
        </p:spPr>
        <p:txBody>
          <a:bodyPr/>
          <a:lstStyle/>
          <a:p>
            <a:endParaRPr lang="fr-FR"/>
          </a:p>
        </p:txBody>
      </p:sp>
      <p:sp>
        <p:nvSpPr>
          <p:cNvPr id="73" name="Text 71"/>
          <p:cNvSpPr txBox="1"/>
          <p:nvPr/>
        </p:nvSpPr>
        <p:spPr>
          <a:xfrm>
            <a:off x="4590288" y="3538728"/>
            <a:ext cx="420624"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MA</a:t>
            </a:r>
            <a:endParaRPr lang="en-US" sz="1000" dirty="0"/>
          </a:p>
        </p:txBody>
      </p:sp>
      <p:sp>
        <p:nvSpPr>
          <p:cNvPr id="74" name="Text 72"/>
          <p:cNvSpPr txBox="1"/>
          <p:nvPr/>
        </p:nvSpPr>
        <p:spPr>
          <a:xfrm>
            <a:off x="5138928" y="3493008"/>
            <a:ext cx="1828800" cy="274320"/>
          </a:xfrm>
          <a:prstGeom prst="rect">
            <a:avLst/>
          </a:prstGeom>
          <a:noFill/>
          <a:ln/>
        </p:spPr>
        <p:txBody>
          <a:bodyPr wrap="square" lIns="0" tIns="0" rIns="0" bIns="0" rtlCol="0" anchor="t"/>
          <a:lstStyle/>
          <a:p>
            <a:pPr marL="0" indent="0">
              <a:buNone/>
            </a:pPr>
            <a:r>
              <a:rPr lang="en-US" sz="1150" b="1" dirty="0">
                <a:solidFill>
                  <a:srgbClr val="0012B5"/>
                </a:solidFill>
                <a:latin typeface="Verdana" pitchFamily="34" charset="0"/>
                <a:ea typeface="Verdana" pitchFamily="34" charset="-122"/>
                <a:cs typeface="Verdana" pitchFamily="34" charset="-120"/>
              </a:rPr>
              <a:t>Mathieu A.</a:t>
            </a:r>
            <a:endParaRPr lang="en-US" sz="1150" dirty="0"/>
          </a:p>
        </p:txBody>
      </p:sp>
      <p:sp>
        <p:nvSpPr>
          <p:cNvPr id="75" name="Text 73"/>
          <p:cNvSpPr txBox="1"/>
          <p:nvPr/>
        </p:nvSpPr>
        <p:spPr>
          <a:xfrm>
            <a:off x="5138928" y="3767328"/>
            <a:ext cx="1920240" cy="237744"/>
          </a:xfrm>
          <a:prstGeom prst="rect">
            <a:avLst/>
          </a:prstGeom>
          <a:noFill/>
          <a:ln/>
        </p:spPr>
        <p:txBody>
          <a:bodyPr wrap="square" lIns="0" tIns="0" rIns="0" bIns="0" rtlCol="0" anchor="t"/>
          <a:lstStyle/>
          <a:p>
            <a:pPr marL="0" indent="0">
              <a:buNone/>
            </a:pPr>
            <a:r>
              <a:rPr lang="en-US" sz="950" dirty="0">
                <a:solidFill>
                  <a:srgbClr val="66728A"/>
                </a:solidFill>
                <a:latin typeface="Verdana" pitchFamily="34" charset="0"/>
                <a:ea typeface="Verdana" pitchFamily="34" charset="-122"/>
                <a:cs typeface="Verdana" pitchFamily="34" charset="-120"/>
              </a:rPr>
              <a:t>Patron remplaçant</a:t>
            </a:r>
            <a:endParaRPr lang="en-US" sz="950" dirty="0"/>
          </a:p>
        </p:txBody>
      </p:sp>
      <p:sp>
        <p:nvSpPr>
          <p:cNvPr id="76" name="Text 74"/>
          <p:cNvSpPr txBox="1"/>
          <p:nvPr/>
        </p:nvSpPr>
        <p:spPr>
          <a:xfrm>
            <a:off x="7086600" y="3493008"/>
            <a:ext cx="1325880" cy="274320"/>
          </a:xfrm>
          <a:prstGeom prst="rect">
            <a:avLst/>
          </a:prstGeom>
          <a:noFill/>
          <a:ln/>
        </p:spPr>
        <p:txBody>
          <a:bodyPr wrap="square" lIns="0" tIns="0" rIns="0" bIns="0" rtlCol="0" anchor="t"/>
          <a:lstStyle/>
          <a:p>
            <a:pPr marL="0" indent="0">
              <a:buNone/>
            </a:pPr>
            <a:r>
              <a:rPr lang="en-US" sz="1050" b="1" dirty="0">
                <a:solidFill>
                  <a:srgbClr val="1D2838"/>
                </a:solidFill>
                <a:latin typeface="Verdana" pitchFamily="34" charset="0"/>
                <a:ea typeface="Verdana" pitchFamily="34" charset="-122"/>
                <a:cs typeface="Verdana" pitchFamily="34" charset="-120"/>
              </a:rPr>
              <a:t>Sète</a:t>
            </a:r>
            <a:endParaRPr lang="en-US" sz="1050" dirty="0"/>
          </a:p>
        </p:txBody>
      </p:sp>
      <p:sp>
        <p:nvSpPr>
          <p:cNvPr id="77" name="Text 75"/>
          <p:cNvSpPr txBox="1"/>
          <p:nvPr/>
        </p:nvSpPr>
        <p:spPr>
          <a:xfrm>
            <a:off x="7086600" y="3767328"/>
            <a:ext cx="1371600" cy="237744"/>
          </a:xfrm>
          <a:prstGeom prst="rect">
            <a:avLst/>
          </a:prstGeom>
          <a:noFill/>
          <a:ln/>
        </p:spPr>
        <p:txBody>
          <a:bodyPr wrap="square" lIns="0" tIns="0" rIns="0" bIns="0" rtlCol="0" anchor="t"/>
          <a:lstStyle/>
          <a:p>
            <a:pPr marL="0" indent="0">
              <a:buNone/>
            </a:pPr>
            <a:r>
              <a:rPr lang="en-US" sz="950" dirty="0">
                <a:solidFill>
                  <a:srgbClr val="66728A"/>
                </a:solidFill>
                <a:latin typeface="Verdana" pitchFamily="34" charset="0"/>
                <a:ea typeface="Verdana" pitchFamily="34" charset="-122"/>
                <a:cs typeface="Verdana" pitchFamily="34" charset="-120"/>
              </a:rPr>
              <a:t>Palangre, thon</a:t>
            </a:r>
            <a:endParaRPr lang="en-US" sz="950" dirty="0"/>
          </a:p>
        </p:txBody>
      </p:sp>
      <p:sp>
        <p:nvSpPr>
          <p:cNvPr id="78" name="Text 76"/>
          <p:cNvSpPr txBox="1"/>
          <p:nvPr/>
        </p:nvSpPr>
        <p:spPr>
          <a:xfrm>
            <a:off x="8458200" y="3520440"/>
            <a:ext cx="1234440" cy="457200"/>
          </a:xfrm>
          <a:prstGeom prst="rect">
            <a:avLst/>
          </a:prstGeom>
          <a:noFill/>
          <a:ln/>
        </p:spPr>
        <p:txBody>
          <a:bodyPr wrap="square" lIns="0" tIns="0" rIns="0" bIns="0" rtlCol="0" anchor="ctr"/>
          <a:lstStyle/>
          <a:p>
            <a:pPr marL="0" indent="0">
              <a:buNone/>
            </a:pPr>
            <a:r>
              <a:rPr lang="en-US" sz="950" b="1" dirty="0">
                <a:solidFill>
                  <a:srgbClr val="0074B5"/>
                </a:solidFill>
                <a:latin typeface="Verdana" pitchFamily="34" charset="0"/>
                <a:ea typeface="Verdana" pitchFamily="34" charset="-122"/>
                <a:cs typeface="Verdana" pitchFamily="34" charset="-120"/>
              </a:rPr>
              <a:t>Capitaine 200 · CRR</a:t>
            </a:r>
            <a:endParaRPr lang="en-US" sz="950" dirty="0"/>
          </a:p>
        </p:txBody>
      </p:sp>
      <p:sp>
        <p:nvSpPr>
          <p:cNvPr id="79" name="Shape 77"/>
          <p:cNvSpPr/>
          <p:nvPr/>
        </p:nvSpPr>
        <p:spPr>
          <a:xfrm>
            <a:off x="9738360" y="362102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80" name="Text 78"/>
          <p:cNvSpPr txBox="1"/>
          <p:nvPr/>
        </p:nvSpPr>
        <p:spPr>
          <a:xfrm>
            <a:off x="9738360" y="362102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L</a:t>
            </a:r>
            <a:endParaRPr lang="en-US" sz="750" dirty="0"/>
          </a:p>
        </p:txBody>
      </p:sp>
      <p:sp>
        <p:nvSpPr>
          <p:cNvPr id="81" name="Shape 79"/>
          <p:cNvSpPr/>
          <p:nvPr/>
        </p:nvSpPr>
        <p:spPr>
          <a:xfrm>
            <a:off x="9934956" y="362102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82" name="Text 80"/>
          <p:cNvSpPr txBox="1"/>
          <p:nvPr/>
        </p:nvSpPr>
        <p:spPr>
          <a:xfrm>
            <a:off x="9934956" y="362102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M</a:t>
            </a:r>
            <a:endParaRPr lang="en-US" sz="750" dirty="0"/>
          </a:p>
        </p:txBody>
      </p:sp>
      <p:sp>
        <p:nvSpPr>
          <p:cNvPr id="83" name="Shape 81"/>
          <p:cNvSpPr/>
          <p:nvPr/>
        </p:nvSpPr>
        <p:spPr>
          <a:xfrm>
            <a:off x="10131552" y="362102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84" name="Text 82"/>
          <p:cNvSpPr txBox="1"/>
          <p:nvPr/>
        </p:nvSpPr>
        <p:spPr>
          <a:xfrm>
            <a:off x="10131552" y="362102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M</a:t>
            </a:r>
            <a:endParaRPr lang="en-US" sz="750" dirty="0"/>
          </a:p>
        </p:txBody>
      </p:sp>
      <p:sp>
        <p:nvSpPr>
          <p:cNvPr id="85" name="Shape 83"/>
          <p:cNvSpPr/>
          <p:nvPr/>
        </p:nvSpPr>
        <p:spPr>
          <a:xfrm>
            <a:off x="10328148" y="362102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86" name="Text 84"/>
          <p:cNvSpPr txBox="1"/>
          <p:nvPr/>
        </p:nvSpPr>
        <p:spPr>
          <a:xfrm>
            <a:off x="10328148" y="362102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J</a:t>
            </a:r>
            <a:endParaRPr lang="en-US" sz="750" dirty="0"/>
          </a:p>
        </p:txBody>
      </p:sp>
      <p:sp>
        <p:nvSpPr>
          <p:cNvPr id="87" name="Shape 85"/>
          <p:cNvSpPr/>
          <p:nvPr/>
        </p:nvSpPr>
        <p:spPr>
          <a:xfrm>
            <a:off x="10524744" y="362102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88" name="Text 86"/>
          <p:cNvSpPr txBox="1"/>
          <p:nvPr/>
        </p:nvSpPr>
        <p:spPr>
          <a:xfrm>
            <a:off x="10524744" y="362102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V</a:t>
            </a:r>
            <a:endParaRPr lang="en-US" sz="750" dirty="0"/>
          </a:p>
        </p:txBody>
      </p:sp>
      <p:sp>
        <p:nvSpPr>
          <p:cNvPr id="89" name="Shape 87"/>
          <p:cNvSpPr/>
          <p:nvPr/>
        </p:nvSpPr>
        <p:spPr>
          <a:xfrm>
            <a:off x="10721340" y="362102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90" name="Text 88"/>
          <p:cNvSpPr txBox="1"/>
          <p:nvPr/>
        </p:nvSpPr>
        <p:spPr>
          <a:xfrm>
            <a:off x="10721340" y="362102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S</a:t>
            </a:r>
            <a:endParaRPr lang="en-US" sz="750" dirty="0"/>
          </a:p>
        </p:txBody>
      </p:sp>
      <p:sp>
        <p:nvSpPr>
          <p:cNvPr id="91" name="Shape 89"/>
          <p:cNvSpPr/>
          <p:nvPr/>
        </p:nvSpPr>
        <p:spPr>
          <a:xfrm>
            <a:off x="10917936" y="362102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92" name="Text 90"/>
          <p:cNvSpPr txBox="1"/>
          <p:nvPr/>
        </p:nvSpPr>
        <p:spPr>
          <a:xfrm>
            <a:off x="10917936" y="362102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D</a:t>
            </a:r>
            <a:endParaRPr lang="en-US" sz="750" dirty="0"/>
          </a:p>
        </p:txBody>
      </p:sp>
      <p:sp>
        <p:nvSpPr>
          <p:cNvPr id="93" name="Text 91"/>
          <p:cNvSpPr txBox="1"/>
          <p:nvPr/>
        </p:nvSpPr>
        <p:spPr>
          <a:xfrm>
            <a:off x="11155680" y="3520440"/>
            <a:ext cx="566928" cy="457200"/>
          </a:xfrm>
          <a:prstGeom prst="rect">
            <a:avLst/>
          </a:prstGeom>
          <a:noFill/>
          <a:ln/>
        </p:spPr>
        <p:txBody>
          <a:bodyPr wrap="square" lIns="0" tIns="0" rIns="0" bIns="0" rtlCol="0" anchor="ctr"/>
          <a:lstStyle/>
          <a:p>
            <a:pPr marL="0" indent="0" algn="ctr">
              <a:buNone/>
            </a:pPr>
            <a:r>
              <a:rPr lang="en-US" sz="950" b="1" dirty="0">
                <a:solidFill>
                  <a:srgbClr val="8A6D1A"/>
                </a:solidFill>
                <a:latin typeface="Verdana" pitchFamily="34" charset="0"/>
                <a:ea typeface="Verdana" pitchFamily="34" charset="-122"/>
                <a:cs typeface="Verdana" pitchFamily="34" charset="-120"/>
              </a:rPr>
              <a:t>★ 5,0</a:t>
            </a:r>
            <a:endParaRPr lang="en-US" sz="950" dirty="0"/>
          </a:p>
        </p:txBody>
      </p:sp>
      <p:sp>
        <p:nvSpPr>
          <p:cNvPr id="94" name="Shape 92"/>
          <p:cNvSpPr/>
          <p:nvPr/>
        </p:nvSpPr>
        <p:spPr>
          <a:xfrm>
            <a:off x="4572000" y="4069080"/>
            <a:ext cx="6979615" cy="0"/>
          </a:xfrm>
          <a:prstGeom prst="line">
            <a:avLst/>
          </a:prstGeom>
          <a:noFill/>
          <a:ln w="9525">
            <a:solidFill>
              <a:srgbClr val="E6ECF5"/>
            </a:solidFill>
            <a:prstDash val="solid"/>
          </a:ln>
        </p:spPr>
        <p:txBody>
          <a:bodyPr/>
          <a:lstStyle/>
          <a:p>
            <a:endParaRPr lang="fr-FR"/>
          </a:p>
        </p:txBody>
      </p:sp>
      <p:sp>
        <p:nvSpPr>
          <p:cNvPr id="95" name="Shape 93"/>
          <p:cNvSpPr/>
          <p:nvPr/>
        </p:nvSpPr>
        <p:spPr>
          <a:xfrm>
            <a:off x="4590288" y="4178808"/>
            <a:ext cx="420624" cy="420624"/>
          </a:xfrm>
          <a:prstGeom prst="ellipse">
            <a:avLst/>
          </a:prstGeom>
          <a:solidFill>
            <a:srgbClr val="0E9F6E"/>
          </a:solidFill>
          <a:ln w="12700">
            <a:solidFill>
              <a:srgbClr val="0E9F6E"/>
            </a:solidFill>
            <a:prstDash val="solid"/>
          </a:ln>
        </p:spPr>
        <p:txBody>
          <a:bodyPr/>
          <a:lstStyle/>
          <a:p>
            <a:endParaRPr lang="fr-FR"/>
          </a:p>
        </p:txBody>
      </p:sp>
      <p:sp>
        <p:nvSpPr>
          <p:cNvPr id="96" name="Text 94"/>
          <p:cNvSpPr txBox="1"/>
          <p:nvPr/>
        </p:nvSpPr>
        <p:spPr>
          <a:xfrm>
            <a:off x="4590288" y="4178808"/>
            <a:ext cx="420624"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SH</a:t>
            </a:r>
            <a:endParaRPr lang="en-US" sz="1000" dirty="0"/>
          </a:p>
        </p:txBody>
      </p:sp>
      <p:sp>
        <p:nvSpPr>
          <p:cNvPr id="97" name="Text 95"/>
          <p:cNvSpPr txBox="1"/>
          <p:nvPr/>
        </p:nvSpPr>
        <p:spPr>
          <a:xfrm>
            <a:off x="5138928" y="4133088"/>
            <a:ext cx="1828800" cy="274320"/>
          </a:xfrm>
          <a:prstGeom prst="rect">
            <a:avLst/>
          </a:prstGeom>
          <a:noFill/>
          <a:ln/>
        </p:spPr>
        <p:txBody>
          <a:bodyPr wrap="square" lIns="0" tIns="0" rIns="0" bIns="0" rtlCol="0" anchor="t"/>
          <a:lstStyle/>
          <a:p>
            <a:pPr marL="0" indent="0">
              <a:buNone/>
            </a:pPr>
            <a:r>
              <a:rPr lang="en-US" sz="1150" b="1" dirty="0">
                <a:solidFill>
                  <a:srgbClr val="0012B5"/>
                </a:solidFill>
                <a:latin typeface="Verdana" pitchFamily="34" charset="0"/>
                <a:ea typeface="Verdana" pitchFamily="34" charset="-122"/>
                <a:cs typeface="Verdana" pitchFamily="34" charset="-120"/>
              </a:rPr>
              <a:t>Sofiane H.</a:t>
            </a:r>
            <a:endParaRPr lang="en-US" sz="1150" dirty="0"/>
          </a:p>
        </p:txBody>
      </p:sp>
      <p:sp>
        <p:nvSpPr>
          <p:cNvPr id="98" name="Text 96"/>
          <p:cNvSpPr txBox="1"/>
          <p:nvPr/>
        </p:nvSpPr>
        <p:spPr>
          <a:xfrm>
            <a:off x="5138928" y="4407408"/>
            <a:ext cx="1920240" cy="237744"/>
          </a:xfrm>
          <a:prstGeom prst="rect">
            <a:avLst/>
          </a:prstGeom>
          <a:noFill/>
          <a:ln/>
        </p:spPr>
        <p:txBody>
          <a:bodyPr wrap="square" lIns="0" tIns="0" rIns="0" bIns="0" rtlCol="0" anchor="t"/>
          <a:lstStyle/>
          <a:p>
            <a:pPr marL="0" indent="0">
              <a:buNone/>
            </a:pPr>
            <a:r>
              <a:rPr lang="en-US" sz="950" dirty="0">
                <a:solidFill>
                  <a:srgbClr val="66728A"/>
                </a:solidFill>
                <a:latin typeface="Verdana" pitchFamily="34" charset="0"/>
                <a:ea typeface="Verdana" pitchFamily="34" charset="-122"/>
                <a:cs typeface="Verdana" pitchFamily="34" charset="-120"/>
              </a:rPr>
              <a:t>Matelot · 3 ans</a:t>
            </a:r>
            <a:endParaRPr lang="en-US" sz="950" dirty="0"/>
          </a:p>
        </p:txBody>
      </p:sp>
      <p:sp>
        <p:nvSpPr>
          <p:cNvPr id="99" name="Text 97"/>
          <p:cNvSpPr txBox="1"/>
          <p:nvPr/>
        </p:nvSpPr>
        <p:spPr>
          <a:xfrm>
            <a:off x="7086600" y="4133088"/>
            <a:ext cx="1325880" cy="274320"/>
          </a:xfrm>
          <a:prstGeom prst="rect">
            <a:avLst/>
          </a:prstGeom>
          <a:noFill/>
          <a:ln/>
        </p:spPr>
        <p:txBody>
          <a:bodyPr wrap="square" lIns="0" tIns="0" rIns="0" bIns="0" rtlCol="0" anchor="t"/>
          <a:lstStyle/>
          <a:p>
            <a:pPr marL="0" indent="0">
              <a:buNone/>
            </a:pPr>
            <a:r>
              <a:rPr lang="en-US" sz="1050" b="1" dirty="0">
                <a:solidFill>
                  <a:srgbClr val="1D2838"/>
                </a:solidFill>
                <a:latin typeface="Verdana" pitchFamily="34" charset="0"/>
                <a:ea typeface="Verdana" pitchFamily="34" charset="-122"/>
                <a:cs typeface="Verdana" pitchFamily="34" charset="-120"/>
              </a:rPr>
              <a:t>Frontignan</a:t>
            </a:r>
            <a:endParaRPr lang="en-US" sz="1050" dirty="0"/>
          </a:p>
        </p:txBody>
      </p:sp>
      <p:sp>
        <p:nvSpPr>
          <p:cNvPr id="100" name="Text 98"/>
          <p:cNvSpPr txBox="1"/>
          <p:nvPr/>
        </p:nvSpPr>
        <p:spPr>
          <a:xfrm>
            <a:off x="7086600" y="4407408"/>
            <a:ext cx="1371600" cy="237744"/>
          </a:xfrm>
          <a:prstGeom prst="rect">
            <a:avLst/>
          </a:prstGeom>
          <a:noFill/>
          <a:ln/>
        </p:spPr>
        <p:txBody>
          <a:bodyPr wrap="square" lIns="0" tIns="0" rIns="0" bIns="0" rtlCol="0" anchor="t"/>
          <a:lstStyle/>
          <a:p>
            <a:pPr marL="0" indent="0">
              <a:buNone/>
            </a:pPr>
            <a:r>
              <a:rPr lang="en-US" sz="950" dirty="0">
                <a:solidFill>
                  <a:srgbClr val="66728A"/>
                </a:solidFill>
                <a:latin typeface="Verdana" pitchFamily="34" charset="0"/>
                <a:ea typeface="Verdana" pitchFamily="34" charset="-122"/>
                <a:cs typeface="Verdana" pitchFamily="34" charset="-120"/>
              </a:rPr>
              <a:t>Filet, casier</a:t>
            </a:r>
            <a:endParaRPr lang="en-US" sz="950" dirty="0"/>
          </a:p>
        </p:txBody>
      </p:sp>
      <p:sp>
        <p:nvSpPr>
          <p:cNvPr id="101" name="Text 99"/>
          <p:cNvSpPr txBox="1"/>
          <p:nvPr/>
        </p:nvSpPr>
        <p:spPr>
          <a:xfrm>
            <a:off x="8458200" y="4160520"/>
            <a:ext cx="1234440" cy="457200"/>
          </a:xfrm>
          <a:prstGeom prst="rect">
            <a:avLst/>
          </a:prstGeom>
          <a:noFill/>
          <a:ln/>
        </p:spPr>
        <p:txBody>
          <a:bodyPr wrap="square" lIns="0" tIns="0" rIns="0" bIns="0" rtlCol="0" anchor="ctr"/>
          <a:lstStyle/>
          <a:p>
            <a:pPr marL="0" indent="0">
              <a:buNone/>
            </a:pPr>
            <a:r>
              <a:rPr lang="en-US" sz="950" b="1" dirty="0">
                <a:solidFill>
                  <a:srgbClr val="0074B5"/>
                </a:solidFill>
                <a:latin typeface="Verdana" pitchFamily="34" charset="0"/>
                <a:ea typeface="Verdana" pitchFamily="34" charset="-122"/>
                <a:cs typeface="Verdana" pitchFamily="34" charset="-120"/>
              </a:rPr>
              <a:t>CIN</a:t>
            </a:r>
            <a:endParaRPr lang="en-US" sz="950" dirty="0"/>
          </a:p>
        </p:txBody>
      </p:sp>
      <p:sp>
        <p:nvSpPr>
          <p:cNvPr id="102" name="Shape 100"/>
          <p:cNvSpPr/>
          <p:nvPr/>
        </p:nvSpPr>
        <p:spPr>
          <a:xfrm>
            <a:off x="9738360" y="426110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103" name="Text 101"/>
          <p:cNvSpPr txBox="1"/>
          <p:nvPr/>
        </p:nvSpPr>
        <p:spPr>
          <a:xfrm>
            <a:off x="9738360" y="426110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L</a:t>
            </a:r>
            <a:endParaRPr lang="en-US" sz="750" dirty="0"/>
          </a:p>
        </p:txBody>
      </p:sp>
      <p:sp>
        <p:nvSpPr>
          <p:cNvPr id="104" name="Shape 102"/>
          <p:cNvSpPr/>
          <p:nvPr/>
        </p:nvSpPr>
        <p:spPr>
          <a:xfrm>
            <a:off x="9934956" y="426110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105" name="Text 103"/>
          <p:cNvSpPr txBox="1"/>
          <p:nvPr/>
        </p:nvSpPr>
        <p:spPr>
          <a:xfrm>
            <a:off x="9934956" y="426110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M</a:t>
            </a:r>
            <a:endParaRPr lang="en-US" sz="750" dirty="0"/>
          </a:p>
        </p:txBody>
      </p:sp>
      <p:sp>
        <p:nvSpPr>
          <p:cNvPr id="106" name="Shape 104"/>
          <p:cNvSpPr/>
          <p:nvPr/>
        </p:nvSpPr>
        <p:spPr>
          <a:xfrm>
            <a:off x="10131552" y="426110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107" name="Text 105"/>
          <p:cNvSpPr txBox="1"/>
          <p:nvPr/>
        </p:nvSpPr>
        <p:spPr>
          <a:xfrm>
            <a:off x="10131552" y="426110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M</a:t>
            </a:r>
            <a:endParaRPr lang="en-US" sz="750" dirty="0"/>
          </a:p>
        </p:txBody>
      </p:sp>
      <p:sp>
        <p:nvSpPr>
          <p:cNvPr id="108" name="Shape 106"/>
          <p:cNvSpPr/>
          <p:nvPr/>
        </p:nvSpPr>
        <p:spPr>
          <a:xfrm>
            <a:off x="10328148" y="426110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109" name="Text 107"/>
          <p:cNvSpPr txBox="1"/>
          <p:nvPr/>
        </p:nvSpPr>
        <p:spPr>
          <a:xfrm>
            <a:off x="10328148" y="426110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J</a:t>
            </a:r>
            <a:endParaRPr lang="en-US" sz="750" dirty="0"/>
          </a:p>
        </p:txBody>
      </p:sp>
      <p:sp>
        <p:nvSpPr>
          <p:cNvPr id="110" name="Shape 108"/>
          <p:cNvSpPr/>
          <p:nvPr/>
        </p:nvSpPr>
        <p:spPr>
          <a:xfrm>
            <a:off x="10524744" y="426110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111" name="Text 109"/>
          <p:cNvSpPr txBox="1"/>
          <p:nvPr/>
        </p:nvSpPr>
        <p:spPr>
          <a:xfrm>
            <a:off x="10524744" y="426110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V</a:t>
            </a:r>
            <a:endParaRPr lang="en-US" sz="750" dirty="0"/>
          </a:p>
        </p:txBody>
      </p:sp>
      <p:sp>
        <p:nvSpPr>
          <p:cNvPr id="112" name="Shape 110"/>
          <p:cNvSpPr/>
          <p:nvPr/>
        </p:nvSpPr>
        <p:spPr>
          <a:xfrm>
            <a:off x="10721340" y="426110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113" name="Text 111"/>
          <p:cNvSpPr txBox="1"/>
          <p:nvPr/>
        </p:nvSpPr>
        <p:spPr>
          <a:xfrm>
            <a:off x="10721340" y="426110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S</a:t>
            </a:r>
            <a:endParaRPr lang="en-US" sz="750" dirty="0"/>
          </a:p>
        </p:txBody>
      </p:sp>
      <p:sp>
        <p:nvSpPr>
          <p:cNvPr id="114" name="Shape 112"/>
          <p:cNvSpPr/>
          <p:nvPr/>
        </p:nvSpPr>
        <p:spPr>
          <a:xfrm>
            <a:off x="10917936" y="426110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115" name="Text 113"/>
          <p:cNvSpPr txBox="1"/>
          <p:nvPr/>
        </p:nvSpPr>
        <p:spPr>
          <a:xfrm>
            <a:off x="10917936" y="426110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D</a:t>
            </a:r>
            <a:endParaRPr lang="en-US" sz="750" dirty="0"/>
          </a:p>
        </p:txBody>
      </p:sp>
      <p:sp>
        <p:nvSpPr>
          <p:cNvPr id="116" name="Text 114"/>
          <p:cNvSpPr txBox="1"/>
          <p:nvPr/>
        </p:nvSpPr>
        <p:spPr>
          <a:xfrm>
            <a:off x="11155680" y="4160520"/>
            <a:ext cx="566928" cy="457200"/>
          </a:xfrm>
          <a:prstGeom prst="rect">
            <a:avLst/>
          </a:prstGeom>
          <a:noFill/>
          <a:ln/>
        </p:spPr>
        <p:txBody>
          <a:bodyPr wrap="square" lIns="0" tIns="0" rIns="0" bIns="0" rtlCol="0" anchor="ctr"/>
          <a:lstStyle/>
          <a:p>
            <a:pPr marL="0" indent="0" algn="ctr">
              <a:buNone/>
            </a:pPr>
            <a:r>
              <a:rPr lang="en-US" sz="950" b="1" dirty="0">
                <a:solidFill>
                  <a:srgbClr val="8A6D1A"/>
                </a:solidFill>
                <a:latin typeface="Verdana" pitchFamily="34" charset="0"/>
                <a:ea typeface="Verdana" pitchFamily="34" charset="-122"/>
                <a:cs typeface="Verdana" pitchFamily="34" charset="-120"/>
              </a:rPr>
              <a:t>★ 4,7</a:t>
            </a:r>
            <a:endParaRPr lang="en-US" sz="950" dirty="0"/>
          </a:p>
        </p:txBody>
      </p:sp>
      <p:sp>
        <p:nvSpPr>
          <p:cNvPr id="117" name="Shape 115"/>
          <p:cNvSpPr/>
          <p:nvPr/>
        </p:nvSpPr>
        <p:spPr>
          <a:xfrm>
            <a:off x="4572000" y="4709160"/>
            <a:ext cx="6979615" cy="0"/>
          </a:xfrm>
          <a:prstGeom prst="line">
            <a:avLst/>
          </a:prstGeom>
          <a:noFill/>
          <a:ln w="9525">
            <a:solidFill>
              <a:srgbClr val="E6ECF5"/>
            </a:solidFill>
            <a:prstDash val="solid"/>
          </a:ln>
        </p:spPr>
        <p:txBody>
          <a:bodyPr/>
          <a:lstStyle/>
          <a:p>
            <a:endParaRPr lang="fr-FR"/>
          </a:p>
        </p:txBody>
      </p:sp>
      <p:sp>
        <p:nvSpPr>
          <p:cNvPr id="118" name="Shape 116"/>
          <p:cNvSpPr/>
          <p:nvPr/>
        </p:nvSpPr>
        <p:spPr>
          <a:xfrm>
            <a:off x="4590288" y="4818888"/>
            <a:ext cx="420624" cy="420624"/>
          </a:xfrm>
          <a:prstGeom prst="ellipse">
            <a:avLst/>
          </a:prstGeom>
          <a:solidFill>
            <a:srgbClr val="0074B5"/>
          </a:solidFill>
          <a:ln w="12700">
            <a:solidFill>
              <a:srgbClr val="0074B5"/>
            </a:solidFill>
            <a:prstDash val="solid"/>
          </a:ln>
        </p:spPr>
        <p:txBody>
          <a:bodyPr/>
          <a:lstStyle/>
          <a:p>
            <a:endParaRPr lang="fr-FR"/>
          </a:p>
        </p:txBody>
      </p:sp>
      <p:sp>
        <p:nvSpPr>
          <p:cNvPr id="119" name="Text 117"/>
          <p:cNvSpPr txBox="1"/>
          <p:nvPr/>
        </p:nvSpPr>
        <p:spPr>
          <a:xfrm>
            <a:off x="4590288" y="4818888"/>
            <a:ext cx="420624"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LF</a:t>
            </a:r>
            <a:endParaRPr lang="en-US" sz="1000" dirty="0"/>
          </a:p>
        </p:txBody>
      </p:sp>
      <p:sp>
        <p:nvSpPr>
          <p:cNvPr id="120" name="Text 118"/>
          <p:cNvSpPr txBox="1"/>
          <p:nvPr/>
        </p:nvSpPr>
        <p:spPr>
          <a:xfrm>
            <a:off x="5138928" y="4773168"/>
            <a:ext cx="1828800" cy="274320"/>
          </a:xfrm>
          <a:prstGeom prst="rect">
            <a:avLst/>
          </a:prstGeom>
          <a:noFill/>
          <a:ln/>
        </p:spPr>
        <p:txBody>
          <a:bodyPr wrap="square" lIns="0" tIns="0" rIns="0" bIns="0" rtlCol="0" anchor="t"/>
          <a:lstStyle/>
          <a:p>
            <a:pPr marL="0" indent="0">
              <a:buNone/>
            </a:pPr>
            <a:r>
              <a:rPr lang="en-US" sz="1150" b="1" dirty="0">
                <a:solidFill>
                  <a:srgbClr val="0012B5"/>
                </a:solidFill>
                <a:latin typeface="Verdana" pitchFamily="34" charset="0"/>
                <a:ea typeface="Verdana" pitchFamily="34" charset="-122"/>
                <a:cs typeface="Verdana" pitchFamily="34" charset="-120"/>
              </a:rPr>
              <a:t>Lucas F.</a:t>
            </a:r>
            <a:endParaRPr lang="en-US" sz="1150" dirty="0"/>
          </a:p>
        </p:txBody>
      </p:sp>
      <p:sp>
        <p:nvSpPr>
          <p:cNvPr id="121" name="Text 119"/>
          <p:cNvSpPr txBox="1"/>
          <p:nvPr/>
        </p:nvSpPr>
        <p:spPr>
          <a:xfrm>
            <a:off x="5138928" y="5047488"/>
            <a:ext cx="1920240" cy="237744"/>
          </a:xfrm>
          <a:prstGeom prst="rect">
            <a:avLst/>
          </a:prstGeom>
          <a:noFill/>
          <a:ln/>
        </p:spPr>
        <p:txBody>
          <a:bodyPr wrap="square" lIns="0" tIns="0" rIns="0" bIns="0" rtlCol="0" anchor="t"/>
          <a:lstStyle/>
          <a:p>
            <a:pPr marL="0" indent="0">
              <a:buNone/>
            </a:pPr>
            <a:r>
              <a:rPr lang="en-US" sz="950" dirty="0">
                <a:solidFill>
                  <a:srgbClr val="66728A"/>
                </a:solidFill>
                <a:latin typeface="Verdana" pitchFamily="34" charset="0"/>
                <a:ea typeface="Verdana" pitchFamily="34" charset="-122"/>
                <a:cs typeface="Verdana" pitchFamily="34" charset="-120"/>
              </a:rPr>
              <a:t>Matelot pont · 5 ans</a:t>
            </a:r>
            <a:endParaRPr lang="en-US" sz="950" dirty="0"/>
          </a:p>
        </p:txBody>
      </p:sp>
      <p:sp>
        <p:nvSpPr>
          <p:cNvPr id="122" name="Text 120"/>
          <p:cNvSpPr txBox="1"/>
          <p:nvPr/>
        </p:nvSpPr>
        <p:spPr>
          <a:xfrm>
            <a:off x="7086600" y="4773168"/>
            <a:ext cx="1325880" cy="274320"/>
          </a:xfrm>
          <a:prstGeom prst="rect">
            <a:avLst/>
          </a:prstGeom>
          <a:noFill/>
          <a:ln/>
        </p:spPr>
        <p:txBody>
          <a:bodyPr wrap="square" lIns="0" tIns="0" rIns="0" bIns="0" rtlCol="0" anchor="t"/>
          <a:lstStyle/>
          <a:p>
            <a:pPr marL="0" indent="0">
              <a:buNone/>
            </a:pPr>
            <a:r>
              <a:rPr lang="en-US" sz="1050" b="1" dirty="0">
                <a:solidFill>
                  <a:srgbClr val="1D2838"/>
                </a:solidFill>
                <a:latin typeface="Verdana" pitchFamily="34" charset="0"/>
                <a:ea typeface="Verdana" pitchFamily="34" charset="-122"/>
                <a:cs typeface="Verdana" pitchFamily="34" charset="-120"/>
              </a:rPr>
              <a:t>Port-Vendres</a:t>
            </a:r>
            <a:endParaRPr lang="en-US" sz="1050" dirty="0"/>
          </a:p>
        </p:txBody>
      </p:sp>
      <p:sp>
        <p:nvSpPr>
          <p:cNvPr id="123" name="Text 121"/>
          <p:cNvSpPr txBox="1"/>
          <p:nvPr/>
        </p:nvSpPr>
        <p:spPr>
          <a:xfrm>
            <a:off x="7086600" y="5047488"/>
            <a:ext cx="1371600" cy="237744"/>
          </a:xfrm>
          <a:prstGeom prst="rect">
            <a:avLst/>
          </a:prstGeom>
          <a:noFill/>
          <a:ln/>
        </p:spPr>
        <p:txBody>
          <a:bodyPr wrap="square" lIns="0" tIns="0" rIns="0" bIns="0" rtlCol="0" anchor="t"/>
          <a:lstStyle/>
          <a:p>
            <a:pPr marL="0" indent="0">
              <a:buNone/>
            </a:pPr>
            <a:r>
              <a:rPr lang="en-US" sz="950" dirty="0">
                <a:solidFill>
                  <a:srgbClr val="66728A"/>
                </a:solidFill>
                <a:latin typeface="Verdana" pitchFamily="34" charset="0"/>
                <a:ea typeface="Verdana" pitchFamily="34" charset="-122"/>
                <a:cs typeface="Verdana" pitchFamily="34" charset="-120"/>
              </a:rPr>
              <a:t>Palangre, canne</a:t>
            </a:r>
            <a:endParaRPr lang="en-US" sz="950" dirty="0"/>
          </a:p>
        </p:txBody>
      </p:sp>
      <p:sp>
        <p:nvSpPr>
          <p:cNvPr id="124" name="Text 122"/>
          <p:cNvSpPr txBox="1"/>
          <p:nvPr/>
        </p:nvSpPr>
        <p:spPr>
          <a:xfrm>
            <a:off x="8458200" y="4800600"/>
            <a:ext cx="1234440" cy="457200"/>
          </a:xfrm>
          <a:prstGeom prst="rect">
            <a:avLst/>
          </a:prstGeom>
          <a:noFill/>
          <a:ln/>
        </p:spPr>
        <p:txBody>
          <a:bodyPr wrap="square" lIns="0" tIns="0" rIns="0" bIns="0" rtlCol="0" anchor="ctr"/>
          <a:lstStyle/>
          <a:p>
            <a:pPr marL="0" indent="0">
              <a:buNone/>
            </a:pPr>
            <a:r>
              <a:rPr lang="en-US" sz="950" b="1" dirty="0">
                <a:solidFill>
                  <a:srgbClr val="0074B5"/>
                </a:solidFill>
                <a:latin typeface="Verdana" pitchFamily="34" charset="0"/>
                <a:ea typeface="Verdana" pitchFamily="34" charset="-122"/>
                <a:cs typeface="Verdana" pitchFamily="34" charset="-120"/>
              </a:rPr>
              <a:t>CMP · CRR</a:t>
            </a:r>
            <a:endParaRPr lang="en-US" sz="950" dirty="0"/>
          </a:p>
        </p:txBody>
      </p:sp>
      <p:sp>
        <p:nvSpPr>
          <p:cNvPr id="125" name="Shape 123"/>
          <p:cNvSpPr/>
          <p:nvPr/>
        </p:nvSpPr>
        <p:spPr>
          <a:xfrm>
            <a:off x="9738360" y="490118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126" name="Text 124"/>
          <p:cNvSpPr txBox="1"/>
          <p:nvPr/>
        </p:nvSpPr>
        <p:spPr>
          <a:xfrm>
            <a:off x="9738360" y="490118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L</a:t>
            </a:r>
            <a:endParaRPr lang="en-US" sz="750" dirty="0"/>
          </a:p>
        </p:txBody>
      </p:sp>
      <p:sp>
        <p:nvSpPr>
          <p:cNvPr id="127" name="Shape 125"/>
          <p:cNvSpPr/>
          <p:nvPr/>
        </p:nvSpPr>
        <p:spPr>
          <a:xfrm>
            <a:off x="9934956" y="490118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128" name="Text 126"/>
          <p:cNvSpPr txBox="1"/>
          <p:nvPr/>
        </p:nvSpPr>
        <p:spPr>
          <a:xfrm>
            <a:off x="9934956" y="490118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M</a:t>
            </a:r>
            <a:endParaRPr lang="en-US" sz="750" dirty="0"/>
          </a:p>
        </p:txBody>
      </p:sp>
      <p:sp>
        <p:nvSpPr>
          <p:cNvPr id="129" name="Shape 127"/>
          <p:cNvSpPr/>
          <p:nvPr/>
        </p:nvSpPr>
        <p:spPr>
          <a:xfrm>
            <a:off x="10131552" y="490118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130" name="Text 128"/>
          <p:cNvSpPr txBox="1"/>
          <p:nvPr/>
        </p:nvSpPr>
        <p:spPr>
          <a:xfrm>
            <a:off x="10131552" y="490118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M</a:t>
            </a:r>
            <a:endParaRPr lang="en-US" sz="750" dirty="0"/>
          </a:p>
        </p:txBody>
      </p:sp>
      <p:sp>
        <p:nvSpPr>
          <p:cNvPr id="131" name="Shape 129"/>
          <p:cNvSpPr/>
          <p:nvPr/>
        </p:nvSpPr>
        <p:spPr>
          <a:xfrm>
            <a:off x="10328148" y="490118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132" name="Text 130"/>
          <p:cNvSpPr txBox="1"/>
          <p:nvPr/>
        </p:nvSpPr>
        <p:spPr>
          <a:xfrm>
            <a:off x="10328148" y="490118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J</a:t>
            </a:r>
            <a:endParaRPr lang="en-US" sz="750" dirty="0"/>
          </a:p>
        </p:txBody>
      </p:sp>
      <p:sp>
        <p:nvSpPr>
          <p:cNvPr id="133" name="Shape 131"/>
          <p:cNvSpPr/>
          <p:nvPr/>
        </p:nvSpPr>
        <p:spPr>
          <a:xfrm>
            <a:off x="10524744" y="490118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134" name="Text 132"/>
          <p:cNvSpPr txBox="1"/>
          <p:nvPr/>
        </p:nvSpPr>
        <p:spPr>
          <a:xfrm>
            <a:off x="10524744" y="490118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V</a:t>
            </a:r>
            <a:endParaRPr lang="en-US" sz="750" dirty="0"/>
          </a:p>
        </p:txBody>
      </p:sp>
      <p:sp>
        <p:nvSpPr>
          <p:cNvPr id="135" name="Shape 133"/>
          <p:cNvSpPr/>
          <p:nvPr/>
        </p:nvSpPr>
        <p:spPr>
          <a:xfrm>
            <a:off x="10721340" y="490118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136" name="Text 134"/>
          <p:cNvSpPr txBox="1"/>
          <p:nvPr/>
        </p:nvSpPr>
        <p:spPr>
          <a:xfrm>
            <a:off x="10721340" y="490118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S</a:t>
            </a:r>
            <a:endParaRPr lang="en-US" sz="750" dirty="0"/>
          </a:p>
        </p:txBody>
      </p:sp>
      <p:sp>
        <p:nvSpPr>
          <p:cNvPr id="137" name="Shape 135"/>
          <p:cNvSpPr/>
          <p:nvPr/>
        </p:nvSpPr>
        <p:spPr>
          <a:xfrm>
            <a:off x="10917936" y="490118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138" name="Text 136"/>
          <p:cNvSpPr txBox="1"/>
          <p:nvPr/>
        </p:nvSpPr>
        <p:spPr>
          <a:xfrm>
            <a:off x="10917936" y="490118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D</a:t>
            </a:r>
            <a:endParaRPr lang="en-US" sz="750" dirty="0"/>
          </a:p>
        </p:txBody>
      </p:sp>
      <p:sp>
        <p:nvSpPr>
          <p:cNvPr id="139" name="Text 137"/>
          <p:cNvSpPr txBox="1"/>
          <p:nvPr/>
        </p:nvSpPr>
        <p:spPr>
          <a:xfrm>
            <a:off x="11155680" y="4800600"/>
            <a:ext cx="566928" cy="457200"/>
          </a:xfrm>
          <a:prstGeom prst="rect">
            <a:avLst/>
          </a:prstGeom>
          <a:noFill/>
          <a:ln/>
        </p:spPr>
        <p:txBody>
          <a:bodyPr wrap="square" lIns="0" tIns="0" rIns="0" bIns="0" rtlCol="0" anchor="ctr"/>
          <a:lstStyle/>
          <a:p>
            <a:pPr marL="0" indent="0" algn="ctr">
              <a:buNone/>
            </a:pPr>
            <a:r>
              <a:rPr lang="en-US" sz="950" b="1" dirty="0">
                <a:solidFill>
                  <a:srgbClr val="8A6D1A"/>
                </a:solidFill>
                <a:latin typeface="Verdana" pitchFamily="34" charset="0"/>
                <a:ea typeface="Verdana" pitchFamily="34" charset="-122"/>
                <a:cs typeface="Verdana" pitchFamily="34" charset="-120"/>
              </a:rPr>
              <a:t>★ 4,9</a:t>
            </a:r>
            <a:endParaRPr lang="en-US" sz="950" dirty="0"/>
          </a:p>
        </p:txBody>
      </p:sp>
      <p:sp>
        <p:nvSpPr>
          <p:cNvPr id="140" name="Shape 138"/>
          <p:cNvSpPr/>
          <p:nvPr/>
        </p:nvSpPr>
        <p:spPr>
          <a:xfrm>
            <a:off x="4572000" y="5349240"/>
            <a:ext cx="6979615" cy="0"/>
          </a:xfrm>
          <a:prstGeom prst="line">
            <a:avLst/>
          </a:prstGeom>
          <a:noFill/>
          <a:ln w="9525">
            <a:solidFill>
              <a:srgbClr val="E6ECF5"/>
            </a:solidFill>
            <a:prstDash val="solid"/>
          </a:ln>
        </p:spPr>
        <p:txBody>
          <a:bodyPr/>
          <a:lstStyle/>
          <a:p>
            <a:endParaRPr lang="fr-FR"/>
          </a:p>
        </p:txBody>
      </p:sp>
      <p:sp>
        <p:nvSpPr>
          <p:cNvPr id="141" name="Shape 139"/>
          <p:cNvSpPr/>
          <p:nvPr/>
        </p:nvSpPr>
        <p:spPr>
          <a:xfrm>
            <a:off x="4590288" y="5458968"/>
            <a:ext cx="420624" cy="420624"/>
          </a:xfrm>
          <a:prstGeom prst="ellipse">
            <a:avLst/>
          </a:prstGeom>
          <a:solidFill>
            <a:srgbClr val="B45309"/>
          </a:solidFill>
          <a:ln w="12700">
            <a:solidFill>
              <a:srgbClr val="B45309"/>
            </a:solidFill>
            <a:prstDash val="solid"/>
          </a:ln>
        </p:spPr>
        <p:txBody>
          <a:bodyPr/>
          <a:lstStyle/>
          <a:p>
            <a:endParaRPr lang="fr-FR"/>
          </a:p>
        </p:txBody>
      </p:sp>
      <p:sp>
        <p:nvSpPr>
          <p:cNvPr id="142" name="Text 140"/>
          <p:cNvSpPr txBox="1"/>
          <p:nvPr/>
        </p:nvSpPr>
        <p:spPr>
          <a:xfrm>
            <a:off x="4590288" y="5458968"/>
            <a:ext cx="420624"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NV</a:t>
            </a:r>
            <a:endParaRPr lang="en-US" sz="1000" dirty="0"/>
          </a:p>
        </p:txBody>
      </p:sp>
      <p:sp>
        <p:nvSpPr>
          <p:cNvPr id="143" name="Text 141"/>
          <p:cNvSpPr txBox="1"/>
          <p:nvPr/>
        </p:nvSpPr>
        <p:spPr>
          <a:xfrm>
            <a:off x="5138928" y="5413248"/>
            <a:ext cx="1828800" cy="274320"/>
          </a:xfrm>
          <a:prstGeom prst="rect">
            <a:avLst/>
          </a:prstGeom>
          <a:noFill/>
          <a:ln/>
        </p:spPr>
        <p:txBody>
          <a:bodyPr wrap="square" lIns="0" tIns="0" rIns="0" bIns="0" rtlCol="0" anchor="t"/>
          <a:lstStyle/>
          <a:p>
            <a:pPr marL="0" indent="0">
              <a:buNone/>
            </a:pPr>
            <a:r>
              <a:rPr lang="en-US" sz="1150" b="1" dirty="0">
                <a:solidFill>
                  <a:srgbClr val="0012B5"/>
                </a:solidFill>
                <a:latin typeface="Verdana" pitchFamily="34" charset="0"/>
                <a:ea typeface="Verdana" pitchFamily="34" charset="-122"/>
                <a:cs typeface="Verdana" pitchFamily="34" charset="-120"/>
              </a:rPr>
              <a:t>Nicolas V.</a:t>
            </a:r>
            <a:endParaRPr lang="en-US" sz="1150" dirty="0"/>
          </a:p>
        </p:txBody>
      </p:sp>
      <p:sp>
        <p:nvSpPr>
          <p:cNvPr id="144" name="Text 142"/>
          <p:cNvSpPr txBox="1"/>
          <p:nvPr/>
        </p:nvSpPr>
        <p:spPr>
          <a:xfrm>
            <a:off x="5138928" y="5687568"/>
            <a:ext cx="1920240" cy="237744"/>
          </a:xfrm>
          <a:prstGeom prst="rect">
            <a:avLst/>
          </a:prstGeom>
          <a:noFill/>
          <a:ln/>
        </p:spPr>
        <p:txBody>
          <a:bodyPr wrap="square" lIns="0" tIns="0" rIns="0" bIns="0" rtlCol="0" anchor="t"/>
          <a:lstStyle/>
          <a:p>
            <a:pPr marL="0" indent="0">
              <a:buNone/>
            </a:pPr>
            <a:r>
              <a:rPr lang="en-US" sz="950" dirty="0">
                <a:solidFill>
                  <a:srgbClr val="66728A"/>
                </a:solidFill>
                <a:latin typeface="Verdana" pitchFamily="34" charset="0"/>
                <a:ea typeface="Verdana" pitchFamily="34" charset="-122"/>
                <a:cs typeface="Verdana" pitchFamily="34" charset="-120"/>
              </a:rPr>
              <a:t>Mécanicien · 6 ans</a:t>
            </a:r>
            <a:endParaRPr lang="en-US" sz="950" dirty="0"/>
          </a:p>
        </p:txBody>
      </p:sp>
      <p:sp>
        <p:nvSpPr>
          <p:cNvPr id="145" name="Text 143"/>
          <p:cNvSpPr txBox="1"/>
          <p:nvPr/>
        </p:nvSpPr>
        <p:spPr>
          <a:xfrm>
            <a:off x="7086600" y="5413248"/>
            <a:ext cx="1325880" cy="274320"/>
          </a:xfrm>
          <a:prstGeom prst="rect">
            <a:avLst/>
          </a:prstGeom>
          <a:noFill/>
          <a:ln/>
        </p:spPr>
        <p:txBody>
          <a:bodyPr wrap="square" lIns="0" tIns="0" rIns="0" bIns="0" rtlCol="0" anchor="t"/>
          <a:lstStyle/>
          <a:p>
            <a:pPr marL="0" indent="0">
              <a:buNone/>
            </a:pPr>
            <a:r>
              <a:rPr lang="en-US" sz="1050" b="1" dirty="0">
                <a:solidFill>
                  <a:srgbClr val="1D2838"/>
                </a:solidFill>
                <a:latin typeface="Verdana" pitchFamily="34" charset="0"/>
                <a:ea typeface="Verdana" pitchFamily="34" charset="-122"/>
                <a:cs typeface="Verdana" pitchFamily="34" charset="-120"/>
              </a:rPr>
              <a:t>Grau-du-Roi</a:t>
            </a:r>
            <a:endParaRPr lang="en-US" sz="1050" dirty="0"/>
          </a:p>
        </p:txBody>
      </p:sp>
      <p:sp>
        <p:nvSpPr>
          <p:cNvPr id="146" name="Text 144"/>
          <p:cNvSpPr txBox="1"/>
          <p:nvPr/>
        </p:nvSpPr>
        <p:spPr>
          <a:xfrm>
            <a:off x="7086600" y="5687568"/>
            <a:ext cx="1371600" cy="237744"/>
          </a:xfrm>
          <a:prstGeom prst="rect">
            <a:avLst/>
          </a:prstGeom>
          <a:noFill/>
          <a:ln/>
        </p:spPr>
        <p:txBody>
          <a:bodyPr wrap="square" lIns="0" tIns="0" rIns="0" bIns="0" rtlCol="0" anchor="t"/>
          <a:lstStyle/>
          <a:p>
            <a:pPr marL="0" indent="0">
              <a:buNone/>
            </a:pPr>
            <a:r>
              <a:rPr lang="en-US" sz="950" dirty="0">
                <a:solidFill>
                  <a:srgbClr val="66728A"/>
                </a:solidFill>
                <a:latin typeface="Verdana" pitchFamily="34" charset="0"/>
                <a:ea typeface="Verdana" pitchFamily="34" charset="-122"/>
                <a:cs typeface="Verdana" pitchFamily="34" charset="-120"/>
              </a:rPr>
              <a:t>Chalut</a:t>
            </a:r>
            <a:endParaRPr lang="en-US" sz="950" dirty="0"/>
          </a:p>
        </p:txBody>
      </p:sp>
      <p:sp>
        <p:nvSpPr>
          <p:cNvPr id="147" name="Text 145"/>
          <p:cNvSpPr txBox="1"/>
          <p:nvPr/>
        </p:nvSpPr>
        <p:spPr>
          <a:xfrm>
            <a:off x="8458200" y="5440680"/>
            <a:ext cx="1234440" cy="457200"/>
          </a:xfrm>
          <a:prstGeom prst="rect">
            <a:avLst/>
          </a:prstGeom>
          <a:noFill/>
          <a:ln/>
        </p:spPr>
        <p:txBody>
          <a:bodyPr wrap="square" lIns="0" tIns="0" rIns="0" bIns="0" rtlCol="0" anchor="ctr"/>
          <a:lstStyle/>
          <a:p>
            <a:pPr marL="0" indent="0">
              <a:buNone/>
            </a:pPr>
            <a:r>
              <a:rPr lang="en-US" sz="950" b="1" dirty="0">
                <a:solidFill>
                  <a:srgbClr val="0074B5"/>
                </a:solidFill>
                <a:latin typeface="Verdana" pitchFamily="34" charset="0"/>
                <a:ea typeface="Verdana" pitchFamily="34" charset="-122"/>
                <a:cs typeface="Verdana" pitchFamily="34" charset="-120"/>
              </a:rPr>
              <a:t>Méca. 250 kW</a:t>
            </a:r>
            <a:endParaRPr lang="en-US" sz="950" dirty="0"/>
          </a:p>
        </p:txBody>
      </p:sp>
      <p:sp>
        <p:nvSpPr>
          <p:cNvPr id="148" name="Shape 146"/>
          <p:cNvSpPr/>
          <p:nvPr/>
        </p:nvSpPr>
        <p:spPr>
          <a:xfrm>
            <a:off x="9738360" y="554126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149" name="Text 147"/>
          <p:cNvSpPr txBox="1"/>
          <p:nvPr/>
        </p:nvSpPr>
        <p:spPr>
          <a:xfrm>
            <a:off x="9738360" y="554126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L</a:t>
            </a:r>
            <a:endParaRPr lang="en-US" sz="750" dirty="0"/>
          </a:p>
        </p:txBody>
      </p:sp>
      <p:sp>
        <p:nvSpPr>
          <p:cNvPr id="150" name="Shape 148"/>
          <p:cNvSpPr/>
          <p:nvPr/>
        </p:nvSpPr>
        <p:spPr>
          <a:xfrm>
            <a:off x="9934956" y="554126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151" name="Text 149"/>
          <p:cNvSpPr txBox="1"/>
          <p:nvPr/>
        </p:nvSpPr>
        <p:spPr>
          <a:xfrm>
            <a:off x="9934956" y="554126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M</a:t>
            </a:r>
            <a:endParaRPr lang="en-US" sz="750" dirty="0"/>
          </a:p>
        </p:txBody>
      </p:sp>
      <p:sp>
        <p:nvSpPr>
          <p:cNvPr id="152" name="Shape 150"/>
          <p:cNvSpPr/>
          <p:nvPr/>
        </p:nvSpPr>
        <p:spPr>
          <a:xfrm>
            <a:off x="10131552" y="554126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153" name="Text 151"/>
          <p:cNvSpPr txBox="1"/>
          <p:nvPr/>
        </p:nvSpPr>
        <p:spPr>
          <a:xfrm>
            <a:off x="10131552" y="554126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M</a:t>
            </a:r>
            <a:endParaRPr lang="en-US" sz="750" dirty="0"/>
          </a:p>
        </p:txBody>
      </p:sp>
      <p:sp>
        <p:nvSpPr>
          <p:cNvPr id="154" name="Shape 152"/>
          <p:cNvSpPr/>
          <p:nvPr/>
        </p:nvSpPr>
        <p:spPr>
          <a:xfrm>
            <a:off x="10328148" y="554126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155" name="Text 153"/>
          <p:cNvSpPr txBox="1"/>
          <p:nvPr/>
        </p:nvSpPr>
        <p:spPr>
          <a:xfrm>
            <a:off x="10328148" y="554126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J</a:t>
            </a:r>
            <a:endParaRPr lang="en-US" sz="750" dirty="0"/>
          </a:p>
        </p:txBody>
      </p:sp>
      <p:sp>
        <p:nvSpPr>
          <p:cNvPr id="156" name="Shape 154"/>
          <p:cNvSpPr/>
          <p:nvPr/>
        </p:nvSpPr>
        <p:spPr>
          <a:xfrm>
            <a:off x="10524744" y="5541264"/>
            <a:ext cx="173736" cy="256032"/>
          </a:xfrm>
          <a:prstGeom prst="roundRect">
            <a:avLst>
              <a:gd name="adj" fmla="val 26316"/>
            </a:avLst>
          </a:prstGeom>
          <a:solidFill>
            <a:srgbClr val="E6F6EC"/>
          </a:solidFill>
          <a:ln w="6350">
            <a:solidFill>
              <a:srgbClr val="9BD3AE"/>
            </a:solidFill>
            <a:prstDash val="solid"/>
          </a:ln>
        </p:spPr>
        <p:txBody>
          <a:bodyPr/>
          <a:lstStyle/>
          <a:p>
            <a:endParaRPr lang="fr-FR"/>
          </a:p>
        </p:txBody>
      </p:sp>
      <p:sp>
        <p:nvSpPr>
          <p:cNvPr id="157" name="Text 155"/>
          <p:cNvSpPr txBox="1"/>
          <p:nvPr/>
        </p:nvSpPr>
        <p:spPr>
          <a:xfrm>
            <a:off x="10524744" y="5541264"/>
            <a:ext cx="173736" cy="256032"/>
          </a:xfrm>
          <a:prstGeom prst="rect">
            <a:avLst/>
          </a:prstGeom>
          <a:noFill/>
          <a:ln/>
        </p:spPr>
        <p:txBody>
          <a:bodyPr wrap="square" lIns="0" tIns="0" rIns="0" bIns="0" rtlCol="0" anchor="ctr"/>
          <a:lstStyle/>
          <a:p>
            <a:pPr marL="0" indent="0" algn="ctr">
              <a:buNone/>
            </a:pPr>
            <a:r>
              <a:rPr lang="en-US" sz="750" b="1" dirty="0">
                <a:solidFill>
                  <a:srgbClr val="1B7A3D"/>
                </a:solidFill>
                <a:latin typeface="Verdana" pitchFamily="34" charset="0"/>
                <a:ea typeface="Verdana" pitchFamily="34" charset="-122"/>
                <a:cs typeface="Verdana" pitchFamily="34" charset="-120"/>
              </a:rPr>
              <a:t>V</a:t>
            </a:r>
            <a:endParaRPr lang="en-US" sz="750" dirty="0"/>
          </a:p>
        </p:txBody>
      </p:sp>
      <p:sp>
        <p:nvSpPr>
          <p:cNvPr id="158" name="Shape 156"/>
          <p:cNvSpPr/>
          <p:nvPr/>
        </p:nvSpPr>
        <p:spPr>
          <a:xfrm>
            <a:off x="10721340" y="554126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159" name="Text 157"/>
          <p:cNvSpPr txBox="1"/>
          <p:nvPr/>
        </p:nvSpPr>
        <p:spPr>
          <a:xfrm>
            <a:off x="10721340" y="554126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S</a:t>
            </a:r>
            <a:endParaRPr lang="en-US" sz="750" dirty="0"/>
          </a:p>
        </p:txBody>
      </p:sp>
      <p:sp>
        <p:nvSpPr>
          <p:cNvPr id="160" name="Shape 158"/>
          <p:cNvSpPr/>
          <p:nvPr/>
        </p:nvSpPr>
        <p:spPr>
          <a:xfrm>
            <a:off x="10917936" y="5541264"/>
            <a:ext cx="173736" cy="256032"/>
          </a:xfrm>
          <a:prstGeom prst="roundRect">
            <a:avLst>
              <a:gd name="adj" fmla="val 26316"/>
            </a:avLst>
          </a:prstGeom>
          <a:solidFill>
            <a:srgbClr val="EEF1F5"/>
          </a:solidFill>
          <a:ln w="6350">
            <a:solidFill>
              <a:srgbClr val="DCE3EE"/>
            </a:solidFill>
            <a:prstDash val="solid"/>
          </a:ln>
        </p:spPr>
        <p:txBody>
          <a:bodyPr/>
          <a:lstStyle/>
          <a:p>
            <a:endParaRPr lang="fr-FR"/>
          </a:p>
        </p:txBody>
      </p:sp>
      <p:sp>
        <p:nvSpPr>
          <p:cNvPr id="161" name="Text 159"/>
          <p:cNvSpPr txBox="1"/>
          <p:nvPr/>
        </p:nvSpPr>
        <p:spPr>
          <a:xfrm>
            <a:off x="10917936" y="5541264"/>
            <a:ext cx="173736" cy="256032"/>
          </a:xfrm>
          <a:prstGeom prst="rect">
            <a:avLst/>
          </a:prstGeom>
          <a:noFill/>
          <a:ln/>
        </p:spPr>
        <p:txBody>
          <a:bodyPr wrap="square" lIns="0" tIns="0" rIns="0" bIns="0" rtlCol="0" anchor="ctr"/>
          <a:lstStyle/>
          <a:p>
            <a:pPr marL="0" indent="0" algn="ctr">
              <a:buNone/>
            </a:pPr>
            <a:r>
              <a:rPr lang="en-US" sz="750" b="1" dirty="0">
                <a:solidFill>
                  <a:srgbClr val="A0AAB5"/>
                </a:solidFill>
                <a:latin typeface="Verdana" pitchFamily="34" charset="0"/>
                <a:ea typeface="Verdana" pitchFamily="34" charset="-122"/>
                <a:cs typeface="Verdana" pitchFamily="34" charset="-120"/>
              </a:rPr>
              <a:t>D</a:t>
            </a:r>
            <a:endParaRPr lang="en-US" sz="750" dirty="0"/>
          </a:p>
        </p:txBody>
      </p:sp>
      <p:sp>
        <p:nvSpPr>
          <p:cNvPr id="162" name="Text 160"/>
          <p:cNvSpPr txBox="1"/>
          <p:nvPr/>
        </p:nvSpPr>
        <p:spPr>
          <a:xfrm>
            <a:off x="11155680" y="5440680"/>
            <a:ext cx="566928" cy="457200"/>
          </a:xfrm>
          <a:prstGeom prst="rect">
            <a:avLst/>
          </a:prstGeom>
          <a:noFill/>
          <a:ln/>
        </p:spPr>
        <p:txBody>
          <a:bodyPr wrap="square" lIns="0" tIns="0" rIns="0" bIns="0" rtlCol="0" anchor="ctr"/>
          <a:lstStyle/>
          <a:p>
            <a:pPr marL="0" indent="0" algn="ctr">
              <a:buNone/>
            </a:pPr>
            <a:r>
              <a:rPr lang="en-US" sz="800" b="1" dirty="0">
                <a:solidFill>
                  <a:srgbClr val="66728A"/>
                </a:solidFill>
                <a:latin typeface="Verdana" pitchFamily="34" charset="0"/>
                <a:ea typeface="Verdana" pitchFamily="34" charset="-122"/>
                <a:cs typeface="Verdana" pitchFamily="34" charset="-120"/>
              </a:rPr>
              <a:t>Nouveau</a:t>
            </a:r>
            <a:endParaRPr lang="en-US" sz="800" dirty="0"/>
          </a:p>
        </p:txBody>
      </p:sp>
      <p:sp>
        <p:nvSpPr>
          <p:cNvPr id="163" name="Text 161"/>
          <p:cNvSpPr txBox="1"/>
          <p:nvPr/>
        </p:nvSpPr>
        <p:spPr>
          <a:xfrm>
            <a:off x="4617720" y="5989320"/>
            <a:ext cx="6888175" cy="384048"/>
          </a:xfrm>
          <a:prstGeom prst="rect">
            <a:avLst/>
          </a:prstGeom>
          <a:noFill/>
          <a:ln/>
        </p:spPr>
        <p:txBody>
          <a:bodyPr wrap="square" lIns="0" tIns="0" rIns="0" bIns="0" rtlCol="0" anchor="t"/>
          <a:lstStyle/>
          <a:p>
            <a:pPr marL="0" indent="0">
              <a:buNone/>
            </a:pPr>
            <a:r>
              <a:rPr lang="en-US" sz="1150" i="1" dirty="0">
                <a:solidFill>
                  <a:srgbClr val="66728A"/>
                </a:solidFill>
                <a:latin typeface="Verdana" pitchFamily="34" charset="0"/>
                <a:ea typeface="Verdana" pitchFamily="34" charset="-122"/>
                <a:cs typeface="Verdana" pitchFamily="34" charset="-120"/>
              </a:rPr>
              <a:t>CMP : certificat de matelot pont · CIN : certificat d’initiation nautique · CRR : certificat restreint de radiotéléphoniste · jours verts : disponible</a:t>
            </a:r>
            <a:endParaRPr lang="en-US" sz="1150" dirty="0"/>
          </a:p>
        </p:txBody>
      </p:sp>
      <p:sp>
        <p:nvSpPr>
          <p:cNvPr id="164" name="Text 162"/>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50</a:t>
            </a:r>
            <a:endParaRPr lang="en-US"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home/claude/deck/crop3/pt-dauphins-duo_1778_50_50_0_.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3FC4">
              <a:alpha val="54000"/>
            </a:srgbClr>
          </a:solidFill>
          <a:ln w="12700">
            <a:solidFill>
              <a:srgbClr val="0B3FC4"/>
            </a:solidFill>
            <a:prstDash val="solid"/>
          </a:ln>
        </p:spPr>
        <p:txBody>
          <a:bodyPr/>
          <a:lstStyle/>
          <a:p>
            <a:endParaRPr lang="fr-FR"/>
          </a:p>
        </p:txBody>
      </p:sp>
      <p:pic>
        <p:nvPicPr>
          <p:cNvPr id="4" name="Image 1" descr="/home/claude/deck/logo-projet-blanc.png"/>
          <p:cNvPicPr>
            <a:picLocks noChangeAspect="1"/>
          </p:cNvPicPr>
          <p:nvPr/>
        </p:nvPicPr>
        <p:blipFill>
          <a:blip r:embed="rId4"/>
          <a:stretch>
            <a:fillRect/>
          </a:stretch>
        </p:blipFill>
        <p:spPr>
          <a:xfrm>
            <a:off x="10088575" y="320040"/>
            <a:ext cx="1600200" cy="647462"/>
          </a:xfrm>
          <a:prstGeom prst="rect">
            <a:avLst/>
          </a:prstGeom>
        </p:spPr>
      </p:pic>
      <p:sp>
        <p:nvSpPr>
          <p:cNvPr id="5" name="Shape 1"/>
          <p:cNvSpPr/>
          <p:nvPr/>
        </p:nvSpPr>
        <p:spPr>
          <a:xfrm>
            <a:off x="731520" y="2377440"/>
            <a:ext cx="2377440" cy="384048"/>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6" name="Text 2"/>
          <p:cNvSpPr txBox="1"/>
          <p:nvPr/>
        </p:nvSpPr>
        <p:spPr>
          <a:xfrm>
            <a:off x="731520" y="2377440"/>
            <a:ext cx="2377440" cy="384048"/>
          </a:xfrm>
          <a:prstGeom prst="rect">
            <a:avLst/>
          </a:prstGeom>
          <a:noFill/>
          <a:ln/>
        </p:spPr>
        <p:txBody>
          <a:bodyPr wrap="square" lIns="0" tIns="0" rIns="0" bIns="0" rtlCol="0" anchor="ctr"/>
          <a:lstStyle/>
          <a:p>
            <a:pPr marL="0" indent="0" algn="ctr">
              <a:buNone/>
            </a:pPr>
            <a:r>
              <a:rPr lang="en-US" sz="1400" b="1" dirty="0">
                <a:solidFill>
                  <a:srgbClr val="0012B5"/>
                </a:solidFill>
                <a:latin typeface="Verdana" pitchFamily="34" charset="0"/>
                <a:ea typeface="Verdana" pitchFamily="34" charset="-122"/>
                <a:cs typeface="Verdana" pitchFamily="34" charset="-120"/>
              </a:rPr>
              <a:t>Annexe</a:t>
            </a:r>
            <a:endParaRPr lang="en-US" sz="1400" dirty="0"/>
          </a:p>
        </p:txBody>
      </p:sp>
      <p:sp>
        <p:nvSpPr>
          <p:cNvPr id="7" name="Text 3"/>
          <p:cNvSpPr txBox="1"/>
          <p:nvPr/>
        </p:nvSpPr>
        <p:spPr>
          <a:xfrm>
            <a:off x="731520" y="2926080"/>
            <a:ext cx="10058400" cy="1371600"/>
          </a:xfrm>
          <a:prstGeom prst="rect">
            <a:avLst/>
          </a:prstGeom>
          <a:noFill/>
          <a:ln/>
        </p:spPr>
        <p:txBody>
          <a:bodyPr wrap="square" lIns="0" tIns="0" rIns="0" bIns="0" rtlCol="0" anchor="ctr"/>
          <a:lstStyle/>
          <a:p>
            <a:pPr marL="0" indent="0">
              <a:buNone/>
            </a:pPr>
            <a:r>
              <a:rPr lang="en-US" sz="3200" b="1" dirty="0">
                <a:solidFill>
                  <a:srgbClr val="FFFFFF"/>
                </a:solidFill>
                <a:latin typeface="Verdana" pitchFamily="34" charset="0"/>
                <a:ea typeface="Verdana" pitchFamily="34" charset="-122"/>
                <a:cs typeface="Verdana" pitchFamily="34" charset="-120"/>
              </a:rPr>
              <a:t>Les messages, tels qu’ils sont reçus</a:t>
            </a:r>
            <a:endParaRPr lang="en-US" sz="3200" dirty="0"/>
          </a:p>
        </p:txBody>
      </p:sp>
      <p:sp>
        <p:nvSpPr>
          <p:cNvPr id="8" name="Text 4"/>
          <p:cNvSpPr txBox="1"/>
          <p:nvPr/>
        </p:nvSpPr>
        <p:spPr>
          <a:xfrm>
            <a:off x="731520" y="4434840"/>
            <a:ext cx="10058400" cy="640080"/>
          </a:xfrm>
          <a:prstGeom prst="rect">
            <a:avLst/>
          </a:prstGeom>
          <a:noFill/>
          <a:ln/>
        </p:spPr>
        <p:txBody>
          <a:bodyPr wrap="square" lIns="0" tIns="0" rIns="0" bIns="0" rtlCol="0" anchor="t"/>
          <a:lstStyle/>
          <a:p>
            <a:pPr marL="0" indent="0">
              <a:buNone/>
            </a:pPr>
            <a:r>
              <a:rPr lang="en-US" sz="1900" dirty="0">
                <a:solidFill>
                  <a:srgbClr val="FFFFFF"/>
                </a:solidFill>
                <a:latin typeface="Verdana" pitchFamily="34" charset="0"/>
                <a:ea typeface="Verdana" pitchFamily="34" charset="-122"/>
                <a:cs typeface="Verdana" pitchFamily="34" charset="-120"/>
              </a:rPr>
              <a:t>Aperçus réels des e-mails et des SMS envoyés par la plateforme (données de démonstration).</a:t>
            </a:r>
            <a:endParaRPr lang="en-US" sz="1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ANNEXE · MESSAGES</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Côté touriste : de la demande à la confirmation</a:t>
            </a:r>
            <a:endParaRPr lang="en-US" sz="2300" dirty="0"/>
          </a:p>
        </p:txBody>
      </p:sp>
      <p:sp>
        <p:nvSpPr>
          <p:cNvPr id="4" name="Text 2"/>
          <p:cNvSpPr txBox="1"/>
          <p:nvPr/>
        </p:nvSpPr>
        <p:spPr>
          <a:xfrm>
            <a:off x="548640" y="1216152"/>
            <a:ext cx="11094415" cy="457200"/>
          </a:xfrm>
          <a:prstGeom prst="rect">
            <a:avLst/>
          </a:prstGeom>
          <a:noFill/>
          <a:ln/>
        </p:spPr>
        <p:txBody>
          <a:bodyPr wrap="square" lIns="0" tIns="0" rIns="0" bIns="0" rtlCol="0" anchor="t"/>
          <a:lstStyle/>
          <a:p>
            <a:pPr marL="0" indent="0">
              <a:buNone/>
            </a:pPr>
            <a:r>
              <a:rPr lang="en-US" sz="1450" dirty="0">
                <a:solidFill>
                  <a:srgbClr val="66728A"/>
                </a:solidFill>
                <a:latin typeface="Verdana" pitchFamily="34" charset="0"/>
                <a:ea typeface="Verdana" pitchFamily="34" charset="-122"/>
                <a:cs typeface="Verdana" pitchFamily="34" charset="-120"/>
              </a:rPr>
              <a:t>Chaque e-mail reprend le récapitulatif et, en pied de page, les conditions d’annulation.</a:t>
            </a:r>
            <a:endParaRPr lang="en-US" sz="1450" dirty="0"/>
          </a:p>
        </p:txBody>
      </p:sp>
      <p:sp>
        <p:nvSpPr>
          <p:cNvPr id="5" name="Shape 3"/>
          <p:cNvSpPr/>
          <p:nvPr/>
        </p:nvSpPr>
        <p:spPr>
          <a:xfrm>
            <a:off x="795324" y="1719072"/>
            <a:ext cx="3072793" cy="3968496"/>
          </a:xfrm>
          <a:prstGeom prst="roundRect">
            <a:avLst>
              <a:gd name="adj" fmla="val 3571"/>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6" name="Image 0" descr="/home/claude/deck/img/mail1.jpg"/>
          <p:cNvPicPr>
            <a:picLocks noChangeAspect="1"/>
          </p:cNvPicPr>
          <p:nvPr/>
        </p:nvPicPr>
        <p:blipFill>
          <a:blip r:embed="rId3"/>
          <a:stretch>
            <a:fillRect/>
          </a:stretch>
        </p:blipFill>
        <p:spPr>
          <a:xfrm>
            <a:off x="859332" y="1783080"/>
            <a:ext cx="2944777" cy="3840480"/>
          </a:xfrm>
          <a:prstGeom prst="rect">
            <a:avLst/>
          </a:prstGeom>
        </p:spPr>
      </p:pic>
      <p:sp>
        <p:nvSpPr>
          <p:cNvPr id="7" name="Shape 4"/>
          <p:cNvSpPr/>
          <p:nvPr/>
        </p:nvSpPr>
        <p:spPr>
          <a:xfrm>
            <a:off x="731520" y="5806440"/>
            <a:ext cx="3200400" cy="329184"/>
          </a:xfrm>
          <a:prstGeom prst="roundRect">
            <a:avLst>
              <a:gd name="adj" fmla="val 50000"/>
            </a:avLst>
          </a:prstGeom>
          <a:solidFill>
            <a:srgbClr val="1F5BD6"/>
          </a:solidFill>
          <a:ln w="12700">
            <a:solidFill>
              <a:srgbClr val="1F5BD6"/>
            </a:solidFill>
            <a:prstDash val="solid"/>
          </a:ln>
        </p:spPr>
        <p:txBody>
          <a:bodyPr/>
          <a:lstStyle/>
          <a:p>
            <a:endParaRPr lang="fr-FR"/>
          </a:p>
        </p:txBody>
      </p:sp>
      <p:sp>
        <p:nvSpPr>
          <p:cNvPr id="8" name="Text 5"/>
          <p:cNvSpPr txBox="1"/>
          <p:nvPr/>
        </p:nvSpPr>
        <p:spPr>
          <a:xfrm>
            <a:off x="73152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Demande envoyée</a:t>
            </a:r>
            <a:endParaRPr lang="en-US" sz="1300" dirty="0"/>
          </a:p>
        </p:txBody>
      </p:sp>
      <p:sp>
        <p:nvSpPr>
          <p:cNvPr id="9" name="Text 6"/>
          <p:cNvSpPr txBox="1"/>
          <p:nvPr/>
        </p:nvSpPr>
        <p:spPr>
          <a:xfrm>
            <a:off x="54864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Carte autorisée : non débité, 72 h</a:t>
            </a:r>
            <a:endParaRPr lang="en-US" sz="1300" dirty="0"/>
          </a:p>
        </p:txBody>
      </p:sp>
      <p:sp>
        <p:nvSpPr>
          <p:cNvPr id="10" name="Shape 7"/>
          <p:cNvSpPr/>
          <p:nvPr/>
        </p:nvSpPr>
        <p:spPr>
          <a:xfrm>
            <a:off x="4544364" y="1719072"/>
            <a:ext cx="3072793" cy="3968496"/>
          </a:xfrm>
          <a:prstGeom prst="roundRect">
            <a:avLst>
              <a:gd name="adj" fmla="val 3571"/>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1" name="Image 1" descr="/home/claude/deck/img/mail3.jpg"/>
          <p:cNvPicPr>
            <a:picLocks noChangeAspect="1"/>
          </p:cNvPicPr>
          <p:nvPr/>
        </p:nvPicPr>
        <p:blipFill>
          <a:blip r:embed="rId4"/>
          <a:stretch>
            <a:fillRect/>
          </a:stretch>
        </p:blipFill>
        <p:spPr>
          <a:xfrm>
            <a:off x="4608372" y="1783080"/>
            <a:ext cx="2944777" cy="3840480"/>
          </a:xfrm>
          <a:prstGeom prst="rect">
            <a:avLst/>
          </a:prstGeom>
        </p:spPr>
      </p:pic>
      <p:sp>
        <p:nvSpPr>
          <p:cNvPr id="12" name="Shape 8"/>
          <p:cNvSpPr/>
          <p:nvPr/>
        </p:nvSpPr>
        <p:spPr>
          <a:xfrm>
            <a:off x="4480560" y="5806440"/>
            <a:ext cx="3200400" cy="329184"/>
          </a:xfrm>
          <a:prstGeom prst="roundRect">
            <a:avLst>
              <a:gd name="adj" fmla="val 50000"/>
            </a:avLst>
          </a:prstGeom>
          <a:solidFill>
            <a:srgbClr val="1B7A3D"/>
          </a:solidFill>
          <a:ln w="12700">
            <a:solidFill>
              <a:srgbClr val="1B7A3D"/>
            </a:solidFill>
            <a:prstDash val="solid"/>
          </a:ln>
        </p:spPr>
        <p:txBody>
          <a:bodyPr/>
          <a:lstStyle/>
          <a:p>
            <a:endParaRPr lang="fr-FR"/>
          </a:p>
        </p:txBody>
      </p:sp>
      <p:sp>
        <p:nvSpPr>
          <p:cNvPr id="13" name="Text 9"/>
          <p:cNvSpPr txBox="1"/>
          <p:nvPr/>
        </p:nvSpPr>
        <p:spPr>
          <a:xfrm>
            <a:off x="448056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Sortie confirmée</a:t>
            </a:r>
            <a:endParaRPr lang="en-US" sz="1300" dirty="0"/>
          </a:p>
        </p:txBody>
      </p:sp>
      <p:sp>
        <p:nvSpPr>
          <p:cNvPr id="14" name="Text 10"/>
          <p:cNvSpPr txBox="1"/>
          <p:nvPr/>
        </p:nvSpPr>
        <p:spPr>
          <a:xfrm>
            <a:off x="429768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Débit, rendez-vous, téléphone du patron</a:t>
            </a:r>
            <a:endParaRPr lang="en-US" sz="1300" dirty="0"/>
          </a:p>
        </p:txBody>
      </p:sp>
      <p:sp>
        <p:nvSpPr>
          <p:cNvPr id="15" name="Shape 11"/>
          <p:cNvSpPr/>
          <p:nvPr/>
        </p:nvSpPr>
        <p:spPr>
          <a:xfrm>
            <a:off x="8293404" y="1719072"/>
            <a:ext cx="3072793" cy="3968496"/>
          </a:xfrm>
          <a:prstGeom prst="roundRect">
            <a:avLst>
              <a:gd name="adj" fmla="val 3571"/>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6" name="Image 2" descr="/home/claude/deck/img/mail13.jpg"/>
          <p:cNvPicPr>
            <a:picLocks noChangeAspect="1"/>
          </p:cNvPicPr>
          <p:nvPr/>
        </p:nvPicPr>
        <p:blipFill>
          <a:blip r:embed="rId5"/>
          <a:stretch>
            <a:fillRect/>
          </a:stretch>
        </p:blipFill>
        <p:spPr>
          <a:xfrm>
            <a:off x="8357412" y="1783080"/>
            <a:ext cx="2944777" cy="3840480"/>
          </a:xfrm>
          <a:prstGeom prst="rect">
            <a:avLst/>
          </a:prstGeom>
        </p:spPr>
      </p:pic>
      <p:sp>
        <p:nvSpPr>
          <p:cNvPr id="17" name="Shape 12"/>
          <p:cNvSpPr/>
          <p:nvPr/>
        </p:nvSpPr>
        <p:spPr>
          <a:xfrm>
            <a:off x="8229600" y="5806440"/>
            <a:ext cx="3200400" cy="329184"/>
          </a:xfrm>
          <a:prstGeom prst="roundRect">
            <a:avLst>
              <a:gd name="adj" fmla="val 50000"/>
            </a:avLst>
          </a:prstGeom>
          <a:solidFill>
            <a:srgbClr val="B45309"/>
          </a:solidFill>
          <a:ln w="12700">
            <a:solidFill>
              <a:srgbClr val="B45309"/>
            </a:solidFill>
            <a:prstDash val="solid"/>
          </a:ln>
        </p:spPr>
        <p:txBody>
          <a:bodyPr/>
          <a:lstStyle/>
          <a:p>
            <a:endParaRPr lang="fr-FR"/>
          </a:p>
        </p:txBody>
      </p:sp>
      <p:sp>
        <p:nvSpPr>
          <p:cNvPr id="18" name="Text 13"/>
          <p:cNvSpPr txBox="1"/>
          <p:nvPr/>
        </p:nvSpPr>
        <p:spPr>
          <a:xfrm>
            <a:off x="822960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Demande expirée</a:t>
            </a:r>
            <a:endParaRPr lang="en-US" sz="1300" dirty="0"/>
          </a:p>
        </p:txBody>
      </p:sp>
      <p:sp>
        <p:nvSpPr>
          <p:cNvPr id="19" name="Text 14"/>
          <p:cNvSpPr txBox="1"/>
          <p:nvPr/>
        </p:nvSpPr>
        <p:spPr>
          <a:xfrm>
            <a:off x="804672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Sans réponse : « vous n’êtes pas débité »</a:t>
            </a:r>
            <a:endParaRPr lang="en-US" sz="1300" dirty="0"/>
          </a:p>
        </p:txBody>
      </p:sp>
      <p:sp>
        <p:nvSpPr>
          <p:cNvPr id="20" name="Text 15"/>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52</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2">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ANNEXE · MESSAGES</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Côté touriste : changements et annulations</a:t>
            </a:r>
            <a:endParaRPr lang="en-US" sz="2500" dirty="0"/>
          </a:p>
        </p:txBody>
      </p:sp>
      <p:sp>
        <p:nvSpPr>
          <p:cNvPr id="4" name="Shape 2"/>
          <p:cNvSpPr/>
          <p:nvPr/>
        </p:nvSpPr>
        <p:spPr>
          <a:xfrm>
            <a:off x="672624" y="1399032"/>
            <a:ext cx="3318191" cy="4288536"/>
          </a:xfrm>
          <a:prstGeom prst="roundRect">
            <a:avLst>
              <a:gd name="adj" fmla="val 3307"/>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mail5.jpg"/>
          <p:cNvPicPr>
            <a:picLocks noChangeAspect="1"/>
          </p:cNvPicPr>
          <p:nvPr/>
        </p:nvPicPr>
        <p:blipFill>
          <a:blip r:embed="rId3"/>
          <a:stretch>
            <a:fillRect/>
          </a:stretch>
        </p:blipFill>
        <p:spPr>
          <a:xfrm>
            <a:off x="736632" y="1463040"/>
            <a:ext cx="3190175" cy="4160520"/>
          </a:xfrm>
          <a:prstGeom prst="rect">
            <a:avLst/>
          </a:prstGeom>
        </p:spPr>
      </p:pic>
      <p:sp>
        <p:nvSpPr>
          <p:cNvPr id="6" name="Shape 3"/>
          <p:cNvSpPr/>
          <p:nvPr/>
        </p:nvSpPr>
        <p:spPr>
          <a:xfrm>
            <a:off x="731520" y="5806440"/>
            <a:ext cx="3200400" cy="329184"/>
          </a:xfrm>
          <a:prstGeom prst="roundRect">
            <a:avLst>
              <a:gd name="adj" fmla="val 50000"/>
            </a:avLst>
          </a:prstGeom>
          <a:solidFill>
            <a:srgbClr val="1F5BD6"/>
          </a:solidFill>
          <a:ln w="12700">
            <a:solidFill>
              <a:srgbClr val="1F5BD6"/>
            </a:solidFill>
            <a:prstDash val="solid"/>
          </a:ln>
        </p:spPr>
        <p:txBody>
          <a:bodyPr/>
          <a:lstStyle/>
          <a:p>
            <a:endParaRPr lang="fr-FR"/>
          </a:p>
        </p:txBody>
      </p:sp>
      <p:sp>
        <p:nvSpPr>
          <p:cNvPr id="7" name="Text 4"/>
          <p:cNvSpPr txBox="1"/>
          <p:nvPr/>
        </p:nvSpPr>
        <p:spPr>
          <a:xfrm>
            <a:off x="73152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Nouvelle date proposée</a:t>
            </a:r>
            <a:endParaRPr lang="en-US" sz="1300" dirty="0"/>
          </a:p>
        </p:txBody>
      </p:sp>
      <p:sp>
        <p:nvSpPr>
          <p:cNvPr id="8" name="Text 5"/>
          <p:cNvSpPr txBox="1"/>
          <p:nvPr/>
        </p:nvSpPr>
        <p:spPr>
          <a:xfrm>
            <a:off x="54864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Le client accepte ou refuse en un clic</a:t>
            </a:r>
            <a:endParaRPr lang="en-US" sz="1300" dirty="0"/>
          </a:p>
        </p:txBody>
      </p:sp>
      <p:sp>
        <p:nvSpPr>
          <p:cNvPr id="9" name="Shape 6"/>
          <p:cNvSpPr/>
          <p:nvPr/>
        </p:nvSpPr>
        <p:spPr>
          <a:xfrm>
            <a:off x="4421664" y="1399032"/>
            <a:ext cx="3318191" cy="4288536"/>
          </a:xfrm>
          <a:prstGeom prst="roundRect">
            <a:avLst>
              <a:gd name="adj" fmla="val 3307"/>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0" name="Image 1" descr="/home/claude/deck/img/mail7.jpg"/>
          <p:cNvPicPr>
            <a:picLocks noChangeAspect="1"/>
          </p:cNvPicPr>
          <p:nvPr/>
        </p:nvPicPr>
        <p:blipFill>
          <a:blip r:embed="rId4"/>
          <a:stretch>
            <a:fillRect/>
          </a:stretch>
        </p:blipFill>
        <p:spPr>
          <a:xfrm>
            <a:off x="4485672" y="1463040"/>
            <a:ext cx="3190175" cy="4160520"/>
          </a:xfrm>
          <a:prstGeom prst="rect">
            <a:avLst/>
          </a:prstGeom>
        </p:spPr>
      </p:pic>
      <p:sp>
        <p:nvSpPr>
          <p:cNvPr id="11" name="Shape 7"/>
          <p:cNvSpPr/>
          <p:nvPr/>
        </p:nvSpPr>
        <p:spPr>
          <a:xfrm>
            <a:off x="4480560" y="5806440"/>
            <a:ext cx="3200400" cy="329184"/>
          </a:xfrm>
          <a:prstGeom prst="roundRect">
            <a:avLst>
              <a:gd name="adj" fmla="val 50000"/>
            </a:avLst>
          </a:prstGeom>
          <a:solidFill>
            <a:srgbClr val="B3312D"/>
          </a:solidFill>
          <a:ln w="12700">
            <a:solidFill>
              <a:srgbClr val="B3312D"/>
            </a:solidFill>
            <a:prstDash val="solid"/>
          </a:ln>
        </p:spPr>
        <p:txBody>
          <a:bodyPr/>
          <a:lstStyle/>
          <a:p>
            <a:endParaRPr lang="fr-FR"/>
          </a:p>
        </p:txBody>
      </p:sp>
      <p:sp>
        <p:nvSpPr>
          <p:cNvPr id="12" name="Text 8"/>
          <p:cNvSpPr txBox="1"/>
          <p:nvPr/>
        </p:nvSpPr>
        <p:spPr>
          <a:xfrm>
            <a:off x="448056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Annulée par le patron</a:t>
            </a:r>
            <a:endParaRPr lang="en-US" sz="1300" dirty="0"/>
          </a:p>
        </p:txBody>
      </p:sp>
      <p:sp>
        <p:nvSpPr>
          <p:cNvPr id="13" name="Text 9"/>
          <p:cNvSpPr txBox="1"/>
          <p:nvPr/>
        </p:nvSpPr>
        <p:spPr>
          <a:xfrm>
            <a:off x="429768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Remboursement intégral automatique</a:t>
            </a:r>
            <a:endParaRPr lang="en-US" sz="1300" dirty="0"/>
          </a:p>
        </p:txBody>
      </p:sp>
      <p:sp>
        <p:nvSpPr>
          <p:cNvPr id="14" name="Shape 10"/>
          <p:cNvSpPr/>
          <p:nvPr/>
        </p:nvSpPr>
        <p:spPr>
          <a:xfrm>
            <a:off x="8170704" y="1399032"/>
            <a:ext cx="3318191" cy="4288536"/>
          </a:xfrm>
          <a:prstGeom prst="roundRect">
            <a:avLst>
              <a:gd name="adj" fmla="val 3307"/>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5" name="Image 2" descr="/home/claude/deck/img/mail9.jpg"/>
          <p:cNvPicPr>
            <a:picLocks noChangeAspect="1"/>
          </p:cNvPicPr>
          <p:nvPr/>
        </p:nvPicPr>
        <p:blipFill>
          <a:blip r:embed="rId5"/>
          <a:stretch>
            <a:fillRect/>
          </a:stretch>
        </p:blipFill>
        <p:spPr>
          <a:xfrm>
            <a:off x="8234712" y="1463040"/>
            <a:ext cx="3190175" cy="4160520"/>
          </a:xfrm>
          <a:prstGeom prst="rect">
            <a:avLst/>
          </a:prstGeom>
        </p:spPr>
      </p:pic>
      <p:sp>
        <p:nvSpPr>
          <p:cNvPr id="16" name="Shape 11"/>
          <p:cNvSpPr/>
          <p:nvPr/>
        </p:nvSpPr>
        <p:spPr>
          <a:xfrm>
            <a:off x="8229600" y="5806440"/>
            <a:ext cx="3200400" cy="329184"/>
          </a:xfrm>
          <a:prstGeom prst="roundRect">
            <a:avLst>
              <a:gd name="adj" fmla="val 50000"/>
            </a:avLst>
          </a:prstGeom>
          <a:solidFill>
            <a:srgbClr val="1B7A3D"/>
          </a:solidFill>
          <a:ln w="12700">
            <a:solidFill>
              <a:srgbClr val="1B7A3D"/>
            </a:solidFill>
            <a:prstDash val="solid"/>
          </a:ln>
        </p:spPr>
        <p:txBody>
          <a:bodyPr/>
          <a:lstStyle/>
          <a:p>
            <a:endParaRPr lang="fr-FR"/>
          </a:p>
        </p:txBody>
      </p:sp>
      <p:sp>
        <p:nvSpPr>
          <p:cNvPr id="17" name="Text 12"/>
          <p:cNvSpPr txBox="1"/>
          <p:nvPr/>
        </p:nvSpPr>
        <p:spPr>
          <a:xfrm>
            <a:off x="822960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Annulée par le client</a:t>
            </a:r>
            <a:endParaRPr lang="en-US" sz="1300" dirty="0"/>
          </a:p>
        </p:txBody>
      </p:sp>
      <p:sp>
        <p:nvSpPr>
          <p:cNvPr id="18" name="Text 13"/>
          <p:cNvSpPr txBox="1"/>
          <p:nvPr/>
        </p:nvSpPr>
        <p:spPr>
          <a:xfrm>
            <a:off x="804672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Le traitement appliqué est indiqué</a:t>
            </a:r>
            <a:endParaRPr lang="en-US" sz="1300" dirty="0"/>
          </a:p>
        </p:txBody>
      </p:sp>
      <p:sp>
        <p:nvSpPr>
          <p:cNvPr id="19" name="Text 14"/>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53</a:t>
            </a:r>
            <a:endParaRPr lang="en-US" sz="11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ANNEXE · MESSAGES</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Côté touriste : avant et après la sortie</a:t>
            </a:r>
            <a:endParaRPr lang="en-US" sz="2500" dirty="0"/>
          </a:p>
        </p:txBody>
      </p:sp>
      <p:sp>
        <p:nvSpPr>
          <p:cNvPr id="4" name="Shape 2"/>
          <p:cNvSpPr/>
          <p:nvPr/>
        </p:nvSpPr>
        <p:spPr>
          <a:xfrm>
            <a:off x="672624" y="1399032"/>
            <a:ext cx="3318191" cy="4288536"/>
          </a:xfrm>
          <a:prstGeom prst="roundRect">
            <a:avLst>
              <a:gd name="adj" fmla="val 3307"/>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mail29.jpg"/>
          <p:cNvPicPr>
            <a:picLocks noChangeAspect="1"/>
          </p:cNvPicPr>
          <p:nvPr/>
        </p:nvPicPr>
        <p:blipFill>
          <a:blip r:embed="rId3"/>
          <a:stretch>
            <a:fillRect/>
          </a:stretch>
        </p:blipFill>
        <p:spPr>
          <a:xfrm>
            <a:off x="736632" y="1463040"/>
            <a:ext cx="3190175" cy="4160520"/>
          </a:xfrm>
          <a:prstGeom prst="rect">
            <a:avLst/>
          </a:prstGeom>
        </p:spPr>
      </p:pic>
      <p:sp>
        <p:nvSpPr>
          <p:cNvPr id="6" name="Shape 3"/>
          <p:cNvSpPr/>
          <p:nvPr/>
        </p:nvSpPr>
        <p:spPr>
          <a:xfrm>
            <a:off x="731520" y="5806440"/>
            <a:ext cx="3200400" cy="329184"/>
          </a:xfrm>
          <a:prstGeom prst="roundRect">
            <a:avLst>
              <a:gd name="adj" fmla="val 50000"/>
            </a:avLst>
          </a:prstGeom>
          <a:solidFill>
            <a:srgbClr val="1F5BD6"/>
          </a:solidFill>
          <a:ln w="12700">
            <a:solidFill>
              <a:srgbClr val="1F5BD6"/>
            </a:solidFill>
            <a:prstDash val="solid"/>
          </a:ln>
        </p:spPr>
        <p:txBody>
          <a:bodyPr/>
          <a:lstStyle/>
          <a:p>
            <a:endParaRPr lang="fr-FR"/>
          </a:p>
        </p:txBody>
      </p:sp>
      <p:sp>
        <p:nvSpPr>
          <p:cNvPr id="7" name="Text 4"/>
          <p:cNvSpPr txBox="1"/>
          <p:nvPr/>
        </p:nvSpPr>
        <p:spPr>
          <a:xfrm>
            <a:off x="73152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Confirmer son adresse</a:t>
            </a:r>
            <a:endParaRPr lang="en-US" sz="1300" dirty="0"/>
          </a:p>
        </p:txBody>
      </p:sp>
      <p:sp>
        <p:nvSpPr>
          <p:cNvPr id="8" name="Text 5"/>
          <p:cNvSpPr txBox="1"/>
          <p:nvPr/>
        </p:nvSpPr>
        <p:spPr>
          <a:xfrm>
            <a:off x="54864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Un clic active le compte</a:t>
            </a:r>
            <a:endParaRPr lang="en-US" sz="1300" dirty="0"/>
          </a:p>
        </p:txBody>
      </p:sp>
      <p:sp>
        <p:nvSpPr>
          <p:cNvPr id="9" name="Shape 6"/>
          <p:cNvSpPr/>
          <p:nvPr/>
        </p:nvSpPr>
        <p:spPr>
          <a:xfrm>
            <a:off x="4421664" y="1399032"/>
            <a:ext cx="3318191" cy="4288536"/>
          </a:xfrm>
          <a:prstGeom prst="roundRect">
            <a:avLst>
              <a:gd name="adj" fmla="val 3307"/>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0" name="Image 1" descr="/home/claude/deck/img/mail17.jpg"/>
          <p:cNvPicPr>
            <a:picLocks noChangeAspect="1"/>
          </p:cNvPicPr>
          <p:nvPr/>
        </p:nvPicPr>
        <p:blipFill>
          <a:blip r:embed="rId4"/>
          <a:stretch>
            <a:fillRect/>
          </a:stretch>
        </p:blipFill>
        <p:spPr>
          <a:xfrm>
            <a:off x="4485672" y="1463040"/>
            <a:ext cx="3190175" cy="4160520"/>
          </a:xfrm>
          <a:prstGeom prst="rect">
            <a:avLst/>
          </a:prstGeom>
        </p:spPr>
      </p:pic>
      <p:sp>
        <p:nvSpPr>
          <p:cNvPr id="11" name="Shape 7"/>
          <p:cNvSpPr/>
          <p:nvPr/>
        </p:nvSpPr>
        <p:spPr>
          <a:xfrm>
            <a:off x="4480560" y="5806440"/>
            <a:ext cx="3200400" cy="329184"/>
          </a:xfrm>
          <a:prstGeom prst="roundRect">
            <a:avLst>
              <a:gd name="adj" fmla="val 50000"/>
            </a:avLst>
          </a:prstGeom>
          <a:solidFill>
            <a:srgbClr val="B45309"/>
          </a:solidFill>
          <a:ln w="12700">
            <a:solidFill>
              <a:srgbClr val="B45309"/>
            </a:solidFill>
            <a:prstDash val="solid"/>
          </a:ln>
        </p:spPr>
        <p:txBody>
          <a:bodyPr/>
          <a:lstStyle/>
          <a:p>
            <a:endParaRPr lang="fr-FR"/>
          </a:p>
        </p:txBody>
      </p:sp>
      <p:sp>
        <p:nvSpPr>
          <p:cNvPr id="12" name="Text 8"/>
          <p:cNvSpPr txBox="1"/>
          <p:nvPr/>
        </p:nvSpPr>
        <p:spPr>
          <a:xfrm>
            <a:off x="448056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Noter sa sortie</a:t>
            </a:r>
            <a:endParaRPr lang="en-US" sz="1300" dirty="0"/>
          </a:p>
        </p:txBody>
      </p:sp>
      <p:sp>
        <p:nvSpPr>
          <p:cNvPr id="13" name="Text 9"/>
          <p:cNvSpPr txBox="1"/>
          <p:nvPr/>
        </p:nvSpPr>
        <p:spPr>
          <a:xfrm>
            <a:off x="429768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Note de 1 à 5 étoiles, publiée</a:t>
            </a:r>
            <a:endParaRPr lang="en-US" sz="1300" dirty="0"/>
          </a:p>
        </p:txBody>
      </p:sp>
      <p:sp>
        <p:nvSpPr>
          <p:cNvPr id="14" name="Shape 10"/>
          <p:cNvSpPr/>
          <p:nvPr/>
        </p:nvSpPr>
        <p:spPr>
          <a:xfrm>
            <a:off x="8170704" y="1399032"/>
            <a:ext cx="3318191" cy="4288536"/>
          </a:xfrm>
          <a:prstGeom prst="roundRect">
            <a:avLst>
              <a:gd name="adj" fmla="val 3307"/>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5" name="Image 2" descr="/home/claude/deck/img/mail27.jpg"/>
          <p:cNvPicPr>
            <a:picLocks noChangeAspect="1"/>
          </p:cNvPicPr>
          <p:nvPr/>
        </p:nvPicPr>
        <p:blipFill>
          <a:blip r:embed="rId5"/>
          <a:stretch>
            <a:fillRect/>
          </a:stretch>
        </p:blipFill>
        <p:spPr>
          <a:xfrm>
            <a:off x="8234712" y="1463040"/>
            <a:ext cx="3190175" cy="4160520"/>
          </a:xfrm>
          <a:prstGeom prst="rect">
            <a:avLst/>
          </a:prstGeom>
        </p:spPr>
      </p:pic>
      <p:sp>
        <p:nvSpPr>
          <p:cNvPr id="16" name="Shape 11"/>
          <p:cNvSpPr/>
          <p:nvPr/>
        </p:nvSpPr>
        <p:spPr>
          <a:xfrm>
            <a:off x="8229600" y="5806440"/>
            <a:ext cx="3200400" cy="329184"/>
          </a:xfrm>
          <a:prstGeom prst="roundRect">
            <a:avLst>
              <a:gd name="adj" fmla="val 50000"/>
            </a:avLst>
          </a:prstGeom>
          <a:solidFill>
            <a:srgbClr val="0074B5"/>
          </a:solidFill>
          <a:ln w="12700">
            <a:solidFill>
              <a:srgbClr val="0074B5"/>
            </a:solidFill>
            <a:prstDash val="solid"/>
          </a:ln>
        </p:spPr>
        <p:txBody>
          <a:bodyPr/>
          <a:lstStyle/>
          <a:p>
            <a:endParaRPr lang="fr-FR"/>
          </a:p>
        </p:txBody>
      </p:sp>
      <p:sp>
        <p:nvSpPr>
          <p:cNvPr id="17" name="Text 12"/>
          <p:cNvSpPr txBox="1"/>
          <p:nvPr/>
        </p:nvSpPr>
        <p:spPr>
          <a:xfrm>
            <a:off x="822960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Accusé de réception</a:t>
            </a:r>
            <a:endParaRPr lang="en-US" sz="1300" dirty="0"/>
          </a:p>
        </p:txBody>
      </p:sp>
      <p:sp>
        <p:nvSpPr>
          <p:cNvPr id="18" name="Text 13"/>
          <p:cNvSpPr txBox="1"/>
          <p:nvPr/>
        </p:nvSpPr>
        <p:spPr>
          <a:xfrm>
            <a:off x="804672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Après un message depuis Contact</a:t>
            </a:r>
            <a:endParaRPr lang="en-US" sz="1300" dirty="0"/>
          </a:p>
        </p:txBody>
      </p:sp>
      <p:sp>
        <p:nvSpPr>
          <p:cNvPr id="19" name="Text 14"/>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54</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4">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ANNEXE · MESSAGES</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Côté patron pêcheur</a:t>
            </a:r>
            <a:endParaRPr lang="en-US" sz="2500" dirty="0"/>
          </a:p>
        </p:txBody>
      </p:sp>
      <p:sp>
        <p:nvSpPr>
          <p:cNvPr id="4" name="Text 2"/>
          <p:cNvSpPr txBox="1"/>
          <p:nvPr/>
        </p:nvSpPr>
        <p:spPr>
          <a:xfrm>
            <a:off x="548640" y="1216152"/>
            <a:ext cx="11094415" cy="457200"/>
          </a:xfrm>
          <a:prstGeom prst="rect">
            <a:avLst/>
          </a:prstGeom>
          <a:noFill/>
          <a:ln/>
        </p:spPr>
        <p:txBody>
          <a:bodyPr wrap="square" lIns="0" tIns="0" rIns="0" bIns="0" rtlCol="0" anchor="t"/>
          <a:lstStyle/>
          <a:p>
            <a:pPr marL="0" indent="0">
              <a:buNone/>
            </a:pPr>
            <a:r>
              <a:rPr lang="en-US" sz="1450" dirty="0">
                <a:solidFill>
                  <a:srgbClr val="66728A"/>
                </a:solidFill>
                <a:latin typeface="Verdana" pitchFamily="34" charset="0"/>
                <a:ea typeface="Verdana" pitchFamily="34" charset="-122"/>
                <a:cs typeface="Verdana" pitchFamily="34" charset="-120"/>
              </a:rPr>
              <a:t>Chaque e-mail au patron est doublé d’un SMS (dernière page).</a:t>
            </a:r>
            <a:endParaRPr lang="en-US" sz="1450" dirty="0"/>
          </a:p>
        </p:txBody>
      </p:sp>
      <p:sp>
        <p:nvSpPr>
          <p:cNvPr id="5" name="Shape 3"/>
          <p:cNvSpPr/>
          <p:nvPr/>
        </p:nvSpPr>
        <p:spPr>
          <a:xfrm>
            <a:off x="795324" y="1719072"/>
            <a:ext cx="3072793" cy="3968496"/>
          </a:xfrm>
          <a:prstGeom prst="roundRect">
            <a:avLst>
              <a:gd name="adj" fmla="val 3571"/>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6" name="Image 0" descr="/home/claude/deck/img/mail18.jpg"/>
          <p:cNvPicPr>
            <a:picLocks noChangeAspect="1"/>
          </p:cNvPicPr>
          <p:nvPr/>
        </p:nvPicPr>
        <p:blipFill>
          <a:blip r:embed="rId3"/>
          <a:stretch>
            <a:fillRect/>
          </a:stretch>
        </p:blipFill>
        <p:spPr>
          <a:xfrm>
            <a:off x="859332" y="1783080"/>
            <a:ext cx="2944777" cy="3840480"/>
          </a:xfrm>
          <a:prstGeom prst="rect">
            <a:avLst/>
          </a:prstGeom>
        </p:spPr>
      </p:pic>
      <p:sp>
        <p:nvSpPr>
          <p:cNvPr id="7" name="Shape 4"/>
          <p:cNvSpPr/>
          <p:nvPr/>
        </p:nvSpPr>
        <p:spPr>
          <a:xfrm>
            <a:off x="731520" y="5806440"/>
            <a:ext cx="3200400" cy="329184"/>
          </a:xfrm>
          <a:prstGeom prst="roundRect">
            <a:avLst>
              <a:gd name="adj" fmla="val 50000"/>
            </a:avLst>
          </a:prstGeom>
          <a:solidFill>
            <a:srgbClr val="1F5BD6"/>
          </a:solidFill>
          <a:ln w="12700">
            <a:solidFill>
              <a:srgbClr val="1F5BD6"/>
            </a:solidFill>
            <a:prstDash val="solid"/>
          </a:ln>
        </p:spPr>
        <p:txBody>
          <a:bodyPr/>
          <a:lstStyle/>
          <a:p>
            <a:endParaRPr lang="fr-FR"/>
          </a:p>
        </p:txBody>
      </p:sp>
      <p:sp>
        <p:nvSpPr>
          <p:cNvPr id="8" name="Text 5"/>
          <p:cNvSpPr txBox="1"/>
          <p:nvPr/>
        </p:nvSpPr>
        <p:spPr>
          <a:xfrm>
            <a:off x="73152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Appel à candidature</a:t>
            </a:r>
            <a:endParaRPr lang="en-US" sz="1300" dirty="0"/>
          </a:p>
        </p:txBody>
      </p:sp>
      <p:sp>
        <p:nvSpPr>
          <p:cNvPr id="9" name="Text 6"/>
          <p:cNvSpPr txBox="1"/>
          <p:nvPr/>
        </p:nvSpPr>
        <p:spPr>
          <a:xfrm>
            <a:off x="54864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Boutons « J’accepte » / « Je décline »</a:t>
            </a:r>
            <a:endParaRPr lang="en-US" sz="1300" dirty="0"/>
          </a:p>
        </p:txBody>
      </p:sp>
      <p:sp>
        <p:nvSpPr>
          <p:cNvPr id="10" name="Shape 7"/>
          <p:cNvSpPr/>
          <p:nvPr/>
        </p:nvSpPr>
        <p:spPr>
          <a:xfrm>
            <a:off x="4545539" y="1719072"/>
            <a:ext cx="3070443" cy="3968496"/>
          </a:xfrm>
          <a:prstGeom prst="roundRect">
            <a:avLst>
              <a:gd name="adj" fmla="val 3574"/>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1" name="Image 1" descr="/home/claude/deck/img/mail21.jpg"/>
          <p:cNvPicPr>
            <a:picLocks noChangeAspect="1"/>
          </p:cNvPicPr>
          <p:nvPr/>
        </p:nvPicPr>
        <p:blipFill>
          <a:blip r:embed="rId4"/>
          <a:stretch>
            <a:fillRect/>
          </a:stretch>
        </p:blipFill>
        <p:spPr>
          <a:xfrm>
            <a:off x="4609547" y="1783080"/>
            <a:ext cx="2942427" cy="3840480"/>
          </a:xfrm>
          <a:prstGeom prst="rect">
            <a:avLst/>
          </a:prstGeom>
        </p:spPr>
      </p:pic>
      <p:sp>
        <p:nvSpPr>
          <p:cNvPr id="12" name="Shape 8"/>
          <p:cNvSpPr/>
          <p:nvPr/>
        </p:nvSpPr>
        <p:spPr>
          <a:xfrm>
            <a:off x="4480560" y="5806440"/>
            <a:ext cx="3200400" cy="329184"/>
          </a:xfrm>
          <a:prstGeom prst="roundRect">
            <a:avLst>
              <a:gd name="adj" fmla="val 50000"/>
            </a:avLst>
          </a:prstGeom>
          <a:solidFill>
            <a:srgbClr val="1B7A3D"/>
          </a:solidFill>
          <a:ln w="12700">
            <a:solidFill>
              <a:srgbClr val="1B7A3D"/>
            </a:solidFill>
            <a:prstDash val="solid"/>
          </a:ln>
        </p:spPr>
        <p:txBody>
          <a:bodyPr/>
          <a:lstStyle/>
          <a:p>
            <a:endParaRPr lang="fr-FR"/>
          </a:p>
        </p:txBody>
      </p:sp>
      <p:sp>
        <p:nvSpPr>
          <p:cNvPr id="13" name="Text 9"/>
          <p:cNvSpPr txBox="1"/>
          <p:nvPr/>
        </p:nvSpPr>
        <p:spPr>
          <a:xfrm>
            <a:off x="448056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Navire retenu</a:t>
            </a:r>
            <a:endParaRPr lang="en-US" sz="1300" dirty="0"/>
          </a:p>
        </p:txBody>
      </p:sp>
      <p:sp>
        <p:nvSpPr>
          <p:cNvPr id="14" name="Text 10"/>
          <p:cNvSpPr txBox="1"/>
          <p:nvPr/>
        </p:nvSpPr>
        <p:spPr>
          <a:xfrm>
            <a:off x="429768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Coordonnées de l’organisme</a:t>
            </a:r>
            <a:endParaRPr lang="en-US" sz="1300" dirty="0"/>
          </a:p>
        </p:txBody>
      </p:sp>
      <p:sp>
        <p:nvSpPr>
          <p:cNvPr id="15" name="Shape 11"/>
          <p:cNvSpPr/>
          <p:nvPr/>
        </p:nvSpPr>
        <p:spPr>
          <a:xfrm>
            <a:off x="8293404" y="1719072"/>
            <a:ext cx="3072793" cy="3968496"/>
          </a:xfrm>
          <a:prstGeom prst="roundRect">
            <a:avLst>
              <a:gd name="adj" fmla="val 3571"/>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6" name="Image 2" descr="/home/claude/deck/img/mail10.jpg"/>
          <p:cNvPicPr>
            <a:picLocks noChangeAspect="1"/>
          </p:cNvPicPr>
          <p:nvPr/>
        </p:nvPicPr>
        <p:blipFill>
          <a:blip r:embed="rId5"/>
          <a:stretch>
            <a:fillRect/>
          </a:stretch>
        </p:blipFill>
        <p:spPr>
          <a:xfrm>
            <a:off x="8357412" y="1783080"/>
            <a:ext cx="2944777" cy="3840480"/>
          </a:xfrm>
          <a:prstGeom prst="rect">
            <a:avLst/>
          </a:prstGeom>
        </p:spPr>
      </p:pic>
      <p:sp>
        <p:nvSpPr>
          <p:cNvPr id="17" name="Shape 12"/>
          <p:cNvSpPr/>
          <p:nvPr/>
        </p:nvSpPr>
        <p:spPr>
          <a:xfrm>
            <a:off x="8229600" y="5806440"/>
            <a:ext cx="3200400" cy="329184"/>
          </a:xfrm>
          <a:prstGeom prst="roundRect">
            <a:avLst>
              <a:gd name="adj" fmla="val 50000"/>
            </a:avLst>
          </a:prstGeom>
          <a:solidFill>
            <a:srgbClr val="66728A"/>
          </a:solidFill>
          <a:ln w="12700">
            <a:solidFill>
              <a:srgbClr val="66728A"/>
            </a:solidFill>
            <a:prstDash val="solid"/>
          </a:ln>
        </p:spPr>
        <p:txBody>
          <a:bodyPr/>
          <a:lstStyle/>
          <a:p>
            <a:endParaRPr lang="fr-FR"/>
          </a:p>
        </p:txBody>
      </p:sp>
      <p:sp>
        <p:nvSpPr>
          <p:cNvPr id="18" name="Text 13"/>
          <p:cNvSpPr txBox="1"/>
          <p:nvPr/>
        </p:nvSpPr>
        <p:spPr>
          <a:xfrm>
            <a:off x="822960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Le client annule</a:t>
            </a:r>
            <a:endParaRPr lang="en-US" sz="1300" dirty="0"/>
          </a:p>
        </p:txBody>
      </p:sp>
      <p:sp>
        <p:nvSpPr>
          <p:cNvPr id="19" name="Text 14"/>
          <p:cNvSpPr txBox="1"/>
          <p:nvPr/>
        </p:nvSpPr>
        <p:spPr>
          <a:xfrm>
            <a:off x="804672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Places libérées</a:t>
            </a:r>
            <a:endParaRPr lang="en-US" sz="1300" dirty="0"/>
          </a:p>
        </p:txBody>
      </p:sp>
      <p:sp>
        <p:nvSpPr>
          <p:cNvPr id="20" name="Text 15"/>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55</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5">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ANNEXE · MESSAGES</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Côté organisme et côté équipe</a:t>
            </a:r>
            <a:endParaRPr lang="en-US" sz="2500" dirty="0"/>
          </a:p>
        </p:txBody>
      </p:sp>
      <p:sp>
        <p:nvSpPr>
          <p:cNvPr id="4" name="Shape 2"/>
          <p:cNvSpPr/>
          <p:nvPr/>
        </p:nvSpPr>
        <p:spPr>
          <a:xfrm>
            <a:off x="672624" y="1399032"/>
            <a:ext cx="3318191" cy="4288536"/>
          </a:xfrm>
          <a:prstGeom prst="roundRect">
            <a:avLst>
              <a:gd name="adj" fmla="val 3307"/>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mail24.jpg"/>
          <p:cNvPicPr>
            <a:picLocks noChangeAspect="1"/>
          </p:cNvPicPr>
          <p:nvPr/>
        </p:nvPicPr>
        <p:blipFill>
          <a:blip r:embed="rId3"/>
          <a:stretch>
            <a:fillRect/>
          </a:stretch>
        </p:blipFill>
        <p:spPr>
          <a:xfrm>
            <a:off x="736632" y="1463040"/>
            <a:ext cx="3190175" cy="4160520"/>
          </a:xfrm>
          <a:prstGeom prst="rect">
            <a:avLst/>
          </a:prstGeom>
        </p:spPr>
      </p:pic>
      <p:sp>
        <p:nvSpPr>
          <p:cNvPr id="6" name="Shape 3"/>
          <p:cNvSpPr/>
          <p:nvPr/>
        </p:nvSpPr>
        <p:spPr>
          <a:xfrm>
            <a:off x="731520" y="5806440"/>
            <a:ext cx="3200400" cy="329184"/>
          </a:xfrm>
          <a:prstGeom prst="roundRect">
            <a:avLst>
              <a:gd name="adj" fmla="val 50000"/>
            </a:avLst>
          </a:prstGeom>
          <a:solidFill>
            <a:srgbClr val="00A7B5"/>
          </a:solidFill>
          <a:ln w="12700">
            <a:solidFill>
              <a:srgbClr val="00A7B5"/>
            </a:solidFill>
            <a:prstDash val="solid"/>
          </a:ln>
        </p:spPr>
        <p:txBody>
          <a:bodyPr/>
          <a:lstStyle/>
          <a:p>
            <a:endParaRPr lang="fr-FR"/>
          </a:p>
        </p:txBody>
      </p:sp>
      <p:sp>
        <p:nvSpPr>
          <p:cNvPr id="7" name="Text 4"/>
          <p:cNvSpPr txBox="1"/>
          <p:nvPr/>
        </p:nvSpPr>
        <p:spPr>
          <a:xfrm>
            <a:off x="73152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Organisme · navire retenu</a:t>
            </a:r>
            <a:endParaRPr lang="en-US" sz="1300" dirty="0"/>
          </a:p>
        </p:txBody>
      </p:sp>
      <p:sp>
        <p:nvSpPr>
          <p:cNvPr id="8" name="Text 5"/>
          <p:cNvSpPr txBox="1"/>
          <p:nvPr/>
        </p:nvSpPr>
        <p:spPr>
          <a:xfrm>
            <a:off x="54864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Coordonnées du patron retenu</a:t>
            </a:r>
            <a:endParaRPr lang="en-US" sz="1300" dirty="0"/>
          </a:p>
        </p:txBody>
      </p:sp>
      <p:sp>
        <p:nvSpPr>
          <p:cNvPr id="9" name="Shape 6"/>
          <p:cNvSpPr/>
          <p:nvPr/>
        </p:nvSpPr>
        <p:spPr>
          <a:xfrm>
            <a:off x="4421664" y="1399032"/>
            <a:ext cx="3318191" cy="4288536"/>
          </a:xfrm>
          <a:prstGeom prst="roundRect">
            <a:avLst>
              <a:gd name="adj" fmla="val 3307"/>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0" name="Image 1" descr="/home/claude/deck/img/mail31.jpg"/>
          <p:cNvPicPr>
            <a:picLocks noChangeAspect="1"/>
          </p:cNvPicPr>
          <p:nvPr/>
        </p:nvPicPr>
        <p:blipFill>
          <a:blip r:embed="rId4"/>
          <a:stretch>
            <a:fillRect/>
          </a:stretch>
        </p:blipFill>
        <p:spPr>
          <a:xfrm>
            <a:off x="4485672" y="1463040"/>
            <a:ext cx="3190175" cy="4160520"/>
          </a:xfrm>
          <a:prstGeom prst="rect">
            <a:avLst/>
          </a:prstGeom>
        </p:spPr>
      </p:pic>
      <p:sp>
        <p:nvSpPr>
          <p:cNvPr id="11" name="Shape 7"/>
          <p:cNvSpPr/>
          <p:nvPr/>
        </p:nvSpPr>
        <p:spPr>
          <a:xfrm>
            <a:off x="4480560" y="5806440"/>
            <a:ext cx="3200400" cy="329184"/>
          </a:xfrm>
          <a:prstGeom prst="roundRect">
            <a:avLst>
              <a:gd name="adj" fmla="val 50000"/>
            </a:avLst>
          </a:prstGeom>
          <a:solidFill>
            <a:srgbClr val="0E9F6E"/>
          </a:solidFill>
          <a:ln w="12700">
            <a:solidFill>
              <a:srgbClr val="0E9F6E"/>
            </a:solidFill>
            <a:prstDash val="solid"/>
          </a:ln>
        </p:spPr>
        <p:txBody>
          <a:bodyPr/>
          <a:lstStyle/>
          <a:p>
            <a:endParaRPr lang="fr-FR"/>
          </a:p>
        </p:txBody>
      </p:sp>
      <p:sp>
        <p:nvSpPr>
          <p:cNvPr id="12" name="Text 8"/>
          <p:cNvSpPr txBox="1"/>
          <p:nvPr/>
        </p:nvSpPr>
        <p:spPr>
          <a:xfrm>
            <a:off x="448056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Équipe · organisme à valider</a:t>
            </a:r>
            <a:endParaRPr lang="en-US" sz="1300" dirty="0"/>
          </a:p>
        </p:txBody>
      </p:sp>
      <p:sp>
        <p:nvSpPr>
          <p:cNvPr id="13" name="Text 9"/>
          <p:cNvSpPr txBox="1"/>
          <p:nvPr/>
        </p:nvSpPr>
        <p:spPr>
          <a:xfrm>
            <a:off x="429768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Boutons Accepter / Refuser</a:t>
            </a:r>
            <a:endParaRPr lang="en-US" sz="1300" dirty="0"/>
          </a:p>
        </p:txBody>
      </p:sp>
      <p:sp>
        <p:nvSpPr>
          <p:cNvPr id="14" name="Shape 10"/>
          <p:cNvSpPr/>
          <p:nvPr/>
        </p:nvSpPr>
        <p:spPr>
          <a:xfrm>
            <a:off x="8171977" y="1399032"/>
            <a:ext cx="3315645" cy="4288536"/>
          </a:xfrm>
          <a:prstGeom prst="roundRect">
            <a:avLst>
              <a:gd name="adj" fmla="val 3309"/>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5" name="Image 2" descr="/home/claude/deck/img/mail2.jpg"/>
          <p:cNvPicPr>
            <a:picLocks noChangeAspect="1"/>
          </p:cNvPicPr>
          <p:nvPr/>
        </p:nvPicPr>
        <p:blipFill>
          <a:blip r:embed="rId5"/>
          <a:stretch>
            <a:fillRect/>
          </a:stretch>
        </p:blipFill>
        <p:spPr>
          <a:xfrm>
            <a:off x="8235985" y="1463040"/>
            <a:ext cx="3187629" cy="4160520"/>
          </a:xfrm>
          <a:prstGeom prst="rect">
            <a:avLst/>
          </a:prstGeom>
        </p:spPr>
      </p:pic>
      <p:sp>
        <p:nvSpPr>
          <p:cNvPr id="16" name="Shape 11"/>
          <p:cNvSpPr/>
          <p:nvPr/>
        </p:nvSpPr>
        <p:spPr>
          <a:xfrm>
            <a:off x="8229600" y="5806440"/>
            <a:ext cx="3200400" cy="329184"/>
          </a:xfrm>
          <a:prstGeom prst="roundRect">
            <a:avLst>
              <a:gd name="adj" fmla="val 50000"/>
            </a:avLst>
          </a:prstGeom>
          <a:solidFill>
            <a:srgbClr val="0E9F6E"/>
          </a:solidFill>
          <a:ln w="12700">
            <a:solidFill>
              <a:srgbClr val="0E9F6E"/>
            </a:solidFill>
            <a:prstDash val="solid"/>
          </a:ln>
        </p:spPr>
        <p:txBody>
          <a:bodyPr/>
          <a:lstStyle/>
          <a:p>
            <a:endParaRPr lang="fr-FR"/>
          </a:p>
        </p:txBody>
      </p:sp>
      <p:sp>
        <p:nvSpPr>
          <p:cNvPr id="17" name="Text 12"/>
          <p:cNvSpPr txBox="1"/>
          <p:nvPr/>
        </p:nvSpPr>
        <p:spPr>
          <a:xfrm>
            <a:off x="822960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Équipe · nouvelle réservation</a:t>
            </a:r>
            <a:endParaRPr lang="en-US" sz="1300" dirty="0"/>
          </a:p>
        </p:txBody>
      </p:sp>
      <p:sp>
        <p:nvSpPr>
          <p:cNvPr id="18" name="Text 13"/>
          <p:cNvSpPr txBox="1"/>
          <p:nvPr/>
        </p:nvSpPr>
        <p:spPr>
          <a:xfrm>
            <a:off x="804672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Récapitulatif et coordonnées du client</a:t>
            </a:r>
            <a:endParaRPr lang="en-US" sz="1300" dirty="0"/>
          </a:p>
        </p:txBody>
      </p:sp>
      <p:sp>
        <p:nvSpPr>
          <p:cNvPr id="19" name="Text 14"/>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56</a:t>
            </a:r>
            <a:endParaRPr lang="en-US" sz="11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6">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ANNEXE · MESSAGES</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Côté équipe : le suivi</a:t>
            </a:r>
            <a:endParaRPr lang="en-US" sz="2500" dirty="0"/>
          </a:p>
        </p:txBody>
      </p:sp>
      <p:sp>
        <p:nvSpPr>
          <p:cNvPr id="4" name="Text 2"/>
          <p:cNvSpPr txBox="1"/>
          <p:nvPr/>
        </p:nvSpPr>
        <p:spPr>
          <a:xfrm>
            <a:off x="548640" y="1216152"/>
            <a:ext cx="11094415" cy="457200"/>
          </a:xfrm>
          <a:prstGeom prst="rect">
            <a:avLst/>
          </a:prstGeom>
          <a:noFill/>
          <a:ln/>
        </p:spPr>
        <p:txBody>
          <a:bodyPr wrap="square" lIns="0" tIns="0" rIns="0" bIns="0" rtlCol="0" anchor="t"/>
          <a:lstStyle/>
          <a:p>
            <a:pPr marL="0" indent="0">
              <a:buNone/>
            </a:pPr>
            <a:r>
              <a:rPr lang="en-US" sz="1450" dirty="0">
                <a:solidFill>
                  <a:srgbClr val="66728A"/>
                </a:solidFill>
                <a:latin typeface="Verdana" pitchFamily="34" charset="0"/>
                <a:ea typeface="Verdana" pitchFamily="34" charset="-122"/>
                <a:cs typeface="Verdana" pitchFamily="34" charset="-120"/>
              </a:rPr>
              <a:t>Les copies internes permettent d’agir avant qu’un client ne soit déçu.</a:t>
            </a:r>
            <a:endParaRPr lang="en-US" sz="1450" dirty="0"/>
          </a:p>
        </p:txBody>
      </p:sp>
      <p:sp>
        <p:nvSpPr>
          <p:cNvPr id="5" name="Shape 3"/>
          <p:cNvSpPr/>
          <p:nvPr/>
        </p:nvSpPr>
        <p:spPr>
          <a:xfrm>
            <a:off x="796499" y="1719072"/>
            <a:ext cx="3070443" cy="3968496"/>
          </a:xfrm>
          <a:prstGeom prst="roundRect">
            <a:avLst>
              <a:gd name="adj" fmla="val 3574"/>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6" name="Image 0" descr="/home/claude/deck/img/mail16.jpg"/>
          <p:cNvPicPr>
            <a:picLocks noChangeAspect="1"/>
          </p:cNvPicPr>
          <p:nvPr/>
        </p:nvPicPr>
        <p:blipFill>
          <a:blip r:embed="rId3"/>
          <a:stretch>
            <a:fillRect/>
          </a:stretch>
        </p:blipFill>
        <p:spPr>
          <a:xfrm>
            <a:off x="860507" y="1783080"/>
            <a:ext cx="2942427" cy="3840480"/>
          </a:xfrm>
          <a:prstGeom prst="rect">
            <a:avLst/>
          </a:prstGeom>
        </p:spPr>
      </p:pic>
      <p:sp>
        <p:nvSpPr>
          <p:cNvPr id="7" name="Shape 4"/>
          <p:cNvSpPr/>
          <p:nvPr/>
        </p:nvSpPr>
        <p:spPr>
          <a:xfrm>
            <a:off x="731520" y="5806440"/>
            <a:ext cx="3200400" cy="329184"/>
          </a:xfrm>
          <a:prstGeom prst="roundRect">
            <a:avLst>
              <a:gd name="adj" fmla="val 50000"/>
            </a:avLst>
          </a:prstGeom>
          <a:solidFill>
            <a:srgbClr val="0E9F6E"/>
          </a:solidFill>
          <a:ln w="12700">
            <a:solidFill>
              <a:srgbClr val="0E9F6E"/>
            </a:solidFill>
            <a:prstDash val="solid"/>
          </a:ln>
        </p:spPr>
        <p:txBody>
          <a:bodyPr/>
          <a:lstStyle/>
          <a:p>
            <a:endParaRPr lang="fr-FR"/>
          </a:p>
        </p:txBody>
      </p:sp>
      <p:sp>
        <p:nvSpPr>
          <p:cNvPr id="8" name="Text 5"/>
          <p:cNvSpPr txBox="1"/>
          <p:nvPr/>
        </p:nvSpPr>
        <p:spPr>
          <a:xfrm>
            <a:off x="73152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Récap du matin, 8 h</a:t>
            </a:r>
            <a:endParaRPr lang="en-US" sz="1300" dirty="0"/>
          </a:p>
        </p:txBody>
      </p:sp>
      <p:sp>
        <p:nvSpPr>
          <p:cNvPr id="9" name="Text 6"/>
          <p:cNvSpPr txBox="1"/>
          <p:nvPr/>
        </p:nvSpPr>
        <p:spPr>
          <a:xfrm>
            <a:off x="54864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Seulement s’il s’est passé quelque chose</a:t>
            </a:r>
            <a:endParaRPr lang="en-US" sz="1300" dirty="0"/>
          </a:p>
        </p:txBody>
      </p:sp>
      <p:sp>
        <p:nvSpPr>
          <p:cNvPr id="10" name="Shape 7"/>
          <p:cNvSpPr/>
          <p:nvPr/>
        </p:nvSpPr>
        <p:spPr>
          <a:xfrm>
            <a:off x="4545539" y="1719072"/>
            <a:ext cx="3070443" cy="3968496"/>
          </a:xfrm>
          <a:prstGeom prst="roundRect">
            <a:avLst>
              <a:gd name="adj" fmla="val 3574"/>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1" name="Image 1" descr="/home/claude/deck/img/mail15.jpg"/>
          <p:cNvPicPr>
            <a:picLocks noChangeAspect="1"/>
          </p:cNvPicPr>
          <p:nvPr/>
        </p:nvPicPr>
        <p:blipFill>
          <a:blip r:embed="rId4"/>
          <a:stretch>
            <a:fillRect/>
          </a:stretch>
        </p:blipFill>
        <p:spPr>
          <a:xfrm>
            <a:off x="4609547" y="1783080"/>
            <a:ext cx="2942427" cy="3840480"/>
          </a:xfrm>
          <a:prstGeom prst="rect">
            <a:avLst/>
          </a:prstGeom>
        </p:spPr>
      </p:pic>
      <p:sp>
        <p:nvSpPr>
          <p:cNvPr id="12" name="Shape 8"/>
          <p:cNvSpPr/>
          <p:nvPr/>
        </p:nvSpPr>
        <p:spPr>
          <a:xfrm>
            <a:off x="4480560" y="5806440"/>
            <a:ext cx="3200400" cy="329184"/>
          </a:xfrm>
          <a:prstGeom prst="roundRect">
            <a:avLst>
              <a:gd name="adj" fmla="val 50000"/>
            </a:avLst>
          </a:prstGeom>
          <a:solidFill>
            <a:srgbClr val="B45309"/>
          </a:solidFill>
          <a:ln w="12700">
            <a:solidFill>
              <a:srgbClr val="B45309"/>
            </a:solidFill>
            <a:prstDash val="solid"/>
          </a:ln>
        </p:spPr>
        <p:txBody>
          <a:bodyPr/>
          <a:lstStyle/>
          <a:p>
            <a:endParaRPr lang="fr-FR"/>
          </a:p>
        </p:txBody>
      </p:sp>
      <p:sp>
        <p:nvSpPr>
          <p:cNvPr id="13" name="Text 9"/>
          <p:cNvSpPr txBox="1"/>
          <p:nvPr/>
        </p:nvSpPr>
        <p:spPr>
          <a:xfrm>
            <a:off x="448056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Demande bientôt expirée</a:t>
            </a:r>
            <a:endParaRPr lang="en-US" sz="1300" dirty="0"/>
          </a:p>
        </p:txBody>
      </p:sp>
      <p:sp>
        <p:nvSpPr>
          <p:cNvPr id="14" name="Text 10"/>
          <p:cNvSpPr txBox="1"/>
          <p:nvPr/>
        </p:nvSpPr>
        <p:spPr>
          <a:xfrm>
            <a:off x="429768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 Appeler le pêcheur », avec son téléphone</a:t>
            </a:r>
            <a:endParaRPr lang="en-US" sz="1300" dirty="0"/>
          </a:p>
        </p:txBody>
      </p:sp>
      <p:sp>
        <p:nvSpPr>
          <p:cNvPr id="15" name="Shape 11"/>
          <p:cNvSpPr/>
          <p:nvPr/>
        </p:nvSpPr>
        <p:spPr>
          <a:xfrm>
            <a:off x="8294579" y="1719072"/>
            <a:ext cx="3070443" cy="3968496"/>
          </a:xfrm>
          <a:prstGeom prst="roundRect">
            <a:avLst>
              <a:gd name="adj" fmla="val 3574"/>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6" name="Image 2" descr="/home/claude/deck/img/mail12.jpg"/>
          <p:cNvPicPr>
            <a:picLocks noChangeAspect="1"/>
          </p:cNvPicPr>
          <p:nvPr/>
        </p:nvPicPr>
        <p:blipFill>
          <a:blip r:embed="rId5"/>
          <a:stretch>
            <a:fillRect/>
          </a:stretch>
        </p:blipFill>
        <p:spPr>
          <a:xfrm>
            <a:off x="8358587" y="1783080"/>
            <a:ext cx="2942427" cy="3840480"/>
          </a:xfrm>
          <a:prstGeom prst="rect">
            <a:avLst/>
          </a:prstGeom>
        </p:spPr>
      </p:pic>
      <p:sp>
        <p:nvSpPr>
          <p:cNvPr id="17" name="Shape 12"/>
          <p:cNvSpPr/>
          <p:nvPr/>
        </p:nvSpPr>
        <p:spPr>
          <a:xfrm>
            <a:off x="8229600" y="5806440"/>
            <a:ext cx="3200400" cy="329184"/>
          </a:xfrm>
          <a:prstGeom prst="roundRect">
            <a:avLst>
              <a:gd name="adj" fmla="val 50000"/>
            </a:avLst>
          </a:prstGeom>
          <a:solidFill>
            <a:srgbClr val="0E9F6E"/>
          </a:solidFill>
          <a:ln w="12700">
            <a:solidFill>
              <a:srgbClr val="0E9F6E"/>
            </a:solidFill>
            <a:prstDash val="solid"/>
          </a:ln>
        </p:spPr>
        <p:txBody>
          <a:bodyPr/>
          <a:lstStyle/>
          <a:p>
            <a:endParaRPr lang="fr-FR"/>
          </a:p>
        </p:txBody>
      </p:sp>
      <p:sp>
        <p:nvSpPr>
          <p:cNvPr id="18" name="Text 13"/>
          <p:cNvSpPr txBox="1"/>
          <p:nvPr/>
        </p:nvSpPr>
        <p:spPr>
          <a:xfrm>
            <a:off x="8229600" y="5806440"/>
            <a:ext cx="32004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Annulation par un client</a:t>
            </a:r>
            <a:endParaRPr lang="en-US" sz="1300" dirty="0"/>
          </a:p>
        </p:txBody>
      </p:sp>
      <p:sp>
        <p:nvSpPr>
          <p:cNvPr id="19" name="Text 14"/>
          <p:cNvSpPr txBox="1"/>
          <p:nvPr/>
        </p:nvSpPr>
        <p:spPr>
          <a:xfrm>
            <a:off x="8046720" y="6190488"/>
            <a:ext cx="3566160" cy="457200"/>
          </a:xfrm>
          <a:prstGeom prst="rect">
            <a:avLst/>
          </a:prstGeom>
          <a:noFill/>
          <a:ln/>
        </p:spPr>
        <p:txBody>
          <a:bodyPr wrap="square" lIns="0" tIns="0" rIns="0" bIns="0" rtlCol="0" anchor="t"/>
          <a:lstStyle/>
          <a:p>
            <a:pPr marL="0" indent="0" algn="ctr">
              <a:buNone/>
            </a:pPr>
            <a:r>
              <a:rPr lang="en-US" sz="1300" dirty="0">
                <a:solidFill>
                  <a:srgbClr val="3A4658"/>
                </a:solidFill>
                <a:latin typeface="Verdana" pitchFamily="34" charset="0"/>
                <a:ea typeface="Verdana" pitchFamily="34" charset="-122"/>
                <a:cs typeface="Verdana" pitchFamily="34" charset="-120"/>
              </a:rPr>
              <a:t>Traitement appliqué indiqué</a:t>
            </a:r>
            <a:endParaRPr lang="en-US" sz="1300" dirty="0"/>
          </a:p>
        </p:txBody>
      </p:sp>
      <p:sp>
        <p:nvSpPr>
          <p:cNvPr id="20" name="Text 15"/>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57</a:t>
            </a:r>
            <a:endParaRPr lang="en-US" sz="11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7">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ANNEXE · MESSAGES</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Côté secours : la déclaration et ses pièces jointes</a:t>
            </a:r>
            <a:endParaRPr lang="en-US" sz="2300" dirty="0"/>
          </a:p>
        </p:txBody>
      </p:sp>
      <p:sp>
        <p:nvSpPr>
          <p:cNvPr id="4" name="Shape 2"/>
          <p:cNvSpPr/>
          <p:nvPr/>
        </p:nvSpPr>
        <p:spPr>
          <a:xfrm>
            <a:off x="651045" y="1353312"/>
            <a:ext cx="3407071" cy="5111496"/>
          </a:xfrm>
          <a:prstGeom prst="roundRect">
            <a:avLst>
              <a:gd name="adj" fmla="val 3221"/>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mail28_court.jpg"/>
          <p:cNvPicPr>
            <a:picLocks noChangeAspect="1"/>
          </p:cNvPicPr>
          <p:nvPr/>
        </p:nvPicPr>
        <p:blipFill>
          <a:blip r:embed="rId3"/>
          <a:stretch>
            <a:fillRect/>
          </a:stretch>
        </p:blipFill>
        <p:spPr>
          <a:xfrm>
            <a:off x="715053" y="1417320"/>
            <a:ext cx="3279055" cy="4983480"/>
          </a:xfrm>
          <a:prstGeom prst="rect">
            <a:avLst/>
          </a:prstGeom>
        </p:spPr>
      </p:pic>
      <p:sp>
        <p:nvSpPr>
          <p:cNvPr id="6" name="Shape 3"/>
          <p:cNvSpPr/>
          <p:nvPr/>
        </p:nvSpPr>
        <p:spPr>
          <a:xfrm>
            <a:off x="4490788" y="1353312"/>
            <a:ext cx="3362823" cy="4700016"/>
          </a:xfrm>
          <a:prstGeom prst="roundRect">
            <a:avLst>
              <a:gd name="adj" fmla="val 3263"/>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7" name="Image 1" descr="/home/claude/deck/img/attest_full.jpg"/>
          <p:cNvPicPr>
            <a:picLocks noChangeAspect="1"/>
          </p:cNvPicPr>
          <p:nvPr/>
        </p:nvPicPr>
        <p:blipFill>
          <a:blip r:embed="rId4"/>
          <a:stretch>
            <a:fillRect/>
          </a:stretch>
        </p:blipFill>
        <p:spPr>
          <a:xfrm>
            <a:off x="4554796" y="1417320"/>
            <a:ext cx="3234807" cy="4572000"/>
          </a:xfrm>
          <a:prstGeom prst="rect">
            <a:avLst/>
          </a:prstGeom>
        </p:spPr>
      </p:pic>
      <p:sp>
        <p:nvSpPr>
          <p:cNvPr id="8" name="Text 4"/>
          <p:cNvSpPr txBox="1"/>
          <p:nvPr/>
        </p:nvSpPr>
        <p:spPr>
          <a:xfrm>
            <a:off x="4297680" y="6126480"/>
            <a:ext cx="3749040" cy="274320"/>
          </a:xfrm>
          <a:prstGeom prst="rect">
            <a:avLst/>
          </a:prstGeom>
          <a:noFill/>
          <a:ln/>
        </p:spPr>
        <p:txBody>
          <a:bodyPr wrap="square" lIns="0" tIns="0" rIns="0" bIns="0" rtlCol="0" anchor="t"/>
          <a:lstStyle/>
          <a:p>
            <a:pPr marL="0" indent="0" algn="ctr">
              <a:buNone/>
            </a:pPr>
            <a:r>
              <a:rPr lang="en-US" sz="1250" i="1" dirty="0">
                <a:solidFill>
                  <a:srgbClr val="66728A"/>
                </a:solidFill>
                <a:latin typeface="Verdana" pitchFamily="34" charset="0"/>
                <a:ea typeface="Verdana" pitchFamily="34" charset="-122"/>
                <a:cs typeface="Verdana" pitchFamily="34" charset="-120"/>
              </a:rPr>
              <a:t>Pièce jointe n° 1 : l’attestation complétée</a:t>
            </a:r>
            <a:endParaRPr lang="en-US" sz="1250" dirty="0"/>
          </a:p>
        </p:txBody>
      </p:sp>
      <p:sp>
        <p:nvSpPr>
          <p:cNvPr id="9" name="Text 5"/>
          <p:cNvSpPr txBox="1"/>
          <p:nvPr/>
        </p:nvSpPr>
        <p:spPr>
          <a:xfrm>
            <a:off x="8183880" y="1371600"/>
            <a:ext cx="3474720" cy="347472"/>
          </a:xfrm>
          <a:prstGeom prst="rect">
            <a:avLst/>
          </a:prstGeom>
          <a:noFill/>
          <a:ln/>
        </p:spPr>
        <p:txBody>
          <a:bodyPr wrap="square" lIns="0" tIns="0" rIns="0" bIns="0" rtlCol="0" anchor="t"/>
          <a:lstStyle/>
          <a:p>
            <a:pPr marL="0" indent="0">
              <a:buNone/>
            </a:pPr>
            <a:r>
              <a:rPr lang="en-US" sz="1750" b="1" dirty="0">
                <a:solidFill>
                  <a:srgbClr val="0012B5"/>
                </a:solidFill>
                <a:latin typeface="Verdana" pitchFamily="34" charset="0"/>
                <a:ea typeface="Verdana" pitchFamily="34" charset="-122"/>
                <a:cs typeface="Verdana" pitchFamily="34" charset="-120"/>
              </a:rPr>
              <a:t>Les 4 pièces jointes</a:t>
            </a:r>
            <a:endParaRPr lang="en-US" sz="1750" dirty="0"/>
          </a:p>
        </p:txBody>
      </p:sp>
      <p:sp>
        <p:nvSpPr>
          <p:cNvPr id="10" name="Shape 6"/>
          <p:cNvSpPr/>
          <p:nvPr/>
        </p:nvSpPr>
        <p:spPr>
          <a:xfrm>
            <a:off x="8183880" y="1828800"/>
            <a:ext cx="3474720" cy="621792"/>
          </a:xfrm>
          <a:prstGeom prst="roundRect">
            <a:avLst>
              <a:gd name="adj" fmla="val 29412"/>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1" name="Shape 7"/>
          <p:cNvSpPr/>
          <p:nvPr/>
        </p:nvSpPr>
        <p:spPr>
          <a:xfrm>
            <a:off x="8302752" y="1920240"/>
            <a:ext cx="438912" cy="438912"/>
          </a:xfrm>
          <a:prstGeom prst="roundRect">
            <a:avLst>
              <a:gd name="adj" fmla="val 20833"/>
            </a:avLst>
          </a:prstGeom>
          <a:solidFill>
            <a:srgbClr val="B3312D"/>
          </a:solidFill>
          <a:ln w="12700">
            <a:solidFill>
              <a:srgbClr val="B3312D"/>
            </a:solidFill>
            <a:prstDash val="solid"/>
          </a:ln>
        </p:spPr>
        <p:txBody>
          <a:bodyPr/>
          <a:lstStyle/>
          <a:p>
            <a:endParaRPr lang="fr-FR"/>
          </a:p>
        </p:txBody>
      </p:sp>
      <p:sp>
        <p:nvSpPr>
          <p:cNvPr id="12" name="Text 8"/>
          <p:cNvSpPr txBox="1"/>
          <p:nvPr/>
        </p:nvSpPr>
        <p:spPr>
          <a:xfrm>
            <a:off x="8302752" y="1920240"/>
            <a:ext cx="438912" cy="438912"/>
          </a:xfrm>
          <a:prstGeom prst="rect">
            <a:avLst/>
          </a:prstGeom>
          <a:noFill/>
          <a:ln/>
        </p:spPr>
        <p:txBody>
          <a:bodyPr wrap="square" lIns="0" tIns="0" rIns="0" bIns="0" rtlCol="0" anchor="ctr"/>
          <a:lstStyle/>
          <a:p>
            <a:pPr marL="0" indent="0" algn="ctr">
              <a:buNone/>
            </a:pPr>
            <a:r>
              <a:rPr lang="en-US" sz="1150" b="1" dirty="0">
                <a:solidFill>
                  <a:srgbClr val="FFFFFF"/>
                </a:solidFill>
                <a:latin typeface="Verdana" pitchFamily="34" charset="0"/>
                <a:ea typeface="Verdana" pitchFamily="34" charset="-122"/>
                <a:cs typeface="Verdana" pitchFamily="34" charset="-120"/>
              </a:rPr>
              <a:t>PDF</a:t>
            </a:r>
            <a:endParaRPr lang="en-US" sz="1150" dirty="0"/>
          </a:p>
        </p:txBody>
      </p:sp>
      <p:sp>
        <p:nvSpPr>
          <p:cNvPr id="13" name="Text 9"/>
          <p:cNvSpPr txBox="1"/>
          <p:nvPr/>
        </p:nvSpPr>
        <p:spPr>
          <a:xfrm>
            <a:off x="8869680" y="1892808"/>
            <a:ext cx="2743200" cy="274320"/>
          </a:xfrm>
          <a:prstGeom prst="rect">
            <a:avLst/>
          </a:prstGeom>
          <a:noFill/>
          <a:ln/>
        </p:spPr>
        <p:txBody>
          <a:bodyPr wrap="square" lIns="0" tIns="0" rIns="0" bIns="0" rtlCol="0" anchor="t"/>
          <a:lstStyle/>
          <a:p>
            <a:pPr marL="0" indent="0">
              <a:buNone/>
            </a:pPr>
            <a:r>
              <a:rPr lang="en-US" sz="1400" b="1" dirty="0">
                <a:solidFill>
                  <a:srgbClr val="0012B5"/>
                </a:solidFill>
                <a:latin typeface="Verdana" pitchFamily="34" charset="0"/>
                <a:ea typeface="Verdana" pitchFamily="34" charset="-122"/>
                <a:cs typeface="Verdana" pitchFamily="34" charset="-120"/>
              </a:rPr>
              <a:t>Attestation complétée</a:t>
            </a:r>
            <a:endParaRPr lang="en-US" sz="1400" dirty="0"/>
          </a:p>
        </p:txBody>
      </p:sp>
      <p:sp>
        <p:nvSpPr>
          <p:cNvPr id="14" name="Text 10"/>
          <p:cNvSpPr txBox="1"/>
          <p:nvPr/>
        </p:nvSpPr>
        <p:spPr>
          <a:xfrm>
            <a:off x="8869680" y="2157984"/>
            <a:ext cx="2743200" cy="237744"/>
          </a:xfrm>
          <a:prstGeom prst="rect">
            <a:avLst/>
          </a:prstGeom>
          <a:noFill/>
          <a:ln/>
        </p:spPr>
        <p:txBody>
          <a:bodyPr wrap="square" lIns="0" tIns="0" rIns="0" bIns="0" rtlCol="0" anchor="t"/>
          <a:lstStyle/>
          <a:p>
            <a:pPr marL="0" indent="0">
              <a:buNone/>
            </a:pPr>
            <a:r>
              <a:rPr lang="en-US" sz="1250" dirty="0">
                <a:solidFill>
                  <a:srgbClr val="66728A"/>
                </a:solidFill>
                <a:latin typeface="Verdana" pitchFamily="34" charset="0"/>
                <a:ea typeface="Verdana" pitchFamily="34" charset="-122"/>
                <a:cs typeface="Verdana" pitchFamily="34" charset="-120"/>
              </a:rPr>
              <a:t>5 personnes à bord, total</a:t>
            </a:r>
            <a:endParaRPr lang="en-US" sz="1250" dirty="0"/>
          </a:p>
        </p:txBody>
      </p:sp>
      <p:sp>
        <p:nvSpPr>
          <p:cNvPr id="15" name="Shape 11"/>
          <p:cNvSpPr/>
          <p:nvPr/>
        </p:nvSpPr>
        <p:spPr>
          <a:xfrm>
            <a:off x="8183880" y="2560320"/>
            <a:ext cx="3474720" cy="621792"/>
          </a:xfrm>
          <a:prstGeom prst="roundRect">
            <a:avLst>
              <a:gd name="adj" fmla="val 29412"/>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16" name="Shape 12"/>
          <p:cNvSpPr/>
          <p:nvPr/>
        </p:nvSpPr>
        <p:spPr>
          <a:xfrm>
            <a:off x="8302752" y="2651760"/>
            <a:ext cx="438912" cy="438912"/>
          </a:xfrm>
          <a:prstGeom prst="roundRect">
            <a:avLst>
              <a:gd name="adj" fmla="val 20833"/>
            </a:avLst>
          </a:prstGeom>
          <a:solidFill>
            <a:srgbClr val="1F5BD6"/>
          </a:solidFill>
          <a:ln w="12700">
            <a:solidFill>
              <a:srgbClr val="1F5BD6"/>
            </a:solidFill>
            <a:prstDash val="solid"/>
          </a:ln>
        </p:spPr>
        <p:txBody>
          <a:bodyPr/>
          <a:lstStyle/>
          <a:p>
            <a:endParaRPr lang="fr-FR"/>
          </a:p>
        </p:txBody>
      </p:sp>
      <p:sp>
        <p:nvSpPr>
          <p:cNvPr id="17" name="Text 13"/>
          <p:cNvSpPr txBox="1"/>
          <p:nvPr/>
        </p:nvSpPr>
        <p:spPr>
          <a:xfrm>
            <a:off x="8302752" y="2651760"/>
            <a:ext cx="438912" cy="438912"/>
          </a:xfrm>
          <a:prstGeom prst="rect">
            <a:avLst/>
          </a:prstGeom>
          <a:noFill/>
          <a:ln/>
        </p:spPr>
        <p:txBody>
          <a:bodyPr wrap="square" lIns="0" tIns="0" rIns="0" bIns="0" rtlCol="0" anchor="ctr"/>
          <a:lstStyle/>
          <a:p>
            <a:pPr marL="0" indent="0" algn="ctr">
              <a:buNone/>
            </a:pPr>
            <a:r>
              <a:rPr lang="en-US" sz="1150" b="1" dirty="0">
                <a:solidFill>
                  <a:srgbClr val="FFFFFF"/>
                </a:solidFill>
                <a:latin typeface="Verdana" pitchFamily="34" charset="0"/>
                <a:ea typeface="Verdana" pitchFamily="34" charset="-122"/>
                <a:cs typeface="Verdana" pitchFamily="34" charset="-120"/>
              </a:rPr>
              <a:t>CNI</a:t>
            </a:r>
            <a:endParaRPr lang="en-US" sz="1150" dirty="0"/>
          </a:p>
        </p:txBody>
      </p:sp>
      <p:sp>
        <p:nvSpPr>
          <p:cNvPr id="18" name="Text 14"/>
          <p:cNvSpPr txBox="1"/>
          <p:nvPr/>
        </p:nvSpPr>
        <p:spPr>
          <a:xfrm>
            <a:off x="8869680" y="2624328"/>
            <a:ext cx="2743200" cy="274320"/>
          </a:xfrm>
          <a:prstGeom prst="rect">
            <a:avLst/>
          </a:prstGeom>
          <a:noFill/>
          <a:ln/>
        </p:spPr>
        <p:txBody>
          <a:bodyPr wrap="square" lIns="0" tIns="0" rIns="0" bIns="0" rtlCol="0" anchor="t"/>
          <a:lstStyle/>
          <a:p>
            <a:pPr marL="0" indent="0">
              <a:buNone/>
            </a:pPr>
            <a:r>
              <a:rPr lang="en-US" sz="1400" b="1" dirty="0">
                <a:solidFill>
                  <a:srgbClr val="0012B5"/>
                </a:solidFill>
                <a:latin typeface="Verdana" pitchFamily="34" charset="0"/>
                <a:ea typeface="Verdana" pitchFamily="34" charset="-122"/>
                <a:cs typeface="Verdana" pitchFamily="34" charset="-120"/>
              </a:rPr>
              <a:t>Julie Martin</a:t>
            </a:r>
            <a:endParaRPr lang="en-US" sz="1400" dirty="0"/>
          </a:p>
        </p:txBody>
      </p:sp>
      <p:sp>
        <p:nvSpPr>
          <p:cNvPr id="19" name="Text 15"/>
          <p:cNvSpPr txBox="1"/>
          <p:nvPr/>
        </p:nvSpPr>
        <p:spPr>
          <a:xfrm>
            <a:off x="8869680" y="2889504"/>
            <a:ext cx="2743200" cy="237744"/>
          </a:xfrm>
          <a:prstGeom prst="rect">
            <a:avLst/>
          </a:prstGeom>
          <a:noFill/>
          <a:ln/>
        </p:spPr>
        <p:txBody>
          <a:bodyPr wrap="square" lIns="0" tIns="0" rIns="0" bIns="0" rtlCol="0" anchor="t"/>
          <a:lstStyle/>
          <a:p>
            <a:pPr marL="0" indent="0">
              <a:buNone/>
            </a:pPr>
            <a:r>
              <a:rPr lang="en-US" sz="1250" dirty="0">
                <a:solidFill>
                  <a:srgbClr val="66728A"/>
                </a:solidFill>
                <a:latin typeface="Verdana" pitchFamily="34" charset="0"/>
                <a:ea typeface="Verdana" pitchFamily="34" charset="-122"/>
                <a:cs typeface="Verdana" pitchFamily="34" charset="-120"/>
              </a:rPr>
              <a:t>Réservante</a:t>
            </a:r>
            <a:endParaRPr lang="en-US" sz="1250" dirty="0"/>
          </a:p>
        </p:txBody>
      </p:sp>
      <p:sp>
        <p:nvSpPr>
          <p:cNvPr id="20" name="Shape 16"/>
          <p:cNvSpPr/>
          <p:nvPr/>
        </p:nvSpPr>
        <p:spPr>
          <a:xfrm>
            <a:off x="8183880" y="3291840"/>
            <a:ext cx="3474720" cy="621792"/>
          </a:xfrm>
          <a:prstGeom prst="roundRect">
            <a:avLst>
              <a:gd name="adj" fmla="val 29412"/>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1" name="Shape 17"/>
          <p:cNvSpPr/>
          <p:nvPr/>
        </p:nvSpPr>
        <p:spPr>
          <a:xfrm>
            <a:off x="8302752" y="3383280"/>
            <a:ext cx="438912" cy="438912"/>
          </a:xfrm>
          <a:prstGeom prst="roundRect">
            <a:avLst>
              <a:gd name="adj" fmla="val 20833"/>
            </a:avLst>
          </a:prstGeom>
          <a:solidFill>
            <a:srgbClr val="1F5BD6"/>
          </a:solidFill>
          <a:ln w="12700">
            <a:solidFill>
              <a:srgbClr val="1F5BD6"/>
            </a:solidFill>
            <a:prstDash val="solid"/>
          </a:ln>
        </p:spPr>
        <p:txBody>
          <a:bodyPr/>
          <a:lstStyle/>
          <a:p>
            <a:endParaRPr lang="fr-FR"/>
          </a:p>
        </p:txBody>
      </p:sp>
      <p:sp>
        <p:nvSpPr>
          <p:cNvPr id="22" name="Text 18"/>
          <p:cNvSpPr txBox="1"/>
          <p:nvPr/>
        </p:nvSpPr>
        <p:spPr>
          <a:xfrm>
            <a:off x="8302752" y="3383280"/>
            <a:ext cx="438912" cy="438912"/>
          </a:xfrm>
          <a:prstGeom prst="rect">
            <a:avLst/>
          </a:prstGeom>
          <a:noFill/>
          <a:ln/>
        </p:spPr>
        <p:txBody>
          <a:bodyPr wrap="square" lIns="0" tIns="0" rIns="0" bIns="0" rtlCol="0" anchor="ctr"/>
          <a:lstStyle/>
          <a:p>
            <a:pPr marL="0" indent="0" algn="ctr">
              <a:buNone/>
            </a:pPr>
            <a:r>
              <a:rPr lang="en-US" sz="1150" b="1" dirty="0">
                <a:solidFill>
                  <a:srgbClr val="FFFFFF"/>
                </a:solidFill>
                <a:latin typeface="Verdana" pitchFamily="34" charset="0"/>
                <a:ea typeface="Verdana" pitchFamily="34" charset="-122"/>
                <a:cs typeface="Verdana" pitchFamily="34" charset="-120"/>
              </a:rPr>
              <a:t>CNI</a:t>
            </a:r>
            <a:endParaRPr lang="en-US" sz="1150" dirty="0"/>
          </a:p>
        </p:txBody>
      </p:sp>
      <p:sp>
        <p:nvSpPr>
          <p:cNvPr id="23" name="Text 19"/>
          <p:cNvSpPr txBox="1"/>
          <p:nvPr/>
        </p:nvSpPr>
        <p:spPr>
          <a:xfrm>
            <a:off x="8869680" y="3355848"/>
            <a:ext cx="2743200" cy="274320"/>
          </a:xfrm>
          <a:prstGeom prst="rect">
            <a:avLst/>
          </a:prstGeom>
          <a:noFill/>
          <a:ln/>
        </p:spPr>
        <p:txBody>
          <a:bodyPr wrap="square" lIns="0" tIns="0" rIns="0" bIns="0" rtlCol="0" anchor="t"/>
          <a:lstStyle/>
          <a:p>
            <a:pPr marL="0" indent="0">
              <a:buNone/>
            </a:pPr>
            <a:r>
              <a:rPr lang="en-US" sz="1400" b="1" dirty="0">
                <a:solidFill>
                  <a:srgbClr val="0012B5"/>
                </a:solidFill>
                <a:latin typeface="Verdana" pitchFamily="34" charset="0"/>
                <a:ea typeface="Verdana" pitchFamily="34" charset="-122"/>
                <a:cs typeface="Verdana" pitchFamily="34" charset="-120"/>
              </a:rPr>
              <a:t>Marc Martin</a:t>
            </a:r>
            <a:endParaRPr lang="en-US" sz="1400" dirty="0"/>
          </a:p>
        </p:txBody>
      </p:sp>
      <p:sp>
        <p:nvSpPr>
          <p:cNvPr id="24" name="Text 20"/>
          <p:cNvSpPr txBox="1"/>
          <p:nvPr/>
        </p:nvSpPr>
        <p:spPr>
          <a:xfrm>
            <a:off x="8869680" y="3621024"/>
            <a:ext cx="2743200" cy="237744"/>
          </a:xfrm>
          <a:prstGeom prst="rect">
            <a:avLst/>
          </a:prstGeom>
          <a:noFill/>
          <a:ln/>
        </p:spPr>
        <p:txBody>
          <a:bodyPr wrap="square" lIns="0" tIns="0" rIns="0" bIns="0" rtlCol="0" anchor="t"/>
          <a:lstStyle/>
          <a:p>
            <a:pPr marL="0" indent="0">
              <a:buNone/>
            </a:pPr>
            <a:r>
              <a:rPr lang="en-US" sz="1250" dirty="0">
                <a:solidFill>
                  <a:srgbClr val="66728A"/>
                </a:solidFill>
                <a:latin typeface="Verdana" pitchFamily="34" charset="0"/>
                <a:ea typeface="Verdana" pitchFamily="34" charset="-122"/>
                <a:cs typeface="Verdana" pitchFamily="34" charset="-120"/>
              </a:rPr>
              <a:t>Accompagnant</a:t>
            </a:r>
            <a:endParaRPr lang="en-US" sz="1250" dirty="0"/>
          </a:p>
        </p:txBody>
      </p:sp>
      <p:sp>
        <p:nvSpPr>
          <p:cNvPr id="25" name="Shape 21"/>
          <p:cNvSpPr/>
          <p:nvPr/>
        </p:nvSpPr>
        <p:spPr>
          <a:xfrm>
            <a:off x="8183880" y="4023360"/>
            <a:ext cx="3474720" cy="621792"/>
          </a:xfrm>
          <a:prstGeom prst="roundRect">
            <a:avLst>
              <a:gd name="adj" fmla="val 29412"/>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6" name="Shape 22"/>
          <p:cNvSpPr/>
          <p:nvPr/>
        </p:nvSpPr>
        <p:spPr>
          <a:xfrm>
            <a:off x="8302752" y="4114800"/>
            <a:ext cx="438912" cy="438912"/>
          </a:xfrm>
          <a:prstGeom prst="roundRect">
            <a:avLst>
              <a:gd name="adj" fmla="val 20833"/>
            </a:avLst>
          </a:prstGeom>
          <a:solidFill>
            <a:srgbClr val="1F5BD6"/>
          </a:solidFill>
          <a:ln w="12700">
            <a:solidFill>
              <a:srgbClr val="1F5BD6"/>
            </a:solidFill>
            <a:prstDash val="solid"/>
          </a:ln>
        </p:spPr>
        <p:txBody>
          <a:bodyPr/>
          <a:lstStyle/>
          <a:p>
            <a:endParaRPr lang="fr-FR"/>
          </a:p>
        </p:txBody>
      </p:sp>
      <p:sp>
        <p:nvSpPr>
          <p:cNvPr id="27" name="Text 23"/>
          <p:cNvSpPr txBox="1"/>
          <p:nvPr/>
        </p:nvSpPr>
        <p:spPr>
          <a:xfrm>
            <a:off x="8302752" y="4114800"/>
            <a:ext cx="438912" cy="438912"/>
          </a:xfrm>
          <a:prstGeom prst="rect">
            <a:avLst/>
          </a:prstGeom>
          <a:noFill/>
          <a:ln/>
        </p:spPr>
        <p:txBody>
          <a:bodyPr wrap="square" lIns="0" tIns="0" rIns="0" bIns="0" rtlCol="0" anchor="ctr"/>
          <a:lstStyle/>
          <a:p>
            <a:pPr marL="0" indent="0" algn="ctr">
              <a:buNone/>
            </a:pPr>
            <a:r>
              <a:rPr lang="en-US" sz="1150" b="1" dirty="0">
                <a:solidFill>
                  <a:srgbClr val="FFFFFF"/>
                </a:solidFill>
                <a:latin typeface="Verdana" pitchFamily="34" charset="0"/>
                <a:ea typeface="Verdana" pitchFamily="34" charset="-122"/>
                <a:cs typeface="Verdana" pitchFamily="34" charset="-120"/>
              </a:rPr>
              <a:t>CNI</a:t>
            </a:r>
            <a:endParaRPr lang="en-US" sz="1150" dirty="0"/>
          </a:p>
        </p:txBody>
      </p:sp>
      <p:sp>
        <p:nvSpPr>
          <p:cNvPr id="28" name="Text 24"/>
          <p:cNvSpPr txBox="1"/>
          <p:nvPr/>
        </p:nvSpPr>
        <p:spPr>
          <a:xfrm>
            <a:off x="8869680" y="4087368"/>
            <a:ext cx="2743200" cy="274320"/>
          </a:xfrm>
          <a:prstGeom prst="rect">
            <a:avLst/>
          </a:prstGeom>
          <a:noFill/>
          <a:ln/>
        </p:spPr>
        <p:txBody>
          <a:bodyPr wrap="square" lIns="0" tIns="0" rIns="0" bIns="0" rtlCol="0" anchor="t"/>
          <a:lstStyle/>
          <a:p>
            <a:pPr marL="0" indent="0">
              <a:buNone/>
            </a:pPr>
            <a:r>
              <a:rPr lang="en-US" sz="1400" b="1" dirty="0">
                <a:solidFill>
                  <a:srgbClr val="0012B5"/>
                </a:solidFill>
                <a:latin typeface="Verdana" pitchFamily="34" charset="0"/>
                <a:ea typeface="Verdana" pitchFamily="34" charset="-122"/>
                <a:cs typeface="Verdana" pitchFamily="34" charset="-120"/>
              </a:rPr>
              <a:t>Léo Martin</a:t>
            </a:r>
            <a:endParaRPr lang="en-US" sz="1400" dirty="0"/>
          </a:p>
        </p:txBody>
      </p:sp>
      <p:sp>
        <p:nvSpPr>
          <p:cNvPr id="29" name="Text 25"/>
          <p:cNvSpPr txBox="1"/>
          <p:nvPr/>
        </p:nvSpPr>
        <p:spPr>
          <a:xfrm>
            <a:off x="8869680" y="4352544"/>
            <a:ext cx="2743200" cy="237744"/>
          </a:xfrm>
          <a:prstGeom prst="rect">
            <a:avLst/>
          </a:prstGeom>
          <a:noFill/>
          <a:ln/>
        </p:spPr>
        <p:txBody>
          <a:bodyPr wrap="square" lIns="0" tIns="0" rIns="0" bIns="0" rtlCol="0" anchor="t"/>
          <a:lstStyle/>
          <a:p>
            <a:pPr marL="0" indent="0">
              <a:buNone/>
            </a:pPr>
            <a:r>
              <a:rPr lang="en-US" sz="1250" dirty="0">
                <a:solidFill>
                  <a:srgbClr val="66728A"/>
                </a:solidFill>
                <a:latin typeface="Verdana" pitchFamily="34" charset="0"/>
                <a:ea typeface="Verdana" pitchFamily="34" charset="-122"/>
                <a:cs typeface="Verdana" pitchFamily="34" charset="-120"/>
              </a:rPr>
              <a:t>Accompagnant</a:t>
            </a:r>
            <a:endParaRPr lang="en-US" sz="1250" dirty="0"/>
          </a:p>
        </p:txBody>
      </p:sp>
      <p:sp>
        <p:nvSpPr>
          <p:cNvPr id="30" name="Text 26"/>
          <p:cNvSpPr txBox="1"/>
          <p:nvPr/>
        </p:nvSpPr>
        <p:spPr>
          <a:xfrm>
            <a:off x="8183880" y="4892040"/>
            <a:ext cx="3474720" cy="146304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D2838"/>
                </a:solidFill>
                <a:latin typeface="Verdana" pitchFamily="34" charset="0"/>
                <a:ea typeface="Verdana" pitchFamily="34" charset="-122"/>
                <a:cs typeface="Verdana" pitchFamily="34" charset="-120"/>
              </a:rPr>
              <a:t>Jointes d’office</a:t>
            </a:r>
            <a:endParaRPr lang="en-US" sz="1400" dirty="0"/>
          </a:p>
          <a:p>
            <a:pPr marL="177800" indent="-177800">
              <a:spcAft>
                <a:spcPts val="400"/>
              </a:spcAft>
              <a:buSzPct val="100000"/>
              <a:buChar char="•"/>
            </a:pPr>
            <a:r>
              <a:rPr lang="en-US" sz="1400" dirty="0">
                <a:solidFill>
                  <a:srgbClr val="1D2838"/>
                </a:solidFill>
                <a:latin typeface="Verdana" pitchFamily="34" charset="0"/>
                <a:ea typeface="Verdana" pitchFamily="34" charset="-122"/>
                <a:cs typeface="Verdana" pitchFamily="34" charset="-120"/>
              </a:rPr>
              <a:t>Un seul e-mail, CROSS et SNSM</a:t>
            </a:r>
            <a:endParaRPr lang="en-US" sz="1400" dirty="0"/>
          </a:p>
          <a:p>
            <a:pPr marL="177800" indent="-177800">
              <a:spcAft>
                <a:spcPts val="400"/>
              </a:spcAft>
              <a:buSzPct val="100000"/>
              <a:buChar char="•"/>
            </a:pPr>
            <a:r>
              <a:rPr lang="en-US" sz="1400" dirty="0">
                <a:solidFill>
                  <a:srgbClr val="1D2838"/>
                </a:solidFill>
                <a:latin typeface="Verdana" pitchFamily="34" charset="0"/>
                <a:ea typeface="Verdana" pitchFamily="34" charset="-122"/>
                <a:cs typeface="Verdana" pitchFamily="34" charset="-120"/>
              </a:rPr>
              <a:t>Trop lourd : liens de 7 jours</a:t>
            </a:r>
            <a:endParaRPr lang="en-US" sz="1400" dirty="0"/>
          </a:p>
          <a:p>
            <a:pPr marL="177800" indent="-177800">
              <a:spcAft>
                <a:spcPts val="400"/>
              </a:spcAft>
              <a:buSzPct val="100000"/>
              <a:buChar char="•"/>
            </a:pPr>
            <a:r>
              <a:rPr lang="en-US" sz="1400" dirty="0">
                <a:solidFill>
                  <a:srgbClr val="1D2838"/>
                </a:solidFill>
                <a:latin typeface="Verdana" pitchFamily="34" charset="0"/>
                <a:ea typeface="Verdana" pitchFamily="34" charset="-122"/>
                <a:cs typeface="Verdana" pitchFamily="34" charset="-120"/>
              </a:rPr>
              <a:t>Réponses au patron</a:t>
            </a:r>
            <a:endParaRPr lang="en-US" sz="1400" dirty="0"/>
          </a:p>
        </p:txBody>
      </p:sp>
      <p:sp>
        <p:nvSpPr>
          <p:cNvPr id="31" name="Text 27"/>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58</a:t>
            </a:r>
            <a:endParaRPr lang="en-US" sz="11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8">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ANNEXE · MESSAGES</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Les SMS reçus par le patron</a:t>
            </a:r>
            <a:endParaRPr lang="en-US" sz="2500" dirty="0"/>
          </a:p>
        </p:txBody>
      </p:sp>
      <p:sp>
        <p:nvSpPr>
          <p:cNvPr id="4" name="Text 2"/>
          <p:cNvSpPr txBox="1"/>
          <p:nvPr/>
        </p:nvSpPr>
        <p:spPr>
          <a:xfrm>
            <a:off x="548640" y="1216152"/>
            <a:ext cx="11094415" cy="457200"/>
          </a:xfrm>
          <a:prstGeom prst="rect">
            <a:avLst/>
          </a:prstGeom>
          <a:noFill/>
          <a:ln/>
        </p:spPr>
        <p:txBody>
          <a:bodyPr wrap="square" lIns="0" tIns="0" rIns="0" bIns="0" rtlCol="0" anchor="t"/>
          <a:lstStyle/>
          <a:p>
            <a:pPr marL="0" indent="0">
              <a:buNone/>
            </a:pPr>
            <a:r>
              <a:rPr lang="en-US" sz="1450" dirty="0">
                <a:solidFill>
                  <a:srgbClr val="66728A"/>
                </a:solidFill>
                <a:latin typeface="Verdana" pitchFamily="34" charset="0"/>
                <a:ea typeface="Verdana" pitchFamily="34" charset="-122"/>
                <a:cs typeface="Verdana" pitchFamily="34" charset="-120"/>
              </a:rPr>
              <a:t>Envoyés sous le nom « MareDurab ». Sans portable, le patron reçoit seulement les e-mails.</a:t>
            </a:r>
            <a:endParaRPr lang="en-US" sz="1450" dirty="0"/>
          </a:p>
        </p:txBody>
      </p:sp>
      <p:sp>
        <p:nvSpPr>
          <p:cNvPr id="5" name="Shape 3"/>
          <p:cNvSpPr/>
          <p:nvPr/>
        </p:nvSpPr>
        <p:spPr>
          <a:xfrm>
            <a:off x="731520" y="1783080"/>
            <a:ext cx="3657600" cy="4663440"/>
          </a:xfrm>
          <a:prstGeom prst="roundRect">
            <a:avLst>
              <a:gd name="adj" fmla="val 11250"/>
            </a:avLst>
          </a:prstGeom>
          <a:solidFill>
            <a:srgbClr val="232A38"/>
          </a:solidFill>
          <a:ln w="12700">
            <a:solidFill>
              <a:srgbClr val="232A38"/>
            </a:solidFill>
            <a:prstDash val="solid"/>
          </a:ln>
        </p:spPr>
        <p:txBody>
          <a:bodyPr/>
          <a:lstStyle/>
          <a:p>
            <a:endParaRPr lang="fr-FR"/>
          </a:p>
        </p:txBody>
      </p:sp>
      <p:sp>
        <p:nvSpPr>
          <p:cNvPr id="6" name="Shape 4"/>
          <p:cNvSpPr/>
          <p:nvPr/>
        </p:nvSpPr>
        <p:spPr>
          <a:xfrm>
            <a:off x="868680" y="1920240"/>
            <a:ext cx="3383280" cy="4389120"/>
          </a:xfrm>
          <a:prstGeom prst="roundRect">
            <a:avLst>
              <a:gd name="adj" fmla="val 9459"/>
            </a:avLst>
          </a:prstGeom>
          <a:solidFill>
            <a:srgbClr val="F4F6F9"/>
          </a:solidFill>
          <a:ln w="12700">
            <a:solidFill>
              <a:srgbClr val="F4F6F9"/>
            </a:solidFill>
            <a:prstDash val="solid"/>
          </a:ln>
        </p:spPr>
        <p:txBody>
          <a:bodyPr/>
          <a:lstStyle/>
          <a:p>
            <a:endParaRPr lang="fr-FR"/>
          </a:p>
        </p:txBody>
      </p:sp>
      <p:sp>
        <p:nvSpPr>
          <p:cNvPr id="7" name="Text 5"/>
          <p:cNvSpPr txBox="1"/>
          <p:nvPr/>
        </p:nvSpPr>
        <p:spPr>
          <a:xfrm>
            <a:off x="868680" y="2011680"/>
            <a:ext cx="3383280" cy="365760"/>
          </a:xfrm>
          <a:prstGeom prst="rect">
            <a:avLst/>
          </a:prstGeom>
          <a:noFill/>
          <a:ln/>
        </p:spPr>
        <p:txBody>
          <a:bodyPr wrap="square" lIns="0" tIns="0" rIns="0" bIns="0" rtlCol="0" anchor="ctr"/>
          <a:lstStyle/>
          <a:p>
            <a:pPr marL="0" indent="0" algn="ctr">
              <a:buNone/>
            </a:pPr>
            <a:r>
              <a:rPr lang="en-US" sz="1450" b="1" dirty="0">
                <a:solidFill>
                  <a:srgbClr val="1D2838"/>
                </a:solidFill>
                <a:latin typeface="Verdana" pitchFamily="34" charset="0"/>
                <a:ea typeface="Verdana" pitchFamily="34" charset="-122"/>
                <a:cs typeface="Verdana" pitchFamily="34" charset="-120"/>
              </a:rPr>
              <a:t>MareDurab</a:t>
            </a:r>
            <a:endParaRPr lang="en-US" sz="1450" dirty="0"/>
          </a:p>
        </p:txBody>
      </p:sp>
      <p:sp>
        <p:nvSpPr>
          <p:cNvPr id="8" name="Shape 6"/>
          <p:cNvSpPr/>
          <p:nvPr/>
        </p:nvSpPr>
        <p:spPr>
          <a:xfrm>
            <a:off x="1005840" y="2514600"/>
            <a:ext cx="3017520" cy="1737360"/>
          </a:xfrm>
          <a:prstGeom prst="roundRect">
            <a:avLst>
              <a:gd name="adj" fmla="val 10526"/>
            </a:avLst>
          </a:prstGeom>
          <a:solidFill>
            <a:srgbClr val="E2E6EC"/>
          </a:solidFill>
          <a:ln w="12700">
            <a:solidFill>
              <a:srgbClr val="E2E6EC"/>
            </a:solidFill>
            <a:prstDash val="solid"/>
          </a:ln>
        </p:spPr>
        <p:txBody>
          <a:bodyPr/>
          <a:lstStyle/>
          <a:p>
            <a:endParaRPr lang="fr-FR"/>
          </a:p>
        </p:txBody>
      </p:sp>
      <p:sp>
        <p:nvSpPr>
          <p:cNvPr id="9" name="Text 7"/>
          <p:cNvSpPr txBox="1"/>
          <p:nvPr/>
        </p:nvSpPr>
        <p:spPr>
          <a:xfrm>
            <a:off x="1143000" y="2587752"/>
            <a:ext cx="2743200" cy="1591056"/>
          </a:xfrm>
          <a:prstGeom prst="rect">
            <a:avLst/>
          </a:prstGeom>
          <a:noFill/>
          <a:ln/>
        </p:spPr>
        <p:txBody>
          <a:bodyPr wrap="square" lIns="0" tIns="0" rIns="0" bIns="0" rtlCol="0" anchor="ctr"/>
          <a:lstStyle/>
          <a:p>
            <a:pPr marL="0" indent="0">
              <a:buNone/>
            </a:pPr>
            <a:r>
              <a:rPr lang="en-US" sz="950" dirty="0">
                <a:solidFill>
                  <a:srgbClr val="1D2838"/>
                </a:solidFill>
                <a:latin typeface="Verdana" pitchFamily="34" charset="0"/>
                <a:ea typeface="Verdana" pitchFamily="34" charset="-122"/>
                <a:cs typeface="Verdana" pitchFamily="34" charset="-120"/>
              </a:rPr>
              <a:t>Mare Durabilis : nouvelle demande de sortie le samedi 10 octobre — 3 pers. (Julie). Acceptez ou refusez sous 72h dans votre Espace pecheur : https://services.maredurabilis.org/#espace-pecheur</a:t>
            </a:r>
            <a:endParaRPr lang="en-US" sz="950" dirty="0"/>
          </a:p>
        </p:txBody>
      </p:sp>
      <p:sp>
        <p:nvSpPr>
          <p:cNvPr id="10" name="Shape 8"/>
          <p:cNvSpPr/>
          <p:nvPr/>
        </p:nvSpPr>
        <p:spPr>
          <a:xfrm>
            <a:off x="1005840" y="4434840"/>
            <a:ext cx="3017520" cy="1234440"/>
          </a:xfrm>
          <a:prstGeom prst="roundRect">
            <a:avLst>
              <a:gd name="adj" fmla="val 14815"/>
            </a:avLst>
          </a:prstGeom>
          <a:solidFill>
            <a:srgbClr val="E2E6EC"/>
          </a:solidFill>
          <a:ln w="12700">
            <a:solidFill>
              <a:srgbClr val="E2E6EC"/>
            </a:solidFill>
            <a:prstDash val="solid"/>
          </a:ln>
        </p:spPr>
        <p:txBody>
          <a:bodyPr/>
          <a:lstStyle/>
          <a:p>
            <a:endParaRPr lang="fr-FR"/>
          </a:p>
        </p:txBody>
      </p:sp>
      <p:sp>
        <p:nvSpPr>
          <p:cNvPr id="11" name="Text 9"/>
          <p:cNvSpPr txBox="1"/>
          <p:nvPr/>
        </p:nvSpPr>
        <p:spPr>
          <a:xfrm>
            <a:off x="1143000" y="4507992"/>
            <a:ext cx="2743200" cy="1088136"/>
          </a:xfrm>
          <a:prstGeom prst="rect">
            <a:avLst/>
          </a:prstGeom>
          <a:noFill/>
          <a:ln/>
        </p:spPr>
        <p:txBody>
          <a:bodyPr wrap="square" lIns="0" tIns="0" rIns="0" bIns="0" rtlCol="0" anchor="ctr"/>
          <a:lstStyle/>
          <a:p>
            <a:pPr marL="0" indent="0">
              <a:buNone/>
            </a:pPr>
            <a:r>
              <a:rPr lang="en-US" sz="950" dirty="0">
                <a:solidFill>
                  <a:srgbClr val="1D2838"/>
                </a:solidFill>
                <a:latin typeface="Verdana" pitchFamily="34" charset="0"/>
                <a:ea typeface="Verdana" pitchFamily="34" charset="-122"/>
                <a:cs typeface="Verdana" pitchFamily="34" charset="-120"/>
              </a:rPr>
              <a:t>Mare Durabilis : votre navire OLGA est RETENU pour la mission de Ifremer — station de Sète (du jeudi 15 octobre au vendredi 16 octobre). L'organisme va vous contacter.</a:t>
            </a:r>
            <a:endParaRPr lang="en-US" sz="950" dirty="0"/>
          </a:p>
        </p:txBody>
      </p:sp>
      <p:sp>
        <p:nvSpPr>
          <p:cNvPr id="12" name="Shape 10"/>
          <p:cNvSpPr/>
          <p:nvPr/>
        </p:nvSpPr>
        <p:spPr>
          <a:xfrm>
            <a:off x="4800600" y="1783080"/>
            <a:ext cx="457200" cy="457200"/>
          </a:xfrm>
          <a:prstGeom prst="ellipse">
            <a:avLst/>
          </a:prstGeom>
          <a:solidFill>
            <a:srgbClr val="0E9F6E"/>
          </a:solidFill>
          <a:ln w="12700">
            <a:solidFill>
              <a:srgbClr val="0E9F6E"/>
            </a:solidFill>
            <a:prstDash val="solid"/>
          </a:ln>
        </p:spPr>
        <p:txBody>
          <a:bodyPr/>
          <a:lstStyle/>
          <a:p>
            <a:endParaRPr lang="fr-FR"/>
          </a:p>
        </p:txBody>
      </p:sp>
      <p:pic>
        <p:nvPicPr>
          <p:cNvPr id="13" name="Image 0" descr="preencoded.png"/>
          <p:cNvPicPr>
            <a:picLocks noChangeAspect="1"/>
          </p:cNvPicPr>
          <p:nvPr/>
        </p:nvPicPr>
        <p:blipFill>
          <a:blip r:embed="rId3"/>
          <a:stretch>
            <a:fillRect/>
          </a:stretch>
        </p:blipFill>
        <p:spPr>
          <a:xfrm>
            <a:off x="4914900" y="1897380"/>
            <a:ext cx="228600" cy="228600"/>
          </a:xfrm>
          <a:prstGeom prst="rect">
            <a:avLst/>
          </a:prstGeom>
        </p:spPr>
      </p:pic>
      <p:sp>
        <p:nvSpPr>
          <p:cNvPr id="14" name="Text 11"/>
          <p:cNvSpPr txBox="1"/>
          <p:nvPr/>
        </p:nvSpPr>
        <p:spPr>
          <a:xfrm>
            <a:off x="5440680" y="1764792"/>
            <a:ext cx="6217920" cy="292608"/>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Nouvelle demande payée</a:t>
            </a:r>
            <a:endParaRPr lang="en-US" sz="1550" dirty="0"/>
          </a:p>
        </p:txBody>
      </p:sp>
      <p:sp>
        <p:nvSpPr>
          <p:cNvPr id="15" name="Text 12"/>
          <p:cNvSpPr txBox="1"/>
          <p:nvPr/>
        </p:nvSpPr>
        <p:spPr>
          <a:xfrm>
            <a:off x="5440680" y="2075688"/>
            <a:ext cx="6217920" cy="603504"/>
          </a:xfrm>
          <a:prstGeom prst="rect">
            <a:avLst/>
          </a:prstGeom>
          <a:noFill/>
          <a:ln/>
        </p:spPr>
        <p:txBody>
          <a:bodyPr wrap="square" lIns="0" tIns="0" rIns="0" bIns="0" rtlCol="0" anchor="t"/>
          <a:lstStyle/>
          <a:p>
            <a:pPr marL="0" indent="0">
              <a:buNone/>
            </a:pPr>
            <a:r>
              <a:rPr lang="en-US" sz="1000" i="1" dirty="0">
                <a:solidFill>
                  <a:srgbClr val="66728A"/>
                </a:solidFill>
                <a:latin typeface="Verdana" pitchFamily="34" charset="0"/>
                <a:ea typeface="Verdana" pitchFamily="34" charset="-122"/>
                <a:cs typeface="Verdana" pitchFamily="34" charset="-120"/>
              </a:rPr>
              <a:t>« Mare Durabilis : nouvelle demande de sortie le samedi 10 octobre — 3 pers. (Julie). Acceptez ou refusez sous 72h dans votre Espace pecheur : https://services.maredurabilis.org/#espace-pecheur »</a:t>
            </a:r>
            <a:endParaRPr lang="en-US" sz="1000" dirty="0"/>
          </a:p>
        </p:txBody>
      </p:sp>
      <p:sp>
        <p:nvSpPr>
          <p:cNvPr id="16" name="Shape 13"/>
          <p:cNvSpPr/>
          <p:nvPr/>
        </p:nvSpPr>
        <p:spPr>
          <a:xfrm>
            <a:off x="4800600" y="2715768"/>
            <a:ext cx="457200" cy="457200"/>
          </a:xfrm>
          <a:prstGeom prst="ellipse">
            <a:avLst/>
          </a:prstGeom>
          <a:solidFill>
            <a:srgbClr val="0E9F6E"/>
          </a:solidFill>
          <a:ln w="12700">
            <a:solidFill>
              <a:srgbClr val="0E9F6E"/>
            </a:solidFill>
            <a:prstDash val="solid"/>
          </a:ln>
        </p:spPr>
        <p:txBody>
          <a:bodyPr/>
          <a:lstStyle/>
          <a:p>
            <a:endParaRPr lang="fr-FR"/>
          </a:p>
        </p:txBody>
      </p:sp>
      <p:pic>
        <p:nvPicPr>
          <p:cNvPr id="17" name="Image 1" descr="preencoded.png"/>
          <p:cNvPicPr>
            <a:picLocks noChangeAspect="1"/>
          </p:cNvPicPr>
          <p:nvPr/>
        </p:nvPicPr>
        <p:blipFill>
          <a:blip r:embed="rId3"/>
          <a:stretch>
            <a:fillRect/>
          </a:stretch>
        </p:blipFill>
        <p:spPr>
          <a:xfrm>
            <a:off x="4914900" y="2830068"/>
            <a:ext cx="228600" cy="228600"/>
          </a:xfrm>
          <a:prstGeom prst="rect">
            <a:avLst/>
          </a:prstGeom>
        </p:spPr>
      </p:pic>
      <p:sp>
        <p:nvSpPr>
          <p:cNvPr id="18" name="Text 14"/>
          <p:cNvSpPr txBox="1"/>
          <p:nvPr/>
        </p:nvSpPr>
        <p:spPr>
          <a:xfrm>
            <a:off x="5440680" y="2697480"/>
            <a:ext cx="6217920" cy="292608"/>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Dernier jour sans réponse</a:t>
            </a:r>
            <a:endParaRPr lang="en-US" sz="1550" dirty="0"/>
          </a:p>
        </p:txBody>
      </p:sp>
      <p:sp>
        <p:nvSpPr>
          <p:cNvPr id="19" name="Text 15"/>
          <p:cNvSpPr txBox="1"/>
          <p:nvPr/>
        </p:nvSpPr>
        <p:spPr>
          <a:xfrm>
            <a:off x="5440680" y="3008376"/>
            <a:ext cx="6217920" cy="603504"/>
          </a:xfrm>
          <a:prstGeom prst="rect">
            <a:avLst/>
          </a:prstGeom>
          <a:noFill/>
          <a:ln/>
        </p:spPr>
        <p:txBody>
          <a:bodyPr wrap="square" lIns="0" tIns="0" rIns="0" bIns="0" rtlCol="0" anchor="t"/>
          <a:lstStyle/>
          <a:p>
            <a:pPr marL="0" indent="0">
              <a:buNone/>
            </a:pPr>
            <a:r>
              <a:rPr lang="en-US" sz="1000" i="1" dirty="0">
                <a:solidFill>
                  <a:srgbClr val="66728A"/>
                </a:solidFill>
                <a:latin typeface="Verdana" pitchFamily="34" charset="0"/>
                <a:ea typeface="Verdana" pitchFamily="34" charset="-122"/>
                <a:cs typeface="Verdana" pitchFamily="34" charset="-120"/>
              </a:rPr>
              <a:t>« Mare Durabilis DERNIER RAPPEL : la demande de sortie du samedi 10 octobre (3 pers.) expire aujourd'hui. Acceptez ou refusez MAINTENANT dans votre Espace pecheur : https://services.maredurabilis.org/#espace-pecheur »</a:t>
            </a:r>
            <a:endParaRPr lang="en-US" sz="1000" dirty="0"/>
          </a:p>
        </p:txBody>
      </p:sp>
      <p:sp>
        <p:nvSpPr>
          <p:cNvPr id="20" name="Shape 16"/>
          <p:cNvSpPr/>
          <p:nvPr/>
        </p:nvSpPr>
        <p:spPr>
          <a:xfrm>
            <a:off x="4800600" y="3648456"/>
            <a:ext cx="457200" cy="457200"/>
          </a:xfrm>
          <a:prstGeom prst="ellipse">
            <a:avLst/>
          </a:prstGeom>
          <a:solidFill>
            <a:srgbClr val="0E9F6E"/>
          </a:solidFill>
          <a:ln w="12700">
            <a:solidFill>
              <a:srgbClr val="0E9F6E"/>
            </a:solidFill>
            <a:prstDash val="solid"/>
          </a:ln>
        </p:spPr>
        <p:txBody>
          <a:bodyPr/>
          <a:lstStyle/>
          <a:p>
            <a:endParaRPr lang="fr-FR"/>
          </a:p>
        </p:txBody>
      </p:sp>
      <p:pic>
        <p:nvPicPr>
          <p:cNvPr id="21" name="Image 2" descr="preencoded.png"/>
          <p:cNvPicPr>
            <a:picLocks noChangeAspect="1"/>
          </p:cNvPicPr>
          <p:nvPr/>
        </p:nvPicPr>
        <p:blipFill>
          <a:blip r:embed="rId3"/>
          <a:stretch>
            <a:fillRect/>
          </a:stretch>
        </p:blipFill>
        <p:spPr>
          <a:xfrm>
            <a:off x="4914900" y="3762756"/>
            <a:ext cx="228600" cy="228600"/>
          </a:xfrm>
          <a:prstGeom prst="rect">
            <a:avLst/>
          </a:prstGeom>
        </p:spPr>
      </p:pic>
      <p:sp>
        <p:nvSpPr>
          <p:cNvPr id="22" name="Text 17"/>
          <p:cNvSpPr txBox="1"/>
          <p:nvPr/>
        </p:nvSpPr>
        <p:spPr>
          <a:xfrm>
            <a:off x="5440680" y="3630168"/>
            <a:ext cx="6217920" cy="292608"/>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Appel à candidature</a:t>
            </a:r>
            <a:endParaRPr lang="en-US" sz="1550" dirty="0"/>
          </a:p>
        </p:txBody>
      </p:sp>
      <p:sp>
        <p:nvSpPr>
          <p:cNvPr id="23" name="Text 18"/>
          <p:cNvSpPr txBox="1"/>
          <p:nvPr/>
        </p:nvSpPr>
        <p:spPr>
          <a:xfrm>
            <a:off x="5440680" y="3941064"/>
            <a:ext cx="6217920" cy="603504"/>
          </a:xfrm>
          <a:prstGeom prst="rect">
            <a:avLst/>
          </a:prstGeom>
          <a:noFill/>
          <a:ln/>
        </p:spPr>
        <p:txBody>
          <a:bodyPr wrap="square" lIns="0" tIns="0" rIns="0" bIns="0" rtlCol="0" anchor="t"/>
          <a:lstStyle/>
          <a:p>
            <a:pPr marL="0" indent="0">
              <a:buNone/>
            </a:pPr>
            <a:r>
              <a:rPr lang="en-US" sz="1000" i="1" dirty="0">
                <a:solidFill>
                  <a:srgbClr val="66728A"/>
                </a:solidFill>
                <a:latin typeface="Verdana" pitchFamily="34" charset="0"/>
                <a:ea typeface="Verdana" pitchFamily="34" charset="-122"/>
                <a:cs typeface="Verdana" pitchFamily="34" charset="-120"/>
              </a:rPr>
              <a:t>« Mare Durabilis : nouvel appel a candidature EMBARQUEMENT SCIENTIFIQUE de Ifremer — station de Sète (du jeudi 15 octobre au vendredi 16 octobre). Repondez depuis votre e-mail ou votre Espace pecheur : https://services.maredurabilis.org »</a:t>
            </a:r>
            <a:endParaRPr lang="en-US" sz="1000" dirty="0"/>
          </a:p>
        </p:txBody>
      </p:sp>
      <p:sp>
        <p:nvSpPr>
          <p:cNvPr id="24" name="Shape 19"/>
          <p:cNvSpPr/>
          <p:nvPr/>
        </p:nvSpPr>
        <p:spPr>
          <a:xfrm>
            <a:off x="4800600" y="4581144"/>
            <a:ext cx="457200" cy="457200"/>
          </a:xfrm>
          <a:prstGeom prst="ellipse">
            <a:avLst/>
          </a:prstGeom>
          <a:solidFill>
            <a:srgbClr val="0E9F6E"/>
          </a:solidFill>
          <a:ln w="12700">
            <a:solidFill>
              <a:srgbClr val="0E9F6E"/>
            </a:solidFill>
            <a:prstDash val="solid"/>
          </a:ln>
        </p:spPr>
        <p:txBody>
          <a:bodyPr/>
          <a:lstStyle/>
          <a:p>
            <a:endParaRPr lang="fr-FR"/>
          </a:p>
        </p:txBody>
      </p:sp>
      <p:pic>
        <p:nvPicPr>
          <p:cNvPr id="25" name="Image 3" descr="preencoded.png"/>
          <p:cNvPicPr>
            <a:picLocks noChangeAspect="1"/>
          </p:cNvPicPr>
          <p:nvPr/>
        </p:nvPicPr>
        <p:blipFill>
          <a:blip r:embed="rId3"/>
          <a:stretch>
            <a:fillRect/>
          </a:stretch>
        </p:blipFill>
        <p:spPr>
          <a:xfrm>
            <a:off x="4914900" y="4695444"/>
            <a:ext cx="228600" cy="228600"/>
          </a:xfrm>
          <a:prstGeom prst="rect">
            <a:avLst/>
          </a:prstGeom>
        </p:spPr>
      </p:pic>
      <p:sp>
        <p:nvSpPr>
          <p:cNvPr id="26" name="Text 20"/>
          <p:cNvSpPr txBox="1"/>
          <p:nvPr/>
        </p:nvSpPr>
        <p:spPr>
          <a:xfrm>
            <a:off x="5440680" y="4562856"/>
            <a:ext cx="6217920" cy="292608"/>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Navire retenu au tirage</a:t>
            </a:r>
            <a:endParaRPr lang="en-US" sz="1550" dirty="0"/>
          </a:p>
        </p:txBody>
      </p:sp>
      <p:sp>
        <p:nvSpPr>
          <p:cNvPr id="27" name="Text 21"/>
          <p:cNvSpPr txBox="1"/>
          <p:nvPr/>
        </p:nvSpPr>
        <p:spPr>
          <a:xfrm>
            <a:off x="5440680" y="4873752"/>
            <a:ext cx="6217920" cy="603504"/>
          </a:xfrm>
          <a:prstGeom prst="rect">
            <a:avLst/>
          </a:prstGeom>
          <a:noFill/>
          <a:ln/>
        </p:spPr>
        <p:txBody>
          <a:bodyPr wrap="square" lIns="0" tIns="0" rIns="0" bIns="0" rtlCol="0" anchor="t"/>
          <a:lstStyle/>
          <a:p>
            <a:pPr marL="0" indent="0">
              <a:buNone/>
            </a:pPr>
            <a:r>
              <a:rPr lang="en-US" sz="1000" i="1" dirty="0">
                <a:solidFill>
                  <a:srgbClr val="66728A"/>
                </a:solidFill>
                <a:latin typeface="Verdana" pitchFamily="34" charset="0"/>
                <a:ea typeface="Verdana" pitchFamily="34" charset="-122"/>
                <a:cs typeface="Verdana" pitchFamily="34" charset="-120"/>
              </a:rPr>
              <a:t>« Mare Durabilis : votre navire OLGA est RETENU pour la mission de Ifremer — station de Sète (du jeudi 15 octobre au vendredi 16 octobre). L'organisme va vous contacter. »</a:t>
            </a:r>
            <a:endParaRPr lang="en-US" sz="1000" dirty="0"/>
          </a:p>
        </p:txBody>
      </p:sp>
      <p:sp>
        <p:nvSpPr>
          <p:cNvPr id="28" name="Shape 22"/>
          <p:cNvSpPr/>
          <p:nvPr/>
        </p:nvSpPr>
        <p:spPr>
          <a:xfrm>
            <a:off x="4800600" y="5513832"/>
            <a:ext cx="457200" cy="457200"/>
          </a:xfrm>
          <a:prstGeom prst="ellipse">
            <a:avLst/>
          </a:prstGeom>
          <a:solidFill>
            <a:srgbClr val="0E9F6E"/>
          </a:solidFill>
          <a:ln w="12700">
            <a:solidFill>
              <a:srgbClr val="0E9F6E"/>
            </a:solidFill>
            <a:prstDash val="solid"/>
          </a:ln>
        </p:spPr>
        <p:txBody>
          <a:bodyPr/>
          <a:lstStyle/>
          <a:p>
            <a:endParaRPr lang="fr-FR"/>
          </a:p>
        </p:txBody>
      </p:sp>
      <p:pic>
        <p:nvPicPr>
          <p:cNvPr id="29" name="Image 4" descr="preencoded.png"/>
          <p:cNvPicPr>
            <a:picLocks noChangeAspect="1"/>
          </p:cNvPicPr>
          <p:nvPr/>
        </p:nvPicPr>
        <p:blipFill>
          <a:blip r:embed="rId3"/>
          <a:stretch>
            <a:fillRect/>
          </a:stretch>
        </p:blipFill>
        <p:spPr>
          <a:xfrm>
            <a:off x="4914900" y="5628132"/>
            <a:ext cx="228600" cy="228600"/>
          </a:xfrm>
          <a:prstGeom prst="rect">
            <a:avLst/>
          </a:prstGeom>
        </p:spPr>
      </p:pic>
      <p:sp>
        <p:nvSpPr>
          <p:cNvPr id="30" name="Text 23"/>
          <p:cNvSpPr txBox="1"/>
          <p:nvPr/>
        </p:nvSpPr>
        <p:spPr>
          <a:xfrm>
            <a:off x="5440680" y="5495544"/>
            <a:ext cx="6217920" cy="292608"/>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Le client annule</a:t>
            </a:r>
            <a:endParaRPr lang="en-US" sz="1550" dirty="0"/>
          </a:p>
        </p:txBody>
      </p:sp>
      <p:sp>
        <p:nvSpPr>
          <p:cNvPr id="31" name="Text 24"/>
          <p:cNvSpPr txBox="1"/>
          <p:nvPr/>
        </p:nvSpPr>
        <p:spPr>
          <a:xfrm>
            <a:off x="5440680" y="5806440"/>
            <a:ext cx="6217920" cy="603504"/>
          </a:xfrm>
          <a:prstGeom prst="rect">
            <a:avLst/>
          </a:prstGeom>
          <a:noFill/>
          <a:ln/>
        </p:spPr>
        <p:txBody>
          <a:bodyPr wrap="square" lIns="0" tIns="0" rIns="0" bIns="0" rtlCol="0" anchor="t"/>
          <a:lstStyle/>
          <a:p>
            <a:pPr marL="0" indent="0">
              <a:buNone/>
            </a:pPr>
            <a:r>
              <a:rPr lang="en-US" sz="1000" i="1" dirty="0">
                <a:solidFill>
                  <a:srgbClr val="66728A"/>
                </a:solidFill>
                <a:latin typeface="Verdana" pitchFamily="34" charset="0"/>
                <a:ea typeface="Verdana" pitchFamily="34" charset="-122"/>
                <a:cs typeface="Verdana" pitchFamily="34" charset="-120"/>
              </a:rPr>
              <a:t>« Mare Services : le client Julie a ANNULE sa sortie du jeudi 10 décembre (3 pers.). Places liberees. »</a:t>
            </a:r>
            <a:endParaRPr lang="en-US" sz="1000" dirty="0"/>
          </a:p>
        </p:txBody>
      </p:sp>
      <p:sp>
        <p:nvSpPr>
          <p:cNvPr id="32" name="Text 25"/>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59</a:t>
            </a:r>
            <a:endParaRPr lang="en-US" sz="11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9">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ANNEXE · LE SITE</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services.maredurabilis.org en images</a:t>
            </a:r>
            <a:endParaRPr lang="en-US" sz="2500" dirty="0"/>
          </a:p>
        </p:txBody>
      </p:sp>
      <p:sp>
        <p:nvSpPr>
          <p:cNvPr id="4" name="Shape 2"/>
          <p:cNvSpPr/>
          <p:nvPr/>
        </p:nvSpPr>
        <p:spPr>
          <a:xfrm>
            <a:off x="484632" y="1353312"/>
            <a:ext cx="6848856" cy="4328541"/>
          </a:xfrm>
          <a:prstGeom prst="roundRect">
            <a:avLst>
              <a:gd name="adj" fmla="val 2535"/>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site_accueil.jpg"/>
          <p:cNvPicPr>
            <a:picLocks noChangeAspect="1"/>
          </p:cNvPicPr>
          <p:nvPr/>
        </p:nvPicPr>
        <p:blipFill>
          <a:blip r:embed="rId3"/>
          <a:stretch>
            <a:fillRect/>
          </a:stretch>
        </p:blipFill>
        <p:spPr>
          <a:xfrm>
            <a:off x="548640" y="1417320"/>
            <a:ext cx="6720840" cy="4200525"/>
          </a:xfrm>
          <a:prstGeom prst="rect">
            <a:avLst/>
          </a:prstGeom>
        </p:spPr>
      </p:pic>
      <p:sp>
        <p:nvSpPr>
          <p:cNvPr id="6" name="Shape 3"/>
          <p:cNvSpPr/>
          <p:nvPr/>
        </p:nvSpPr>
        <p:spPr>
          <a:xfrm>
            <a:off x="548640" y="5800725"/>
            <a:ext cx="3657600" cy="329184"/>
          </a:xfrm>
          <a:prstGeom prst="roundRect">
            <a:avLst>
              <a:gd name="adj" fmla="val 50000"/>
            </a:avLst>
          </a:prstGeom>
          <a:solidFill>
            <a:srgbClr val="1F5BD6"/>
          </a:solidFill>
          <a:ln w="12700">
            <a:solidFill>
              <a:srgbClr val="1F5BD6"/>
            </a:solidFill>
            <a:prstDash val="solid"/>
          </a:ln>
        </p:spPr>
        <p:txBody>
          <a:bodyPr/>
          <a:lstStyle/>
          <a:p>
            <a:endParaRPr lang="fr-FR"/>
          </a:p>
        </p:txBody>
      </p:sp>
      <p:sp>
        <p:nvSpPr>
          <p:cNvPr id="7" name="Text 4"/>
          <p:cNvSpPr txBox="1"/>
          <p:nvPr/>
        </p:nvSpPr>
        <p:spPr>
          <a:xfrm>
            <a:off x="548640" y="5800725"/>
            <a:ext cx="36576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L’accueil</a:t>
            </a:r>
            <a:endParaRPr lang="en-US" sz="1300" dirty="0"/>
          </a:p>
        </p:txBody>
      </p:sp>
      <p:sp>
        <p:nvSpPr>
          <p:cNvPr id="8" name="Shape 5"/>
          <p:cNvSpPr/>
          <p:nvPr/>
        </p:nvSpPr>
        <p:spPr>
          <a:xfrm>
            <a:off x="7900416" y="1353312"/>
            <a:ext cx="3493008" cy="2231136"/>
          </a:xfrm>
          <a:prstGeom prst="roundRect">
            <a:avLst>
              <a:gd name="adj" fmla="val 4918"/>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9" name="Image 1" descr="/home/claude/deck/img/site_pourquoi.jpg"/>
          <p:cNvPicPr>
            <a:picLocks noChangeAspect="1"/>
          </p:cNvPicPr>
          <p:nvPr/>
        </p:nvPicPr>
        <p:blipFill>
          <a:blip r:embed="rId4"/>
          <a:stretch>
            <a:fillRect/>
          </a:stretch>
        </p:blipFill>
        <p:spPr>
          <a:xfrm>
            <a:off x="7964424" y="1417320"/>
            <a:ext cx="3364992" cy="2103120"/>
          </a:xfrm>
          <a:prstGeom prst="rect">
            <a:avLst/>
          </a:prstGeom>
        </p:spPr>
      </p:pic>
      <p:sp>
        <p:nvSpPr>
          <p:cNvPr id="10" name="Shape 6"/>
          <p:cNvSpPr/>
          <p:nvPr/>
        </p:nvSpPr>
        <p:spPr>
          <a:xfrm>
            <a:off x="7964424" y="3630168"/>
            <a:ext cx="3017520" cy="274320"/>
          </a:xfrm>
          <a:prstGeom prst="roundRect">
            <a:avLst>
              <a:gd name="adj" fmla="val 50000"/>
            </a:avLst>
          </a:prstGeom>
          <a:solidFill>
            <a:srgbClr val="EEF4FD"/>
          </a:solidFill>
          <a:ln w="12700">
            <a:solidFill>
              <a:srgbClr val="EEF4FD"/>
            </a:solidFill>
            <a:prstDash val="solid"/>
          </a:ln>
        </p:spPr>
        <p:txBody>
          <a:bodyPr/>
          <a:lstStyle/>
          <a:p>
            <a:endParaRPr lang="fr-FR"/>
          </a:p>
        </p:txBody>
      </p:sp>
      <p:sp>
        <p:nvSpPr>
          <p:cNvPr id="11" name="Text 7"/>
          <p:cNvSpPr txBox="1"/>
          <p:nvPr/>
        </p:nvSpPr>
        <p:spPr>
          <a:xfrm>
            <a:off x="7964424" y="3630168"/>
            <a:ext cx="3017520" cy="274320"/>
          </a:xfrm>
          <a:prstGeom prst="rect">
            <a:avLst/>
          </a:prstGeom>
          <a:noFill/>
          <a:ln/>
        </p:spPr>
        <p:txBody>
          <a:bodyPr wrap="square" lIns="0" tIns="0" rIns="0" bIns="0" rtlCol="0" anchor="ctr"/>
          <a:lstStyle/>
          <a:p>
            <a:pPr marL="0" indent="0" algn="ctr">
              <a:buNone/>
            </a:pPr>
            <a:r>
              <a:rPr lang="en-US" sz="1200" b="1" dirty="0">
                <a:solidFill>
                  <a:srgbClr val="0012B5"/>
                </a:solidFill>
                <a:latin typeface="Verdana" pitchFamily="34" charset="0"/>
                <a:ea typeface="Verdana" pitchFamily="34" charset="-122"/>
                <a:cs typeface="Verdana" pitchFamily="34" charset="-120"/>
              </a:rPr>
              <a:t>Pourquoi cette offre ?</a:t>
            </a:r>
            <a:endParaRPr lang="en-US" sz="1200" dirty="0"/>
          </a:p>
        </p:txBody>
      </p:sp>
      <p:sp>
        <p:nvSpPr>
          <p:cNvPr id="12" name="Shape 8"/>
          <p:cNvSpPr/>
          <p:nvPr/>
        </p:nvSpPr>
        <p:spPr>
          <a:xfrm>
            <a:off x="7900416" y="3867912"/>
            <a:ext cx="3493008" cy="2231136"/>
          </a:xfrm>
          <a:prstGeom prst="roundRect">
            <a:avLst>
              <a:gd name="adj" fmla="val 4918"/>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3" name="Image 2" descr="/home/claude/deck/img/site_m-pesca.jpg"/>
          <p:cNvPicPr>
            <a:picLocks noChangeAspect="1"/>
          </p:cNvPicPr>
          <p:nvPr/>
        </p:nvPicPr>
        <p:blipFill>
          <a:blip r:embed="rId5"/>
          <a:stretch>
            <a:fillRect/>
          </a:stretch>
        </p:blipFill>
        <p:spPr>
          <a:xfrm>
            <a:off x="7964424" y="3931920"/>
            <a:ext cx="3364992" cy="2103120"/>
          </a:xfrm>
          <a:prstGeom prst="rect">
            <a:avLst/>
          </a:prstGeom>
        </p:spPr>
      </p:pic>
      <p:sp>
        <p:nvSpPr>
          <p:cNvPr id="14" name="Shape 9"/>
          <p:cNvSpPr/>
          <p:nvPr/>
        </p:nvSpPr>
        <p:spPr>
          <a:xfrm>
            <a:off x="7964424" y="6144768"/>
            <a:ext cx="3017520" cy="274320"/>
          </a:xfrm>
          <a:prstGeom prst="roundRect">
            <a:avLst>
              <a:gd name="adj" fmla="val 50000"/>
            </a:avLst>
          </a:prstGeom>
          <a:solidFill>
            <a:srgbClr val="EEF4FD"/>
          </a:solidFill>
          <a:ln w="12700">
            <a:solidFill>
              <a:srgbClr val="EEF4FD"/>
            </a:solidFill>
            <a:prstDash val="solid"/>
          </a:ln>
        </p:spPr>
        <p:txBody>
          <a:bodyPr/>
          <a:lstStyle/>
          <a:p>
            <a:endParaRPr lang="fr-FR"/>
          </a:p>
        </p:txBody>
      </p:sp>
      <p:sp>
        <p:nvSpPr>
          <p:cNvPr id="15" name="Text 10"/>
          <p:cNvSpPr txBox="1"/>
          <p:nvPr/>
        </p:nvSpPr>
        <p:spPr>
          <a:xfrm>
            <a:off x="7964424" y="6144768"/>
            <a:ext cx="3017520" cy="274320"/>
          </a:xfrm>
          <a:prstGeom prst="rect">
            <a:avLst/>
          </a:prstGeom>
          <a:noFill/>
          <a:ln/>
        </p:spPr>
        <p:txBody>
          <a:bodyPr wrap="square" lIns="0" tIns="0" rIns="0" bIns="0" rtlCol="0" anchor="ctr"/>
          <a:lstStyle/>
          <a:p>
            <a:pPr marL="0" indent="0" algn="ctr">
              <a:buNone/>
            </a:pPr>
            <a:r>
              <a:rPr lang="en-US" sz="1200" b="1" dirty="0">
                <a:solidFill>
                  <a:srgbClr val="0012B5"/>
                </a:solidFill>
                <a:latin typeface="Verdana" pitchFamily="34" charset="0"/>
                <a:ea typeface="Verdana" pitchFamily="34" charset="-122"/>
                <a:cs typeface="Verdana" pitchFamily="34" charset="-120"/>
              </a:rPr>
              <a:t>Le pesca-tourisme</a:t>
            </a:r>
            <a:endParaRPr lang="en-US" sz="1200" dirty="0"/>
          </a:p>
        </p:txBody>
      </p:sp>
      <p:sp>
        <p:nvSpPr>
          <p:cNvPr id="16" name="Text 11"/>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60</a:t>
            </a:r>
            <a:endParaRPr lang="en-US" sz="11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0">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ANNEXE · LE SITE</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services.maredurabilis.org en images (suite)</a:t>
            </a:r>
            <a:endParaRPr lang="en-US" sz="2300" dirty="0"/>
          </a:p>
        </p:txBody>
      </p:sp>
      <p:sp>
        <p:nvSpPr>
          <p:cNvPr id="4" name="Shape 2"/>
          <p:cNvSpPr/>
          <p:nvPr/>
        </p:nvSpPr>
        <p:spPr>
          <a:xfrm>
            <a:off x="484632" y="1353312"/>
            <a:ext cx="6848856" cy="4328541"/>
          </a:xfrm>
          <a:prstGeom prst="roundRect">
            <a:avLst>
              <a:gd name="adj" fmla="val 2535"/>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site_m-embarquement.jpg"/>
          <p:cNvPicPr>
            <a:picLocks noChangeAspect="1"/>
          </p:cNvPicPr>
          <p:nvPr/>
        </p:nvPicPr>
        <p:blipFill>
          <a:blip r:embed="rId3"/>
          <a:stretch>
            <a:fillRect/>
          </a:stretch>
        </p:blipFill>
        <p:spPr>
          <a:xfrm>
            <a:off x="548640" y="1417320"/>
            <a:ext cx="6720840" cy="4200525"/>
          </a:xfrm>
          <a:prstGeom prst="rect">
            <a:avLst/>
          </a:prstGeom>
        </p:spPr>
      </p:pic>
      <p:sp>
        <p:nvSpPr>
          <p:cNvPr id="6" name="Shape 3"/>
          <p:cNvSpPr/>
          <p:nvPr/>
        </p:nvSpPr>
        <p:spPr>
          <a:xfrm>
            <a:off x="548640" y="5800725"/>
            <a:ext cx="3657600" cy="329184"/>
          </a:xfrm>
          <a:prstGeom prst="roundRect">
            <a:avLst>
              <a:gd name="adj" fmla="val 50000"/>
            </a:avLst>
          </a:prstGeom>
          <a:solidFill>
            <a:srgbClr val="1F5BD6"/>
          </a:solidFill>
          <a:ln w="12700">
            <a:solidFill>
              <a:srgbClr val="1F5BD6"/>
            </a:solidFill>
            <a:prstDash val="solid"/>
          </a:ln>
        </p:spPr>
        <p:txBody>
          <a:bodyPr/>
          <a:lstStyle/>
          <a:p>
            <a:endParaRPr lang="fr-FR"/>
          </a:p>
        </p:txBody>
      </p:sp>
      <p:sp>
        <p:nvSpPr>
          <p:cNvPr id="7" name="Text 4"/>
          <p:cNvSpPr txBox="1"/>
          <p:nvPr/>
        </p:nvSpPr>
        <p:spPr>
          <a:xfrm>
            <a:off x="548640" y="5800725"/>
            <a:ext cx="36576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L’embarquement scientifique</a:t>
            </a:r>
            <a:endParaRPr lang="en-US" sz="1300" dirty="0"/>
          </a:p>
        </p:txBody>
      </p:sp>
      <p:sp>
        <p:nvSpPr>
          <p:cNvPr id="8" name="Shape 5"/>
          <p:cNvSpPr/>
          <p:nvPr/>
        </p:nvSpPr>
        <p:spPr>
          <a:xfrm>
            <a:off x="7900416" y="1353312"/>
            <a:ext cx="3493008" cy="2231136"/>
          </a:xfrm>
          <a:prstGeom prst="roundRect">
            <a:avLst>
              <a:gd name="adj" fmla="val 4918"/>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9" name="Image 1" descr="/home/claude/deck/img/site_m-rideau.jpg"/>
          <p:cNvPicPr>
            <a:picLocks noChangeAspect="1"/>
          </p:cNvPicPr>
          <p:nvPr/>
        </p:nvPicPr>
        <p:blipFill>
          <a:blip r:embed="rId4"/>
          <a:stretch>
            <a:fillRect/>
          </a:stretch>
        </p:blipFill>
        <p:spPr>
          <a:xfrm>
            <a:off x="7964424" y="1417320"/>
            <a:ext cx="3364992" cy="2103120"/>
          </a:xfrm>
          <a:prstGeom prst="rect">
            <a:avLst/>
          </a:prstGeom>
        </p:spPr>
      </p:pic>
      <p:sp>
        <p:nvSpPr>
          <p:cNvPr id="10" name="Shape 6"/>
          <p:cNvSpPr/>
          <p:nvPr/>
        </p:nvSpPr>
        <p:spPr>
          <a:xfrm>
            <a:off x="7964424" y="3630168"/>
            <a:ext cx="3017520" cy="274320"/>
          </a:xfrm>
          <a:prstGeom prst="roundRect">
            <a:avLst>
              <a:gd name="adj" fmla="val 50000"/>
            </a:avLst>
          </a:prstGeom>
          <a:solidFill>
            <a:srgbClr val="EEF4FD"/>
          </a:solidFill>
          <a:ln w="12700">
            <a:solidFill>
              <a:srgbClr val="EEF4FD"/>
            </a:solidFill>
            <a:prstDash val="solid"/>
          </a:ln>
        </p:spPr>
        <p:txBody>
          <a:bodyPr/>
          <a:lstStyle/>
          <a:p>
            <a:endParaRPr lang="fr-FR"/>
          </a:p>
        </p:txBody>
      </p:sp>
      <p:sp>
        <p:nvSpPr>
          <p:cNvPr id="11" name="Text 7"/>
          <p:cNvSpPr txBox="1"/>
          <p:nvPr/>
        </p:nvSpPr>
        <p:spPr>
          <a:xfrm>
            <a:off x="7964424" y="3630168"/>
            <a:ext cx="3017520" cy="274320"/>
          </a:xfrm>
          <a:prstGeom prst="rect">
            <a:avLst/>
          </a:prstGeom>
          <a:noFill/>
          <a:ln/>
        </p:spPr>
        <p:txBody>
          <a:bodyPr wrap="square" lIns="0" tIns="0" rIns="0" bIns="0" rtlCol="0" anchor="ctr"/>
          <a:lstStyle/>
          <a:p>
            <a:pPr marL="0" indent="0" algn="ctr">
              <a:buNone/>
            </a:pPr>
            <a:r>
              <a:rPr lang="en-US" sz="1200" b="1" dirty="0">
                <a:solidFill>
                  <a:srgbClr val="0012B5"/>
                </a:solidFill>
                <a:latin typeface="Verdana" pitchFamily="34" charset="0"/>
                <a:ea typeface="Verdana" pitchFamily="34" charset="-122"/>
                <a:cs typeface="Verdana" pitchFamily="34" charset="-120"/>
              </a:rPr>
              <a:t>L’appui à l’État en mer</a:t>
            </a:r>
            <a:endParaRPr lang="en-US" sz="1200" dirty="0"/>
          </a:p>
        </p:txBody>
      </p:sp>
      <p:sp>
        <p:nvSpPr>
          <p:cNvPr id="12" name="Shape 8"/>
          <p:cNvSpPr/>
          <p:nvPr/>
        </p:nvSpPr>
        <p:spPr>
          <a:xfrm>
            <a:off x="7900416" y="3867912"/>
            <a:ext cx="3493008" cy="2231136"/>
          </a:xfrm>
          <a:prstGeom prst="roundRect">
            <a:avLst>
              <a:gd name="adj" fmla="val 4918"/>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3" name="Image 2" descr="/home/claude/deck/img/site_contact.jpg"/>
          <p:cNvPicPr>
            <a:picLocks noChangeAspect="1"/>
          </p:cNvPicPr>
          <p:nvPr/>
        </p:nvPicPr>
        <p:blipFill>
          <a:blip r:embed="rId5"/>
          <a:stretch>
            <a:fillRect/>
          </a:stretch>
        </p:blipFill>
        <p:spPr>
          <a:xfrm>
            <a:off x="7964424" y="3931920"/>
            <a:ext cx="3364992" cy="2103120"/>
          </a:xfrm>
          <a:prstGeom prst="rect">
            <a:avLst/>
          </a:prstGeom>
        </p:spPr>
      </p:pic>
      <p:sp>
        <p:nvSpPr>
          <p:cNvPr id="14" name="Shape 9"/>
          <p:cNvSpPr/>
          <p:nvPr/>
        </p:nvSpPr>
        <p:spPr>
          <a:xfrm>
            <a:off x="7964424" y="6144768"/>
            <a:ext cx="3017520" cy="274320"/>
          </a:xfrm>
          <a:prstGeom prst="roundRect">
            <a:avLst>
              <a:gd name="adj" fmla="val 50000"/>
            </a:avLst>
          </a:prstGeom>
          <a:solidFill>
            <a:srgbClr val="EEF4FD"/>
          </a:solidFill>
          <a:ln w="12700">
            <a:solidFill>
              <a:srgbClr val="EEF4FD"/>
            </a:solidFill>
            <a:prstDash val="solid"/>
          </a:ln>
        </p:spPr>
        <p:txBody>
          <a:bodyPr/>
          <a:lstStyle/>
          <a:p>
            <a:endParaRPr lang="fr-FR"/>
          </a:p>
        </p:txBody>
      </p:sp>
      <p:sp>
        <p:nvSpPr>
          <p:cNvPr id="15" name="Text 10"/>
          <p:cNvSpPr txBox="1"/>
          <p:nvPr/>
        </p:nvSpPr>
        <p:spPr>
          <a:xfrm>
            <a:off x="7964424" y="6144768"/>
            <a:ext cx="3017520" cy="274320"/>
          </a:xfrm>
          <a:prstGeom prst="rect">
            <a:avLst/>
          </a:prstGeom>
          <a:noFill/>
          <a:ln/>
        </p:spPr>
        <p:txBody>
          <a:bodyPr wrap="square" lIns="0" tIns="0" rIns="0" bIns="0" rtlCol="0" anchor="ctr"/>
          <a:lstStyle/>
          <a:p>
            <a:pPr marL="0" indent="0" algn="ctr">
              <a:buNone/>
            </a:pPr>
            <a:r>
              <a:rPr lang="en-US" sz="1200" b="1" dirty="0">
                <a:solidFill>
                  <a:srgbClr val="0012B5"/>
                </a:solidFill>
                <a:latin typeface="Verdana" pitchFamily="34" charset="0"/>
                <a:ea typeface="Verdana" pitchFamily="34" charset="-122"/>
                <a:cs typeface="Verdana" pitchFamily="34" charset="-120"/>
              </a:rPr>
              <a:t>La page contact</a:t>
            </a:r>
            <a:endParaRPr lang="en-US" sz="1200" dirty="0"/>
          </a:p>
        </p:txBody>
      </p:sp>
      <p:sp>
        <p:nvSpPr>
          <p:cNvPr id="16" name="Text 11"/>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61</a:t>
            </a:r>
            <a:endParaRPr lang="en-US" sz="11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1">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ANNEXE · LE SITE</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Les navires inscrits, et les filtres avancés</a:t>
            </a:r>
            <a:endParaRPr lang="en-US" sz="2300" dirty="0"/>
          </a:p>
        </p:txBody>
      </p:sp>
      <p:sp>
        <p:nvSpPr>
          <p:cNvPr id="4" name="Shape 2"/>
          <p:cNvSpPr/>
          <p:nvPr/>
        </p:nvSpPr>
        <p:spPr>
          <a:xfrm>
            <a:off x="484632" y="1307592"/>
            <a:ext cx="6711696" cy="4488736"/>
          </a:xfrm>
          <a:prstGeom prst="roundRect">
            <a:avLst>
              <a:gd name="adj" fmla="val 2445"/>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site_liste.jpg"/>
          <p:cNvPicPr>
            <a:picLocks noChangeAspect="1"/>
          </p:cNvPicPr>
          <p:nvPr/>
        </p:nvPicPr>
        <p:blipFill>
          <a:blip r:embed="rId3"/>
          <a:stretch>
            <a:fillRect/>
          </a:stretch>
        </p:blipFill>
        <p:spPr>
          <a:xfrm>
            <a:off x="548640" y="1371600"/>
            <a:ext cx="6583680" cy="4360720"/>
          </a:xfrm>
          <a:prstGeom prst="rect">
            <a:avLst/>
          </a:prstGeom>
        </p:spPr>
      </p:pic>
      <p:sp>
        <p:nvSpPr>
          <p:cNvPr id="6" name="Shape 3"/>
          <p:cNvSpPr/>
          <p:nvPr/>
        </p:nvSpPr>
        <p:spPr>
          <a:xfrm>
            <a:off x="548640" y="5915200"/>
            <a:ext cx="2926080" cy="329184"/>
          </a:xfrm>
          <a:prstGeom prst="roundRect">
            <a:avLst>
              <a:gd name="adj" fmla="val 50000"/>
            </a:avLst>
          </a:prstGeom>
          <a:solidFill>
            <a:srgbClr val="1F5BD6"/>
          </a:solidFill>
          <a:ln w="12700">
            <a:solidFill>
              <a:srgbClr val="1F5BD6"/>
            </a:solidFill>
            <a:prstDash val="solid"/>
          </a:ln>
        </p:spPr>
        <p:txBody>
          <a:bodyPr/>
          <a:lstStyle/>
          <a:p>
            <a:endParaRPr lang="fr-FR"/>
          </a:p>
        </p:txBody>
      </p:sp>
      <p:sp>
        <p:nvSpPr>
          <p:cNvPr id="7" name="Text 4"/>
          <p:cNvSpPr txBox="1"/>
          <p:nvPr/>
        </p:nvSpPr>
        <p:spPr>
          <a:xfrm>
            <a:off x="548640" y="5915200"/>
            <a:ext cx="292608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Les navires en ligne</a:t>
            </a:r>
            <a:endParaRPr lang="en-US" sz="1300" dirty="0"/>
          </a:p>
        </p:txBody>
      </p:sp>
      <p:sp>
        <p:nvSpPr>
          <p:cNvPr id="8" name="Shape 5"/>
          <p:cNvSpPr/>
          <p:nvPr/>
        </p:nvSpPr>
        <p:spPr>
          <a:xfrm>
            <a:off x="7388352" y="1307592"/>
            <a:ext cx="4334256" cy="1018749"/>
          </a:xfrm>
          <a:prstGeom prst="roundRect">
            <a:avLst>
              <a:gd name="adj" fmla="val 10771"/>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9" name="Image 1" descr="/home/claude/deck/img/site_filtres.jpg"/>
          <p:cNvPicPr>
            <a:picLocks noChangeAspect="1"/>
          </p:cNvPicPr>
          <p:nvPr/>
        </p:nvPicPr>
        <p:blipFill>
          <a:blip r:embed="rId4"/>
          <a:stretch>
            <a:fillRect/>
          </a:stretch>
        </p:blipFill>
        <p:spPr>
          <a:xfrm>
            <a:off x="7452360" y="1371600"/>
            <a:ext cx="4206240" cy="890733"/>
          </a:xfrm>
          <a:prstGeom prst="rect">
            <a:avLst/>
          </a:prstGeom>
        </p:spPr>
      </p:pic>
      <p:sp>
        <p:nvSpPr>
          <p:cNvPr id="10" name="Shape 6"/>
          <p:cNvSpPr/>
          <p:nvPr/>
        </p:nvSpPr>
        <p:spPr>
          <a:xfrm>
            <a:off x="7452360" y="2399493"/>
            <a:ext cx="2743200" cy="274320"/>
          </a:xfrm>
          <a:prstGeom prst="roundRect">
            <a:avLst>
              <a:gd name="adj" fmla="val 50000"/>
            </a:avLst>
          </a:prstGeom>
          <a:solidFill>
            <a:srgbClr val="EEF4FD"/>
          </a:solidFill>
          <a:ln w="12700">
            <a:solidFill>
              <a:srgbClr val="EEF4FD"/>
            </a:solidFill>
            <a:prstDash val="solid"/>
          </a:ln>
        </p:spPr>
        <p:txBody>
          <a:bodyPr/>
          <a:lstStyle/>
          <a:p>
            <a:endParaRPr lang="fr-FR"/>
          </a:p>
        </p:txBody>
      </p:sp>
      <p:sp>
        <p:nvSpPr>
          <p:cNvPr id="11" name="Text 7"/>
          <p:cNvSpPr txBox="1"/>
          <p:nvPr/>
        </p:nvSpPr>
        <p:spPr>
          <a:xfrm>
            <a:off x="7452360" y="2399493"/>
            <a:ext cx="2743200" cy="274320"/>
          </a:xfrm>
          <a:prstGeom prst="rect">
            <a:avLst/>
          </a:prstGeom>
          <a:noFill/>
          <a:ln/>
        </p:spPr>
        <p:txBody>
          <a:bodyPr wrap="square" lIns="0" tIns="0" rIns="0" bIns="0" rtlCol="0" anchor="ctr"/>
          <a:lstStyle/>
          <a:p>
            <a:pPr marL="0" indent="0" algn="ctr">
              <a:buNone/>
            </a:pPr>
            <a:r>
              <a:rPr lang="en-US" sz="1200" b="1" dirty="0">
                <a:solidFill>
                  <a:srgbClr val="0012B5"/>
                </a:solidFill>
                <a:latin typeface="Verdana" pitchFamily="34" charset="0"/>
                <a:ea typeface="Verdana" pitchFamily="34" charset="-122"/>
                <a:cs typeface="Verdana" pitchFamily="34" charset="-120"/>
              </a:rPr>
              <a:t>Filtres avancés, ouverts</a:t>
            </a:r>
            <a:endParaRPr lang="en-US" sz="1200" dirty="0"/>
          </a:p>
        </p:txBody>
      </p:sp>
      <p:sp>
        <p:nvSpPr>
          <p:cNvPr id="12" name="Text 8"/>
          <p:cNvSpPr txBox="1"/>
          <p:nvPr/>
        </p:nvSpPr>
        <p:spPr>
          <a:xfrm>
            <a:off x="7452360" y="3063240"/>
            <a:ext cx="4206240" cy="32918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3A4658"/>
                </a:solidFill>
                <a:latin typeface="Verdana" pitchFamily="34" charset="0"/>
                <a:ea typeface="Verdana" pitchFamily="34" charset="-122"/>
                <a:cs typeface="Verdana" pitchFamily="34" charset="-120"/>
              </a:rPr>
              <a:t>Chaque fiche : photo, patron, port, missions proposées, avis.</a:t>
            </a:r>
            <a:endParaRPr lang="en-US" sz="1200" dirty="0"/>
          </a:p>
          <a:p>
            <a:pPr marL="177800" indent="-177800">
              <a:spcAft>
                <a:spcPts val="700"/>
              </a:spcAft>
              <a:buSzPct val="100000"/>
              <a:buChar char="•"/>
            </a:pPr>
            <a:r>
              <a:rPr lang="en-US" sz="1200" dirty="0">
                <a:solidFill>
                  <a:srgbClr val="3A4658"/>
                </a:solidFill>
                <a:latin typeface="Verdana" pitchFamily="34" charset="0"/>
                <a:ea typeface="Verdana" pitchFamily="34" charset="-122"/>
                <a:cs typeface="Verdana" pitchFamily="34" charset="-120"/>
              </a:rPr>
              <a:t>Compteurs en tête : navires recensés, fiches publiées, ports.</a:t>
            </a:r>
            <a:endParaRPr lang="en-US" sz="1200" dirty="0"/>
          </a:p>
          <a:p>
            <a:pPr marL="177800" indent="-177800">
              <a:spcAft>
                <a:spcPts val="700"/>
              </a:spcAft>
              <a:buSzPct val="100000"/>
              <a:buChar char="•"/>
            </a:pPr>
            <a:r>
              <a:rPr lang="en-US" sz="1200" dirty="0">
                <a:solidFill>
                  <a:srgbClr val="3A4658"/>
                </a:solidFill>
                <a:latin typeface="Verdana" pitchFamily="34" charset="0"/>
                <a:ea typeface="Verdana" pitchFamily="34" charset="-122"/>
                <a:cs typeface="Verdana" pitchFamily="34" charset="-120"/>
              </a:rPr>
              <a:t>Filtres techniques : équipage, personnels spéciaux, temps en mer, catégorie de navigation, poids embarqué, gréement, franc-bord, longueur, largeur, jauge.</a:t>
            </a:r>
            <a:endParaRPr lang="en-US" sz="1200" dirty="0"/>
          </a:p>
          <a:p>
            <a:pPr marL="177800" indent="-177800">
              <a:spcAft>
                <a:spcPts val="700"/>
              </a:spcAft>
              <a:buSzPct val="100000"/>
              <a:buChar char="•"/>
            </a:pPr>
            <a:r>
              <a:rPr lang="en-US" sz="1200" dirty="0">
                <a:solidFill>
                  <a:srgbClr val="3A4658"/>
                </a:solidFill>
                <a:latin typeface="Verdana" pitchFamily="34" charset="0"/>
                <a:ea typeface="Verdana" pitchFamily="34" charset="-122"/>
                <a:cs typeface="Verdana" pitchFamily="34" charset="-120"/>
              </a:rPr>
              <a:t>Une caractéristique non renseignée écarte le navire : seules les fiches vérifiées ressortent.</a:t>
            </a:r>
            <a:endParaRPr lang="en-US" sz="1200" dirty="0"/>
          </a:p>
        </p:txBody>
      </p:sp>
      <p:sp>
        <p:nvSpPr>
          <p:cNvPr id="13" name="Text 9"/>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62</a:t>
            </a:r>
            <a:endParaRPr lang="en-US" sz="11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ANNEXE · LE SITE · CÔTÉ LUDIQUE</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100" b="1" dirty="0">
                <a:solidFill>
                  <a:srgbClr val="0012B5"/>
                </a:solidFill>
                <a:latin typeface="Verdana" pitchFamily="34" charset="0"/>
                <a:ea typeface="Verdana" pitchFamily="34" charset="-122"/>
                <a:cs typeface="Verdana" pitchFamily="34" charset="-120"/>
              </a:rPr>
              <a:t>Mais au fait, la pêche c’est quoi ? Sept chapitres, dont un jeu</a:t>
            </a:r>
            <a:endParaRPr lang="en-US" sz="2100" dirty="0"/>
          </a:p>
        </p:txBody>
      </p:sp>
      <p:sp>
        <p:nvSpPr>
          <p:cNvPr id="4" name="Shape 2"/>
          <p:cNvSpPr/>
          <p:nvPr/>
        </p:nvSpPr>
        <p:spPr>
          <a:xfrm>
            <a:off x="722009" y="1307592"/>
            <a:ext cx="5459702" cy="3968496"/>
          </a:xfrm>
          <a:prstGeom prst="roundRect">
            <a:avLst>
              <a:gd name="adj" fmla="val 2765"/>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lud_acc.jpg"/>
          <p:cNvPicPr>
            <a:picLocks noChangeAspect="1"/>
          </p:cNvPicPr>
          <p:nvPr/>
        </p:nvPicPr>
        <p:blipFill>
          <a:blip r:embed="rId3"/>
          <a:stretch>
            <a:fillRect/>
          </a:stretch>
        </p:blipFill>
        <p:spPr>
          <a:xfrm>
            <a:off x="786017" y="1371600"/>
            <a:ext cx="5331686" cy="3840480"/>
          </a:xfrm>
          <a:prstGeom prst="rect">
            <a:avLst/>
          </a:prstGeom>
        </p:spPr>
      </p:pic>
      <p:sp>
        <p:nvSpPr>
          <p:cNvPr id="6" name="Shape 3"/>
          <p:cNvSpPr/>
          <p:nvPr/>
        </p:nvSpPr>
        <p:spPr>
          <a:xfrm>
            <a:off x="786017" y="5376672"/>
            <a:ext cx="3566160" cy="329184"/>
          </a:xfrm>
          <a:prstGeom prst="roundRect">
            <a:avLst>
              <a:gd name="adj" fmla="val 50000"/>
            </a:avLst>
          </a:prstGeom>
          <a:solidFill>
            <a:srgbClr val="1F5BD6"/>
          </a:solidFill>
          <a:ln w="12700">
            <a:solidFill>
              <a:srgbClr val="1F5BD6"/>
            </a:solidFill>
            <a:prstDash val="solid"/>
          </a:ln>
        </p:spPr>
        <p:txBody>
          <a:bodyPr/>
          <a:lstStyle/>
          <a:p>
            <a:endParaRPr lang="fr-FR"/>
          </a:p>
        </p:txBody>
      </p:sp>
      <p:sp>
        <p:nvSpPr>
          <p:cNvPr id="7" name="Text 4"/>
          <p:cNvSpPr txBox="1"/>
          <p:nvPr/>
        </p:nvSpPr>
        <p:spPr>
          <a:xfrm>
            <a:off x="786017" y="5376672"/>
            <a:ext cx="3566160" cy="329184"/>
          </a:xfrm>
          <a:prstGeom prst="rect">
            <a:avLst/>
          </a:prstGeom>
          <a:noFill/>
          <a:ln/>
        </p:spPr>
        <p:txBody>
          <a:bodyPr wrap="square" lIns="0" tIns="0" rIns="0" bIns="0" rtlCol="0" anchor="ctr"/>
          <a:lstStyle/>
          <a:p>
            <a:pPr marL="0" indent="0" algn="ctr">
              <a:buNone/>
            </a:pPr>
            <a:r>
              <a:rPr lang="en-US" sz="1250" b="1" dirty="0">
                <a:solidFill>
                  <a:srgbClr val="FFFFFF"/>
                </a:solidFill>
                <a:latin typeface="Verdana" pitchFamily="34" charset="0"/>
                <a:ea typeface="Verdana" pitchFamily="34" charset="-122"/>
                <a:cs typeface="Verdana" pitchFamily="34" charset="-120"/>
              </a:rPr>
              <a:t>Sur la page « Pourquoi cette offre »</a:t>
            </a:r>
            <a:endParaRPr lang="en-US" sz="1250" dirty="0"/>
          </a:p>
        </p:txBody>
      </p:sp>
      <p:sp>
        <p:nvSpPr>
          <p:cNvPr id="8" name="Shape 5"/>
          <p:cNvSpPr/>
          <p:nvPr/>
        </p:nvSpPr>
        <p:spPr>
          <a:xfrm>
            <a:off x="6565392" y="1307592"/>
            <a:ext cx="5157216" cy="2296859"/>
          </a:xfrm>
          <a:prstGeom prst="roundRect">
            <a:avLst>
              <a:gd name="adj" fmla="val 4777"/>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9" name="Image 1" descr="/home/claude/deck/img/lud_carte_verso_c.jpg"/>
          <p:cNvPicPr>
            <a:picLocks noChangeAspect="1"/>
          </p:cNvPicPr>
          <p:nvPr/>
        </p:nvPicPr>
        <p:blipFill>
          <a:blip r:embed="rId4"/>
          <a:stretch>
            <a:fillRect/>
          </a:stretch>
        </p:blipFill>
        <p:spPr>
          <a:xfrm>
            <a:off x="6629400" y="1371600"/>
            <a:ext cx="5029200" cy="2168843"/>
          </a:xfrm>
          <a:prstGeom prst="rect">
            <a:avLst/>
          </a:prstGeom>
        </p:spPr>
      </p:pic>
      <p:sp>
        <p:nvSpPr>
          <p:cNvPr id="10" name="Shape 6"/>
          <p:cNvSpPr/>
          <p:nvPr/>
        </p:nvSpPr>
        <p:spPr>
          <a:xfrm>
            <a:off x="6629400" y="3677603"/>
            <a:ext cx="3291840" cy="292608"/>
          </a:xfrm>
          <a:prstGeom prst="roundRect">
            <a:avLst>
              <a:gd name="adj" fmla="val 50000"/>
            </a:avLst>
          </a:prstGeom>
          <a:solidFill>
            <a:srgbClr val="B45309"/>
          </a:solidFill>
          <a:ln w="12700">
            <a:solidFill>
              <a:srgbClr val="B45309"/>
            </a:solidFill>
            <a:prstDash val="solid"/>
          </a:ln>
        </p:spPr>
        <p:txBody>
          <a:bodyPr/>
          <a:lstStyle/>
          <a:p>
            <a:endParaRPr lang="fr-FR"/>
          </a:p>
        </p:txBody>
      </p:sp>
      <p:sp>
        <p:nvSpPr>
          <p:cNvPr id="11" name="Text 7"/>
          <p:cNvSpPr txBox="1"/>
          <p:nvPr/>
        </p:nvSpPr>
        <p:spPr>
          <a:xfrm>
            <a:off x="6629400" y="3677603"/>
            <a:ext cx="329184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Verdana" pitchFamily="34" charset="0"/>
                <a:ea typeface="Verdana" pitchFamily="34" charset="-122"/>
                <a:cs typeface="Verdana" pitchFamily="34" charset="-120"/>
              </a:rPr>
              <a:t>La carte postale d’accueil, retournée</a:t>
            </a:r>
            <a:endParaRPr lang="en-US" sz="1200" dirty="0"/>
          </a:p>
        </p:txBody>
      </p:sp>
      <p:sp>
        <p:nvSpPr>
          <p:cNvPr id="12" name="Shape 8"/>
          <p:cNvSpPr/>
          <p:nvPr/>
        </p:nvSpPr>
        <p:spPr>
          <a:xfrm>
            <a:off x="6629400" y="4134803"/>
            <a:ext cx="5029200" cy="2174558"/>
          </a:xfrm>
          <a:prstGeom prst="roundRect">
            <a:avLst>
              <a:gd name="adj" fmla="val 8410"/>
            </a:avLst>
          </a:prstGeom>
          <a:solidFill>
            <a:srgbClr val="FFF7EC"/>
          </a:solidFill>
          <a:ln w="12700">
            <a:solidFill>
              <a:srgbClr val="FFF7EC"/>
            </a:solidFill>
            <a:prstDash val="solid"/>
          </a:ln>
        </p:spPr>
        <p:txBody>
          <a:bodyPr/>
          <a:lstStyle/>
          <a:p>
            <a:endParaRPr lang="fr-FR"/>
          </a:p>
        </p:txBody>
      </p:sp>
      <p:sp>
        <p:nvSpPr>
          <p:cNvPr id="13" name="Text 9"/>
          <p:cNvSpPr txBox="1"/>
          <p:nvPr/>
        </p:nvSpPr>
        <p:spPr>
          <a:xfrm>
            <a:off x="6812280" y="4253675"/>
            <a:ext cx="2377440" cy="411480"/>
          </a:xfrm>
          <a:prstGeom prst="rect">
            <a:avLst/>
          </a:prstGeom>
          <a:noFill/>
          <a:ln/>
        </p:spPr>
        <p:txBody>
          <a:bodyPr wrap="square" lIns="0" tIns="0" rIns="0" bIns="0" rtlCol="0" anchor="t"/>
          <a:lstStyle/>
          <a:p>
            <a:pPr marL="0" indent="0">
              <a:buNone/>
            </a:pPr>
            <a:r>
              <a:rPr lang="en-US" sz="1150" b="1" dirty="0">
                <a:solidFill>
                  <a:srgbClr val="B45309"/>
                </a:solidFill>
                <a:latin typeface="Verdana" pitchFamily="34" charset="0"/>
                <a:ea typeface="Verdana" pitchFamily="34" charset="-122"/>
                <a:cs typeface="Verdana" pitchFamily="34" charset="-120"/>
              </a:rPr>
              <a:t>01  </a:t>
            </a:r>
            <a:r>
              <a:rPr lang="en-US" sz="1150" b="1" dirty="0">
                <a:solidFill>
                  <a:srgbClr val="0012B5"/>
                </a:solidFill>
                <a:latin typeface="Verdana" pitchFamily="34" charset="0"/>
                <a:ea typeface="Verdana" pitchFamily="34" charset="-122"/>
                <a:cs typeface="Verdana" pitchFamily="34" charset="-120"/>
              </a:rPr>
              <a:t>L’histoire</a:t>
            </a:r>
            <a:endParaRPr lang="en-US" sz="1150" dirty="0"/>
          </a:p>
          <a:p>
            <a:pPr marL="0" indent="0">
              <a:buNone/>
            </a:pPr>
            <a:r>
              <a:rPr lang="en-US" sz="950" dirty="0">
                <a:solidFill>
                  <a:srgbClr val="66728A"/>
                </a:solidFill>
                <a:latin typeface="Verdana" pitchFamily="34" charset="0"/>
                <a:ea typeface="Verdana" pitchFamily="34" charset="-122"/>
                <a:cs typeface="Verdana" pitchFamily="34" charset="-120"/>
              </a:rPr>
              <a:t>du garum au satellite</a:t>
            </a:r>
            <a:endParaRPr lang="en-US" sz="1150" dirty="0"/>
          </a:p>
        </p:txBody>
      </p:sp>
      <p:sp>
        <p:nvSpPr>
          <p:cNvPr id="14" name="Text 10"/>
          <p:cNvSpPr txBox="1"/>
          <p:nvPr/>
        </p:nvSpPr>
        <p:spPr>
          <a:xfrm>
            <a:off x="9262872" y="4253675"/>
            <a:ext cx="2377440" cy="411480"/>
          </a:xfrm>
          <a:prstGeom prst="rect">
            <a:avLst/>
          </a:prstGeom>
          <a:noFill/>
          <a:ln/>
        </p:spPr>
        <p:txBody>
          <a:bodyPr wrap="square" lIns="0" tIns="0" rIns="0" bIns="0" rtlCol="0" anchor="t"/>
          <a:lstStyle/>
          <a:p>
            <a:pPr marL="0" indent="0">
              <a:buNone/>
            </a:pPr>
            <a:r>
              <a:rPr lang="en-US" sz="1150" b="1" dirty="0">
                <a:solidFill>
                  <a:srgbClr val="B45309"/>
                </a:solidFill>
                <a:latin typeface="Verdana" pitchFamily="34" charset="0"/>
                <a:ea typeface="Verdana" pitchFamily="34" charset="-122"/>
                <a:cs typeface="Verdana" pitchFamily="34" charset="-120"/>
              </a:rPr>
              <a:t>02  </a:t>
            </a:r>
            <a:r>
              <a:rPr lang="en-US" sz="1150" b="1" dirty="0">
                <a:solidFill>
                  <a:srgbClr val="0012B5"/>
                </a:solidFill>
                <a:latin typeface="Verdana" pitchFamily="34" charset="0"/>
                <a:ea typeface="Verdana" pitchFamily="34" charset="-122"/>
                <a:cs typeface="Verdana" pitchFamily="34" charset="-120"/>
              </a:rPr>
              <a:t>Nos héritages</a:t>
            </a:r>
            <a:endParaRPr lang="en-US" sz="1150" dirty="0"/>
          </a:p>
          <a:p>
            <a:pPr marL="0" indent="0">
              <a:buNone/>
            </a:pPr>
            <a:r>
              <a:rPr lang="en-US" sz="950" dirty="0">
                <a:solidFill>
                  <a:srgbClr val="66728A"/>
                </a:solidFill>
                <a:latin typeface="Verdana" pitchFamily="34" charset="0"/>
                <a:ea typeface="Verdana" pitchFamily="34" charset="-122"/>
                <a:cs typeface="Verdana" pitchFamily="34" charset="-120"/>
              </a:rPr>
              <a:t>d’où viennent nos gestes</a:t>
            </a:r>
            <a:endParaRPr lang="en-US" sz="1150" dirty="0"/>
          </a:p>
        </p:txBody>
      </p:sp>
      <p:sp>
        <p:nvSpPr>
          <p:cNvPr id="15" name="Text 11"/>
          <p:cNvSpPr txBox="1"/>
          <p:nvPr/>
        </p:nvSpPr>
        <p:spPr>
          <a:xfrm>
            <a:off x="6812280" y="4683443"/>
            <a:ext cx="2377440" cy="411480"/>
          </a:xfrm>
          <a:prstGeom prst="rect">
            <a:avLst/>
          </a:prstGeom>
          <a:noFill/>
          <a:ln/>
        </p:spPr>
        <p:txBody>
          <a:bodyPr wrap="square" lIns="0" tIns="0" rIns="0" bIns="0" rtlCol="0" anchor="t"/>
          <a:lstStyle/>
          <a:p>
            <a:pPr marL="0" indent="0">
              <a:buNone/>
            </a:pPr>
            <a:r>
              <a:rPr lang="en-US" sz="1150" b="1" dirty="0">
                <a:solidFill>
                  <a:srgbClr val="B45309"/>
                </a:solidFill>
                <a:latin typeface="Verdana" pitchFamily="34" charset="0"/>
                <a:ea typeface="Verdana" pitchFamily="34" charset="-122"/>
                <a:cs typeface="Verdana" pitchFamily="34" charset="-120"/>
              </a:rPr>
              <a:t>03  </a:t>
            </a:r>
            <a:r>
              <a:rPr lang="en-US" sz="1150" b="1" dirty="0">
                <a:solidFill>
                  <a:srgbClr val="0012B5"/>
                </a:solidFill>
                <a:latin typeface="Verdana" pitchFamily="34" charset="0"/>
                <a:ea typeface="Verdana" pitchFamily="34" charset="-122"/>
                <a:cs typeface="Verdana" pitchFamily="34" charset="-120"/>
              </a:rPr>
              <a:t>Aujourd’hui</a:t>
            </a:r>
            <a:endParaRPr lang="en-US" sz="1150" dirty="0"/>
          </a:p>
          <a:p>
            <a:pPr marL="0" indent="0">
              <a:buNone/>
            </a:pPr>
            <a:r>
              <a:rPr lang="en-US" sz="950" dirty="0">
                <a:solidFill>
                  <a:srgbClr val="66728A"/>
                </a:solidFill>
                <a:latin typeface="Verdana" pitchFamily="34" charset="0"/>
                <a:ea typeface="Verdana" pitchFamily="34" charset="-122"/>
                <a:cs typeface="Verdana" pitchFamily="34" charset="-120"/>
              </a:rPr>
              <a:t>une pêche encadrée, contrôlée</a:t>
            </a:r>
            <a:endParaRPr lang="en-US" sz="1150" dirty="0"/>
          </a:p>
        </p:txBody>
      </p:sp>
      <p:sp>
        <p:nvSpPr>
          <p:cNvPr id="16" name="Text 12"/>
          <p:cNvSpPr txBox="1"/>
          <p:nvPr/>
        </p:nvSpPr>
        <p:spPr>
          <a:xfrm>
            <a:off x="9262872" y="4683443"/>
            <a:ext cx="2377440" cy="411480"/>
          </a:xfrm>
          <a:prstGeom prst="rect">
            <a:avLst/>
          </a:prstGeom>
          <a:noFill/>
          <a:ln/>
        </p:spPr>
        <p:txBody>
          <a:bodyPr wrap="square" lIns="0" tIns="0" rIns="0" bIns="0" rtlCol="0" anchor="t"/>
          <a:lstStyle/>
          <a:p>
            <a:pPr marL="0" indent="0">
              <a:buNone/>
            </a:pPr>
            <a:r>
              <a:rPr lang="en-US" sz="1150" b="1" dirty="0">
                <a:solidFill>
                  <a:srgbClr val="B45309"/>
                </a:solidFill>
                <a:latin typeface="Verdana" pitchFamily="34" charset="0"/>
                <a:ea typeface="Verdana" pitchFamily="34" charset="-122"/>
                <a:cs typeface="Verdana" pitchFamily="34" charset="-120"/>
              </a:rPr>
              <a:t>04  </a:t>
            </a:r>
            <a:r>
              <a:rPr lang="en-US" sz="1150" b="1" dirty="0">
                <a:solidFill>
                  <a:srgbClr val="0012B5"/>
                </a:solidFill>
                <a:latin typeface="Verdana" pitchFamily="34" charset="0"/>
                <a:ea typeface="Verdana" pitchFamily="34" charset="-122"/>
                <a:cs typeface="Verdana" pitchFamily="34" charset="-120"/>
              </a:rPr>
              <a:t>Le thon rouge</a:t>
            </a:r>
            <a:endParaRPr lang="en-US" sz="1150" dirty="0"/>
          </a:p>
          <a:p>
            <a:pPr marL="0" indent="0">
              <a:buNone/>
            </a:pPr>
            <a:r>
              <a:rPr lang="en-US" sz="950" dirty="0">
                <a:solidFill>
                  <a:srgbClr val="66728A"/>
                </a:solidFill>
                <a:latin typeface="Verdana" pitchFamily="34" charset="0"/>
                <a:ea typeface="Verdana" pitchFamily="34" charset="-122"/>
                <a:cs typeface="Verdana" pitchFamily="34" charset="-120"/>
              </a:rPr>
              <a:t>de la crise au renouveau</a:t>
            </a:r>
            <a:endParaRPr lang="en-US" sz="1150" dirty="0"/>
          </a:p>
        </p:txBody>
      </p:sp>
      <p:sp>
        <p:nvSpPr>
          <p:cNvPr id="17" name="Text 13"/>
          <p:cNvSpPr txBox="1"/>
          <p:nvPr/>
        </p:nvSpPr>
        <p:spPr>
          <a:xfrm>
            <a:off x="6812280" y="5113211"/>
            <a:ext cx="2377440" cy="411480"/>
          </a:xfrm>
          <a:prstGeom prst="rect">
            <a:avLst/>
          </a:prstGeom>
          <a:noFill/>
          <a:ln/>
        </p:spPr>
        <p:txBody>
          <a:bodyPr wrap="square" lIns="0" tIns="0" rIns="0" bIns="0" rtlCol="0" anchor="t"/>
          <a:lstStyle/>
          <a:p>
            <a:pPr marL="0" indent="0">
              <a:buNone/>
            </a:pPr>
            <a:r>
              <a:rPr lang="en-US" sz="1150" b="1" dirty="0">
                <a:solidFill>
                  <a:srgbClr val="B45309"/>
                </a:solidFill>
                <a:latin typeface="Verdana" pitchFamily="34" charset="0"/>
                <a:ea typeface="Verdana" pitchFamily="34" charset="-122"/>
                <a:cs typeface="Verdana" pitchFamily="34" charset="-120"/>
              </a:rPr>
              <a:t>05  </a:t>
            </a:r>
            <a:r>
              <a:rPr lang="en-US" sz="1150" b="1" dirty="0">
                <a:solidFill>
                  <a:srgbClr val="0012B5"/>
                </a:solidFill>
                <a:latin typeface="Verdana" pitchFamily="34" charset="0"/>
                <a:ea typeface="Verdana" pitchFamily="34" charset="-122"/>
                <a:cs typeface="Verdana" pitchFamily="34" charset="-120"/>
              </a:rPr>
              <a:t>Qui pêche quoi</a:t>
            </a:r>
            <a:endParaRPr lang="en-US" sz="1150" dirty="0"/>
          </a:p>
          <a:p>
            <a:pPr marL="0" indent="0">
              <a:buNone/>
            </a:pPr>
            <a:r>
              <a:rPr lang="en-US" sz="950" dirty="0">
                <a:solidFill>
                  <a:srgbClr val="66728A"/>
                </a:solidFill>
                <a:latin typeface="Verdana" pitchFamily="34" charset="0"/>
                <a:ea typeface="Verdana" pitchFamily="34" charset="-122"/>
                <a:cs typeface="Verdana" pitchFamily="34" charset="-120"/>
              </a:rPr>
              <a:t>cinq façons de pêcher, et nos jeux</a:t>
            </a:r>
            <a:endParaRPr lang="en-US" sz="1150" dirty="0"/>
          </a:p>
        </p:txBody>
      </p:sp>
      <p:sp>
        <p:nvSpPr>
          <p:cNvPr id="18" name="Text 14"/>
          <p:cNvSpPr txBox="1"/>
          <p:nvPr/>
        </p:nvSpPr>
        <p:spPr>
          <a:xfrm>
            <a:off x="9262872" y="5113211"/>
            <a:ext cx="2377440" cy="411480"/>
          </a:xfrm>
          <a:prstGeom prst="rect">
            <a:avLst/>
          </a:prstGeom>
          <a:noFill/>
          <a:ln/>
        </p:spPr>
        <p:txBody>
          <a:bodyPr wrap="square" lIns="0" tIns="0" rIns="0" bIns="0" rtlCol="0" anchor="t"/>
          <a:lstStyle/>
          <a:p>
            <a:pPr marL="0" indent="0">
              <a:buNone/>
            </a:pPr>
            <a:r>
              <a:rPr lang="en-US" sz="1150" b="1" dirty="0">
                <a:solidFill>
                  <a:srgbClr val="B45309"/>
                </a:solidFill>
                <a:latin typeface="Verdana" pitchFamily="34" charset="0"/>
                <a:ea typeface="Verdana" pitchFamily="34" charset="-122"/>
                <a:cs typeface="Verdana" pitchFamily="34" charset="-120"/>
              </a:rPr>
              <a:t>06  </a:t>
            </a:r>
            <a:r>
              <a:rPr lang="en-US" sz="1150" b="1" dirty="0">
                <a:solidFill>
                  <a:srgbClr val="0012B5"/>
                </a:solidFill>
                <a:latin typeface="Verdana" pitchFamily="34" charset="0"/>
                <a:ea typeface="Verdana" pitchFamily="34" charset="-122"/>
                <a:cs typeface="Verdana" pitchFamily="34" charset="-120"/>
              </a:rPr>
              <a:t>La criée</a:t>
            </a:r>
            <a:endParaRPr lang="en-US" sz="1150" dirty="0"/>
          </a:p>
          <a:p>
            <a:pPr marL="0" indent="0">
              <a:buNone/>
            </a:pPr>
            <a:r>
              <a:rPr lang="en-US" sz="950" dirty="0">
                <a:solidFill>
                  <a:srgbClr val="66728A"/>
                </a:solidFill>
                <a:latin typeface="Verdana" pitchFamily="34" charset="0"/>
                <a:ea typeface="Verdana" pitchFamily="34" charset="-122"/>
                <a:cs typeface="Verdana" pitchFamily="34" charset="-120"/>
              </a:rPr>
              <a:t>à vous de jouer</a:t>
            </a:r>
            <a:endParaRPr lang="en-US" sz="1150" dirty="0"/>
          </a:p>
        </p:txBody>
      </p:sp>
      <p:sp>
        <p:nvSpPr>
          <p:cNvPr id="19" name="Text 15"/>
          <p:cNvSpPr txBox="1"/>
          <p:nvPr/>
        </p:nvSpPr>
        <p:spPr>
          <a:xfrm>
            <a:off x="6812280" y="5542979"/>
            <a:ext cx="2377440" cy="411480"/>
          </a:xfrm>
          <a:prstGeom prst="rect">
            <a:avLst/>
          </a:prstGeom>
          <a:noFill/>
          <a:ln/>
        </p:spPr>
        <p:txBody>
          <a:bodyPr wrap="square" lIns="0" tIns="0" rIns="0" bIns="0" rtlCol="0" anchor="t"/>
          <a:lstStyle/>
          <a:p>
            <a:pPr marL="0" indent="0">
              <a:buNone/>
            </a:pPr>
            <a:r>
              <a:rPr lang="en-US" sz="1150" b="1" dirty="0">
                <a:solidFill>
                  <a:srgbClr val="B45309"/>
                </a:solidFill>
                <a:latin typeface="Verdana" pitchFamily="34" charset="0"/>
                <a:ea typeface="Verdana" pitchFamily="34" charset="-122"/>
                <a:cs typeface="Verdana" pitchFamily="34" charset="-120"/>
              </a:rPr>
              <a:t>07  </a:t>
            </a:r>
            <a:r>
              <a:rPr lang="en-US" sz="1150" b="1" dirty="0">
                <a:solidFill>
                  <a:srgbClr val="0012B5"/>
                </a:solidFill>
                <a:latin typeface="Verdana" pitchFamily="34" charset="0"/>
                <a:ea typeface="Verdana" pitchFamily="34" charset="-122"/>
                <a:cs typeface="Verdana" pitchFamily="34" charset="-120"/>
              </a:rPr>
              <a:t>À table</a:t>
            </a:r>
            <a:endParaRPr lang="en-US" sz="1150" dirty="0"/>
          </a:p>
          <a:p>
            <a:pPr marL="0" indent="0">
              <a:buNone/>
            </a:pPr>
            <a:r>
              <a:rPr lang="en-US" sz="950" dirty="0">
                <a:solidFill>
                  <a:srgbClr val="66728A"/>
                </a:solidFill>
                <a:latin typeface="Verdana" pitchFamily="34" charset="0"/>
                <a:ea typeface="Verdana" pitchFamily="34" charset="-122"/>
                <a:cs typeface="Verdana" pitchFamily="34" charset="-120"/>
              </a:rPr>
              <a:t>des poissons qui font envie</a:t>
            </a:r>
            <a:endParaRPr lang="en-US" sz="1150" dirty="0"/>
          </a:p>
        </p:txBody>
      </p:sp>
      <p:sp>
        <p:nvSpPr>
          <p:cNvPr id="20" name="Text 16"/>
          <p:cNvSpPr txBox="1"/>
          <p:nvPr/>
        </p:nvSpPr>
        <p:spPr>
          <a:xfrm>
            <a:off x="548640" y="5806440"/>
            <a:ext cx="5806440" cy="457200"/>
          </a:xfrm>
          <a:prstGeom prst="rect">
            <a:avLst/>
          </a:prstGeom>
          <a:noFill/>
          <a:ln/>
        </p:spPr>
        <p:txBody>
          <a:bodyPr wrap="square" lIns="0" tIns="0" rIns="0" bIns="0" rtlCol="0" anchor="t"/>
          <a:lstStyle/>
          <a:p>
            <a:pPr marL="0" indent="0">
              <a:buNone/>
            </a:pPr>
            <a:r>
              <a:rPr lang="en-US" sz="1150" i="1" dirty="0">
                <a:solidFill>
                  <a:srgbClr val="66728A"/>
                </a:solidFill>
                <a:latin typeface="Verdana" pitchFamily="34" charset="0"/>
                <a:ea typeface="Verdana" pitchFamily="34" charset="-122"/>
                <a:cs typeface="Verdana" pitchFamily="34" charset="-120"/>
              </a:rPr>
              <a:t>Contenu identique au site de la fondation : une seule source, mise à jour aux deux endroits.</a:t>
            </a:r>
            <a:endParaRPr lang="en-US" sz="1150" dirty="0"/>
          </a:p>
        </p:txBody>
      </p:sp>
      <p:sp>
        <p:nvSpPr>
          <p:cNvPr id="21" name="Text 17"/>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63</a:t>
            </a:r>
            <a:endParaRPr lang="en-US" sz="11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ANNEXE · LE SITE · CÔTÉ LUDIQUE</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100" b="1" dirty="0">
                <a:solidFill>
                  <a:srgbClr val="0012B5"/>
                </a:solidFill>
                <a:latin typeface="Verdana" pitchFamily="34" charset="0"/>
                <a:ea typeface="Verdana" pitchFamily="34" charset="-122"/>
                <a:cs typeface="Verdana" pitchFamily="34" charset="-120"/>
              </a:rPr>
              <a:t>Quatre expériences virtuelles : on embarque avant d’embarquer</a:t>
            </a:r>
            <a:endParaRPr lang="en-US" sz="2100" dirty="0"/>
          </a:p>
        </p:txBody>
      </p:sp>
      <p:sp>
        <p:nvSpPr>
          <p:cNvPr id="4" name="Shape 2"/>
          <p:cNvSpPr/>
          <p:nvPr/>
        </p:nvSpPr>
        <p:spPr>
          <a:xfrm>
            <a:off x="484632" y="1307592"/>
            <a:ext cx="3785616" cy="2414016"/>
          </a:xfrm>
          <a:prstGeom prst="roundRect">
            <a:avLst>
              <a:gd name="adj" fmla="val 4545"/>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lud_senne.jpg"/>
          <p:cNvPicPr>
            <a:picLocks noChangeAspect="1"/>
          </p:cNvPicPr>
          <p:nvPr/>
        </p:nvPicPr>
        <p:blipFill>
          <a:blip r:embed="rId2"/>
          <a:stretch>
            <a:fillRect/>
          </a:stretch>
        </p:blipFill>
        <p:spPr>
          <a:xfrm>
            <a:off x="548640" y="1371600"/>
            <a:ext cx="3657600" cy="2286000"/>
          </a:xfrm>
          <a:prstGeom prst="rect">
            <a:avLst/>
          </a:prstGeom>
        </p:spPr>
      </p:pic>
      <p:sp>
        <p:nvSpPr>
          <p:cNvPr id="6" name="Shape 3"/>
          <p:cNvSpPr/>
          <p:nvPr/>
        </p:nvSpPr>
        <p:spPr>
          <a:xfrm>
            <a:off x="658368" y="1481328"/>
            <a:ext cx="3246120" cy="292608"/>
          </a:xfrm>
          <a:prstGeom prst="roundRect">
            <a:avLst>
              <a:gd name="adj" fmla="val 50000"/>
            </a:avLst>
          </a:prstGeom>
          <a:solidFill>
            <a:srgbClr val="1F3B57"/>
          </a:solidFill>
          <a:ln w="12700">
            <a:solidFill>
              <a:srgbClr val="1F3B57"/>
            </a:solidFill>
            <a:prstDash val="solid"/>
          </a:ln>
        </p:spPr>
        <p:txBody>
          <a:bodyPr/>
          <a:lstStyle/>
          <a:p>
            <a:endParaRPr lang="fr-FR"/>
          </a:p>
        </p:txBody>
      </p:sp>
      <p:sp>
        <p:nvSpPr>
          <p:cNvPr id="7" name="Text 4"/>
          <p:cNvSpPr txBox="1"/>
          <p:nvPr/>
        </p:nvSpPr>
        <p:spPr>
          <a:xfrm>
            <a:off x="658368" y="1481328"/>
            <a:ext cx="324612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Verdana" pitchFamily="34" charset="0"/>
                <a:ea typeface="Verdana" pitchFamily="34" charset="-122"/>
                <a:cs typeface="Verdana" pitchFamily="34" charset="-120"/>
              </a:rPr>
              <a:t>Senne · thon rouge · avec Janvier</a:t>
            </a:r>
            <a:endParaRPr lang="en-US" sz="1050" dirty="0"/>
          </a:p>
        </p:txBody>
      </p:sp>
      <p:sp>
        <p:nvSpPr>
          <p:cNvPr id="8" name="Shape 5"/>
          <p:cNvSpPr/>
          <p:nvPr/>
        </p:nvSpPr>
        <p:spPr>
          <a:xfrm>
            <a:off x="4370832" y="1307592"/>
            <a:ext cx="3785616" cy="2414016"/>
          </a:xfrm>
          <a:prstGeom prst="roundRect">
            <a:avLst>
              <a:gd name="adj" fmla="val 4545"/>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9" name="Image 1" descr="/home/claude/deck/img/lud_canne.jpg"/>
          <p:cNvPicPr>
            <a:picLocks noChangeAspect="1"/>
          </p:cNvPicPr>
          <p:nvPr/>
        </p:nvPicPr>
        <p:blipFill>
          <a:blip r:embed="rId3"/>
          <a:stretch>
            <a:fillRect/>
          </a:stretch>
        </p:blipFill>
        <p:spPr>
          <a:xfrm>
            <a:off x="4434840" y="1371600"/>
            <a:ext cx="3657600" cy="2286000"/>
          </a:xfrm>
          <a:prstGeom prst="rect">
            <a:avLst/>
          </a:prstGeom>
        </p:spPr>
      </p:pic>
      <p:sp>
        <p:nvSpPr>
          <p:cNvPr id="10" name="Shape 6"/>
          <p:cNvSpPr/>
          <p:nvPr/>
        </p:nvSpPr>
        <p:spPr>
          <a:xfrm>
            <a:off x="4544568" y="1481328"/>
            <a:ext cx="3246120" cy="292608"/>
          </a:xfrm>
          <a:prstGeom prst="roundRect">
            <a:avLst>
              <a:gd name="adj" fmla="val 50000"/>
            </a:avLst>
          </a:prstGeom>
          <a:solidFill>
            <a:srgbClr val="C4613A"/>
          </a:solidFill>
          <a:ln w="12700">
            <a:solidFill>
              <a:srgbClr val="C4613A"/>
            </a:solidFill>
            <a:prstDash val="solid"/>
          </a:ln>
        </p:spPr>
        <p:txBody>
          <a:bodyPr/>
          <a:lstStyle/>
          <a:p>
            <a:endParaRPr lang="fr-FR"/>
          </a:p>
        </p:txBody>
      </p:sp>
      <p:sp>
        <p:nvSpPr>
          <p:cNvPr id="11" name="Text 7"/>
          <p:cNvSpPr txBox="1"/>
          <p:nvPr/>
        </p:nvSpPr>
        <p:spPr>
          <a:xfrm>
            <a:off x="4544568" y="1481328"/>
            <a:ext cx="324612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Verdana" pitchFamily="34" charset="0"/>
                <a:ea typeface="Verdana" pitchFamily="34" charset="-122"/>
                <a:cs typeface="Verdana" pitchFamily="34" charset="-120"/>
              </a:rPr>
              <a:t>Canne · thon rouge · avec Vincent</a:t>
            </a:r>
            <a:endParaRPr lang="en-US" sz="1050" dirty="0"/>
          </a:p>
        </p:txBody>
      </p:sp>
      <p:sp>
        <p:nvSpPr>
          <p:cNvPr id="12" name="Shape 8"/>
          <p:cNvSpPr/>
          <p:nvPr/>
        </p:nvSpPr>
        <p:spPr>
          <a:xfrm>
            <a:off x="484632" y="3794760"/>
            <a:ext cx="3785616" cy="2414016"/>
          </a:xfrm>
          <a:prstGeom prst="roundRect">
            <a:avLst>
              <a:gd name="adj" fmla="val 4545"/>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3" name="Image 2" descr="/home/claude/deck/img/lud_chalut.jpg"/>
          <p:cNvPicPr>
            <a:picLocks noChangeAspect="1"/>
          </p:cNvPicPr>
          <p:nvPr/>
        </p:nvPicPr>
        <p:blipFill>
          <a:blip r:embed="rId4"/>
          <a:stretch>
            <a:fillRect/>
          </a:stretch>
        </p:blipFill>
        <p:spPr>
          <a:xfrm>
            <a:off x="548640" y="3858768"/>
            <a:ext cx="3657600" cy="2286000"/>
          </a:xfrm>
          <a:prstGeom prst="rect">
            <a:avLst/>
          </a:prstGeom>
        </p:spPr>
      </p:pic>
      <p:sp>
        <p:nvSpPr>
          <p:cNvPr id="14" name="Shape 9"/>
          <p:cNvSpPr/>
          <p:nvPr/>
        </p:nvSpPr>
        <p:spPr>
          <a:xfrm>
            <a:off x="658368" y="3968496"/>
            <a:ext cx="3246120" cy="292608"/>
          </a:xfrm>
          <a:prstGeom prst="roundRect">
            <a:avLst>
              <a:gd name="adj" fmla="val 50000"/>
            </a:avLst>
          </a:prstGeom>
          <a:solidFill>
            <a:srgbClr val="3F6E68"/>
          </a:solidFill>
          <a:ln w="12700">
            <a:solidFill>
              <a:srgbClr val="3F6E68"/>
            </a:solidFill>
            <a:prstDash val="solid"/>
          </a:ln>
        </p:spPr>
        <p:txBody>
          <a:bodyPr/>
          <a:lstStyle/>
          <a:p>
            <a:endParaRPr lang="fr-FR"/>
          </a:p>
        </p:txBody>
      </p:sp>
      <p:sp>
        <p:nvSpPr>
          <p:cNvPr id="15" name="Text 10"/>
          <p:cNvSpPr txBox="1"/>
          <p:nvPr/>
        </p:nvSpPr>
        <p:spPr>
          <a:xfrm>
            <a:off x="658368" y="3968496"/>
            <a:ext cx="324612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Verdana" pitchFamily="34" charset="0"/>
                <a:ea typeface="Verdana" pitchFamily="34" charset="-122"/>
                <a:cs typeface="Verdana" pitchFamily="34" charset="-120"/>
              </a:rPr>
              <a:t>Chalut · golfe du Lion · avec Vincent</a:t>
            </a:r>
            <a:endParaRPr lang="en-US" sz="1050" dirty="0"/>
          </a:p>
        </p:txBody>
      </p:sp>
      <p:sp>
        <p:nvSpPr>
          <p:cNvPr id="16" name="Shape 11"/>
          <p:cNvSpPr/>
          <p:nvPr/>
        </p:nvSpPr>
        <p:spPr>
          <a:xfrm>
            <a:off x="4370832" y="3794760"/>
            <a:ext cx="3785616" cy="2414016"/>
          </a:xfrm>
          <a:prstGeom prst="roundRect">
            <a:avLst>
              <a:gd name="adj" fmla="val 4545"/>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7" name="Image 3" descr="/home/claude/deck/img/lud_palangre.jpg"/>
          <p:cNvPicPr>
            <a:picLocks noChangeAspect="1"/>
          </p:cNvPicPr>
          <p:nvPr/>
        </p:nvPicPr>
        <p:blipFill>
          <a:blip r:embed="rId5"/>
          <a:stretch>
            <a:fillRect/>
          </a:stretch>
        </p:blipFill>
        <p:spPr>
          <a:xfrm>
            <a:off x="4434840" y="3858768"/>
            <a:ext cx="3657600" cy="2286000"/>
          </a:xfrm>
          <a:prstGeom prst="rect">
            <a:avLst/>
          </a:prstGeom>
        </p:spPr>
      </p:pic>
      <p:sp>
        <p:nvSpPr>
          <p:cNvPr id="18" name="Shape 12"/>
          <p:cNvSpPr/>
          <p:nvPr/>
        </p:nvSpPr>
        <p:spPr>
          <a:xfrm>
            <a:off x="4544568" y="3968496"/>
            <a:ext cx="3246120" cy="292608"/>
          </a:xfrm>
          <a:prstGeom prst="roundRect">
            <a:avLst>
              <a:gd name="adj" fmla="val 50000"/>
            </a:avLst>
          </a:prstGeom>
          <a:solidFill>
            <a:srgbClr val="6B4A2E"/>
          </a:solidFill>
          <a:ln w="12700">
            <a:solidFill>
              <a:srgbClr val="6B4A2E"/>
            </a:solidFill>
            <a:prstDash val="solid"/>
          </a:ln>
        </p:spPr>
        <p:txBody>
          <a:bodyPr/>
          <a:lstStyle/>
          <a:p>
            <a:endParaRPr lang="fr-FR"/>
          </a:p>
        </p:txBody>
      </p:sp>
      <p:sp>
        <p:nvSpPr>
          <p:cNvPr id="19" name="Text 13"/>
          <p:cNvSpPr txBox="1"/>
          <p:nvPr/>
        </p:nvSpPr>
        <p:spPr>
          <a:xfrm>
            <a:off x="4544568" y="3968496"/>
            <a:ext cx="324612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Verdana" pitchFamily="34" charset="0"/>
                <a:ea typeface="Verdana" pitchFamily="34" charset="-122"/>
                <a:cs typeface="Verdana" pitchFamily="34" charset="-120"/>
              </a:rPr>
              <a:t>Palangre · de nuit · avec Janvier</a:t>
            </a:r>
            <a:endParaRPr lang="en-US" sz="1050" dirty="0"/>
          </a:p>
        </p:txBody>
      </p:sp>
      <p:sp>
        <p:nvSpPr>
          <p:cNvPr id="20" name="Shape 14"/>
          <p:cNvSpPr/>
          <p:nvPr/>
        </p:nvSpPr>
        <p:spPr>
          <a:xfrm>
            <a:off x="8458200" y="1371600"/>
            <a:ext cx="3200400" cy="4937760"/>
          </a:xfrm>
          <a:prstGeom prst="roundRect">
            <a:avLst>
              <a:gd name="adj" fmla="val 5714"/>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sp>
        <p:nvSpPr>
          <p:cNvPr id="21" name="Text 15"/>
          <p:cNvSpPr txBox="1"/>
          <p:nvPr/>
        </p:nvSpPr>
        <p:spPr>
          <a:xfrm>
            <a:off x="8686800" y="1536192"/>
            <a:ext cx="2834640" cy="320040"/>
          </a:xfrm>
          <a:prstGeom prst="rect">
            <a:avLst/>
          </a:prstGeom>
          <a:noFill/>
          <a:ln/>
        </p:spPr>
        <p:txBody>
          <a:bodyPr wrap="square" lIns="0" tIns="0" rIns="0" bIns="0" rtlCol="0" anchor="t"/>
          <a:lstStyle/>
          <a:p>
            <a:pPr marL="0" indent="0">
              <a:buNone/>
            </a:pPr>
            <a:r>
              <a:rPr lang="en-US" sz="1550" b="1" dirty="0">
                <a:solidFill>
                  <a:srgbClr val="0012B5"/>
                </a:solidFill>
                <a:latin typeface="Verdana" pitchFamily="34" charset="0"/>
                <a:ea typeface="Verdana" pitchFamily="34" charset="-122"/>
                <a:cs typeface="Verdana" pitchFamily="34" charset="-120"/>
              </a:rPr>
              <a:t>Comment ça marche</a:t>
            </a:r>
            <a:endParaRPr lang="en-US" sz="1550" dirty="0"/>
          </a:p>
        </p:txBody>
      </p:sp>
      <p:sp>
        <p:nvSpPr>
          <p:cNvPr id="22" name="Text 16"/>
          <p:cNvSpPr txBox="1"/>
          <p:nvPr/>
        </p:nvSpPr>
        <p:spPr>
          <a:xfrm>
            <a:off x="8686800" y="1920240"/>
            <a:ext cx="2834640" cy="4297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3A4658"/>
                </a:solidFill>
                <a:latin typeface="Verdana" pitchFamily="34" charset="0"/>
                <a:ea typeface="Verdana" pitchFamily="34" charset="-122"/>
                <a:cs typeface="Verdana" pitchFamily="34" charset="-120"/>
              </a:rPr>
              <a:t>Le patron accueille le visiteur et lui confie un rôle : second, matelot, ligneur.</a:t>
            </a:r>
            <a:endParaRPr lang="en-US" sz="1200" dirty="0"/>
          </a:p>
          <a:p>
            <a:pPr marL="177800" indent="-177800">
              <a:spcAft>
                <a:spcPts val="600"/>
              </a:spcAft>
              <a:buSzPct val="100000"/>
              <a:buChar char="•"/>
            </a:pPr>
            <a:r>
              <a:rPr lang="en-US" sz="1200" dirty="0">
                <a:solidFill>
                  <a:srgbClr val="3A4658"/>
                </a:solidFill>
                <a:latin typeface="Verdana" pitchFamily="34" charset="0"/>
                <a:ea typeface="Verdana" pitchFamily="34" charset="-122"/>
                <a:cs typeface="Verdana" pitchFamily="34" charset="-120"/>
              </a:rPr>
              <a:t>On tient la barre : cap, sonar, gasoil, quota, heure du jour.</a:t>
            </a:r>
            <a:endParaRPr lang="en-US" sz="1200" dirty="0"/>
          </a:p>
          <a:p>
            <a:pPr marL="177800" indent="-177800">
              <a:spcAft>
                <a:spcPts val="600"/>
              </a:spcAft>
              <a:buSzPct val="100000"/>
              <a:buChar char="•"/>
            </a:pPr>
            <a:r>
              <a:rPr lang="en-US" sz="1200" dirty="0">
                <a:solidFill>
                  <a:srgbClr val="3A4658"/>
                </a:solidFill>
                <a:latin typeface="Verdana" pitchFamily="34" charset="0"/>
                <a:ea typeface="Verdana" pitchFamily="34" charset="-122"/>
                <a:cs typeface="Verdana" pitchFamily="34" charset="-120"/>
              </a:rPr>
              <a:t>On cherche le poisson, on pêche, on rentre au port, guidé par le patron.</a:t>
            </a:r>
            <a:endParaRPr lang="en-US" sz="1200" dirty="0"/>
          </a:p>
          <a:p>
            <a:pPr marL="177800" indent="-177800">
              <a:spcAft>
                <a:spcPts val="600"/>
              </a:spcAft>
              <a:buSzPct val="100000"/>
              <a:buChar char="•"/>
            </a:pPr>
            <a:r>
              <a:rPr lang="en-US" sz="1200" dirty="0">
                <a:solidFill>
                  <a:srgbClr val="3A4658"/>
                </a:solidFill>
                <a:latin typeface="Verdana" pitchFamily="34" charset="0"/>
                <a:ea typeface="Verdana" pitchFamily="34" charset="-122"/>
                <a:cs typeface="Verdana" pitchFamily="34" charset="-120"/>
              </a:rPr>
              <a:t>Accessible depuis la carte postale (les 4 timbres) ou le chapitre « Qui pêche quoi ».</a:t>
            </a:r>
            <a:endParaRPr lang="en-US" sz="1200" dirty="0"/>
          </a:p>
          <a:p>
            <a:pPr marL="177800" indent="-177800">
              <a:spcAft>
                <a:spcPts val="600"/>
              </a:spcAft>
              <a:buSzPct val="100000"/>
              <a:buChar char="•"/>
            </a:pPr>
            <a:r>
              <a:rPr lang="en-US" sz="1200" dirty="0">
                <a:solidFill>
                  <a:srgbClr val="3A4658"/>
                </a:solidFill>
                <a:latin typeface="Verdana" pitchFamily="34" charset="0"/>
                <a:ea typeface="Verdana" pitchFamily="34" charset="-122"/>
                <a:cs typeface="Verdana" pitchFamily="34" charset="-120"/>
              </a:rPr>
              <a:t>Ordinateur et téléphone ; chaque jeu ne se charge qu’au clic.</a:t>
            </a:r>
            <a:endParaRPr lang="en-US" sz="1200" dirty="0"/>
          </a:p>
        </p:txBody>
      </p:sp>
      <p:sp>
        <p:nvSpPr>
          <p:cNvPr id="23" name="Text 17"/>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64</a:t>
            </a:r>
            <a:endParaRPr lang="en-US" sz="11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ANNEXE · LE SITE · CÔTÉ LUDIQUE</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300" b="1" dirty="0">
                <a:solidFill>
                  <a:srgbClr val="0012B5"/>
                </a:solidFill>
                <a:latin typeface="Verdana" pitchFamily="34" charset="0"/>
                <a:ea typeface="Verdana" pitchFamily="34" charset="-122"/>
                <a:cs typeface="Verdana" pitchFamily="34" charset="-120"/>
              </a:rPr>
              <a:t>La criée et les fiches espèces : apprendre en jouant</a:t>
            </a:r>
            <a:endParaRPr lang="en-US" sz="2300" dirty="0"/>
          </a:p>
        </p:txBody>
      </p:sp>
      <p:sp>
        <p:nvSpPr>
          <p:cNvPr id="4" name="Shape 2"/>
          <p:cNvSpPr/>
          <p:nvPr/>
        </p:nvSpPr>
        <p:spPr>
          <a:xfrm>
            <a:off x="496407" y="1307592"/>
            <a:ext cx="5956626" cy="3419856"/>
          </a:xfrm>
          <a:prstGeom prst="roundRect">
            <a:avLst>
              <a:gd name="adj" fmla="val 3209"/>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lud_criee.jpg"/>
          <p:cNvPicPr>
            <a:picLocks noChangeAspect="1"/>
          </p:cNvPicPr>
          <p:nvPr/>
        </p:nvPicPr>
        <p:blipFill>
          <a:blip r:embed="rId2"/>
          <a:stretch>
            <a:fillRect/>
          </a:stretch>
        </p:blipFill>
        <p:spPr>
          <a:xfrm>
            <a:off x="560415" y="1371600"/>
            <a:ext cx="5828610" cy="3291840"/>
          </a:xfrm>
          <a:prstGeom prst="rect">
            <a:avLst/>
          </a:prstGeom>
        </p:spPr>
      </p:pic>
      <p:sp>
        <p:nvSpPr>
          <p:cNvPr id="6" name="Shape 3"/>
          <p:cNvSpPr/>
          <p:nvPr/>
        </p:nvSpPr>
        <p:spPr>
          <a:xfrm>
            <a:off x="560415" y="4828032"/>
            <a:ext cx="3108960" cy="329184"/>
          </a:xfrm>
          <a:prstGeom prst="roundRect">
            <a:avLst>
              <a:gd name="adj" fmla="val 50000"/>
            </a:avLst>
          </a:prstGeom>
          <a:solidFill>
            <a:srgbClr val="B45309"/>
          </a:solidFill>
          <a:ln w="12700">
            <a:solidFill>
              <a:srgbClr val="B45309"/>
            </a:solidFill>
            <a:prstDash val="solid"/>
          </a:ln>
        </p:spPr>
        <p:txBody>
          <a:bodyPr/>
          <a:lstStyle/>
          <a:p>
            <a:endParaRPr lang="fr-FR"/>
          </a:p>
        </p:txBody>
      </p:sp>
      <p:sp>
        <p:nvSpPr>
          <p:cNvPr id="7" name="Text 4"/>
          <p:cNvSpPr txBox="1"/>
          <p:nvPr/>
        </p:nvSpPr>
        <p:spPr>
          <a:xfrm>
            <a:off x="560415" y="4828032"/>
            <a:ext cx="3108960" cy="329184"/>
          </a:xfrm>
          <a:prstGeom prst="rect">
            <a:avLst/>
          </a:prstGeom>
          <a:noFill/>
          <a:ln/>
        </p:spPr>
        <p:txBody>
          <a:bodyPr wrap="square" lIns="0" tIns="0" rIns="0" bIns="0" rtlCol="0" anchor="ctr"/>
          <a:lstStyle/>
          <a:p>
            <a:pPr marL="0" indent="0" algn="ctr">
              <a:buNone/>
            </a:pPr>
            <a:r>
              <a:rPr lang="en-US" sz="1250" b="1" dirty="0">
                <a:solidFill>
                  <a:srgbClr val="FFFFFF"/>
                </a:solidFill>
                <a:latin typeface="Verdana" pitchFamily="34" charset="0"/>
                <a:ea typeface="Verdana" pitchFamily="34" charset="-122"/>
                <a:cs typeface="Verdana" pitchFamily="34" charset="-120"/>
              </a:rPr>
              <a:t>Le jeu : une matinée à la criée</a:t>
            </a:r>
            <a:endParaRPr lang="en-US" sz="1250" dirty="0"/>
          </a:p>
        </p:txBody>
      </p:sp>
      <p:sp>
        <p:nvSpPr>
          <p:cNvPr id="8" name="Text 5"/>
          <p:cNvSpPr txBox="1"/>
          <p:nvPr/>
        </p:nvSpPr>
        <p:spPr>
          <a:xfrm>
            <a:off x="548640" y="5257800"/>
            <a:ext cx="5852160" cy="914400"/>
          </a:xfrm>
          <a:prstGeom prst="rect">
            <a:avLst/>
          </a:prstGeom>
          <a:noFill/>
          <a:ln/>
        </p:spPr>
        <p:txBody>
          <a:bodyPr wrap="square" lIns="0" tIns="0" rIns="0" bIns="0" rtlCol="0" anchor="t"/>
          <a:lstStyle/>
          <a:p>
            <a:pPr marL="0" indent="0">
              <a:buNone/>
            </a:pPr>
            <a:r>
              <a:rPr lang="en-US" sz="1200" dirty="0">
                <a:solidFill>
                  <a:srgbClr val="3A4658"/>
                </a:solidFill>
                <a:latin typeface="Verdana" pitchFamily="34" charset="0"/>
                <a:ea typeface="Verdana" pitchFamily="34" charset="-122"/>
                <a:cs typeface="Verdana" pitchFamily="34" charset="-120"/>
              </a:rPr>
              <a:t>Le visiteur devient acheteur : le prix baisse sur le cadran, il appuie au bon moment pour remplir la commande de son restaurant sans dépasser son budget. Lot Extra ou B, cours du jour, prix de retrait : on apprend la criée en jouant.</a:t>
            </a:r>
            <a:endParaRPr lang="en-US" sz="1200" dirty="0"/>
          </a:p>
        </p:txBody>
      </p:sp>
      <p:sp>
        <p:nvSpPr>
          <p:cNvPr id="9" name="Shape 6"/>
          <p:cNvSpPr/>
          <p:nvPr/>
        </p:nvSpPr>
        <p:spPr>
          <a:xfrm>
            <a:off x="7219317" y="1307592"/>
            <a:ext cx="3940807" cy="3739896"/>
          </a:xfrm>
          <a:prstGeom prst="roundRect">
            <a:avLst>
              <a:gd name="adj" fmla="val 2934"/>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0" name="Image 1" descr="/home/claude/deck/img/lud_fiche_c.jpg"/>
          <p:cNvPicPr>
            <a:picLocks noChangeAspect="1"/>
          </p:cNvPicPr>
          <p:nvPr/>
        </p:nvPicPr>
        <p:blipFill>
          <a:blip r:embed="rId3"/>
          <a:stretch>
            <a:fillRect/>
          </a:stretch>
        </p:blipFill>
        <p:spPr>
          <a:xfrm>
            <a:off x="7283325" y="1371600"/>
            <a:ext cx="3812791" cy="3611880"/>
          </a:xfrm>
          <a:prstGeom prst="rect">
            <a:avLst/>
          </a:prstGeom>
        </p:spPr>
      </p:pic>
      <p:sp>
        <p:nvSpPr>
          <p:cNvPr id="11" name="Shape 7"/>
          <p:cNvSpPr/>
          <p:nvPr/>
        </p:nvSpPr>
        <p:spPr>
          <a:xfrm>
            <a:off x="7283325" y="5120640"/>
            <a:ext cx="3017520" cy="310896"/>
          </a:xfrm>
          <a:prstGeom prst="roundRect">
            <a:avLst>
              <a:gd name="adj" fmla="val 50000"/>
            </a:avLst>
          </a:prstGeom>
          <a:solidFill>
            <a:srgbClr val="1F5BD6"/>
          </a:solidFill>
          <a:ln w="12700">
            <a:solidFill>
              <a:srgbClr val="1F5BD6"/>
            </a:solidFill>
            <a:prstDash val="solid"/>
          </a:ln>
        </p:spPr>
        <p:txBody>
          <a:bodyPr/>
          <a:lstStyle/>
          <a:p>
            <a:endParaRPr lang="fr-FR"/>
          </a:p>
        </p:txBody>
      </p:sp>
      <p:sp>
        <p:nvSpPr>
          <p:cNvPr id="12" name="Text 8"/>
          <p:cNvSpPr txBox="1"/>
          <p:nvPr/>
        </p:nvSpPr>
        <p:spPr>
          <a:xfrm>
            <a:off x="7283325" y="5120640"/>
            <a:ext cx="301752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Verdana" pitchFamily="34" charset="0"/>
                <a:ea typeface="Verdana" pitchFamily="34" charset="-122"/>
                <a:cs typeface="Verdana" pitchFamily="34" charset="-120"/>
              </a:rPr>
              <a:t>Une fiche complète par espèce</a:t>
            </a:r>
            <a:endParaRPr lang="en-US" sz="1200" dirty="0"/>
          </a:p>
        </p:txBody>
      </p:sp>
      <p:sp>
        <p:nvSpPr>
          <p:cNvPr id="13" name="Text 9"/>
          <p:cNvSpPr txBox="1"/>
          <p:nvPr/>
        </p:nvSpPr>
        <p:spPr>
          <a:xfrm>
            <a:off x="7283325" y="5532120"/>
            <a:ext cx="4937760" cy="914400"/>
          </a:xfrm>
          <a:prstGeom prst="rect">
            <a:avLst/>
          </a:prstGeom>
          <a:noFill/>
          <a:ln/>
        </p:spPr>
        <p:txBody>
          <a:bodyPr wrap="square" lIns="0" tIns="0" rIns="0" bIns="0" rtlCol="0" anchor="t"/>
          <a:lstStyle/>
          <a:p>
            <a:pPr marL="0" indent="0">
              <a:buNone/>
            </a:pPr>
            <a:r>
              <a:rPr lang="en-US" sz="1200" dirty="0">
                <a:solidFill>
                  <a:srgbClr val="3A4658"/>
                </a:solidFill>
                <a:latin typeface="Verdana" pitchFamily="34" charset="0"/>
                <a:ea typeface="Verdana" pitchFamily="34" charset="-122"/>
                <a:cs typeface="Verdana" pitchFamily="34" charset="-120"/>
              </a:rPr>
              <a:t>Une planche illustrée pour chacune des 15 espèces du chapitre « À table » : autres noms, signes pour la reconnaître, taille, poids, longévité et profondeur comparés aux autres espèces, sources numérotées.</a:t>
            </a:r>
            <a:endParaRPr lang="en-US" sz="1200" dirty="0"/>
          </a:p>
        </p:txBody>
      </p:sp>
      <p:sp>
        <p:nvSpPr>
          <p:cNvPr id="14" name="Text 10"/>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65</a:t>
            </a:r>
            <a:endParaRPr lang="en-US" sz="11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3">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ANNEXE · LE SITE · CÔTÉ LUDIQUE</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ECHOSEA© : le touriste devient observateur</a:t>
            </a:r>
            <a:endParaRPr lang="en-US" sz="2500" dirty="0"/>
          </a:p>
        </p:txBody>
      </p:sp>
      <p:sp>
        <p:nvSpPr>
          <p:cNvPr id="4" name="Shape 2"/>
          <p:cNvSpPr/>
          <p:nvPr/>
        </p:nvSpPr>
        <p:spPr>
          <a:xfrm>
            <a:off x="484632" y="1307592"/>
            <a:ext cx="5797296" cy="3786939"/>
          </a:xfrm>
          <a:prstGeom prst="roundRect">
            <a:avLst>
              <a:gd name="adj" fmla="val 2898"/>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5" name="Image 0" descr="/home/claude/deck/img/echo_popup.jpg"/>
          <p:cNvPicPr>
            <a:picLocks noChangeAspect="1"/>
          </p:cNvPicPr>
          <p:nvPr/>
        </p:nvPicPr>
        <p:blipFill>
          <a:blip r:embed="rId3"/>
          <a:stretch>
            <a:fillRect/>
          </a:stretch>
        </p:blipFill>
        <p:spPr>
          <a:xfrm>
            <a:off x="548640" y="1371600"/>
            <a:ext cx="5669280" cy="3658923"/>
          </a:xfrm>
          <a:prstGeom prst="rect">
            <a:avLst/>
          </a:prstGeom>
        </p:spPr>
      </p:pic>
      <p:sp>
        <p:nvSpPr>
          <p:cNvPr id="6" name="Shape 3"/>
          <p:cNvSpPr/>
          <p:nvPr/>
        </p:nvSpPr>
        <p:spPr>
          <a:xfrm>
            <a:off x="548640" y="5195115"/>
            <a:ext cx="2834640" cy="329184"/>
          </a:xfrm>
          <a:prstGeom prst="roundRect">
            <a:avLst>
              <a:gd name="adj" fmla="val 50000"/>
            </a:avLst>
          </a:prstGeom>
          <a:solidFill>
            <a:srgbClr val="1F5BD6"/>
          </a:solidFill>
          <a:ln w="12700">
            <a:solidFill>
              <a:srgbClr val="1F5BD6"/>
            </a:solidFill>
            <a:prstDash val="solid"/>
          </a:ln>
        </p:spPr>
        <p:txBody>
          <a:bodyPr/>
          <a:lstStyle/>
          <a:p>
            <a:endParaRPr lang="fr-FR"/>
          </a:p>
        </p:txBody>
      </p:sp>
      <p:sp>
        <p:nvSpPr>
          <p:cNvPr id="7" name="Text 4"/>
          <p:cNvSpPr txBox="1"/>
          <p:nvPr/>
        </p:nvSpPr>
        <p:spPr>
          <a:xfrm>
            <a:off x="548640" y="5195115"/>
            <a:ext cx="283464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Juste après la réservation</a:t>
            </a:r>
            <a:endParaRPr lang="en-US" sz="1300" dirty="0"/>
          </a:p>
        </p:txBody>
      </p:sp>
      <p:sp>
        <p:nvSpPr>
          <p:cNvPr id="8" name="Text 5"/>
          <p:cNvSpPr txBox="1"/>
          <p:nvPr/>
        </p:nvSpPr>
        <p:spPr>
          <a:xfrm>
            <a:off x="548640" y="5624883"/>
            <a:ext cx="5669280" cy="457200"/>
          </a:xfrm>
          <a:prstGeom prst="rect">
            <a:avLst/>
          </a:prstGeom>
          <a:noFill/>
          <a:ln/>
        </p:spPr>
        <p:txBody>
          <a:bodyPr wrap="square" lIns="0" tIns="0" rIns="0" bIns="0" rtlCol="0" anchor="t"/>
          <a:lstStyle/>
          <a:p>
            <a:pPr marL="0" indent="0">
              <a:buNone/>
            </a:pPr>
            <a:r>
              <a:rPr lang="en-US" sz="1150" i="1" dirty="0">
                <a:solidFill>
                  <a:srgbClr val="66728A"/>
                </a:solidFill>
                <a:latin typeface="Verdana" pitchFamily="34" charset="0"/>
                <a:ea typeface="Verdana" pitchFamily="34" charset="-122"/>
                <a:cs typeface="Verdana" pitchFamily="34" charset="-120"/>
              </a:rPr>
              <a:t>Le lien mène directement à l’App Store ou à Google Play, selon le téléphone du visiteur.</a:t>
            </a:r>
            <a:endParaRPr lang="en-US" sz="1150" dirty="0"/>
          </a:p>
        </p:txBody>
      </p:sp>
      <p:sp>
        <p:nvSpPr>
          <p:cNvPr id="9" name="Shape 6"/>
          <p:cNvSpPr/>
          <p:nvPr/>
        </p:nvSpPr>
        <p:spPr>
          <a:xfrm>
            <a:off x="6519672" y="1307592"/>
            <a:ext cx="5202936" cy="898210"/>
          </a:xfrm>
          <a:prstGeom prst="roundRect">
            <a:avLst>
              <a:gd name="adj" fmla="val 12216"/>
            </a:avLst>
          </a:prstGeom>
          <a:solidFill>
            <a:srgbClr val="FFFFFF"/>
          </a:solidFill>
          <a:ln w="9525">
            <a:solidFill>
              <a:srgbClr val="D8E3F2"/>
            </a:solidFill>
            <a:prstDash val="solid"/>
          </a:ln>
          <a:effectLst>
            <a:outerShdw blurRad="152400" dist="38100" dir="5400000" algn="bl" rotWithShape="0">
              <a:srgbClr val="1F5BD6">
                <a:alpha val="14000"/>
              </a:srgbClr>
            </a:outerShdw>
          </a:effectLst>
        </p:spPr>
        <p:txBody>
          <a:bodyPr/>
          <a:lstStyle/>
          <a:p>
            <a:endParaRPr lang="fr-FR"/>
          </a:p>
        </p:txBody>
      </p:sp>
      <p:pic>
        <p:nvPicPr>
          <p:cNvPr id="10" name="Image 1" descr="/home/claude/deck/img/echo_banner.jpg"/>
          <p:cNvPicPr>
            <a:picLocks noChangeAspect="1"/>
          </p:cNvPicPr>
          <p:nvPr/>
        </p:nvPicPr>
        <p:blipFill>
          <a:blip r:embed="rId4"/>
          <a:stretch>
            <a:fillRect/>
          </a:stretch>
        </p:blipFill>
        <p:spPr>
          <a:xfrm>
            <a:off x="6583680" y="1371600"/>
            <a:ext cx="5074920" cy="770194"/>
          </a:xfrm>
          <a:prstGeom prst="rect">
            <a:avLst/>
          </a:prstGeom>
        </p:spPr>
      </p:pic>
      <p:sp>
        <p:nvSpPr>
          <p:cNvPr id="11" name="Shape 7"/>
          <p:cNvSpPr/>
          <p:nvPr/>
        </p:nvSpPr>
        <p:spPr>
          <a:xfrm>
            <a:off x="6583680" y="2278954"/>
            <a:ext cx="2377440" cy="274320"/>
          </a:xfrm>
          <a:prstGeom prst="roundRect">
            <a:avLst>
              <a:gd name="adj" fmla="val 50000"/>
            </a:avLst>
          </a:prstGeom>
          <a:solidFill>
            <a:srgbClr val="EEF4FD"/>
          </a:solidFill>
          <a:ln w="12700">
            <a:solidFill>
              <a:srgbClr val="EEF4FD"/>
            </a:solidFill>
            <a:prstDash val="solid"/>
          </a:ln>
        </p:spPr>
        <p:txBody>
          <a:bodyPr/>
          <a:lstStyle/>
          <a:p>
            <a:endParaRPr lang="fr-FR"/>
          </a:p>
        </p:txBody>
      </p:sp>
      <p:sp>
        <p:nvSpPr>
          <p:cNvPr id="12" name="Text 8"/>
          <p:cNvSpPr txBox="1"/>
          <p:nvPr/>
        </p:nvSpPr>
        <p:spPr>
          <a:xfrm>
            <a:off x="6583680" y="2278954"/>
            <a:ext cx="2377440" cy="274320"/>
          </a:xfrm>
          <a:prstGeom prst="rect">
            <a:avLst/>
          </a:prstGeom>
          <a:noFill/>
          <a:ln/>
        </p:spPr>
        <p:txBody>
          <a:bodyPr wrap="square" lIns="0" tIns="0" rIns="0" bIns="0" rtlCol="0" anchor="ctr"/>
          <a:lstStyle/>
          <a:p>
            <a:pPr marL="0" indent="0" algn="ctr">
              <a:buNone/>
            </a:pPr>
            <a:r>
              <a:rPr lang="en-US" sz="1200" b="1" dirty="0">
                <a:solidFill>
                  <a:srgbClr val="0012B5"/>
                </a:solidFill>
                <a:latin typeface="Verdana" pitchFamily="34" charset="0"/>
                <a:ea typeface="Verdana" pitchFamily="34" charset="-122"/>
                <a:cs typeface="Verdana" pitchFamily="34" charset="-120"/>
              </a:rPr>
              <a:t>Sur les pages du site</a:t>
            </a:r>
            <a:endParaRPr lang="en-US" sz="1200" dirty="0"/>
          </a:p>
        </p:txBody>
      </p:sp>
      <p:sp>
        <p:nvSpPr>
          <p:cNvPr id="13" name="Shape 9"/>
          <p:cNvSpPr/>
          <p:nvPr/>
        </p:nvSpPr>
        <p:spPr>
          <a:xfrm>
            <a:off x="6583680" y="2880360"/>
            <a:ext cx="493776" cy="493776"/>
          </a:xfrm>
          <a:prstGeom prst="ellipse">
            <a:avLst/>
          </a:prstGeom>
          <a:solidFill>
            <a:srgbClr val="1F5BD6"/>
          </a:solidFill>
          <a:ln w="12700">
            <a:solidFill>
              <a:srgbClr val="1F5BD6"/>
            </a:solidFill>
            <a:prstDash val="solid"/>
          </a:ln>
        </p:spPr>
        <p:txBody>
          <a:bodyPr/>
          <a:lstStyle/>
          <a:p>
            <a:endParaRPr lang="fr-FR"/>
          </a:p>
        </p:txBody>
      </p:sp>
      <p:pic>
        <p:nvPicPr>
          <p:cNvPr id="14" name="Image 2" descr="preencoded.png"/>
          <p:cNvPicPr>
            <a:picLocks noChangeAspect="1"/>
          </p:cNvPicPr>
          <p:nvPr/>
        </p:nvPicPr>
        <p:blipFill>
          <a:blip r:embed="rId5"/>
          <a:stretch>
            <a:fillRect/>
          </a:stretch>
        </p:blipFill>
        <p:spPr>
          <a:xfrm>
            <a:off x="6707124" y="3003804"/>
            <a:ext cx="246888" cy="246888"/>
          </a:xfrm>
          <a:prstGeom prst="rect">
            <a:avLst/>
          </a:prstGeom>
        </p:spPr>
      </p:pic>
      <p:sp>
        <p:nvSpPr>
          <p:cNvPr id="15" name="Text 10"/>
          <p:cNvSpPr txBox="1"/>
          <p:nvPr/>
        </p:nvSpPr>
        <p:spPr>
          <a:xfrm>
            <a:off x="7269480" y="2852928"/>
            <a:ext cx="4389120" cy="301752"/>
          </a:xfrm>
          <a:prstGeom prst="rect">
            <a:avLst/>
          </a:prstGeom>
          <a:noFill/>
          <a:ln/>
        </p:spPr>
        <p:txBody>
          <a:bodyPr wrap="square" lIns="0" tIns="0" rIns="0" bIns="0" rtlCol="0" anchor="t"/>
          <a:lstStyle/>
          <a:p>
            <a:pPr marL="0" indent="0">
              <a:buNone/>
            </a:pPr>
            <a:r>
              <a:rPr lang="en-US" sz="1450" b="1" dirty="0">
                <a:solidFill>
                  <a:srgbClr val="0012B5"/>
                </a:solidFill>
                <a:latin typeface="Verdana" pitchFamily="34" charset="0"/>
                <a:ea typeface="Verdana" pitchFamily="34" charset="-122"/>
                <a:cs typeface="Verdana" pitchFamily="34" charset="-120"/>
              </a:rPr>
              <a:t>À bord, on observe</a:t>
            </a:r>
            <a:endParaRPr lang="en-US" sz="1450" dirty="0"/>
          </a:p>
        </p:txBody>
      </p:sp>
      <p:sp>
        <p:nvSpPr>
          <p:cNvPr id="16" name="Text 11"/>
          <p:cNvSpPr txBox="1"/>
          <p:nvPr/>
        </p:nvSpPr>
        <p:spPr>
          <a:xfrm>
            <a:off x="7269480" y="3182112"/>
            <a:ext cx="4389120" cy="731520"/>
          </a:xfrm>
          <a:prstGeom prst="rect">
            <a:avLst/>
          </a:prstGeom>
          <a:noFill/>
          <a:ln/>
        </p:spPr>
        <p:txBody>
          <a:bodyPr wrap="square" lIns="0" tIns="0" rIns="0" bIns="0" rtlCol="0" anchor="t"/>
          <a:lstStyle/>
          <a:p>
            <a:pPr marL="0" indent="0">
              <a:buNone/>
            </a:pPr>
            <a:r>
              <a:rPr lang="en-US" sz="1200" dirty="0">
                <a:solidFill>
                  <a:srgbClr val="3A4658"/>
                </a:solidFill>
                <a:latin typeface="Verdana" pitchFamily="34" charset="0"/>
                <a:ea typeface="Verdana" pitchFamily="34" charset="-122"/>
                <a:cs typeface="Verdana" pitchFamily="34" charset="-120"/>
              </a:rPr>
              <a:t>Dauphins, oiseaux, tortues : chaque observation est enregistrée dans l’application.</a:t>
            </a:r>
            <a:endParaRPr lang="en-US" sz="1200" dirty="0"/>
          </a:p>
        </p:txBody>
      </p:sp>
      <p:sp>
        <p:nvSpPr>
          <p:cNvPr id="17" name="Shape 12"/>
          <p:cNvSpPr/>
          <p:nvPr/>
        </p:nvSpPr>
        <p:spPr>
          <a:xfrm>
            <a:off x="6583680" y="4050792"/>
            <a:ext cx="493776" cy="493776"/>
          </a:xfrm>
          <a:prstGeom prst="ellipse">
            <a:avLst/>
          </a:prstGeom>
          <a:solidFill>
            <a:srgbClr val="00A7B5"/>
          </a:solidFill>
          <a:ln w="12700">
            <a:solidFill>
              <a:srgbClr val="00A7B5"/>
            </a:solidFill>
            <a:prstDash val="solid"/>
          </a:ln>
        </p:spPr>
        <p:txBody>
          <a:bodyPr/>
          <a:lstStyle/>
          <a:p>
            <a:endParaRPr lang="fr-FR"/>
          </a:p>
        </p:txBody>
      </p:sp>
      <p:pic>
        <p:nvPicPr>
          <p:cNvPr id="18" name="Image 3" descr="preencoded.png"/>
          <p:cNvPicPr>
            <a:picLocks noChangeAspect="1"/>
          </p:cNvPicPr>
          <p:nvPr/>
        </p:nvPicPr>
        <p:blipFill>
          <a:blip r:embed="rId6"/>
          <a:stretch>
            <a:fillRect/>
          </a:stretch>
        </p:blipFill>
        <p:spPr>
          <a:xfrm>
            <a:off x="6707124" y="4174236"/>
            <a:ext cx="246888" cy="246888"/>
          </a:xfrm>
          <a:prstGeom prst="rect">
            <a:avLst/>
          </a:prstGeom>
        </p:spPr>
      </p:pic>
      <p:sp>
        <p:nvSpPr>
          <p:cNvPr id="19" name="Text 13"/>
          <p:cNvSpPr txBox="1"/>
          <p:nvPr/>
        </p:nvSpPr>
        <p:spPr>
          <a:xfrm>
            <a:off x="7269480" y="4023360"/>
            <a:ext cx="4389120" cy="301752"/>
          </a:xfrm>
          <a:prstGeom prst="rect">
            <a:avLst/>
          </a:prstGeom>
          <a:noFill/>
          <a:ln/>
        </p:spPr>
        <p:txBody>
          <a:bodyPr wrap="square" lIns="0" tIns="0" rIns="0" bIns="0" rtlCol="0" anchor="t"/>
          <a:lstStyle/>
          <a:p>
            <a:pPr marL="0" indent="0">
              <a:buNone/>
            </a:pPr>
            <a:r>
              <a:rPr lang="en-US" sz="1450" b="1" dirty="0">
                <a:solidFill>
                  <a:srgbClr val="0012B5"/>
                </a:solidFill>
                <a:latin typeface="Verdana" pitchFamily="34" charset="0"/>
                <a:ea typeface="Verdana" pitchFamily="34" charset="-122"/>
                <a:cs typeface="Verdana" pitchFamily="34" charset="-120"/>
              </a:rPr>
              <a:t>On signale les prises accessoires</a:t>
            </a:r>
            <a:endParaRPr lang="en-US" sz="1450" dirty="0"/>
          </a:p>
        </p:txBody>
      </p:sp>
      <p:sp>
        <p:nvSpPr>
          <p:cNvPr id="20" name="Text 14"/>
          <p:cNvSpPr txBox="1"/>
          <p:nvPr/>
        </p:nvSpPr>
        <p:spPr>
          <a:xfrm>
            <a:off x="7269480" y="4352544"/>
            <a:ext cx="4389120" cy="731520"/>
          </a:xfrm>
          <a:prstGeom prst="rect">
            <a:avLst/>
          </a:prstGeom>
          <a:noFill/>
          <a:ln/>
        </p:spPr>
        <p:txBody>
          <a:bodyPr wrap="square" lIns="0" tIns="0" rIns="0" bIns="0" rtlCol="0" anchor="t"/>
          <a:lstStyle/>
          <a:p>
            <a:pPr marL="0" indent="0">
              <a:buNone/>
            </a:pPr>
            <a:r>
              <a:rPr lang="en-US" sz="1200" dirty="0">
                <a:solidFill>
                  <a:srgbClr val="3A4658"/>
                </a:solidFill>
                <a:latin typeface="Verdana" pitchFamily="34" charset="0"/>
                <a:ea typeface="Verdana" pitchFamily="34" charset="-122"/>
                <a:cs typeface="Verdana" pitchFamily="34" charset="-120"/>
              </a:rPr>
              <a:t>Raies, requins et autres espèces non ciblées, avec les pêcheurs.</a:t>
            </a:r>
            <a:endParaRPr lang="en-US" sz="1200" dirty="0"/>
          </a:p>
        </p:txBody>
      </p:sp>
      <p:sp>
        <p:nvSpPr>
          <p:cNvPr id="21" name="Shape 15"/>
          <p:cNvSpPr/>
          <p:nvPr/>
        </p:nvSpPr>
        <p:spPr>
          <a:xfrm>
            <a:off x="6583680" y="5221224"/>
            <a:ext cx="493776" cy="493776"/>
          </a:xfrm>
          <a:prstGeom prst="ellipse">
            <a:avLst/>
          </a:prstGeom>
          <a:solidFill>
            <a:srgbClr val="0E9F6E"/>
          </a:solidFill>
          <a:ln w="12700">
            <a:solidFill>
              <a:srgbClr val="0E9F6E"/>
            </a:solidFill>
            <a:prstDash val="solid"/>
          </a:ln>
        </p:spPr>
        <p:txBody>
          <a:bodyPr/>
          <a:lstStyle/>
          <a:p>
            <a:endParaRPr lang="fr-FR"/>
          </a:p>
        </p:txBody>
      </p:sp>
      <p:pic>
        <p:nvPicPr>
          <p:cNvPr id="22" name="Image 4" descr="preencoded.png"/>
          <p:cNvPicPr>
            <a:picLocks noChangeAspect="1"/>
          </p:cNvPicPr>
          <p:nvPr/>
        </p:nvPicPr>
        <p:blipFill>
          <a:blip r:embed="rId7"/>
          <a:stretch>
            <a:fillRect/>
          </a:stretch>
        </p:blipFill>
        <p:spPr>
          <a:xfrm>
            <a:off x="6707124" y="5344668"/>
            <a:ext cx="246888" cy="246888"/>
          </a:xfrm>
          <a:prstGeom prst="rect">
            <a:avLst/>
          </a:prstGeom>
        </p:spPr>
      </p:pic>
      <p:sp>
        <p:nvSpPr>
          <p:cNvPr id="23" name="Text 16"/>
          <p:cNvSpPr txBox="1"/>
          <p:nvPr/>
        </p:nvSpPr>
        <p:spPr>
          <a:xfrm>
            <a:off x="7269480" y="5193792"/>
            <a:ext cx="4389120" cy="301752"/>
          </a:xfrm>
          <a:prstGeom prst="rect">
            <a:avLst/>
          </a:prstGeom>
          <a:noFill/>
          <a:ln/>
        </p:spPr>
        <p:txBody>
          <a:bodyPr wrap="square" lIns="0" tIns="0" rIns="0" bIns="0" rtlCol="0" anchor="t"/>
          <a:lstStyle/>
          <a:p>
            <a:pPr marL="0" indent="0">
              <a:buNone/>
            </a:pPr>
            <a:r>
              <a:rPr lang="en-US" sz="1450" b="1" dirty="0">
                <a:solidFill>
                  <a:srgbClr val="0012B5"/>
                </a:solidFill>
                <a:latin typeface="Verdana" pitchFamily="34" charset="0"/>
                <a:ea typeface="Verdana" pitchFamily="34" charset="-122"/>
                <a:cs typeface="Verdana" pitchFamily="34" charset="-120"/>
              </a:rPr>
              <a:t>On contribue à la science</a:t>
            </a:r>
            <a:endParaRPr lang="en-US" sz="1450" dirty="0"/>
          </a:p>
        </p:txBody>
      </p:sp>
      <p:sp>
        <p:nvSpPr>
          <p:cNvPr id="24" name="Text 17"/>
          <p:cNvSpPr txBox="1"/>
          <p:nvPr/>
        </p:nvSpPr>
        <p:spPr>
          <a:xfrm>
            <a:off x="7269480" y="5522976"/>
            <a:ext cx="4389120" cy="731520"/>
          </a:xfrm>
          <a:prstGeom prst="rect">
            <a:avLst/>
          </a:prstGeom>
          <a:noFill/>
          <a:ln/>
        </p:spPr>
        <p:txBody>
          <a:bodyPr wrap="square" lIns="0" tIns="0" rIns="0" bIns="0" rtlCol="0" anchor="t"/>
          <a:lstStyle/>
          <a:p>
            <a:pPr marL="0" indent="0">
              <a:buNone/>
            </a:pPr>
            <a:r>
              <a:rPr lang="en-US" sz="1200" dirty="0">
                <a:solidFill>
                  <a:srgbClr val="3A4658"/>
                </a:solidFill>
                <a:latin typeface="Verdana" pitchFamily="34" charset="0"/>
                <a:ea typeface="Verdana" pitchFamily="34" charset="-122"/>
                <a:cs typeface="Verdana" pitchFamily="34" charset="-120"/>
              </a:rPr>
              <a:t>Les données servent la connaissance du milieu marin. La sortie devient une mission.</a:t>
            </a:r>
            <a:endParaRPr lang="en-US" sz="1200" dirty="0"/>
          </a:p>
        </p:txBody>
      </p:sp>
      <p:sp>
        <p:nvSpPr>
          <p:cNvPr id="25" name="Text 18"/>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66</a:t>
            </a:r>
            <a:endParaRPr lang="en-US" sz="11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4">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37744"/>
          </a:xfrm>
          <a:prstGeom prst="rect">
            <a:avLst/>
          </a:prstGeom>
          <a:noFill/>
          <a:ln/>
        </p:spPr>
        <p:txBody>
          <a:bodyPr wrap="square" lIns="0" tIns="0" rIns="0" bIns="0" rtlCol="0" anchor="t"/>
          <a:lstStyle/>
          <a:p>
            <a:pPr marL="0" indent="0">
              <a:buNone/>
            </a:pPr>
            <a:r>
              <a:rPr lang="en-US" sz="1200" b="1" kern="0" spc="200" dirty="0">
                <a:solidFill>
                  <a:srgbClr val="00A7B5"/>
                </a:solidFill>
                <a:latin typeface="Verdana" pitchFamily="34" charset="0"/>
                <a:ea typeface="Verdana" pitchFamily="34" charset="-122"/>
                <a:cs typeface="Verdana" pitchFamily="34" charset="-120"/>
              </a:rPr>
              <a:t>TESTER LA PLATEFORME</a:t>
            </a:r>
            <a:endParaRPr lang="en-US" sz="12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marL="0" indent="0">
              <a:buNone/>
            </a:pPr>
            <a:r>
              <a:rPr lang="en-US" sz="2500" b="1" dirty="0">
                <a:solidFill>
                  <a:srgbClr val="0012B5"/>
                </a:solidFill>
                <a:latin typeface="Verdana" pitchFamily="34" charset="0"/>
                <a:ea typeface="Verdana" pitchFamily="34" charset="-122"/>
                <a:cs typeface="Verdana" pitchFamily="34" charset="-120"/>
              </a:rPr>
              <a:t>Les espaces de démonstration</a:t>
            </a:r>
            <a:endParaRPr lang="en-US" sz="2500" dirty="0"/>
          </a:p>
        </p:txBody>
      </p:sp>
      <p:sp>
        <p:nvSpPr>
          <p:cNvPr id="4" name="Text 2"/>
          <p:cNvSpPr txBox="1"/>
          <p:nvPr/>
        </p:nvSpPr>
        <p:spPr>
          <a:xfrm>
            <a:off x="548640" y="1216152"/>
            <a:ext cx="11094415" cy="457200"/>
          </a:xfrm>
          <a:prstGeom prst="rect">
            <a:avLst/>
          </a:prstGeom>
          <a:noFill/>
          <a:ln/>
        </p:spPr>
        <p:txBody>
          <a:bodyPr wrap="square" lIns="0" tIns="0" rIns="0" bIns="0" rtlCol="0" anchor="t"/>
          <a:lstStyle/>
          <a:p>
            <a:pPr marL="0" indent="0">
              <a:buNone/>
            </a:pPr>
            <a:r>
              <a:rPr lang="en-US" sz="1550" dirty="0">
                <a:solidFill>
                  <a:srgbClr val="66728A"/>
                </a:solidFill>
                <a:latin typeface="Verdana" pitchFamily="34" charset="0"/>
                <a:ea typeface="Verdana" pitchFamily="34" charset="-122"/>
                <a:cs typeface="Verdana" pitchFamily="34" charset="-120"/>
              </a:rPr>
              <a:t>Sur services.maredurabilis.org, chaque espace s’ouvre avec un compte de démonstration.</a:t>
            </a:r>
            <a:endParaRPr lang="en-US" sz="1550" dirty="0"/>
          </a:p>
        </p:txBody>
      </p:sp>
      <p:sp>
        <p:nvSpPr>
          <p:cNvPr id="5" name="Shape 3"/>
          <p:cNvSpPr/>
          <p:nvPr/>
        </p:nvSpPr>
        <p:spPr>
          <a:xfrm>
            <a:off x="3364992" y="1828800"/>
            <a:ext cx="2651760" cy="4572000"/>
          </a:xfrm>
          <a:prstGeom prst="roundRect">
            <a:avLst>
              <a:gd name="adj" fmla="val 6897"/>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6" name="Image 0" descr="/home/claude/deck/crop3/hero-accueil_2417_50_50_20_h_F6F9FE.jpg"/>
          <p:cNvPicPr>
            <a:picLocks noChangeAspect="1"/>
          </p:cNvPicPr>
          <p:nvPr/>
        </p:nvPicPr>
        <p:blipFill>
          <a:blip r:embed="rId2"/>
          <a:stretch>
            <a:fillRect/>
          </a:stretch>
        </p:blipFill>
        <p:spPr>
          <a:xfrm>
            <a:off x="3364992" y="1828800"/>
            <a:ext cx="2651760" cy="1097280"/>
          </a:xfrm>
          <a:prstGeom prst="rect">
            <a:avLst/>
          </a:prstGeom>
        </p:spPr>
      </p:pic>
      <p:sp>
        <p:nvSpPr>
          <p:cNvPr id="7" name="Shape 4"/>
          <p:cNvSpPr/>
          <p:nvPr/>
        </p:nvSpPr>
        <p:spPr>
          <a:xfrm>
            <a:off x="3566160" y="2651760"/>
            <a:ext cx="548640" cy="548640"/>
          </a:xfrm>
          <a:prstGeom prst="ellipse">
            <a:avLst/>
          </a:prstGeom>
          <a:solidFill>
            <a:srgbClr val="1F5BD6"/>
          </a:solidFill>
          <a:ln w="12700">
            <a:solidFill>
              <a:srgbClr val="1F5BD6"/>
            </a:solidFill>
            <a:prstDash val="solid"/>
          </a:ln>
        </p:spPr>
        <p:txBody>
          <a:bodyPr/>
          <a:lstStyle/>
          <a:p>
            <a:endParaRPr lang="fr-FR"/>
          </a:p>
        </p:txBody>
      </p:sp>
      <p:pic>
        <p:nvPicPr>
          <p:cNvPr id="8" name="Image 1" descr="preencoded.png"/>
          <p:cNvPicPr>
            <a:picLocks noChangeAspect="1"/>
          </p:cNvPicPr>
          <p:nvPr/>
        </p:nvPicPr>
        <p:blipFill>
          <a:blip r:embed="rId3"/>
          <a:stretch>
            <a:fillRect/>
          </a:stretch>
        </p:blipFill>
        <p:spPr>
          <a:xfrm>
            <a:off x="3703320" y="2788920"/>
            <a:ext cx="274320" cy="274320"/>
          </a:xfrm>
          <a:prstGeom prst="rect">
            <a:avLst/>
          </a:prstGeom>
        </p:spPr>
      </p:pic>
      <p:sp>
        <p:nvSpPr>
          <p:cNvPr id="9" name="Text 5"/>
          <p:cNvSpPr txBox="1"/>
          <p:nvPr/>
        </p:nvSpPr>
        <p:spPr>
          <a:xfrm>
            <a:off x="3566160" y="3291840"/>
            <a:ext cx="2249424" cy="347472"/>
          </a:xfrm>
          <a:prstGeom prst="rect">
            <a:avLst/>
          </a:prstGeom>
          <a:noFill/>
          <a:ln/>
        </p:spPr>
        <p:txBody>
          <a:bodyPr wrap="square" lIns="0" tIns="0" rIns="0" bIns="0" rtlCol="0" anchor="t"/>
          <a:lstStyle/>
          <a:p>
            <a:pPr marL="0" indent="0">
              <a:buNone/>
            </a:pPr>
            <a:r>
              <a:rPr lang="en-US" sz="1500" b="1" dirty="0">
                <a:solidFill>
                  <a:srgbClr val="0012B5"/>
                </a:solidFill>
                <a:latin typeface="Verdana" pitchFamily="34" charset="0"/>
                <a:ea typeface="Verdana" pitchFamily="34" charset="-122"/>
                <a:cs typeface="Verdana" pitchFamily="34" charset="-120"/>
              </a:rPr>
              <a:t>Espace touriste</a:t>
            </a:r>
            <a:endParaRPr lang="en-US" sz="1500" dirty="0"/>
          </a:p>
        </p:txBody>
      </p:sp>
      <p:sp>
        <p:nvSpPr>
          <p:cNvPr id="10" name="Text 6"/>
          <p:cNvSpPr txBox="1"/>
          <p:nvPr/>
        </p:nvSpPr>
        <p:spPr>
          <a:xfrm>
            <a:off x="3566160" y="3639312"/>
            <a:ext cx="2249424" cy="274320"/>
          </a:xfrm>
          <a:prstGeom prst="rect">
            <a:avLst/>
          </a:prstGeom>
          <a:noFill/>
          <a:ln/>
        </p:spPr>
        <p:txBody>
          <a:bodyPr wrap="square" lIns="0" tIns="0" rIns="0" bIns="0" rtlCol="0" anchor="t"/>
          <a:lstStyle/>
          <a:p>
            <a:pPr marL="0" indent="0">
              <a:buNone/>
            </a:pPr>
            <a:r>
              <a:rPr lang="en-US" sz="1300" i="1" dirty="0">
                <a:solidFill>
                  <a:srgbClr val="66728A"/>
                </a:solidFill>
                <a:latin typeface="Verdana" pitchFamily="34" charset="0"/>
                <a:ea typeface="Verdana" pitchFamily="34" charset="-122"/>
                <a:cs typeface="Verdana" pitchFamily="34" charset="-120"/>
              </a:rPr>
              <a:t>Grand public, familles</a:t>
            </a:r>
            <a:endParaRPr lang="en-US" sz="1300" dirty="0"/>
          </a:p>
        </p:txBody>
      </p:sp>
      <p:sp>
        <p:nvSpPr>
          <p:cNvPr id="11" name="Text 7"/>
          <p:cNvSpPr txBox="1"/>
          <p:nvPr/>
        </p:nvSpPr>
        <p:spPr>
          <a:xfrm>
            <a:off x="3566160" y="4206240"/>
            <a:ext cx="2322576" cy="2240280"/>
          </a:xfrm>
          <a:prstGeom prst="rect">
            <a:avLst/>
          </a:prstGeom>
          <a:noFill/>
          <a:ln/>
        </p:spPr>
        <p:txBody>
          <a:bodyPr wrap="square" lIns="0" tIns="0" rIns="0" bIns="0" rtlCol="0" anchor="t"/>
          <a:lstStyle/>
          <a:p>
            <a:pPr marL="0" indent="0">
              <a:spcAft>
                <a:spcPts val="200"/>
              </a:spcAft>
              <a:buNone/>
            </a:pPr>
            <a:r>
              <a:rPr lang="en-US" sz="1200" b="1" dirty="0">
                <a:solidFill>
                  <a:srgbClr val="0012B5"/>
                </a:solidFill>
                <a:latin typeface="Verdana" pitchFamily="34" charset="0"/>
                <a:ea typeface="Verdana" pitchFamily="34" charset="-122"/>
                <a:cs typeface="Verdana" pitchFamily="34" charset="-120"/>
              </a:rPr>
              <a:t>Identifiant</a:t>
            </a:r>
            <a:endParaRPr lang="en-US" sz="1200" dirty="0"/>
          </a:p>
          <a:p>
            <a:pPr marL="0" indent="0">
              <a:spcAft>
                <a:spcPts val="900"/>
              </a:spcAft>
              <a:buNone/>
            </a:pPr>
            <a:r>
              <a:rPr lang="en-US" sz="1050" dirty="0">
                <a:solidFill>
                  <a:srgbClr val="3A4658"/>
                </a:solidFill>
                <a:latin typeface="Verdana" pitchFamily="34" charset="0"/>
                <a:ea typeface="Verdana" pitchFamily="34" charset="-122"/>
                <a:cs typeface="Verdana" pitchFamily="34" charset="-120"/>
              </a:rPr>
              <a:t>clement@essca.eu</a:t>
            </a:r>
            <a:endParaRPr lang="en-US" sz="1050" dirty="0"/>
          </a:p>
          <a:p>
            <a:pPr marL="0" indent="0">
              <a:spcAft>
                <a:spcPts val="200"/>
              </a:spcAft>
              <a:buNone/>
            </a:pPr>
            <a:r>
              <a:rPr lang="en-US" sz="1200" b="1" dirty="0">
                <a:solidFill>
                  <a:srgbClr val="0012B5"/>
                </a:solidFill>
                <a:latin typeface="Verdana" pitchFamily="34" charset="0"/>
                <a:ea typeface="Verdana" pitchFamily="34" charset="-122"/>
                <a:cs typeface="Verdana" pitchFamily="34" charset="-120"/>
              </a:rPr>
              <a:t>Mot de passe</a:t>
            </a:r>
            <a:endParaRPr lang="en-US" sz="1200" dirty="0"/>
          </a:p>
          <a:p>
            <a:pPr marL="0" indent="0">
              <a:spcAft>
                <a:spcPts val="0"/>
              </a:spcAft>
              <a:buNone/>
            </a:pPr>
            <a:r>
              <a:rPr lang="en-US" sz="1300" dirty="0">
                <a:solidFill>
                  <a:srgbClr val="3A4658"/>
                </a:solidFill>
                <a:latin typeface="Verdana" pitchFamily="34" charset="0"/>
                <a:ea typeface="Verdana" pitchFamily="34" charset="-122"/>
                <a:cs typeface="Verdana" pitchFamily="34" charset="-120"/>
              </a:rPr>
              <a:t>demo123</a:t>
            </a:r>
            <a:endParaRPr lang="en-US" sz="1300" dirty="0"/>
          </a:p>
        </p:txBody>
      </p:sp>
      <p:sp>
        <p:nvSpPr>
          <p:cNvPr id="12" name="Shape 8"/>
          <p:cNvSpPr/>
          <p:nvPr/>
        </p:nvSpPr>
        <p:spPr>
          <a:xfrm>
            <a:off x="6181344" y="1828800"/>
            <a:ext cx="2651760" cy="4572000"/>
          </a:xfrm>
          <a:prstGeom prst="roundRect">
            <a:avLst>
              <a:gd name="adj" fmla="val 6897"/>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13" name="Image 2" descr="/home/claude/deck/crop3/hero-science_2417_50_50_20_h_F6F9FE.jpg"/>
          <p:cNvPicPr>
            <a:picLocks noChangeAspect="1"/>
          </p:cNvPicPr>
          <p:nvPr/>
        </p:nvPicPr>
        <p:blipFill>
          <a:blip r:embed="rId4"/>
          <a:stretch>
            <a:fillRect/>
          </a:stretch>
        </p:blipFill>
        <p:spPr>
          <a:xfrm>
            <a:off x="6181344" y="1828800"/>
            <a:ext cx="2651760" cy="1097280"/>
          </a:xfrm>
          <a:prstGeom prst="rect">
            <a:avLst/>
          </a:prstGeom>
        </p:spPr>
      </p:pic>
      <p:sp>
        <p:nvSpPr>
          <p:cNvPr id="14" name="Shape 9"/>
          <p:cNvSpPr/>
          <p:nvPr/>
        </p:nvSpPr>
        <p:spPr>
          <a:xfrm>
            <a:off x="6382512" y="2651760"/>
            <a:ext cx="548640" cy="548640"/>
          </a:xfrm>
          <a:prstGeom prst="ellipse">
            <a:avLst/>
          </a:prstGeom>
          <a:solidFill>
            <a:srgbClr val="00A7B5"/>
          </a:solidFill>
          <a:ln w="12700">
            <a:solidFill>
              <a:srgbClr val="00A7B5"/>
            </a:solidFill>
            <a:prstDash val="solid"/>
          </a:ln>
        </p:spPr>
        <p:txBody>
          <a:bodyPr/>
          <a:lstStyle/>
          <a:p>
            <a:endParaRPr lang="fr-FR"/>
          </a:p>
        </p:txBody>
      </p:sp>
      <p:pic>
        <p:nvPicPr>
          <p:cNvPr id="15" name="Image 3" descr="preencoded.png"/>
          <p:cNvPicPr>
            <a:picLocks noChangeAspect="1"/>
          </p:cNvPicPr>
          <p:nvPr/>
        </p:nvPicPr>
        <p:blipFill>
          <a:blip r:embed="rId5"/>
          <a:stretch>
            <a:fillRect/>
          </a:stretch>
        </p:blipFill>
        <p:spPr>
          <a:xfrm>
            <a:off x="6519672" y="2788920"/>
            <a:ext cx="274320" cy="274320"/>
          </a:xfrm>
          <a:prstGeom prst="rect">
            <a:avLst/>
          </a:prstGeom>
        </p:spPr>
      </p:pic>
      <p:sp>
        <p:nvSpPr>
          <p:cNvPr id="16" name="Text 10"/>
          <p:cNvSpPr txBox="1"/>
          <p:nvPr/>
        </p:nvSpPr>
        <p:spPr>
          <a:xfrm>
            <a:off x="6382512" y="3291840"/>
            <a:ext cx="2249424" cy="347472"/>
          </a:xfrm>
          <a:prstGeom prst="rect">
            <a:avLst/>
          </a:prstGeom>
          <a:noFill/>
          <a:ln/>
        </p:spPr>
        <p:txBody>
          <a:bodyPr wrap="square" lIns="0" tIns="0" rIns="0" bIns="0" rtlCol="0" anchor="t"/>
          <a:lstStyle/>
          <a:p>
            <a:pPr marL="0" indent="0">
              <a:buNone/>
            </a:pPr>
            <a:r>
              <a:rPr lang="en-US" sz="1500" b="1" dirty="0">
                <a:solidFill>
                  <a:srgbClr val="0012B5"/>
                </a:solidFill>
                <a:latin typeface="Verdana" pitchFamily="34" charset="0"/>
                <a:ea typeface="Verdana" pitchFamily="34" charset="-122"/>
                <a:cs typeface="Verdana" pitchFamily="34" charset="-120"/>
              </a:rPr>
              <a:t>Espace organisme</a:t>
            </a:r>
            <a:endParaRPr lang="en-US" sz="1500" dirty="0"/>
          </a:p>
        </p:txBody>
      </p:sp>
      <p:sp>
        <p:nvSpPr>
          <p:cNvPr id="17" name="Text 11"/>
          <p:cNvSpPr txBox="1"/>
          <p:nvPr/>
        </p:nvSpPr>
        <p:spPr>
          <a:xfrm>
            <a:off x="6382512" y="3639312"/>
            <a:ext cx="2249424" cy="274320"/>
          </a:xfrm>
          <a:prstGeom prst="rect">
            <a:avLst/>
          </a:prstGeom>
          <a:noFill/>
          <a:ln/>
        </p:spPr>
        <p:txBody>
          <a:bodyPr wrap="square" lIns="0" tIns="0" rIns="0" bIns="0" rtlCol="0" anchor="t"/>
          <a:lstStyle/>
          <a:p>
            <a:pPr marL="0" indent="0">
              <a:buNone/>
            </a:pPr>
            <a:r>
              <a:rPr lang="en-US" sz="1300" i="1" dirty="0">
                <a:solidFill>
                  <a:srgbClr val="66728A"/>
                </a:solidFill>
                <a:latin typeface="Verdana" pitchFamily="34" charset="0"/>
                <a:ea typeface="Verdana" pitchFamily="34" charset="-122"/>
                <a:cs typeface="Verdana" pitchFamily="34" charset="-120"/>
              </a:rPr>
              <a:t>Labos, universités, AMP</a:t>
            </a:r>
            <a:endParaRPr lang="en-US" sz="1300" dirty="0"/>
          </a:p>
        </p:txBody>
      </p:sp>
      <p:sp>
        <p:nvSpPr>
          <p:cNvPr id="18" name="Text 12"/>
          <p:cNvSpPr txBox="1"/>
          <p:nvPr/>
        </p:nvSpPr>
        <p:spPr>
          <a:xfrm>
            <a:off x="6382512" y="4206240"/>
            <a:ext cx="2322576" cy="2240280"/>
          </a:xfrm>
          <a:prstGeom prst="rect">
            <a:avLst/>
          </a:prstGeom>
          <a:noFill/>
          <a:ln/>
        </p:spPr>
        <p:txBody>
          <a:bodyPr wrap="square" lIns="0" tIns="0" rIns="0" bIns="0" rtlCol="0" anchor="t"/>
          <a:lstStyle/>
          <a:p>
            <a:pPr marL="0" indent="0">
              <a:spcAft>
                <a:spcPts val="200"/>
              </a:spcAft>
              <a:buNone/>
            </a:pPr>
            <a:r>
              <a:rPr lang="en-US" sz="1200" b="1" dirty="0">
                <a:solidFill>
                  <a:srgbClr val="0012B5"/>
                </a:solidFill>
                <a:latin typeface="Verdana" pitchFamily="34" charset="0"/>
                <a:ea typeface="Verdana" pitchFamily="34" charset="-122"/>
                <a:cs typeface="Verdana" pitchFamily="34" charset="-120"/>
              </a:rPr>
              <a:t>Identifiant</a:t>
            </a:r>
            <a:endParaRPr lang="en-US" sz="1200" dirty="0"/>
          </a:p>
          <a:p>
            <a:pPr marL="0" indent="0">
              <a:spcAft>
                <a:spcPts val="900"/>
              </a:spcAft>
              <a:buNone/>
            </a:pPr>
            <a:r>
              <a:rPr lang="en-US" sz="1050" dirty="0">
                <a:solidFill>
                  <a:srgbClr val="3A4658"/>
                </a:solidFill>
                <a:latin typeface="Verdana" pitchFamily="34" charset="0"/>
                <a:ea typeface="Verdana" pitchFamily="34" charset="-122"/>
                <a:cs typeface="Verdana" pitchFamily="34" charset="-120"/>
              </a:rPr>
              <a:t>clement.chardon2000@gmail.com</a:t>
            </a:r>
            <a:endParaRPr lang="en-US" sz="1050" dirty="0"/>
          </a:p>
          <a:p>
            <a:pPr marL="0" indent="0">
              <a:spcAft>
                <a:spcPts val="200"/>
              </a:spcAft>
              <a:buNone/>
            </a:pPr>
            <a:r>
              <a:rPr lang="en-US" sz="1200" b="1" dirty="0">
                <a:solidFill>
                  <a:srgbClr val="0012B5"/>
                </a:solidFill>
                <a:latin typeface="Verdana" pitchFamily="34" charset="0"/>
                <a:ea typeface="Verdana" pitchFamily="34" charset="-122"/>
                <a:cs typeface="Verdana" pitchFamily="34" charset="-120"/>
              </a:rPr>
              <a:t>Mot de passe</a:t>
            </a:r>
            <a:endParaRPr lang="en-US" sz="1200" dirty="0"/>
          </a:p>
          <a:p>
            <a:pPr marL="0" indent="0">
              <a:spcAft>
                <a:spcPts val="0"/>
              </a:spcAft>
              <a:buNone/>
            </a:pPr>
            <a:r>
              <a:rPr lang="en-US" sz="1300" dirty="0">
                <a:solidFill>
                  <a:srgbClr val="3A4658"/>
                </a:solidFill>
                <a:latin typeface="Verdana" pitchFamily="34" charset="0"/>
                <a:ea typeface="Verdana" pitchFamily="34" charset="-122"/>
                <a:cs typeface="Verdana" pitchFamily="34" charset="-120"/>
              </a:rPr>
              <a:t>demo123</a:t>
            </a:r>
            <a:endParaRPr lang="en-US" sz="1300" dirty="0"/>
          </a:p>
        </p:txBody>
      </p:sp>
      <p:sp>
        <p:nvSpPr>
          <p:cNvPr id="19" name="Shape 13"/>
          <p:cNvSpPr/>
          <p:nvPr/>
        </p:nvSpPr>
        <p:spPr>
          <a:xfrm>
            <a:off x="548640" y="1828800"/>
            <a:ext cx="2651760" cy="4572000"/>
          </a:xfrm>
          <a:prstGeom prst="roundRect">
            <a:avLst>
              <a:gd name="adj" fmla="val 6897"/>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20" name="Image 4" descr="/home/claude/deck/crop3/fdd_image45_2417_50_50_20_h_F6F9FE.jpg"/>
          <p:cNvPicPr>
            <a:picLocks noChangeAspect="1"/>
          </p:cNvPicPr>
          <p:nvPr/>
        </p:nvPicPr>
        <p:blipFill>
          <a:blip r:embed="rId6"/>
          <a:stretch>
            <a:fillRect/>
          </a:stretch>
        </p:blipFill>
        <p:spPr>
          <a:xfrm>
            <a:off x="548640" y="1828800"/>
            <a:ext cx="2651760" cy="1097280"/>
          </a:xfrm>
          <a:prstGeom prst="rect">
            <a:avLst/>
          </a:prstGeom>
        </p:spPr>
      </p:pic>
      <p:sp>
        <p:nvSpPr>
          <p:cNvPr id="21" name="Shape 14"/>
          <p:cNvSpPr/>
          <p:nvPr/>
        </p:nvSpPr>
        <p:spPr>
          <a:xfrm>
            <a:off x="749808" y="2651760"/>
            <a:ext cx="548640" cy="548640"/>
          </a:xfrm>
          <a:prstGeom prst="ellipse">
            <a:avLst/>
          </a:prstGeom>
          <a:solidFill>
            <a:srgbClr val="0012B5"/>
          </a:solidFill>
          <a:ln w="12700">
            <a:solidFill>
              <a:srgbClr val="0012B5"/>
            </a:solidFill>
            <a:prstDash val="solid"/>
          </a:ln>
        </p:spPr>
        <p:txBody>
          <a:bodyPr/>
          <a:lstStyle/>
          <a:p>
            <a:endParaRPr lang="fr-FR"/>
          </a:p>
        </p:txBody>
      </p:sp>
      <p:pic>
        <p:nvPicPr>
          <p:cNvPr id="22" name="Image 5" descr="preencoded.png"/>
          <p:cNvPicPr>
            <a:picLocks noChangeAspect="1"/>
          </p:cNvPicPr>
          <p:nvPr/>
        </p:nvPicPr>
        <p:blipFill>
          <a:blip r:embed="rId7"/>
          <a:stretch>
            <a:fillRect/>
          </a:stretch>
        </p:blipFill>
        <p:spPr>
          <a:xfrm>
            <a:off x="886968" y="2788920"/>
            <a:ext cx="274320" cy="274320"/>
          </a:xfrm>
          <a:prstGeom prst="rect">
            <a:avLst/>
          </a:prstGeom>
        </p:spPr>
      </p:pic>
      <p:sp>
        <p:nvSpPr>
          <p:cNvPr id="23" name="Text 15"/>
          <p:cNvSpPr txBox="1"/>
          <p:nvPr/>
        </p:nvSpPr>
        <p:spPr>
          <a:xfrm>
            <a:off x="749808" y="3291840"/>
            <a:ext cx="2249424" cy="347472"/>
          </a:xfrm>
          <a:prstGeom prst="rect">
            <a:avLst/>
          </a:prstGeom>
          <a:noFill/>
          <a:ln/>
        </p:spPr>
        <p:txBody>
          <a:bodyPr wrap="square" lIns="0" tIns="0" rIns="0" bIns="0" rtlCol="0" anchor="t"/>
          <a:lstStyle/>
          <a:p>
            <a:pPr marL="0" indent="0">
              <a:buNone/>
            </a:pPr>
            <a:r>
              <a:rPr lang="en-US" sz="1500" b="1" dirty="0">
                <a:solidFill>
                  <a:srgbClr val="0012B5"/>
                </a:solidFill>
                <a:latin typeface="Verdana" pitchFamily="34" charset="0"/>
                <a:ea typeface="Verdana" pitchFamily="34" charset="-122"/>
                <a:cs typeface="Verdana" pitchFamily="34" charset="-120"/>
              </a:rPr>
              <a:t>Espace pêcheur</a:t>
            </a:r>
            <a:endParaRPr lang="en-US" sz="1500" dirty="0"/>
          </a:p>
        </p:txBody>
      </p:sp>
      <p:sp>
        <p:nvSpPr>
          <p:cNvPr id="24" name="Text 16"/>
          <p:cNvSpPr txBox="1"/>
          <p:nvPr/>
        </p:nvSpPr>
        <p:spPr>
          <a:xfrm>
            <a:off x="749808" y="3639312"/>
            <a:ext cx="2249424" cy="274320"/>
          </a:xfrm>
          <a:prstGeom prst="rect">
            <a:avLst/>
          </a:prstGeom>
          <a:noFill/>
          <a:ln/>
        </p:spPr>
        <p:txBody>
          <a:bodyPr wrap="square" lIns="0" tIns="0" rIns="0" bIns="0" rtlCol="0" anchor="t"/>
          <a:lstStyle/>
          <a:p>
            <a:pPr marL="0" indent="0">
              <a:buNone/>
            </a:pPr>
            <a:r>
              <a:rPr lang="en-US" sz="1300" i="1" dirty="0">
                <a:solidFill>
                  <a:srgbClr val="66728A"/>
                </a:solidFill>
                <a:latin typeface="Verdana" pitchFamily="34" charset="0"/>
                <a:ea typeface="Verdana" pitchFamily="34" charset="-122"/>
                <a:cs typeface="Verdana" pitchFamily="34" charset="-120"/>
              </a:rPr>
              <a:t>Patron fictif</a:t>
            </a:r>
            <a:endParaRPr lang="en-US" sz="1300" dirty="0"/>
          </a:p>
        </p:txBody>
      </p:sp>
      <p:sp>
        <p:nvSpPr>
          <p:cNvPr id="25" name="Text 17"/>
          <p:cNvSpPr txBox="1"/>
          <p:nvPr/>
        </p:nvSpPr>
        <p:spPr>
          <a:xfrm>
            <a:off x="749808" y="4206240"/>
            <a:ext cx="2322576" cy="2240280"/>
          </a:xfrm>
          <a:prstGeom prst="rect">
            <a:avLst/>
          </a:prstGeom>
          <a:noFill/>
          <a:ln/>
        </p:spPr>
        <p:txBody>
          <a:bodyPr wrap="square" lIns="0" tIns="0" rIns="0" bIns="0" rtlCol="0" anchor="t"/>
          <a:lstStyle/>
          <a:p>
            <a:pPr marL="0" indent="0">
              <a:spcAft>
                <a:spcPts val="200"/>
              </a:spcAft>
              <a:buNone/>
            </a:pPr>
            <a:r>
              <a:rPr lang="en-US" sz="1200" b="1" dirty="0">
                <a:solidFill>
                  <a:srgbClr val="0012B5"/>
                </a:solidFill>
                <a:latin typeface="Verdana" pitchFamily="34" charset="0"/>
                <a:ea typeface="Verdana" pitchFamily="34" charset="-122"/>
                <a:cs typeface="Verdana" pitchFamily="34" charset="-120"/>
              </a:rPr>
              <a:t>Identifiant</a:t>
            </a:r>
            <a:endParaRPr lang="en-US" sz="1200" dirty="0"/>
          </a:p>
          <a:p>
            <a:pPr marL="0" indent="0">
              <a:spcAft>
                <a:spcPts val="900"/>
              </a:spcAft>
              <a:buNone/>
            </a:pPr>
            <a:r>
              <a:rPr lang="en-US" sz="1050" dirty="0">
                <a:solidFill>
                  <a:srgbClr val="3A4658"/>
                </a:solidFill>
                <a:latin typeface="Verdana" pitchFamily="34" charset="0"/>
                <a:ea typeface="Verdana" pitchFamily="34" charset="-122"/>
                <a:cs typeface="Verdana" pitchFamily="34" charset="-120"/>
              </a:rPr>
              <a:t>clement@demo.maredurabilis.fr</a:t>
            </a:r>
            <a:endParaRPr lang="en-US" sz="1050" dirty="0"/>
          </a:p>
          <a:p>
            <a:pPr marL="0" indent="0">
              <a:spcAft>
                <a:spcPts val="200"/>
              </a:spcAft>
              <a:buNone/>
            </a:pPr>
            <a:r>
              <a:rPr lang="en-US" sz="1200" b="1" dirty="0">
                <a:solidFill>
                  <a:srgbClr val="0012B5"/>
                </a:solidFill>
                <a:latin typeface="Verdana" pitchFamily="34" charset="0"/>
                <a:ea typeface="Verdana" pitchFamily="34" charset="-122"/>
                <a:cs typeface="Verdana" pitchFamily="34" charset="-120"/>
              </a:rPr>
              <a:t>Mot de passe</a:t>
            </a:r>
            <a:endParaRPr lang="en-US" sz="1200" dirty="0"/>
          </a:p>
          <a:p>
            <a:pPr marL="0" indent="0">
              <a:spcAft>
                <a:spcPts val="0"/>
              </a:spcAft>
              <a:buNone/>
            </a:pPr>
            <a:r>
              <a:rPr lang="en-US" sz="1300" dirty="0">
                <a:solidFill>
                  <a:srgbClr val="3A4658"/>
                </a:solidFill>
                <a:latin typeface="Verdana" pitchFamily="34" charset="0"/>
                <a:ea typeface="Verdana" pitchFamily="34" charset="-122"/>
                <a:cs typeface="Verdana" pitchFamily="34" charset="-120"/>
              </a:rPr>
              <a:t>demo123</a:t>
            </a:r>
            <a:endParaRPr lang="en-US" sz="1300" dirty="0"/>
          </a:p>
        </p:txBody>
      </p:sp>
      <p:sp>
        <p:nvSpPr>
          <p:cNvPr id="26" name="Shape 18"/>
          <p:cNvSpPr/>
          <p:nvPr/>
        </p:nvSpPr>
        <p:spPr>
          <a:xfrm>
            <a:off x="8997696" y="1828800"/>
            <a:ext cx="2651760" cy="4572000"/>
          </a:xfrm>
          <a:prstGeom prst="roundRect">
            <a:avLst>
              <a:gd name="adj" fmla="val 6897"/>
            </a:avLst>
          </a:prstGeom>
          <a:solidFill>
            <a:srgbClr val="FFFFFF"/>
          </a:solidFill>
          <a:ln w="9525">
            <a:solidFill>
              <a:srgbClr val="E1E9F5"/>
            </a:solidFill>
            <a:prstDash val="solid"/>
          </a:ln>
          <a:effectLst>
            <a:outerShdw blurRad="152400" dist="38100" dir="5400000" algn="bl" rotWithShape="0">
              <a:srgbClr val="1F5BD6">
                <a:alpha val="10000"/>
              </a:srgbClr>
            </a:outerShdw>
          </a:effectLst>
        </p:spPr>
        <p:txBody>
          <a:bodyPr/>
          <a:lstStyle/>
          <a:p>
            <a:endParaRPr lang="fr-FR"/>
          </a:p>
        </p:txBody>
      </p:sp>
      <p:pic>
        <p:nvPicPr>
          <p:cNvPr id="27" name="Image 6" descr="/home/claude/deck/crop3/galerie-palangre_2417_50_50_20_h_F6F9FE.jpg"/>
          <p:cNvPicPr>
            <a:picLocks noChangeAspect="1"/>
          </p:cNvPicPr>
          <p:nvPr/>
        </p:nvPicPr>
        <p:blipFill>
          <a:blip r:embed="rId8"/>
          <a:stretch>
            <a:fillRect/>
          </a:stretch>
        </p:blipFill>
        <p:spPr>
          <a:xfrm>
            <a:off x="8997696" y="1828800"/>
            <a:ext cx="2651760" cy="1097280"/>
          </a:xfrm>
          <a:prstGeom prst="rect">
            <a:avLst/>
          </a:prstGeom>
        </p:spPr>
      </p:pic>
      <p:sp>
        <p:nvSpPr>
          <p:cNvPr id="30" name="Text 20"/>
          <p:cNvSpPr txBox="1"/>
          <p:nvPr/>
        </p:nvSpPr>
        <p:spPr>
          <a:xfrm>
            <a:off x="9198864" y="3291840"/>
            <a:ext cx="2249424" cy="347472"/>
          </a:xfrm>
          <a:prstGeom prst="rect">
            <a:avLst/>
          </a:prstGeom>
          <a:noFill/>
          <a:ln/>
        </p:spPr>
        <p:txBody>
          <a:bodyPr wrap="square" lIns="0" tIns="0" rIns="0" bIns="0" rtlCol="0" anchor="t"/>
          <a:lstStyle/>
          <a:p>
            <a:pPr marL="0" indent="0">
              <a:buNone/>
            </a:pPr>
            <a:r>
              <a:rPr lang="en-US" sz="1500" b="1" dirty="0">
                <a:solidFill>
                  <a:srgbClr val="0012B5"/>
                </a:solidFill>
                <a:latin typeface="Verdana" pitchFamily="34" charset="0"/>
                <a:ea typeface="Verdana" pitchFamily="34" charset="-122"/>
                <a:cs typeface="Verdana" pitchFamily="34" charset="-120"/>
              </a:rPr>
              <a:t>Ouvrir le site</a:t>
            </a:r>
            <a:endParaRPr lang="en-US" sz="1500" dirty="0"/>
          </a:p>
        </p:txBody>
      </p:sp>
      <p:sp>
        <p:nvSpPr>
          <p:cNvPr id="31" name="Text 21"/>
          <p:cNvSpPr txBox="1"/>
          <p:nvPr/>
        </p:nvSpPr>
        <p:spPr>
          <a:xfrm>
            <a:off x="9198864" y="3639312"/>
            <a:ext cx="2249424" cy="274320"/>
          </a:xfrm>
          <a:prstGeom prst="rect">
            <a:avLst/>
          </a:prstGeom>
          <a:noFill/>
          <a:ln/>
        </p:spPr>
        <p:txBody>
          <a:bodyPr wrap="square" lIns="0" tIns="0" rIns="0" bIns="0" rtlCol="0" anchor="t"/>
          <a:lstStyle/>
          <a:p>
            <a:pPr marL="0" indent="0">
              <a:buNone/>
            </a:pPr>
            <a:r>
              <a:rPr lang="en-US" sz="1300" i="1" dirty="0">
                <a:solidFill>
                  <a:srgbClr val="66728A"/>
                </a:solidFill>
                <a:latin typeface="Verdana" pitchFamily="34" charset="0"/>
                <a:ea typeface="Verdana" pitchFamily="34" charset="-122"/>
                <a:cs typeface="Verdana" pitchFamily="34" charset="-120"/>
              </a:rPr>
              <a:t>Scanner le QR code</a:t>
            </a:r>
            <a:endParaRPr lang="en-US" sz="1300" dirty="0"/>
          </a:p>
        </p:txBody>
      </p:sp>
      <p:sp>
        <p:nvSpPr>
          <p:cNvPr id="33" name="Text 23"/>
          <p:cNvSpPr txBox="1"/>
          <p:nvPr/>
        </p:nvSpPr>
        <p:spPr>
          <a:xfrm>
            <a:off x="11277295" y="6510528"/>
            <a:ext cx="411480" cy="219456"/>
          </a:xfrm>
          <a:prstGeom prst="rect">
            <a:avLst/>
          </a:prstGeom>
          <a:noFill/>
          <a:ln/>
        </p:spPr>
        <p:txBody>
          <a:bodyPr wrap="square" lIns="0" tIns="0" rIns="0" bIns="0" rtlCol="0" anchor="t"/>
          <a:lstStyle/>
          <a:p>
            <a:pPr marL="0" indent="0" algn="r">
              <a:buNone/>
            </a:pPr>
            <a:r>
              <a:rPr lang="en-US" sz="1150" dirty="0">
                <a:solidFill>
                  <a:srgbClr val="A7B3C6"/>
                </a:solidFill>
                <a:latin typeface="Verdana" pitchFamily="34" charset="0"/>
                <a:ea typeface="Verdana" pitchFamily="34" charset="-122"/>
                <a:cs typeface="Verdana" pitchFamily="34" charset="-120"/>
              </a:rPr>
              <a:t>67</a:t>
            </a:r>
            <a:endParaRPr lang="en-US" sz="1150" dirty="0"/>
          </a:p>
        </p:txBody>
      </p:sp>
      <p:pic>
        <p:nvPicPr>
          <p:cNvPr id="900" name="QR site" descr="QR code vers services.maredurabilis.org"/>
          <p:cNvPicPr>
            <a:picLocks noChangeAspect="1"/>
          </p:cNvPicPr>
          <p:nvPr/>
        </p:nvPicPr>
        <p:blipFill>
          <a:blip r:embed="rId9"/>
          <a:stretch>
            <a:fillRect/>
          </a:stretch>
        </p:blipFill>
        <p:spPr>
          <a:xfrm>
            <a:off x="9363456" y="4114800"/>
            <a:ext cx="1920240" cy="192024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pic>
        <p:nvPicPr>
          <p:cNvPr id="2" name="Image 0" descr="/home/claude/deck/crop3/fdd_image6_1778_50_50_0_.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3FC4">
              <a:alpha val="56000"/>
            </a:srgbClr>
          </a:solidFill>
          <a:ln w="12700">
            <a:solidFill>
              <a:srgbClr val="0B3FC4"/>
            </a:solidFill>
            <a:prstDash val="solid"/>
          </a:ln>
        </p:spPr>
        <p:txBody>
          <a:bodyPr/>
          <a:lstStyle/>
          <a:p>
            <a:endParaRPr lang="fr-FR"/>
          </a:p>
        </p:txBody>
      </p:sp>
      <p:pic>
        <p:nvPicPr>
          <p:cNvPr id="4" name="Image 1" descr="/home/claude/deck/logo-projet-blanc.png"/>
          <p:cNvPicPr>
            <a:picLocks noChangeAspect="1"/>
          </p:cNvPicPr>
          <p:nvPr/>
        </p:nvPicPr>
        <p:blipFill>
          <a:blip r:embed="rId4"/>
          <a:stretch>
            <a:fillRect/>
          </a:stretch>
        </p:blipFill>
        <p:spPr>
          <a:xfrm>
            <a:off x="9768535" y="320040"/>
            <a:ext cx="1920240" cy="776954"/>
          </a:xfrm>
          <a:prstGeom prst="rect">
            <a:avLst/>
          </a:prstGeom>
        </p:spPr>
      </p:pic>
      <p:sp>
        <p:nvSpPr>
          <p:cNvPr id="5" name="Shape 1"/>
          <p:cNvSpPr/>
          <p:nvPr/>
        </p:nvSpPr>
        <p:spPr>
          <a:xfrm>
            <a:off x="731520" y="2103120"/>
            <a:ext cx="2103120" cy="384048"/>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6" name="Text 2"/>
          <p:cNvSpPr txBox="1"/>
          <p:nvPr/>
        </p:nvSpPr>
        <p:spPr>
          <a:xfrm>
            <a:off x="731520" y="2103120"/>
            <a:ext cx="2103120" cy="384048"/>
          </a:xfrm>
          <a:prstGeom prst="rect">
            <a:avLst/>
          </a:prstGeom>
          <a:noFill/>
          <a:ln/>
        </p:spPr>
        <p:txBody>
          <a:bodyPr wrap="square" lIns="0" tIns="0" rIns="0" bIns="0" rtlCol="0" anchor="ctr"/>
          <a:lstStyle/>
          <a:p>
            <a:pPr marL="0" indent="0" algn="ctr">
              <a:buNone/>
            </a:pPr>
            <a:r>
              <a:rPr lang="en-US" sz="1450" b="1" dirty="0">
                <a:solidFill>
                  <a:srgbClr val="0012B5"/>
                </a:solidFill>
                <a:latin typeface="Verdana" pitchFamily="34" charset="0"/>
                <a:ea typeface="Verdana" pitchFamily="34" charset="-122"/>
                <a:cs typeface="Verdana" pitchFamily="34" charset="-120"/>
              </a:rPr>
              <a:t>Mare Services</a:t>
            </a:r>
            <a:endParaRPr lang="en-US" sz="1450" dirty="0"/>
          </a:p>
        </p:txBody>
      </p:sp>
      <p:sp>
        <p:nvSpPr>
          <p:cNvPr id="7" name="Text 3"/>
          <p:cNvSpPr txBox="1"/>
          <p:nvPr/>
        </p:nvSpPr>
        <p:spPr>
          <a:xfrm>
            <a:off x="731520" y="2651760"/>
            <a:ext cx="8412480" cy="1463040"/>
          </a:xfrm>
          <a:prstGeom prst="rect">
            <a:avLst/>
          </a:prstGeom>
          <a:noFill/>
          <a:ln/>
        </p:spPr>
        <p:txBody>
          <a:bodyPr wrap="square" lIns="0" tIns="0" rIns="0" bIns="0" rtlCol="0" anchor="t"/>
          <a:lstStyle/>
          <a:p>
            <a:pPr marL="0" indent="0">
              <a:buNone/>
            </a:pPr>
            <a:r>
              <a:rPr lang="en-US" sz="3200" b="1" dirty="0">
                <a:solidFill>
                  <a:srgbClr val="FFFFFF"/>
                </a:solidFill>
                <a:latin typeface="Verdana" pitchFamily="34" charset="0"/>
                <a:ea typeface="Verdana" pitchFamily="34" charset="-122"/>
                <a:cs typeface="Verdana" pitchFamily="34" charset="-120"/>
              </a:rPr>
              <a:t>Un guichet unique, traçable et sûr, porté par la filière elle-même.</a:t>
            </a:r>
            <a:endParaRPr lang="en-US" sz="3200" dirty="0"/>
          </a:p>
        </p:txBody>
      </p:sp>
      <p:sp>
        <p:nvSpPr>
          <p:cNvPr id="8" name="Shape 4"/>
          <p:cNvSpPr/>
          <p:nvPr/>
        </p:nvSpPr>
        <p:spPr>
          <a:xfrm>
            <a:off x="731520" y="4434840"/>
            <a:ext cx="2331720" cy="384048"/>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9" name="Text 5"/>
          <p:cNvSpPr txBox="1"/>
          <p:nvPr/>
        </p:nvSpPr>
        <p:spPr>
          <a:xfrm>
            <a:off x="731520" y="4434840"/>
            <a:ext cx="2331720" cy="384048"/>
          </a:xfrm>
          <a:prstGeom prst="rect">
            <a:avLst/>
          </a:prstGeom>
          <a:noFill/>
          <a:ln/>
        </p:spPr>
        <p:txBody>
          <a:bodyPr wrap="square" lIns="0" tIns="0" rIns="0" bIns="0" rtlCol="0" anchor="ctr"/>
          <a:lstStyle/>
          <a:p>
            <a:pPr marL="0" indent="0" algn="ctr">
              <a:buNone/>
            </a:pPr>
            <a:r>
              <a:rPr lang="en-US" sz="1300" b="1" dirty="0">
                <a:solidFill>
                  <a:srgbClr val="0012B5"/>
                </a:solidFill>
                <a:latin typeface="Verdana" pitchFamily="34" charset="0"/>
                <a:ea typeface="Verdana" pitchFamily="34" charset="-122"/>
                <a:cs typeface="Verdana" pitchFamily="34" charset="-120"/>
              </a:rPr>
              <a:t>Pesca-tourisme</a:t>
            </a:r>
            <a:endParaRPr lang="en-US" sz="1300" dirty="0"/>
          </a:p>
        </p:txBody>
      </p:sp>
      <p:sp>
        <p:nvSpPr>
          <p:cNvPr id="10" name="Shape 6"/>
          <p:cNvSpPr/>
          <p:nvPr/>
        </p:nvSpPr>
        <p:spPr>
          <a:xfrm>
            <a:off x="3246120" y="4434840"/>
            <a:ext cx="2331720" cy="384048"/>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11" name="Text 7"/>
          <p:cNvSpPr txBox="1"/>
          <p:nvPr/>
        </p:nvSpPr>
        <p:spPr>
          <a:xfrm>
            <a:off x="3246120" y="4434840"/>
            <a:ext cx="2331720" cy="384048"/>
          </a:xfrm>
          <a:prstGeom prst="rect">
            <a:avLst/>
          </a:prstGeom>
          <a:noFill/>
          <a:ln/>
        </p:spPr>
        <p:txBody>
          <a:bodyPr wrap="square" lIns="0" tIns="0" rIns="0" bIns="0" rtlCol="0" anchor="ctr"/>
          <a:lstStyle/>
          <a:p>
            <a:pPr marL="0" indent="0" algn="ctr">
              <a:buNone/>
            </a:pPr>
            <a:r>
              <a:rPr lang="en-US" sz="1300" b="1" dirty="0">
                <a:solidFill>
                  <a:srgbClr val="0012B5"/>
                </a:solidFill>
                <a:latin typeface="Verdana" pitchFamily="34" charset="0"/>
                <a:ea typeface="Verdana" pitchFamily="34" charset="-122"/>
                <a:cs typeface="Verdana" pitchFamily="34" charset="-120"/>
              </a:rPr>
              <a:t>Missions scientifiques</a:t>
            </a:r>
            <a:endParaRPr lang="en-US" sz="1300" dirty="0"/>
          </a:p>
        </p:txBody>
      </p:sp>
      <p:sp>
        <p:nvSpPr>
          <p:cNvPr id="12" name="Shape 8"/>
          <p:cNvSpPr/>
          <p:nvPr/>
        </p:nvSpPr>
        <p:spPr>
          <a:xfrm>
            <a:off x="5760720" y="4434840"/>
            <a:ext cx="2331720" cy="384048"/>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13" name="Text 9"/>
          <p:cNvSpPr txBox="1"/>
          <p:nvPr/>
        </p:nvSpPr>
        <p:spPr>
          <a:xfrm>
            <a:off x="5760720" y="4434840"/>
            <a:ext cx="2331720" cy="384048"/>
          </a:xfrm>
          <a:prstGeom prst="rect">
            <a:avLst/>
          </a:prstGeom>
          <a:noFill/>
          <a:ln/>
        </p:spPr>
        <p:txBody>
          <a:bodyPr wrap="square" lIns="0" tIns="0" rIns="0" bIns="0" rtlCol="0" anchor="ctr"/>
          <a:lstStyle/>
          <a:p>
            <a:pPr marL="0" indent="0" algn="ctr">
              <a:buNone/>
            </a:pPr>
            <a:r>
              <a:rPr lang="en-US" sz="1300" b="1" dirty="0">
                <a:solidFill>
                  <a:srgbClr val="0012B5"/>
                </a:solidFill>
                <a:latin typeface="Verdana" pitchFamily="34" charset="0"/>
                <a:ea typeface="Verdana" pitchFamily="34" charset="-122"/>
                <a:cs typeface="Verdana" pitchFamily="34" charset="-120"/>
              </a:rPr>
              <a:t>Science participative</a:t>
            </a:r>
            <a:endParaRPr lang="en-US" sz="1300" dirty="0"/>
          </a:p>
        </p:txBody>
      </p:sp>
      <p:sp>
        <p:nvSpPr>
          <p:cNvPr id="14" name="Shape 10"/>
          <p:cNvSpPr/>
          <p:nvPr/>
        </p:nvSpPr>
        <p:spPr>
          <a:xfrm>
            <a:off x="8275320" y="4434840"/>
            <a:ext cx="2331720" cy="384048"/>
          </a:xfrm>
          <a:prstGeom prst="roundRect">
            <a:avLst>
              <a:gd name="adj" fmla="val 50000"/>
            </a:avLst>
          </a:prstGeom>
          <a:solidFill>
            <a:srgbClr val="FFFFFF"/>
          </a:solidFill>
          <a:ln w="12700">
            <a:solidFill>
              <a:srgbClr val="FFFFFF"/>
            </a:solidFill>
            <a:prstDash val="solid"/>
          </a:ln>
        </p:spPr>
        <p:txBody>
          <a:bodyPr/>
          <a:lstStyle/>
          <a:p>
            <a:endParaRPr lang="fr-FR"/>
          </a:p>
        </p:txBody>
      </p:sp>
      <p:sp>
        <p:nvSpPr>
          <p:cNvPr id="15" name="Text 11"/>
          <p:cNvSpPr txBox="1"/>
          <p:nvPr/>
        </p:nvSpPr>
        <p:spPr>
          <a:xfrm>
            <a:off x="8275320" y="4434840"/>
            <a:ext cx="2331720" cy="384048"/>
          </a:xfrm>
          <a:prstGeom prst="rect">
            <a:avLst/>
          </a:prstGeom>
          <a:noFill/>
          <a:ln/>
        </p:spPr>
        <p:txBody>
          <a:bodyPr wrap="square" lIns="0" tIns="0" rIns="0" bIns="0" rtlCol="0" anchor="ctr"/>
          <a:lstStyle/>
          <a:p>
            <a:pPr marL="0" indent="0" algn="ctr">
              <a:buNone/>
            </a:pPr>
            <a:r>
              <a:rPr lang="en-US" sz="1300" b="1" dirty="0">
                <a:solidFill>
                  <a:srgbClr val="0012B5"/>
                </a:solidFill>
                <a:latin typeface="Verdana" pitchFamily="34" charset="0"/>
                <a:ea typeface="Verdana" pitchFamily="34" charset="-122"/>
                <a:cs typeface="Verdana" pitchFamily="34" charset="-120"/>
              </a:rPr>
              <a:t>Appui à l’État en mer</a:t>
            </a:r>
            <a:endParaRPr lang="en-US" sz="1300" dirty="0"/>
          </a:p>
        </p:txBody>
      </p:sp>
      <p:sp>
        <p:nvSpPr>
          <p:cNvPr id="16" name="Shape 12"/>
          <p:cNvSpPr/>
          <p:nvPr/>
        </p:nvSpPr>
        <p:spPr>
          <a:xfrm>
            <a:off x="731520" y="5257800"/>
            <a:ext cx="4206240" cy="868680"/>
          </a:xfrm>
          <a:prstGeom prst="roundRect">
            <a:avLst>
              <a:gd name="adj" fmla="val 21053"/>
            </a:avLst>
          </a:prstGeom>
          <a:solidFill>
            <a:srgbClr val="FFFFFF"/>
          </a:solidFill>
          <a:ln w="12700">
            <a:solidFill>
              <a:srgbClr val="FFFFFF"/>
            </a:solidFill>
            <a:prstDash val="solid"/>
          </a:ln>
        </p:spPr>
        <p:txBody>
          <a:bodyPr/>
          <a:lstStyle/>
          <a:p>
            <a:endParaRPr lang="fr-FR"/>
          </a:p>
        </p:txBody>
      </p:sp>
      <p:sp>
        <p:nvSpPr>
          <p:cNvPr id="17" name="Text 13"/>
          <p:cNvSpPr txBox="1"/>
          <p:nvPr/>
        </p:nvSpPr>
        <p:spPr>
          <a:xfrm>
            <a:off x="731520" y="5257800"/>
            <a:ext cx="4206240" cy="868680"/>
          </a:xfrm>
          <a:prstGeom prst="rect">
            <a:avLst/>
          </a:prstGeom>
          <a:noFill/>
          <a:ln/>
        </p:spPr>
        <p:txBody>
          <a:bodyPr wrap="square" lIns="0" tIns="0" rIns="0" bIns="0" rtlCol="0" anchor="ctr"/>
          <a:lstStyle/>
          <a:p>
            <a:pPr marL="0" indent="0" algn="ctr">
              <a:buNone/>
            </a:pPr>
            <a:r>
              <a:rPr lang="en-US" sz="1750" b="1" dirty="0">
                <a:solidFill>
                  <a:srgbClr val="0012B5"/>
                </a:solidFill>
                <a:latin typeface="Verdana" pitchFamily="34" charset="0"/>
                <a:ea typeface="Verdana" pitchFamily="34" charset="-122"/>
                <a:cs typeface="Verdana" pitchFamily="34" charset="-120"/>
              </a:rPr>
              <a:t>services.maredurabilis.org</a:t>
            </a:r>
            <a:endParaRPr lang="en-US" sz="1450" dirty="0"/>
          </a:p>
        </p:txBody>
      </p:sp>
      <p:sp>
        <p:nvSpPr>
          <p:cNvPr id="901" name="Shape 12"/>
          <p:cNvSpPr/>
          <p:nvPr/>
        </p:nvSpPr>
        <p:spPr>
          <a:xfrm>
            <a:off x="9997135" y="4983480"/>
            <a:ext cx="1463040" cy="1463040"/>
          </a:xfrm>
          <a:prstGeom prst="roundRect">
            <a:avLst>
              <a:gd name="adj" fmla="val 21053"/>
            </a:avLst>
          </a:prstGeom>
          <a:solidFill>
            <a:srgbClr val="FFFFFF"/>
          </a:solidFill>
          <a:ln w="12700">
            <a:solidFill>
              <a:srgbClr val="FFFFFF"/>
            </a:solidFill>
            <a:prstDash val="solid"/>
          </a:ln>
        </p:spPr>
        <p:txBody>
          <a:bodyPr/>
          <a:lstStyle/>
          <a:p>
            <a:endParaRPr lang="fr-FR"/>
          </a:p>
        </p:txBody>
      </p:sp>
      <p:pic>
        <p:nvPicPr>
          <p:cNvPr id="902" name="QR site" descr="QR code vers services.maredurabilis.org"/>
          <p:cNvPicPr>
            <a:picLocks noChangeAspect="1"/>
          </p:cNvPicPr>
          <p:nvPr/>
        </p:nvPicPr>
        <p:blipFill>
          <a:blip r:embed="rId5"/>
          <a:stretch>
            <a:fillRect/>
          </a:stretch>
        </p:blipFill>
        <p:spPr>
          <a:xfrm>
            <a:off x="10088575" y="5074920"/>
            <a:ext cx="1280160" cy="12801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8385</Words>
  <Application>Microsoft Office PowerPoint</Application>
  <PresentationFormat>Grand écran</PresentationFormat>
  <Paragraphs>1442</Paragraphs>
  <Slides>68</Slides>
  <Notes>64</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68</vt:i4>
      </vt:variant>
    </vt:vector>
  </HeadingPairs>
  <TitlesOfParts>
    <vt:vector size="71" baseType="lpstr">
      <vt:lpstr>Arial</vt:lpstr>
      <vt:lpstr>Verdana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Mare Services — fonctionnement complet</dc:title>
  <dc:subject>PptxGenJS Presentation</dc:subject>
  <dc:creator>Mare Services</dc:creator>
  <cp:lastModifiedBy>Clément Chardon</cp:lastModifiedBy>
  <cp:revision>3</cp:revision>
  <dcterms:created xsi:type="dcterms:W3CDTF">2026-09-26T19:14:40Z</dcterms:created>
  <dcterms:modified xsi:type="dcterms:W3CDTF">2026-09-28T09:35:20Z</dcterms:modified>
</cp:coreProperties>
</file>