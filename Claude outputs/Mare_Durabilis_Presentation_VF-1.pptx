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73" r:id="rId3"/>
    <p:sldId id="257" r:id="rId4"/>
    <p:sldId id="258" r:id="rId5"/>
    <p:sldId id="281" r:id="rId6"/>
    <p:sldId id="259" r:id="rId7"/>
    <p:sldId id="260" r:id="rId8"/>
    <p:sldId id="262" r:id="rId9"/>
    <p:sldId id="274" r:id="rId10"/>
    <p:sldId id="271" r:id="rId11"/>
    <p:sldId id="272" r:id="rId12"/>
    <p:sldId id="266" r:id="rId13"/>
    <p:sldId id="279" r:id="rId14"/>
    <p:sldId id="268" r:id="rId15"/>
    <p:sldId id="276" r:id="rId16"/>
    <p:sldId id="280" r:id="rId17"/>
    <p:sldId id="275" r:id="rId18"/>
    <p:sldId id="263" r:id="rId19"/>
    <p:sldId id="264" r:id="rId20"/>
    <p:sldId id="269" r:id="rId21"/>
    <p:sldId id="282"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8A8A"/>
    <a:srgbClr val="16256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9D8354-CA7F-4571-B767-F1F894157197}" v="1" dt="2026-09-10T12:29:11.873"/>
    <p1510:client id="{FCEB633F-5387-416B-B300-AB64482860F1}" v="5" dt="2026-09-09T15:15:43.9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52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ément Chardon" userId="234d26f7ab6df698" providerId="LiveId" clId="{95C97F46-5FE1-4F7A-837F-1C95F852080E}"/>
    <pc:docChg chg="custSel modSld">
      <pc:chgData name="Clément Chardon" userId="234d26f7ab6df698" providerId="LiveId" clId="{95C97F46-5FE1-4F7A-837F-1C95F852080E}" dt="2026-09-10T14:35:17.520" v="91" actId="20577"/>
      <pc:docMkLst>
        <pc:docMk/>
      </pc:docMkLst>
      <pc:sldChg chg="modSp mod">
        <pc:chgData name="Clément Chardon" userId="234d26f7ab6df698" providerId="LiveId" clId="{95C97F46-5FE1-4F7A-837F-1C95F852080E}" dt="2026-09-10T14:35:17.520" v="91" actId="20577"/>
        <pc:sldMkLst>
          <pc:docMk/>
          <pc:sldMk cId="0" sldId="258"/>
        </pc:sldMkLst>
        <pc:spChg chg="mod">
          <ac:chgData name="Clément Chardon" userId="234d26f7ab6df698" providerId="LiveId" clId="{95C97F46-5FE1-4F7A-837F-1C95F852080E}" dt="2026-09-10T14:35:17.520" v="91" actId="20577"/>
          <ac:spMkLst>
            <pc:docMk/>
            <pc:sldMk cId="0" sldId="258"/>
            <ac:spMk id="37" creationId="{00000000-0000-0000-0000-000000000000}"/>
          </ac:spMkLst>
        </pc:spChg>
      </pc:sldChg>
      <pc:sldChg chg="modSp mod">
        <pc:chgData name="Clément Chardon" userId="234d26f7ab6df698" providerId="LiveId" clId="{95C97F46-5FE1-4F7A-837F-1C95F852080E}" dt="2026-09-10T12:29:16.623" v="1" actId="108"/>
        <pc:sldMkLst>
          <pc:docMk/>
          <pc:sldMk cId="0" sldId="259"/>
        </pc:sldMkLst>
        <pc:spChg chg="mod">
          <ac:chgData name="Clément Chardon" userId="234d26f7ab6df698" providerId="LiveId" clId="{95C97F46-5FE1-4F7A-837F-1C95F852080E}" dt="2026-09-10T12:29:16.623" v="1" actId="108"/>
          <ac:spMkLst>
            <pc:docMk/>
            <pc:sldMk cId="0" sldId="259"/>
            <ac:spMk id="19" creationId="{00000000-0000-0000-0000-000000000000}"/>
          </ac:spMkLst>
        </pc:spChg>
      </pc:sldChg>
      <pc:sldChg chg="modSp mod">
        <pc:chgData name="Clément Chardon" userId="234d26f7ab6df698" providerId="LiveId" clId="{95C97F46-5FE1-4F7A-837F-1C95F852080E}" dt="2026-09-10T12:30:18.807" v="17" actId="20577"/>
        <pc:sldMkLst>
          <pc:docMk/>
          <pc:sldMk cId="0" sldId="260"/>
        </pc:sldMkLst>
        <pc:spChg chg="mod">
          <ac:chgData name="Clément Chardon" userId="234d26f7ab6df698" providerId="LiveId" clId="{95C97F46-5FE1-4F7A-837F-1C95F852080E}" dt="2026-09-10T12:30:18.807" v="17" actId="20577"/>
          <ac:spMkLst>
            <pc:docMk/>
            <pc:sldMk cId="0" sldId="260"/>
            <ac:spMk id="7" creationId="{00000000-0000-0000-0000-000000000000}"/>
          </ac:spMkLst>
        </pc:spChg>
        <pc:spChg chg="mod">
          <ac:chgData name="Clément Chardon" userId="234d26f7ab6df698" providerId="LiveId" clId="{95C97F46-5FE1-4F7A-837F-1C95F852080E}" dt="2026-09-10T12:30:07.994" v="16" actId="20577"/>
          <ac:spMkLst>
            <pc:docMk/>
            <pc:sldMk cId="0" sldId="260"/>
            <ac:spMk id="13" creationId="{00000000-0000-0000-0000-000000000000}"/>
          </ac:spMkLst>
        </pc:spChg>
      </pc:sldChg>
      <pc:sldChg chg="modSp mod">
        <pc:chgData name="Clément Chardon" userId="234d26f7ab6df698" providerId="LiveId" clId="{95C97F46-5FE1-4F7A-837F-1C95F852080E}" dt="2026-09-10T12:31:28.142" v="28" actId="20577"/>
        <pc:sldMkLst>
          <pc:docMk/>
          <pc:sldMk cId="0" sldId="262"/>
        </pc:sldMkLst>
        <pc:spChg chg="mod">
          <ac:chgData name="Clément Chardon" userId="234d26f7ab6df698" providerId="LiveId" clId="{95C97F46-5FE1-4F7A-837F-1C95F852080E}" dt="2026-09-10T12:30:57.562" v="24" actId="20577"/>
          <ac:spMkLst>
            <pc:docMk/>
            <pc:sldMk cId="0" sldId="262"/>
            <ac:spMk id="5" creationId="{00000000-0000-0000-0000-000000000000}"/>
          </ac:spMkLst>
        </pc:spChg>
        <pc:spChg chg="mod">
          <ac:chgData name="Clément Chardon" userId="234d26f7ab6df698" providerId="LiveId" clId="{95C97F46-5FE1-4F7A-837F-1C95F852080E}" dt="2026-09-10T12:31:28.142" v="28" actId="20577"/>
          <ac:spMkLst>
            <pc:docMk/>
            <pc:sldMk cId="0" sldId="262"/>
            <ac:spMk id="7" creationId="{00000000-0000-0000-0000-000000000000}"/>
          </ac:spMkLst>
        </pc:spChg>
      </pc:sldChg>
      <pc:sldChg chg="modSp mod">
        <pc:chgData name="Clément Chardon" userId="234d26f7ab6df698" providerId="LiveId" clId="{95C97F46-5FE1-4F7A-837F-1C95F852080E}" dt="2026-09-10T12:33:15.839" v="35" actId="1076"/>
        <pc:sldMkLst>
          <pc:docMk/>
          <pc:sldMk cId="0" sldId="269"/>
        </pc:sldMkLst>
        <pc:spChg chg="mod">
          <ac:chgData name="Clément Chardon" userId="234d26f7ab6df698" providerId="LiveId" clId="{95C97F46-5FE1-4F7A-837F-1C95F852080E}" dt="2026-09-10T12:33:01.384" v="29" actId="1076"/>
          <ac:spMkLst>
            <pc:docMk/>
            <pc:sldMk cId="0" sldId="269"/>
            <ac:spMk id="18" creationId="{00000000-0000-0000-0000-000000000000}"/>
          </ac:spMkLst>
        </pc:spChg>
        <pc:spChg chg="mod">
          <ac:chgData name="Clément Chardon" userId="234d26f7ab6df698" providerId="LiveId" clId="{95C97F46-5FE1-4F7A-837F-1C95F852080E}" dt="2026-09-10T12:33:15.839" v="35" actId="1076"/>
          <ac:spMkLst>
            <pc:docMk/>
            <pc:sldMk cId="0" sldId="269"/>
            <ac:spMk id="19" creationId="{00000000-0000-0000-0000-000000000000}"/>
          </ac:spMkLst>
        </pc:spChg>
        <pc:picChg chg="mod">
          <ac:chgData name="Clément Chardon" userId="234d26f7ab6df698" providerId="LiveId" clId="{95C97F46-5FE1-4F7A-837F-1C95F852080E}" dt="2026-09-10T12:33:13.054" v="34" actId="1076"/>
          <ac:picMkLst>
            <pc:docMk/>
            <pc:sldMk cId="0" sldId="269"/>
            <ac:picMk id="25" creationId="{63C6B2B2-98C2-B2F5-A12F-123BE93FB49D}"/>
          </ac:picMkLst>
        </pc:picChg>
      </pc:sldChg>
      <pc:sldChg chg="modSp mod">
        <pc:chgData name="Clément Chardon" userId="234d26f7ab6df698" providerId="LiveId" clId="{95C97F46-5FE1-4F7A-837F-1C95F852080E}" dt="2026-09-10T12:33:42.689" v="89" actId="113"/>
        <pc:sldMkLst>
          <pc:docMk/>
          <pc:sldMk cId="0" sldId="282"/>
        </pc:sldMkLst>
        <pc:spChg chg="mod">
          <ac:chgData name="Clément Chardon" userId="234d26f7ab6df698" providerId="LiveId" clId="{95C97F46-5FE1-4F7A-837F-1C95F852080E}" dt="2026-09-10T12:33:33.973" v="88" actId="20577"/>
          <ac:spMkLst>
            <pc:docMk/>
            <pc:sldMk cId="0" sldId="282"/>
            <ac:spMk id="937" creationId="{00000000-0000-0000-0000-000000000000}"/>
          </ac:spMkLst>
        </pc:spChg>
        <pc:spChg chg="mod">
          <ac:chgData name="Clément Chardon" userId="234d26f7ab6df698" providerId="LiveId" clId="{95C97F46-5FE1-4F7A-837F-1C95F852080E}" dt="2026-09-10T12:33:42.689" v="89" actId="113"/>
          <ac:spMkLst>
            <pc:docMk/>
            <pc:sldMk cId="0" sldId="282"/>
            <ac:spMk id="970"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doughnutChart>
        <c:varyColors val="1"/>
        <c:ser>
          <c:idx val="0"/>
          <c:order val="0"/>
          <c:tx>
            <c:strRef>
              <c:f>Sheet1!$B$1</c:f>
              <c:strCache>
                <c:ptCount val="1"/>
                <c:pt idx="0">
                  <c:v>Emplois</c:v>
                </c:pt>
              </c:strCache>
            </c:strRef>
          </c:tx>
          <c:spPr>
            <a:solidFill>
              <a:schemeClr val="accent1"/>
            </a:solidFill>
            <a:ln w="9525" cap="flat">
              <a:solidFill>
                <a:srgbClr val="F9F9F9"/>
              </a:solidFill>
              <a:prstDash val="solid"/>
              <a:round/>
            </a:ln>
            <a:effectLst/>
          </c:spPr>
          <c:dPt>
            <c:idx val="0"/>
            <c:bubble3D val="0"/>
            <c:spPr>
              <a:solidFill>
                <a:srgbClr val="16256B"/>
              </a:solidFill>
              <a:ln w="25400" cap="flat">
                <a:solidFill>
                  <a:srgbClr val="FFFFFF"/>
                </a:solidFill>
                <a:prstDash val="solid"/>
                <a:round/>
              </a:ln>
              <a:effectLst/>
            </c:spPr>
            <c:extLst>
              <c:ext xmlns:c16="http://schemas.microsoft.com/office/drawing/2014/chart" uri="{C3380CC4-5D6E-409C-BE32-E72D297353CC}">
                <c16:uniqueId val="{00000001-B9E8-4A21-AF2E-CE692F016A73}"/>
              </c:ext>
            </c:extLst>
          </c:dPt>
          <c:dPt>
            <c:idx val="1"/>
            <c:bubble3D val="0"/>
            <c:spPr>
              <a:solidFill>
                <a:srgbClr val="4A5AA8"/>
              </a:solidFill>
              <a:ln w="25400" cap="flat">
                <a:solidFill>
                  <a:srgbClr val="FFFFFF"/>
                </a:solidFill>
                <a:prstDash val="solid"/>
                <a:round/>
              </a:ln>
              <a:effectLst/>
            </c:spPr>
            <c:extLst>
              <c:ext xmlns:c16="http://schemas.microsoft.com/office/drawing/2014/chart" uri="{C3380CC4-5D6E-409C-BE32-E72D297353CC}">
                <c16:uniqueId val="{00000003-B9E8-4A21-AF2E-CE692F016A73}"/>
              </c:ext>
            </c:extLst>
          </c:dPt>
          <c:dPt>
            <c:idx val="2"/>
            <c:bubble3D val="0"/>
            <c:spPr>
              <a:solidFill>
                <a:srgbClr val="0E8A8A"/>
              </a:solidFill>
              <a:ln w="25400" cap="flat">
                <a:solidFill>
                  <a:srgbClr val="FFFFFF"/>
                </a:solidFill>
                <a:prstDash val="solid"/>
                <a:round/>
              </a:ln>
              <a:effectLst/>
            </c:spPr>
            <c:extLst>
              <c:ext xmlns:c16="http://schemas.microsoft.com/office/drawing/2014/chart" uri="{C3380CC4-5D6E-409C-BE32-E72D297353CC}">
                <c16:uniqueId val="{00000005-B9E8-4A21-AF2E-CE692F016A73}"/>
              </c:ext>
            </c:extLst>
          </c:dPt>
          <c:cat>
            <c:strRef>
              <c:f>Sheet1!$A$2:$A$4</c:f>
              <c:strCache>
                <c:ptCount val="3"/>
                <c:pt idx="0">
                  <c:v>Programmes d’action</c:v>
                </c:pt>
                <c:pt idx="1">
                  <c:v>Moyens communs</c:v>
                </c:pt>
                <c:pt idx="2">
                  <c:v>Frais de fonctionnement</c:v>
                </c:pt>
              </c:strCache>
            </c:strRef>
          </c:cat>
          <c:val>
            <c:numRef>
              <c:f>Sheet1!$B$2:$B$4</c:f>
              <c:numCache>
                <c:formatCode>General</c:formatCode>
                <c:ptCount val="3"/>
                <c:pt idx="0">
                  <c:v>93.9</c:v>
                </c:pt>
                <c:pt idx="1">
                  <c:v>2.2</c:v>
                </c:pt>
                <c:pt idx="2">
                  <c:v>3.9</c:v>
                </c:pt>
              </c:numCache>
            </c:numRef>
          </c:val>
          <c:extLst>
            <c:ext xmlns:c16="http://schemas.microsoft.com/office/drawing/2014/chart" uri="{C3380CC4-5D6E-409C-BE32-E72D297353CC}">
              <c16:uniqueId val="{00000006-B9E8-4A21-AF2E-CE692F016A73}"/>
            </c:ext>
          </c:extLst>
        </c:ser>
        <c:dLbls>
          <c:showLegendKey val="0"/>
          <c:showVal val="0"/>
          <c:showCatName val="0"/>
          <c:showSerName val="0"/>
          <c:showPercent val="0"/>
          <c:showBubbleSize val="0"/>
          <c:showLeaderLines val="0"/>
        </c:dLbls>
        <c:firstSliceAng val="0"/>
        <c:holeSize val="66"/>
      </c:doughnut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8881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image" Target="../media/image6.jpe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notesSlide" Target="../notesSlides/notesSlide3.xml"/><Relationship Id="rId16"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5.jpg"/><Relationship Id="rId7" Type="http://schemas.openxmlformats.org/officeDocument/2006/relationships/image" Target="../media/image29.jp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8.jpg"/><Relationship Id="rId5" Type="http://schemas.openxmlformats.org/officeDocument/2006/relationships/image" Target="../media/image27.jpg"/><Relationship Id="rId4" Type="http://schemas.openxmlformats.org/officeDocument/2006/relationships/image" Target="../media/image26.jpg"/></Relationships>
</file>

<file path=ppt/slides/_rels/slide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1.xml"/><Relationship Id="rId6" Type="http://schemas.openxmlformats.org/officeDocument/2006/relationships/image" Target="../media/image36.jpeg"/><Relationship Id="rId5" Type="http://schemas.openxmlformats.org/officeDocument/2006/relationships/image" Target="../media/image35.jpeg"/><Relationship Id="rId4" Type="http://schemas.openxmlformats.org/officeDocument/2006/relationships/image" Target="../media/image34.jpeg"/></Relationships>
</file>

<file path=ppt/slides/_rels/slide11.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1.xml"/><Relationship Id="rId5" Type="http://schemas.openxmlformats.org/officeDocument/2006/relationships/image" Target="../media/image44.jpeg"/><Relationship Id="rId4" Type="http://schemas.openxmlformats.org/officeDocument/2006/relationships/image" Target="../media/image43.jpe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5.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13" Type="http://schemas.openxmlformats.org/officeDocument/2006/relationships/image" Target="../media/image21.png"/><Relationship Id="rId18" Type="http://schemas.openxmlformats.org/officeDocument/2006/relationships/image" Target="../media/image52.png"/><Relationship Id="rId26" Type="http://schemas.openxmlformats.org/officeDocument/2006/relationships/image" Target="../media/image48.png"/><Relationship Id="rId39" Type="http://schemas.openxmlformats.org/officeDocument/2006/relationships/image" Target="../media/image22.png"/><Relationship Id="rId21" Type="http://schemas.openxmlformats.org/officeDocument/2006/relationships/image" Target="../media/image46.png"/><Relationship Id="rId34" Type="http://schemas.openxmlformats.org/officeDocument/2006/relationships/image" Target="../media/image66.png"/><Relationship Id="rId42" Type="http://schemas.openxmlformats.org/officeDocument/2006/relationships/image" Target="../media/image73.png"/><Relationship Id="rId7" Type="http://schemas.openxmlformats.org/officeDocument/2006/relationships/image" Target="../media/image14.png"/><Relationship Id="rId2" Type="http://schemas.openxmlformats.org/officeDocument/2006/relationships/notesSlide" Target="../notesSlides/notesSlide10.xml"/><Relationship Id="rId16" Type="http://schemas.openxmlformats.org/officeDocument/2006/relationships/image" Target="../media/image51.png"/><Relationship Id="rId20" Type="http://schemas.openxmlformats.org/officeDocument/2006/relationships/image" Target="../media/image54.png"/><Relationship Id="rId29" Type="http://schemas.openxmlformats.org/officeDocument/2006/relationships/image" Target="../media/image61.png"/><Relationship Id="rId41" Type="http://schemas.openxmlformats.org/officeDocument/2006/relationships/image" Target="../media/image72.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7.png"/><Relationship Id="rId24" Type="http://schemas.openxmlformats.org/officeDocument/2006/relationships/image" Target="../media/image57.png"/><Relationship Id="rId32" Type="http://schemas.openxmlformats.org/officeDocument/2006/relationships/image" Target="../media/image64.png"/><Relationship Id="rId37" Type="http://schemas.openxmlformats.org/officeDocument/2006/relationships/image" Target="../media/image69.png"/><Relationship Id="rId40" Type="http://schemas.openxmlformats.org/officeDocument/2006/relationships/image" Target="../media/image71.png"/><Relationship Id="rId5" Type="http://schemas.openxmlformats.org/officeDocument/2006/relationships/image" Target="../media/image7.png"/><Relationship Id="rId15" Type="http://schemas.openxmlformats.org/officeDocument/2006/relationships/image" Target="../media/image50.png"/><Relationship Id="rId23" Type="http://schemas.openxmlformats.org/officeDocument/2006/relationships/image" Target="../media/image56.png"/><Relationship Id="rId28" Type="http://schemas.openxmlformats.org/officeDocument/2006/relationships/image" Target="../media/image60.png"/><Relationship Id="rId36" Type="http://schemas.openxmlformats.org/officeDocument/2006/relationships/image" Target="../media/image68.png"/><Relationship Id="rId10" Type="http://schemas.openxmlformats.org/officeDocument/2006/relationships/image" Target="../media/image11.png"/><Relationship Id="rId19" Type="http://schemas.openxmlformats.org/officeDocument/2006/relationships/image" Target="../media/image53.png"/><Relationship Id="rId31" Type="http://schemas.openxmlformats.org/officeDocument/2006/relationships/image" Target="../media/image63.png"/><Relationship Id="rId4" Type="http://schemas.openxmlformats.org/officeDocument/2006/relationships/image" Target="../media/image13.png"/><Relationship Id="rId9" Type="http://schemas.openxmlformats.org/officeDocument/2006/relationships/image" Target="../media/image16.png"/><Relationship Id="rId14" Type="http://schemas.openxmlformats.org/officeDocument/2006/relationships/image" Target="../media/image47.png"/><Relationship Id="rId22" Type="http://schemas.openxmlformats.org/officeDocument/2006/relationships/image" Target="../media/image55.png"/><Relationship Id="rId27" Type="http://schemas.openxmlformats.org/officeDocument/2006/relationships/image" Target="../media/image59.png"/><Relationship Id="rId30" Type="http://schemas.openxmlformats.org/officeDocument/2006/relationships/image" Target="../media/image62.png"/><Relationship Id="rId35" Type="http://schemas.openxmlformats.org/officeDocument/2006/relationships/image" Target="../media/image67.png"/><Relationship Id="rId8" Type="http://schemas.openxmlformats.org/officeDocument/2006/relationships/image" Target="../media/image15.png"/><Relationship Id="rId3" Type="http://schemas.openxmlformats.org/officeDocument/2006/relationships/image" Target="../media/image12.png"/><Relationship Id="rId12" Type="http://schemas.openxmlformats.org/officeDocument/2006/relationships/image" Target="../media/image19.png"/><Relationship Id="rId17" Type="http://schemas.openxmlformats.org/officeDocument/2006/relationships/image" Target="../media/image49.png"/><Relationship Id="rId25" Type="http://schemas.openxmlformats.org/officeDocument/2006/relationships/image" Target="../media/image58.png"/><Relationship Id="rId33" Type="http://schemas.openxmlformats.org/officeDocument/2006/relationships/image" Target="../media/image65.png"/><Relationship Id="rId38" Type="http://schemas.openxmlformats.org/officeDocument/2006/relationships/image" Target="../media/image70.png"/></Relationships>
</file>

<file path=ppt/slides/_rels/slide20.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jpeg"/><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256B">
              <a:alpha val="45000"/>
            </a:srgbClr>
          </a:solidFill>
          <a:ln w="12700">
            <a:solidFill>
              <a:srgbClr val="16256B">
                <a:alpha val="0"/>
              </a:srgbClr>
            </a:solidFill>
            <a:prstDash val="solid"/>
          </a:ln>
        </p:spPr>
        <p:txBody>
          <a:bodyPr/>
          <a:lstStyle/>
          <a:p>
            <a:endParaRPr lang="fr-FR"/>
          </a:p>
        </p:txBody>
      </p:sp>
      <p:sp>
        <p:nvSpPr>
          <p:cNvPr id="3" name="Text 1"/>
          <p:cNvSpPr txBox="1"/>
          <p:nvPr/>
        </p:nvSpPr>
        <p:spPr>
          <a:xfrm>
            <a:off x="548640" y="1691640"/>
            <a:ext cx="8046720" cy="274320"/>
          </a:xfrm>
          <a:prstGeom prst="rect">
            <a:avLst/>
          </a:prstGeom>
          <a:noFill/>
          <a:ln/>
        </p:spPr>
        <p:txBody>
          <a:bodyPr wrap="square" lIns="0" tIns="0" rIns="0" bIns="0" rtlCol="0" anchor="ctr"/>
          <a:lstStyle/>
          <a:p>
            <a:pPr marL="0" indent="0">
              <a:buNone/>
            </a:pPr>
            <a:r>
              <a:rPr lang="en-US" sz="1000" b="1" kern="0" spc="300">
                <a:solidFill>
                  <a:srgbClr val="FFFFFF"/>
                </a:solidFill>
                <a:latin typeface="Calibri" pitchFamily="34" charset="0"/>
                <a:ea typeface="Calibri" pitchFamily="34" charset="-122"/>
                <a:cs typeface="Calibri" pitchFamily="34" charset="-120"/>
              </a:rPr>
              <a:t>FONDS DE DOTATION MARE DURABILIS</a:t>
            </a:r>
            <a:endParaRPr lang="en-US" sz="1000"/>
          </a:p>
        </p:txBody>
      </p:sp>
      <p:sp>
        <p:nvSpPr>
          <p:cNvPr id="4" name="Text 2"/>
          <p:cNvSpPr txBox="1"/>
          <p:nvPr/>
        </p:nvSpPr>
        <p:spPr>
          <a:xfrm>
            <a:off x="548640" y="1920240"/>
            <a:ext cx="7863840" cy="914400"/>
          </a:xfrm>
          <a:prstGeom prst="rect">
            <a:avLst/>
          </a:prstGeom>
          <a:noFill/>
          <a:ln/>
        </p:spPr>
        <p:txBody>
          <a:bodyPr wrap="square" lIns="0" tIns="0" rIns="0" bIns="0" rtlCol="0" anchor="t"/>
          <a:lstStyle/>
          <a:p>
            <a:pPr marL="0" indent="0">
              <a:buNone/>
            </a:pPr>
            <a:r>
              <a:rPr lang="en-US" sz="3200" b="1">
                <a:solidFill>
                  <a:srgbClr val="FFFFFF"/>
                </a:solidFill>
                <a:latin typeface="Cambria" pitchFamily="34" charset="0"/>
                <a:ea typeface="Cambria" pitchFamily="34" charset="-122"/>
                <a:cs typeface="Cambria" pitchFamily="34" charset="-120"/>
              </a:rPr>
              <a:t>Soutenir financièrement des projets d’intérêt général</a:t>
            </a:r>
            <a:endParaRPr lang="en-US" sz="3200"/>
          </a:p>
        </p:txBody>
      </p:sp>
      <p:sp>
        <p:nvSpPr>
          <p:cNvPr id="5" name="Shape 3"/>
          <p:cNvSpPr/>
          <p:nvPr/>
        </p:nvSpPr>
        <p:spPr>
          <a:xfrm>
            <a:off x="548640" y="3017520"/>
            <a:ext cx="8046720" cy="1234440"/>
          </a:xfrm>
          <a:prstGeom prst="rect">
            <a:avLst/>
          </a:prstGeom>
          <a:solidFill>
            <a:srgbClr val="FFFFFF">
              <a:alpha val="92000"/>
            </a:srgbClr>
          </a:solidFill>
          <a:ln w="12700">
            <a:solidFill>
              <a:srgbClr val="FFFFFF">
                <a:alpha val="0"/>
              </a:srgbClr>
            </a:solidFill>
            <a:prstDash val="solid"/>
          </a:ln>
        </p:spPr>
        <p:txBody>
          <a:bodyPr/>
          <a:lstStyle/>
          <a:p>
            <a:endParaRPr lang="fr-FR"/>
          </a:p>
        </p:txBody>
      </p:sp>
      <p:sp>
        <p:nvSpPr>
          <p:cNvPr id="6" name="Text 4"/>
          <p:cNvSpPr txBox="1"/>
          <p:nvPr/>
        </p:nvSpPr>
        <p:spPr>
          <a:xfrm>
            <a:off x="731520" y="3090672"/>
            <a:ext cx="7839300" cy="1097280"/>
          </a:xfrm>
          <a:prstGeom prst="rect">
            <a:avLst/>
          </a:prstGeom>
          <a:noFill/>
          <a:ln/>
        </p:spPr>
        <p:txBody>
          <a:bodyPr wrap="square" lIns="0" tIns="0" rIns="0" bIns="0" rtlCol="0" anchor="ctr"/>
          <a:lstStyle/>
          <a:p>
            <a:pPr marL="0" indent="0">
              <a:buNone/>
            </a:pPr>
            <a:r>
              <a:rPr lang="en-US" sz="1200" b="1">
                <a:solidFill>
                  <a:srgbClr val="0E8A8A"/>
                </a:solidFill>
                <a:latin typeface="Calibri" pitchFamily="34" charset="0"/>
                <a:ea typeface="Calibri" pitchFamily="34" charset="-122"/>
                <a:cs typeface="Calibri" pitchFamily="34" charset="-120"/>
              </a:rPr>
              <a:t>Objet du fonds — </a:t>
            </a:r>
            <a:r>
              <a:rPr lang="en-US" sz="1200">
                <a:solidFill>
                  <a:srgbClr val="1F2937"/>
                </a:solidFill>
                <a:latin typeface="Calibri" pitchFamily="34" charset="0"/>
                <a:ea typeface="Calibri" pitchFamily="34" charset="-122"/>
                <a:cs typeface="Calibri" pitchFamily="34" charset="-120"/>
              </a:rPr>
              <a:t>réaliser ou soutenir, dans un but non lucratif et une finalité d’intérêt général, toute action à caractère environnemental, scientifique, social ou éducatif visant à accompagner la transition durable du secteur de la pêche en Méditerranée, notamment à travers la régénération de ses écosystèmes.</a:t>
            </a:r>
            <a:endParaRPr lang="en-US" sz="1300"/>
          </a:p>
        </p:txBody>
      </p:sp>
      <p:sp>
        <p:nvSpPr>
          <p:cNvPr id="7" name="Text 5"/>
          <p:cNvSpPr txBox="1"/>
          <p:nvPr/>
        </p:nvSpPr>
        <p:spPr>
          <a:xfrm>
            <a:off x="548640" y="4407408"/>
            <a:ext cx="8046720" cy="274320"/>
          </a:xfrm>
          <a:prstGeom prst="rect">
            <a:avLst/>
          </a:prstGeom>
          <a:noFill/>
          <a:ln/>
        </p:spPr>
        <p:txBody>
          <a:bodyPr wrap="square" lIns="0" tIns="0" rIns="0" bIns="0" rtlCol="0" anchor="ctr"/>
          <a:lstStyle/>
          <a:p>
            <a:r>
              <a:rPr lang="fr-FR" sz="1000">
                <a:solidFill>
                  <a:srgbClr val="FFFFFF"/>
                </a:solidFill>
                <a:latin typeface="Calibri" pitchFamily="34" charset="0"/>
                <a:ea typeface="Calibri" pitchFamily="34" charset="-122"/>
                <a:cs typeface="Calibri" pitchFamily="34" charset="-120"/>
              </a:rPr>
              <a:t>Présentation du fonds de dotation Mare </a:t>
            </a:r>
            <a:r>
              <a:rPr lang="fr-FR" sz="1000" err="1">
                <a:solidFill>
                  <a:srgbClr val="FFFFFF"/>
                </a:solidFill>
                <a:latin typeface="Calibri" pitchFamily="34" charset="0"/>
                <a:ea typeface="Calibri" pitchFamily="34" charset="-122"/>
                <a:cs typeface="Calibri" pitchFamily="34" charset="-120"/>
              </a:rPr>
              <a:t>Durabilis</a:t>
            </a:r>
            <a:r>
              <a:rPr lang="fr-FR" sz="1000">
                <a:solidFill>
                  <a:srgbClr val="FFFFFF"/>
                </a:solidFill>
                <a:latin typeface="Calibri" pitchFamily="34" charset="0"/>
                <a:ea typeface="Calibri" pitchFamily="34" charset="-122"/>
                <a:cs typeface="Calibri" pitchFamily="34" charset="-120"/>
              </a:rPr>
              <a:t> · Septembre 2026 · maredurabilis.org</a:t>
            </a:r>
            <a:endParaRPr lang="en-US" sz="1000">
              <a:solidFill>
                <a:srgbClr val="FFFFFF"/>
              </a:solidFill>
              <a:latin typeface="Calibri" pitchFamily="34" charset="0"/>
              <a:ea typeface="Calibri" pitchFamily="34" charset="-122"/>
              <a:cs typeface="Calibri" pitchFamily="34" charset="-120"/>
            </a:endParaRPr>
          </a:p>
        </p:txBody>
      </p:sp>
      <p:sp>
        <p:nvSpPr>
          <p:cNvPr id="8" name="Text 6"/>
          <p:cNvSpPr txBox="1"/>
          <p:nvPr/>
        </p:nvSpPr>
        <p:spPr>
          <a:xfrm>
            <a:off x="548640" y="4645152"/>
            <a:ext cx="7473437" cy="274320"/>
          </a:xfrm>
          <a:prstGeom prst="rect">
            <a:avLst/>
          </a:prstGeom>
          <a:noFill/>
          <a:ln/>
        </p:spPr>
        <p:txBody>
          <a:bodyPr wrap="square" lIns="0" tIns="0" rIns="0" bIns="0" rtlCol="0" anchor="ctr"/>
          <a:lstStyle/>
          <a:p>
            <a:r>
              <a:rPr lang="en-US" sz="900" err="1">
                <a:solidFill>
                  <a:srgbClr val="CADCFC"/>
                </a:solidFill>
                <a:latin typeface="Calibri" pitchFamily="34" charset="0"/>
                <a:ea typeface="Calibri" pitchFamily="34" charset="-122"/>
                <a:cs typeface="Calibri" pitchFamily="34" charset="-120"/>
              </a:rPr>
              <a:t>Fondé</a:t>
            </a:r>
            <a:r>
              <a:rPr lang="en-US" sz="900">
                <a:solidFill>
                  <a:srgbClr val="CADCFC"/>
                </a:solidFill>
                <a:latin typeface="Calibri" pitchFamily="34" charset="0"/>
                <a:ea typeface="Calibri" pitchFamily="34" charset="-122"/>
                <a:cs typeface="Calibri" pitchFamily="34" charset="-120"/>
              </a:rPr>
              <a:t> par la société coopérative maritime des </a:t>
            </a:r>
            <a:r>
              <a:rPr lang="en-US" sz="900" err="1">
                <a:solidFill>
                  <a:srgbClr val="CADCFC"/>
                </a:solidFill>
                <a:latin typeface="Calibri" pitchFamily="34" charset="0"/>
                <a:ea typeface="Calibri" pitchFamily="34" charset="-122"/>
                <a:cs typeface="Calibri" pitchFamily="34" charset="-120"/>
              </a:rPr>
              <a:t>pêcheurs</a:t>
            </a:r>
            <a:r>
              <a:rPr lang="en-US" sz="900">
                <a:solidFill>
                  <a:srgbClr val="CADCFC"/>
                </a:solidFill>
                <a:latin typeface="Calibri" pitchFamily="34" charset="0"/>
                <a:ea typeface="Calibri" pitchFamily="34" charset="-122"/>
                <a:cs typeface="Calibri" pitchFamily="34" charset="-120"/>
              </a:rPr>
              <a:t> de </a:t>
            </a:r>
            <a:r>
              <a:rPr lang="en-US" sz="900" err="1">
                <a:solidFill>
                  <a:srgbClr val="CADCFC"/>
                </a:solidFill>
                <a:latin typeface="Calibri" pitchFamily="34" charset="0"/>
                <a:ea typeface="Calibri" pitchFamily="34" charset="-122"/>
                <a:cs typeface="Calibri" pitchFamily="34" charset="-120"/>
              </a:rPr>
              <a:t>Sète</a:t>
            </a:r>
            <a:r>
              <a:rPr lang="en-US" sz="900">
                <a:solidFill>
                  <a:srgbClr val="CADCFC"/>
                </a:solidFill>
                <a:latin typeface="Calibri" pitchFamily="34" charset="0"/>
                <a:ea typeface="Calibri" pitchFamily="34" charset="-122"/>
                <a:cs typeface="Calibri" pitchFamily="34" charset="-120"/>
              </a:rPr>
              <a:t> </a:t>
            </a:r>
            <a:r>
              <a:rPr lang="en-US" sz="900" err="1">
                <a:solidFill>
                  <a:srgbClr val="CADCFC"/>
                </a:solidFill>
                <a:latin typeface="Calibri" pitchFamily="34" charset="0"/>
                <a:ea typeface="Calibri" pitchFamily="34" charset="-122"/>
                <a:cs typeface="Calibri" pitchFamily="34" charset="-120"/>
              </a:rPr>
              <a:t>Môle</a:t>
            </a:r>
            <a:r>
              <a:rPr lang="en-US" sz="900">
                <a:solidFill>
                  <a:srgbClr val="CADCFC"/>
                </a:solidFill>
                <a:latin typeface="Calibri" pitchFamily="34" charset="0"/>
                <a:ea typeface="Calibri" pitchFamily="34" charset="-122"/>
                <a:cs typeface="Calibri" pitchFamily="34" charset="-120"/>
              </a:rPr>
              <a:t> (OP SATHOAN) suite à </a:t>
            </a:r>
            <a:r>
              <a:rPr lang="en-US" sz="900" err="1">
                <a:solidFill>
                  <a:srgbClr val="CADCFC"/>
                </a:solidFill>
                <a:latin typeface="Calibri" pitchFamily="34" charset="0"/>
                <a:ea typeface="Calibri" pitchFamily="34" charset="-122"/>
                <a:cs typeface="Calibri" pitchFamily="34" charset="-120"/>
              </a:rPr>
              <a:t>une</a:t>
            </a:r>
            <a:r>
              <a:rPr lang="en-US" sz="900">
                <a:solidFill>
                  <a:srgbClr val="CADCFC"/>
                </a:solidFill>
                <a:latin typeface="Calibri" pitchFamily="34" charset="0"/>
                <a:ea typeface="Calibri" pitchFamily="34" charset="-122"/>
                <a:cs typeface="Calibri" pitchFamily="34" charset="-120"/>
              </a:rPr>
              <a:t> concertation avec </a:t>
            </a:r>
            <a:r>
              <a:rPr lang="en-US" sz="900" err="1">
                <a:solidFill>
                  <a:srgbClr val="CADCFC"/>
                </a:solidFill>
                <a:latin typeface="Calibri" pitchFamily="34" charset="0"/>
                <a:ea typeface="Calibri" pitchFamily="34" charset="-122"/>
                <a:cs typeface="Calibri" pitchFamily="34" charset="-120"/>
              </a:rPr>
              <a:t>l’institut</a:t>
            </a:r>
            <a:r>
              <a:rPr lang="en-US" sz="900">
                <a:solidFill>
                  <a:srgbClr val="CADCFC"/>
                </a:solidFill>
                <a:latin typeface="Calibri" pitchFamily="34" charset="0"/>
                <a:ea typeface="Calibri" pitchFamily="34" charset="-122"/>
                <a:cs typeface="Calibri" pitchFamily="34" charset="-120"/>
              </a:rPr>
              <a:t> français de recherche pour </a:t>
            </a:r>
            <a:r>
              <a:rPr lang="en-US" sz="900" err="1">
                <a:solidFill>
                  <a:srgbClr val="CADCFC"/>
                </a:solidFill>
                <a:latin typeface="Calibri" pitchFamily="34" charset="0"/>
                <a:ea typeface="Calibri" pitchFamily="34" charset="-122"/>
                <a:cs typeface="Calibri" pitchFamily="34" charset="-120"/>
              </a:rPr>
              <a:t>l’exploitation</a:t>
            </a:r>
            <a:r>
              <a:rPr lang="en-US" sz="900">
                <a:solidFill>
                  <a:srgbClr val="CADCFC"/>
                </a:solidFill>
                <a:latin typeface="Calibri" pitchFamily="34" charset="0"/>
                <a:ea typeface="Calibri" pitchFamily="34" charset="-122"/>
                <a:cs typeface="Calibri" pitchFamily="34" charset="-120"/>
              </a:rPr>
              <a:t> de la </a:t>
            </a:r>
            <a:r>
              <a:rPr lang="en-US" sz="900" err="1">
                <a:solidFill>
                  <a:srgbClr val="CADCFC"/>
                </a:solidFill>
                <a:latin typeface="Calibri" pitchFamily="34" charset="0"/>
                <a:ea typeface="Calibri" pitchFamily="34" charset="-122"/>
                <a:cs typeface="Calibri" pitchFamily="34" charset="-120"/>
              </a:rPr>
              <a:t>mer</a:t>
            </a:r>
            <a:r>
              <a:rPr lang="en-US" sz="900">
                <a:solidFill>
                  <a:srgbClr val="CADCFC"/>
                </a:solidFill>
                <a:latin typeface="Calibri" pitchFamily="34" charset="0"/>
                <a:ea typeface="Calibri" pitchFamily="34" charset="-122"/>
                <a:cs typeface="Calibri" pitchFamily="34" charset="-120"/>
              </a:rPr>
              <a:t> (IFREMER) · </a:t>
            </a:r>
            <a:r>
              <a:rPr lang="en-US" sz="900" err="1">
                <a:solidFill>
                  <a:srgbClr val="CADCFC"/>
                </a:solidFill>
                <a:latin typeface="Calibri" pitchFamily="34" charset="0"/>
                <a:ea typeface="Calibri" pitchFamily="34" charset="-122"/>
                <a:cs typeface="Calibri" pitchFamily="34" charset="-120"/>
              </a:rPr>
              <a:t>Sète</a:t>
            </a:r>
            <a:endParaRPr lang="en-US" sz="900"/>
          </a:p>
        </p:txBody>
      </p:sp>
      <p:pic>
        <p:nvPicPr>
          <p:cNvPr id="9" name="Picture 8" descr="image.png"/>
          <p:cNvPicPr>
            <a:picLocks noChangeAspect="1"/>
          </p:cNvPicPr>
          <p:nvPr/>
        </p:nvPicPr>
        <p:blipFill>
          <a:blip r:embed="rId4"/>
          <a:stretch>
            <a:fillRect/>
          </a:stretch>
        </p:blipFill>
        <p:spPr>
          <a:xfrm>
            <a:off x="6949440" y="320040"/>
            <a:ext cx="1621380" cy="548640"/>
          </a:xfrm>
          <a:prstGeom prst="rect">
            <a:avLst/>
          </a:prstGeom>
        </p:spPr>
      </p:pic>
      <p:sp>
        <p:nvSpPr>
          <p:cNvPr id="950" name="Shape QRCard"/>
          <p:cNvSpPr/>
          <p:nvPr/>
        </p:nvSpPr>
        <p:spPr>
          <a:xfrm>
            <a:off x="7975360" y="4299472"/>
            <a:ext cx="620000" cy="620000"/>
          </a:xfrm>
          <a:prstGeom prst="roundRect">
            <a:avLst>
              <a:gd name="adj" fmla="val 8000"/>
            </a:avLst>
          </a:prstGeom>
          <a:solidFill>
            <a:srgbClr val="FFFFFF"/>
          </a:solidFill>
          <a:ln w="12700">
            <a:solidFill>
              <a:srgbClr val="FFFFFF"/>
            </a:solidFill>
            <a:prstDash val="solid"/>
          </a:ln>
        </p:spPr>
        <p:txBody>
          <a:bodyPr/>
          <a:lstStyle/>
          <a:p>
            <a:endParaRPr/>
          </a:p>
        </p:txBody>
      </p:sp>
      <p:pic>
        <p:nvPicPr>
          <p:cNvPr id="13" name="Image 12" descr="The image depicts a QR code, which is a two-dimensional barcode that can be scanned by a mobile device to access information or perform a specific action.&#10;&#10;Le contenu généré par l’IA peut être incorrect.">
            <a:extLst>
              <a:ext uri="{FF2B5EF4-FFF2-40B4-BE49-F238E27FC236}">
                <a16:creationId xmlns:a16="http://schemas.microsoft.com/office/drawing/2014/main" id="{39AA9479-9572-2002-A1B3-0CFD208D051B}"/>
              </a:ext>
            </a:extLst>
          </p:cNvPr>
          <p:cNvPicPr>
            <a:picLocks noChangeAspect="1"/>
          </p:cNvPicPr>
          <p:nvPr/>
        </p:nvPicPr>
        <p:blipFill>
          <a:blip r:embed="rId5"/>
          <a:stretch>
            <a:fillRect/>
          </a:stretch>
        </p:blipFill>
        <p:spPr>
          <a:xfrm>
            <a:off x="8050360" y="4374472"/>
            <a:ext cx="470000" cy="47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256B">
              <a:alpha val="40000"/>
            </a:srgbClr>
          </a:solidFill>
          <a:ln w="12700">
            <a:solidFill>
              <a:srgbClr val="16256B">
                <a:alpha val="0"/>
              </a:srgbClr>
            </a:solidFill>
            <a:prstDash val="solid"/>
          </a:ln>
        </p:spPr>
        <p:txBody>
          <a:bodyPr/>
          <a:lstStyle/>
          <a:p>
            <a:endParaRPr/>
          </a:p>
        </p:txBody>
      </p:sp>
      <p:sp>
        <p:nvSpPr>
          <p:cNvPr id="3" name="Shape 1"/>
          <p:cNvSpPr/>
          <p:nvPr/>
        </p:nvSpPr>
        <p:spPr>
          <a:xfrm>
            <a:off x="457200" y="1874520"/>
            <a:ext cx="109728" cy="1371600"/>
          </a:xfrm>
          <a:prstGeom prst="rect">
            <a:avLst/>
          </a:prstGeom>
          <a:solidFill>
            <a:srgbClr val="7FD3D0"/>
          </a:solidFill>
          <a:ln w="12700">
            <a:solidFill>
              <a:srgbClr val="7FD3D0"/>
            </a:solidFill>
            <a:prstDash val="solid"/>
          </a:ln>
        </p:spPr>
        <p:txBody>
          <a:bodyPr/>
          <a:lstStyle/>
          <a:p>
            <a:endParaRPr/>
          </a:p>
        </p:txBody>
      </p:sp>
      <p:sp>
        <p:nvSpPr>
          <p:cNvPr id="4" name="Text 2"/>
          <p:cNvSpPr txBox="1"/>
          <p:nvPr/>
        </p:nvSpPr>
        <p:spPr>
          <a:xfrm>
            <a:off x="777240" y="1828800"/>
            <a:ext cx="7315200" cy="274320"/>
          </a:xfrm>
          <a:prstGeom prst="rect">
            <a:avLst/>
          </a:prstGeom>
          <a:noFill/>
          <a:ln/>
        </p:spPr>
        <p:txBody>
          <a:bodyPr wrap="square" lIns="0" tIns="0" rIns="0" bIns="0" rtlCol="0" anchor="ctr"/>
          <a:lstStyle/>
          <a:p>
            <a:pPr marL="0" indent="0">
              <a:buNone/>
            </a:pPr>
            <a:r>
              <a:rPr lang="en-US" sz="1000" b="1" kern="0" spc="400">
                <a:solidFill>
                  <a:srgbClr val="7FD3D0"/>
                </a:solidFill>
                <a:latin typeface="Calibri" pitchFamily="34" charset="0"/>
                <a:ea typeface="Calibri" pitchFamily="34" charset="-122"/>
                <a:cs typeface="Calibri" pitchFamily="34" charset="-120"/>
              </a:rPr>
              <a:t>PREMIÈRE PARTIE</a:t>
            </a:r>
            <a:endParaRPr lang="en-US" sz="1000"/>
          </a:p>
        </p:txBody>
      </p:sp>
      <p:sp>
        <p:nvSpPr>
          <p:cNvPr id="5" name="Text 3"/>
          <p:cNvSpPr txBox="1"/>
          <p:nvPr/>
        </p:nvSpPr>
        <p:spPr>
          <a:xfrm>
            <a:off x="777240" y="2103120"/>
            <a:ext cx="7315200" cy="914400"/>
          </a:xfrm>
          <a:prstGeom prst="rect">
            <a:avLst/>
          </a:prstGeom>
          <a:noFill/>
          <a:ln/>
        </p:spPr>
        <p:txBody>
          <a:bodyPr wrap="square" lIns="0" tIns="0" rIns="0" bIns="0" rtlCol="0" anchor="t"/>
          <a:lstStyle/>
          <a:p>
            <a:pPr marL="0" indent="0">
              <a:buNone/>
            </a:pPr>
            <a:r>
              <a:rPr lang="en-US" sz="5400" b="1">
                <a:solidFill>
                  <a:srgbClr val="FFFFFF"/>
                </a:solidFill>
                <a:latin typeface="Cambria" pitchFamily="34" charset="0"/>
                <a:ea typeface="Cambria" pitchFamily="34" charset="-122"/>
                <a:cs typeface="Cambria" pitchFamily="34" charset="-120"/>
              </a:rPr>
              <a:t>Le projet</a:t>
            </a:r>
            <a:endParaRPr lang="en-US" sz="5400"/>
          </a:p>
        </p:txBody>
      </p:sp>
      <p:sp>
        <p:nvSpPr>
          <p:cNvPr id="6" name="Text 4"/>
          <p:cNvSpPr txBox="1"/>
          <p:nvPr/>
        </p:nvSpPr>
        <p:spPr>
          <a:xfrm>
            <a:off x="777240" y="3017520"/>
            <a:ext cx="7315200" cy="320040"/>
          </a:xfrm>
          <a:prstGeom prst="rect">
            <a:avLst/>
          </a:prstGeom>
          <a:noFill/>
          <a:ln/>
        </p:spPr>
        <p:txBody>
          <a:bodyPr wrap="square" lIns="0" tIns="0" rIns="0" bIns="0" rtlCol="0" anchor="ctr"/>
          <a:lstStyle/>
          <a:p>
            <a:r>
              <a:rPr lang="fr-FR" sz="1400">
                <a:solidFill>
                  <a:srgbClr val="E6EAF5"/>
                </a:solidFill>
                <a:latin typeface="Calibri" pitchFamily="34" charset="0"/>
                <a:ea typeface="Calibri" pitchFamily="34" charset="-122"/>
                <a:cs typeface="Calibri" pitchFamily="34" charset="-120"/>
              </a:rPr>
              <a:t>Un fonds dédié pour accélérer les projets au service d’une mer vivante : une priorité pour la filière</a:t>
            </a:r>
          </a:p>
          <a:p>
            <a:endParaRPr lang="en-US" sz="1400">
              <a:solidFill>
                <a:srgbClr val="E6EAF5"/>
              </a:solidFill>
              <a:latin typeface="Calibri" pitchFamily="34" charset="0"/>
              <a:ea typeface="Calibri" pitchFamily="34" charset="-122"/>
              <a:cs typeface="Calibri" pitchFamily="34" charset="-120"/>
            </a:endParaRPr>
          </a:p>
        </p:txBody>
      </p:sp>
      <p:pic>
        <p:nvPicPr>
          <p:cNvPr id="7" name="Image 0" descr="/home/claude/v8/img/logo_white.png"/>
          <p:cNvPicPr>
            <a:picLocks noChangeAspect="1"/>
          </p:cNvPicPr>
          <p:nvPr/>
        </p:nvPicPr>
        <p:blipFill>
          <a:blip r:embed="rId3"/>
          <a:stretch>
            <a:fillRect/>
          </a:stretch>
        </p:blipFill>
        <p:spPr>
          <a:xfrm>
            <a:off x="6949440" y="320040"/>
            <a:ext cx="1621380" cy="548640"/>
          </a:xfrm>
          <a:prstGeom prst="rect">
            <a:avLst/>
          </a:prstGeom>
        </p:spPr>
      </p:pic>
      <p:sp>
        <p:nvSpPr>
          <p:cNvPr id="8" name="Text 5"/>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CADCFC"/>
                </a:solidFill>
                <a:latin typeface="Calibri" pitchFamily="34" charset="0"/>
                <a:ea typeface="Calibri" pitchFamily="34" charset="-122"/>
                <a:cs typeface="Calibri" pitchFamily="34" charset="-120"/>
              </a:rPr>
              <a:t>2</a:t>
            </a:r>
            <a:endParaRPr lang="en-US" sz="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0" y="0"/>
            <a:ext cx="5029200" cy="5143500"/>
          </a:xfrm>
          <a:prstGeom prst="rect">
            <a:avLst/>
          </a:prstGeom>
          <a:solidFill>
            <a:srgbClr val="16256B">
              <a:alpha val="88000"/>
            </a:srgbClr>
          </a:solidFill>
          <a:ln w="12700">
            <a:solidFill>
              <a:srgbClr val="16256B">
                <a:alpha val="0"/>
              </a:srgbClr>
            </a:solidFill>
            <a:prstDash val="solid"/>
          </a:ln>
        </p:spPr>
        <p:txBody>
          <a:bodyPr/>
          <a:lstStyle/>
          <a:p>
            <a:endParaRPr/>
          </a:p>
        </p:txBody>
      </p:sp>
      <p:sp>
        <p:nvSpPr>
          <p:cNvPr id="3" name="Shape 1"/>
          <p:cNvSpPr/>
          <p:nvPr/>
        </p:nvSpPr>
        <p:spPr>
          <a:xfrm>
            <a:off x="0" y="0"/>
            <a:ext cx="4114800" cy="5143500"/>
          </a:xfrm>
          <a:prstGeom prst="rect">
            <a:avLst/>
          </a:prstGeom>
          <a:solidFill>
            <a:srgbClr val="16256B">
              <a:alpha val="24000"/>
            </a:srgbClr>
          </a:solidFill>
          <a:ln w="12700">
            <a:solidFill>
              <a:srgbClr val="16256B">
                <a:alpha val="0"/>
              </a:srgbClr>
            </a:solidFill>
            <a:prstDash val="solid"/>
          </a:ln>
        </p:spPr>
        <p:txBody>
          <a:bodyPr/>
          <a:lstStyle/>
          <a:p>
            <a:endParaRPr/>
          </a:p>
        </p:txBody>
      </p:sp>
      <p:sp>
        <p:nvSpPr>
          <p:cNvPr id="4" name="Text 2"/>
          <p:cNvSpPr txBox="1"/>
          <p:nvPr/>
        </p:nvSpPr>
        <p:spPr>
          <a:xfrm>
            <a:off x="457200" y="320040"/>
            <a:ext cx="8229600" cy="228600"/>
          </a:xfrm>
          <a:prstGeom prst="rect">
            <a:avLst/>
          </a:prstGeom>
          <a:noFill/>
          <a:ln/>
        </p:spPr>
        <p:txBody>
          <a:bodyPr wrap="square" lIns="0" tIns="0" rIns="0" bIns="0" rtlCol="0" anchor="ctr"/>
          <a:lstStyle/>
          <a:p>
            <a:pPr marL="0" indent="0">
              <a:buNone/>
            </a:pPr>
            <a:r>
              <a:rPr lang="en-US" sz="900" b="1" kern="0" spc="300">
                <a:solidFill>
                  <a:srgbClr val="7FD3D0"/>
                </a:solidFill>
                <a:latin typeface="Calibri" pitchFamily="34" charset="0"/>
                <a:ea typeface="Calibri" pitchFamily="34" charset="-122"/>
                <a:cs typeface="Calibri" pitchFamily="34" charset="-120"/>
              </a:rPr>
              <a:t>LA MÉDITERRANÉE FRANÇAISE</a:t>
            </a:r>
            <a:endParaRPr lang="en-US" sz="900"/>
          </a:p>
        </p:txBody>
      </p:sp>
      <p:sp>
        <p:nvSpPr>
          <p:cNvPr id="5" name="Text 3"/>
          <p:cNvSpPr txBox="1"/>
          <p:nvPr/>
        </p:nvSpPr>
        <p:spPr>
          <a:xfrm>
            <a:off x="457200" y="548640"/>
            <a:ext cx="3657600" cy="1188720"/>
          </a:xfrm>
          <a:prstGeom prst="rect">
            <a:avLst/>
          </a:prstGeom>
          <a:noFill/>
          <a:ln/>
        </p:spPr>
        <p:txBody>
          <a:bodyPr wrap="square" lIns="0" tIns="0" rIns="0" bIns="0" rtlCol="0" anchor="t"/>
          <a:lstStyle/>
          <a:p>
            <a:pPr marL="0" indent="0">
              <a:buNone/>
            </a:pPr>
            <a:r>
              <a:rPr lang="en-US" sz="2600" b="1">
                <a:solidFill>
                  <a:srgbClr val="FFFFFF"/>
                </a:solidFill>
                <a:latin typeface="Cambria" pitchFamily="34" charset="0"/>
                <a:ea typeface="Cambria" pitchFamily="34" charset="-122"/>
                <a:cs typeface="Cambria" pitchFamily="34" charset="-120"/>
              </a:rPr>
              <a:t>Les spécificités de la filière méditerranéenne</a:t>
            </a:r>
            <a:endParaRPr lang="en-US" sz="2600"/>
          </a:p>
        </p:txBody>
      </p:sp>
      <p:sp>
        <p:nvSpPr>
          <p:cNvPr id="6" name="Text n01"/>
          <p:cNvSpPr txBox="1"/>
          <p:nvPr/>
        </p:nvSpPr>
        <p:spPr>
          <a:xfrm>
            <a:off x="4206240" y="457200"/>
            <a:ext cx="822960" cy="520700"/>
          </a:xfrm>
          <a:prstGeom prst="rect">
            <a:avLst/>
          </a:prstGeom>
          <a:noFill/>
          <a:ln/>
        </p:spPr>
        <p:txBody>
          <a:bodyPr wrap="square" lIns="0" tIns="0" rIns="0" bIns="0" rtlCol="0" anchor="t"/>
          <a:lstStyle/>
          <a:p>
            <a:pPr marL="0" indent="0">
              <a:buNone/>
            </a:pPr>
            <a:r>
              <a:rPr lang="fr-FR" sz="3200" b="1">
                <a:solidFill>
                  <a:srgbClr val="7FD3D0"/>
                </a:solidFill>
                <a:latin typeface="Cambria" pitchFamily="34" charset="0"/>
                <a:ea typeface="Cambria" pitchFamily="34" charset="-122"/>
                <a:cs typeface="Cambria" pitchFamily="34" charset="-120"/>
              </a:rPr>
              <a:t>01</a:t>
            </a:r>
            <a:endParaRPr lang="fr-FR" sz="3200"/>
          </a:p>
        </p:txBody>
      </p:sp>
      <p:sp>
        <p:nvSpPr>
          <p:cNvPr id="7" name="Text t01"/>
          <p:cNvSpPr txBox="1"/>
          <p:nvPr/>
        </p:nvSpPr>
        <p:spPr>
          <a:xfrm>
            <a:off x="5029200" y="457200"/>
            <a:ext cx="3657600" cy="320040"/>
          </a:xfrm>
          <a:prstGeom prst="rect">
            <a:avLst/>
          </a:prstGeom>
          <a:noFill/>
          <a:ln/>
        </p:spPr>
        <p:txBody>
          <a:bodyPr wrap="square" lIns="0" tIns="0" rIns="0" bIns="0" rtlCol="0" anchor="ctr"/>
          <a:lstStyle/>
          <a:p>
            <a:pPr marL="0" indent="0">
              <a:buNone/>
            </a:pPr>
            <a:r>
              <a:rPr lang="fr-FR" sz="1600" b="1">
                <a:solidFill>
                  <a:srgbClr val="FFFFFF"/>
                </a:solidFill>
                <a:latin typeface="Cambria" pitchFamily="34" charset="0"/>
                <a:ea typeface="Cambria" pitchFamily="34" charset="-122"/>
                <a:cs typeface="Cambria" pitchFamily="34" charset="-120"/>
              </a:rPr>
              <a:t>Petits métiers</a:t>
            </a:r>
            <a:endParaRPr lang="fr-FR" sz="1600"/>
          </a:p>
        </p:txBody>
      </p:sp>
      <p:sp>
        <p:nvSpPr>
          <p:cNvPr id="8" name="Text b01"/>
          <p:cNvSpPr txBox="1"/>
          <p:nvPr/>
        </p:nvSpPr>
        <p:spPr>
          <a:xfrm>
            <a:off x="5029200" y="813816"/>
            <a:ext cx="3657600" cy="640080"/>
          </a:xfrm>
          <a:prstGeom prst="rect">
            <a:avLst/>
          </a:prstGeom>
          <a:noFill/>
          <a:ln/>
        </p:spPr>
        <p:txBody>
          <a:bodyPr wrap="square" lIns="0" tIns="0" rIns="0" bIns="0" rtlCol="0" anchor="t"/>
          <a:lstStyle/>
          <a:p>
            <a:pPr marL="0" indent="0">
              <a:buNone/>
            </a:pPr>
            <a:r>
              <a:rPr lang="fr-FR" sz="1000">
                <a:solidFill>
                  <a:srgbClr val="E6EAF5"/>
                </a:solidFill>
                <a:latin typeface="Calibri" pitchFamily="34" charset="0"/>
                <a:ea typeface="Calibri" pitchFamily="34" charset="-122"/>
                <a:cs typeface="Calibri" pitchFamily="34" charset="-120"/>
              </a:rPr>
              <a:t>Une flotte majoritairement artisanale et côtière, économiquement fragile.</a:t>
            </a:r>
          </a:p>
        </p:txBody>
      </p:sp>
      <p:sp>
        <p:nvSpPr>
          <p:cNvPr id="9" name="Shape s01"/>
          <p:cNvSpPr/>
          <p:nvPr/>
        </p:nvSpPr>
        <p:spPr>
          <a:xfrm>
            <a:off x="5029200" y="1501140"/>
            <a:ext cx="3657600" cy="0"/>
          </a:xfrm>
          <a:prstGeom prst="line">
            <a:avLst/>
          </a:prstGeom>
          <a:noFill/>
          <a:ln w="12700">
            <a:solidFill>
              <a:srgbClr val="4A5AA8"/>
            </a:solidFill>
            <a:prstDash val="solid"/>
          </a:ln>
        </p:spPr>
        <p:txBody>
          <a:bodyPr/>
          <a:lstStyle/>
          <a:p>
            <a:endParaRPr/>
          </a:p>
        </p:txBody>
      </p:sp>
      <p:sp>
        <p:nvSpPr>
          <p:cNvPr id="10" name="Text n02"/>
          <p:cNvSpPr txBox="1"/>
          <p:nvPr/>
        </p:nvSpPr>
        <p:spPr>
          <a:xfrm>
            <a:off x="4206240" y="1577340"/>
            <a:ext cx="822960" cy="520700"/>
          </a:xfrm>
          <a:prstGeom prst="rect">
            <a:avLst/>
          </a:prstGeom>
          <a:noFill/>
          <a:ln/>
        </p:spPr>
        <p:txBody>
          <a:bodyPr wrap="square" lIns="0" tIns="0" rIns="0" bIns="0" rtlCol="0" anchor="t"/>
          <a:lstStyle/>
          <a:p>
            <a:pPr marL="0" indent="0">
              <a:buNone/>
            </a:pPr>
            <a:r>
              <a:rPr lang="fr-FR" sz="3200" b="1">
                <a:solidFill>
                  <a:srgbClr val="7FD3D0"/>
                </a:solidFill>
                <a:latin typeface="Cambria" pitchFamily="34" charset="0"/>
                <a:ea typeface="Cambria" pitchFamily="34" charset="-122"/>
                <a:cs typeface="Cambria" pitchFamily="34" charset="-120"/>
              </a:rPr>
              <a:t>02</a:t>
            </a:r>
            <a:endParaRPr lang="fr-FR" sz="3200"/>
          </a:p>
        </p:txBody>
      </p:sp>
      <p:sp>
        <p:nvSpPr>
          <p:cNvPr id="11" name="Text t02"/>
          <p:cNvSpPr txBox="1"/>
          <p:nvPr/>
        </p:nvSpPr>
        <p:spPr>
          <a:xfrm>
            <a:off x="5029200" y="1577340"/>
            <a:ext cx="3657600" cy="320040"/>
          </a:xfrm>
          <a:prstGeom prst="rect">
            <a:avLst/>
          </a:prstGeom>
          <a:noFill/>
          <a:ln/>
        </p:spPr>
        <p:txBody>
          <a:bodyPr wrap="square" lIns="0" tIns="0" rIns="0" bIns="0" rtlCol="0" anchor="ctr"/>
          <a:lstStyle/>
          <a:p>
            <a:pPr marL="0" indent="0">
              <a:buNone/>
            </a:pPr>
            <a:r>
              <a:rPr lang="fr-FR" sz="1600" b="1">
                <a:solidFill>
                  <a:srgbClr val="FFFFFF"/>
                </a:solidFill>
                <a:latin typeface="Cambria" pitchFamily="34" charset="0"/>
                <a:ea typeface="Cambria" pitchFamily="34" charset="-122"/>
                <a:cs typeface="Cambria" pitchFamily="34" charset="-120"/>
              </a:rPr>
              <a:t>Populations marines à régénérer</a:t>
            </a:r>
            <a:endParaRPr lang="fr-FR" sz="1600"/>
          </a:p>
        </p:txBody>
      </p:sp>
      <p:sp>
        <p:nvSpPr>
          <p:cNvPr id="12" name="Text b02"/>
          <p:cNvSpPr txBox="1"/>
          <p:nvPr/>
        </p:nvSpPr>
        <p:spPr>
          <a:xfrm>
            <a:off x="5029200" y="1933956"/>
            <a:ext cx="3657600" cy="640080"/>
          </a:xfrm>
          <a:prstGeom prst="rect">
            <a:avLst/>
          </a:prstGeom>
          <a:noFill/>
          <a:ln/>
        </p:spPr>
        <p:txBody>
          <a:bodyPr wrap="square" lIns="0" tIns="0" rIns="0" bIns="0" rtlCol="0" anchor="t"/>
          <a:lstStyle/>
          <a:p>
            <a:pPr marL="0" indent="0">
              <a:buNone/>
            </a:pPr>
            <a:r>
              <a:rPr lang="fr-FR" sz="1000">
                <a:solidFill>
                  <a:srgbClr val="E6EAF5"/>
                </a:solidFill>
                <a:latin typeface="Calibri" pitchFamily="34" charset="0"/>
                <a:ea typeface="Calibri" pitchFamily="34" charset="-122"/>
                <a:cs typeface="Calibri" pitchFamily="34" charset="-120"/>
              </a:rPr>
              <a:t>Nécessité de renforcer le suivi scientifique des écosystèmes et des populations marines pour mieux guider l’action et permettre le retour d’une Méditerranée vivante, riche et abondante.</a:t>
            </a:r>
          </a:p>
        </p:txBody>
      </p:sp>
      <p:sp>
        <p:nvSpPr>
          <p:cNvPr id="13" name="Shape s02"/>
          <p:cNvSpPr/>
          <p:nvPr/>
        </p:nvSpPr>
        <p:spPr>
          <a:xfrm>
            <a:off x="5029200" y="2621280"/>
            <a:ext cx="3657600" cy="0"/>
          </a:xfrm>
          <a:prstGeom prst="line">
            <a:avLst/>
          </a:prstGeom>
          <a:noFill/>
          <a:ln w="12700">
            <a:solidFill>
              <a:srgbClr val="4A5AA8"/>
            </a:solidFill>
            <a:prstDash val="solid"/>
          </a:ln>
        </p:spPr>
        <p:txBody>
          <a:bodyPr/>
          <a:lstStyle/>
          <a:p>
            <a:endParaRPr/>
          </a:p>
        </p:txBody>
      </p:sp>
      <p:sp>
        <p:nvSpPr>
          <p:cNvPr id="14" name="Text n03"/>
          <p:cNvSpPr txBox="1"/>
          <p:nvPr/>
        </p:nvSpPr>
        <p:spPr>
          <a:xfrm>
            <a:off x="4206240" y="2697480"/>
            <a:ext cx="822960" cy="520700"/>
          </a:xfrm>
          <a:prstGeom prst="rect">
            <a:avLst/>
          </a:prstGeom>
          <a:noFill/>
          <a:ln/>
        </p:spPr>
        <p:txBody>
          <a:bodyPr wrap="square" lIns="0" tIns="0" rIns="0" bIns="0" rtlCol="0" anchor="t"/>
          <a:lstStyle/>
          <a:p>
            <a:pPr marL="0" indent="0">
              <a:buNone/>
            </a:pPr>
            <a:r>
              <a:rPr lang="fr-FR" sz="3200" b="1">
                <a:solidFill>
                  <a:srgbClr val="7FD3D0"/>
                </a:solidFill>
                <a:latin typeface="Cambria" pitchFamily="34" charset="0"/>
                <a:ea typeface="Cambria" pitchFamily="34" charset="-122"/>
                <a:cs typeface="Cambria" pitchFamily="34" charset="-120"/>
              </a:rPr>
              <a:t>03</a:t>
            </a:r>
            <a:endParaRPr lang="fr-FR" sz="3200"/>
          </a:p>
        </p:txBody>
      </p:sp>
      <p:sp>
        <p:nvSpPr>
          <p:cNvPr id="15" name="Text t03"/>
          <p:cNvSpPr txBox="1"/>
          <p:nvPr/>
        </p:nvSpPr>
        <p:spPr>
          <a:xfrm>
            <a:off x="5029200" y="2697480"/>
            <a:ext cx="3657600" cy="320040"/>
          </a:xfrm>
          <a:prstGeom prst="rect">
            <a:avLst/>
          </a:prstGeom>
          <a:noFill/>
          <a:ln/>
        </p:spPr>
        <p:txBody>
          <a:bodyPr wrap="square" lIns="0" tIns="0" rIns="0" bIns="0" rtlCol="0" anchor="ctr"/>
          <a:lstStyle/>
          <a:p>
            <a:pPr marL="0" indent="0">
              <a:buNone/>
            </a:pPr>
            <a:r>
              <a:rPr lang="fr-FR" sz="1600" b="1">
                <a:solidFill>
                  <a:srgbClr val="FFFFFF"/>
                </a:solidFill>
                <a:latin typeface="Cambria" pitchFamily="34" charset="0"/>
                <a:ea typeface="Cambria" pitchFamily="34" charset="-122"/>
                <a:cs typeface="Cambria" pitchFamily="34" charset="-120"/>
              </a:rPr>
              <a:t>Un espace partagé et restreint</a:t>
            </a:r>
            <a:endParaRPr lang="fr-FR" sz="1600"/>
          </a:p>
        </p:txBody>
      </p:sp>
      <p:sp>
        <p:nvSpPr>
          <p:cNvPr id="16" name="Text b03"/>
          <p:cNvSpPr txBox="1"/>
          <p:nvPr/>
        </p:nvSpPr>
        <p:spPr>
          <a:xfrm>
            <a:off x="5029200" y="3054096"/>
            <a:ext cx="3657600" cy="640080"/>
          </a:xfrm>
          <a:prstGeom prst="rect">
            <a:avLst/>
          </a:prstGeom>
          <a:noFill/>
          <a:ln/>
        </p:spPr>
        <p:txBody>
          <a:bodyPr wrap="square" lIns="0" tIns="0" rIns="0" bIns="0" rtlCol="0" anchor="t"/>
          <a:lstStyle/>
          <a:p>
            <a:pPr marL="0" indent="0">
              <a:buNone/>
            </a:pPr>
            <a:r>
              <a:rPr lang="fr-FR" sz="1000">
                <a:solidFill>
                  <a:srgbClr val="E6EAF5"/>
                </a:solidFill>
                <a:latin typeface="Calibri" pitchFamily="34" charset="0"/>
                <a:ea typeface="Calibri" pitchFamily="34" charset="-122"/>
                <a:cs typeface="Calibri" pitchFamily="34" charset="-120"/>
              </a:rPr>
              <a:t>Cohabitation forte avec les autres usagers ; une ressource partagée avec des États riverains aux capacités de gestion hétérogènes.</a:t>
            </a:r>
          </a:p>
        </p:txBody>
      </p:sp>
      <p:sp>
        <p:nvSpPr>
          <p:cNvPr id="17" name="Shape s03"/>
          <p:cNvSpPr/>
          <p:nvPr/>
        </p:nvSpPr>
        <p:spPr>
          <a:xfrm>
            <a:off x="5029200" y="3741420"/>
            <a:ext cx="3657600" cy="0"/>
          </a:xfrm>
          <a:prstGeom prst="line">
            <a:avLst/>
          </a:prstGeom>
          <a:noFill/>
          <a:ln w="12700">
            <a:solidFill>
              <a:srgbClr val="4A5AA8"/>
            </a:solidFill>
            <a:prstDash val="solid"/>
          </a:ln>
        </p:spPr>
        <p:txBody>
          <a:bodyPr/>
          <a:lstStyle/>
          <a:p>
            <a:endParaRPr/>
          </a:p>
        </p:txBody>
      </p:sp>
      <p:sp>
        <p:nvSpPr>
          <p:cNvPr id="18" name="Text n04"/>
          <p:cNvSpPr txBox="1"/>
          <p:nvPr/>
        </p:nvSpPr>
        <p:spPr>
          <a:xfrm>
            <a:off x="4206240" y="3817620"/>
            <a:ext cx="822960" cy="520700"/>
          </a:xfrm>
          <a:prstGeom prst="rect">
            <a:avLst/>
          </a:prstGeom>
          <a:noFill/>
          <a:ln/>
        </p:spPr>
        <p:txBody>
          <a:bodyPr wrap="square" lIns="0" tIns="0" rIns="0" bIns="0" rtlCol="0" anchor="t"/>
          <a:lstStyle/>
          <a:p>
            <a:pPr marL="0" indent="0">
              <a:buNone/>
            </a:pPr>
            <a:r>
              <a:rPr lang="fr-FR" sz="3200" b="1">
                <a:solidFill>
                  <a:srgbClr val="7FD3D0"/>
                </a:solidFill>
                <a:latin typeface="Cambria" pitchFamily="34" charset="0"/>
                <a:ea typeface="Cambria" pitchFamily="34" charset="-122"/>
                <a:cs typeface="Cambria" pitchFamily="34" charset="-120"/>
              </a:rPr>
              <a:t>04</a:t>
            </a:r>
            <a:endParaRPr lang="fr-FR" sz="3200"/>
          </a:p>
        </p:txBody>
      </p:sp>
      <p:sp>
        <p:nvSpPr>
          <p:cNvPr id="19" name="Text t04"/>
          <p:cNvSpPr txBox="1"/>
          <p:nvPr/>
        </p:nvSpPr>
        <p:spPr>
          <a:xfrm>
            <a:off x="5029200" y="3817620"/>
            <a:ext cx="3657600" cy="320040"/>
          </a:xfrm>
          <a:prstGeom prst="rect">
            <a:avLst/>
          </a:prstGeom>
          <a:noFill/>
          <a:ln/>
        </p:spPr>
        <p:txBody>
          <a:bodyPr wrap="square" lIns="0" tIns="0" rIns="0" bIns="0" rtlCol="0" anchor="ctr"/>
          <a:lstStyle/>
          <a:p>
            <a:pPr marL="0" indent="0">
              <a:buNone/>
            </a:pPr>
            <a:r>
              <a:rPr lang="fr-FR" sz="1600" b="1">
                <a:solidFill>
                  <a:srgbClr val="FFFFFF"/>
                </a:solidFill>
                <a:latin typeface="Cambria" pitchFamily="34" charset="0"/>
                <a:ea typeface="Cambria" pitchFamily="34" charset="-122"/>
                <a:cs typeface="Cambria" pitchFamily="34" charset="-120"/>
              </a:rPr>
              <a:t>Réchauffement climatique</a:t>
            </a:r>
            <a:endParaRPr lang="fr-FR" sz="1600"/>
          </a:p>
        </p:txBody>
      </p:sp>
      <p:sp>
        <p:nvSpPr>
          <p:cNvPr id="20" name="Text b04"/>
          <p:cNvSpPr txBox="1"/>
          <p:nvPr/>
        </p:nvSpPr>
        <p:spPr>
          <a:xfrm>
            <a:off x="5029200" y="4174236"/>
            <a:ext cx="3657600" cy="640080"/>
          </a:xfrm>
          <a:prstGeom prst="rect">
            <a:avLst/>
          </a:prstGeom>
          <a:noFill/>
          <a:ln/>
        </p:spPr>
        <p:txBody>
          <a:bodyPr wrap="square" lIns="0" tIns="0" rIns="0" bIns="0" rtlCol="0" anchor="t"/>
          <a:lstStyle/>
          <a:p>
            <a:pPr marL="0" indent="0">
              <a:buNone/>
            </a:pPr>
            <a:r>
              <a:rPr lang="fr-FR" sz="1000">
                <a:solidFill>
                  <a:srgbClr val="E6EAF5"/>
                </a:solidFill>
                <a:latin typeface="Calibri" pitchFamily="34" charset="0"/>
                <a:ea typeface="Calibri" pitchFamily="34" charset="-122"/>
                <a:cs typeface="Calibri" pitchFamily="34" charset="-120"/>
              </a:rPr>
              <a:t>La Méditerranée se réchauffe plus vite que la moyenne mondiale, avec des conséquences majeures pour la vie marine : multiplication des vagues de chaleur marines, déplacement des espèces, perte de biodiversité et fragilisation des écosystèmes.</a:t>
            </a:r>
          </a:p>
        </p:txBody>
      </p:sp>
      <p:sp>
        <p:nvSpPr>
          <p:cNvPr id="21" name="Text 15"/>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CADCFC"/>
                </a:solidFill>
                <a:latin typeface="Calibri" pitchFamily="34" charset="0"/>
                <a:ea typeface="Calibri" pitchFamily="34" charset="-122"/>
                <a:cs typeface="Calibri" pitchFamily="34" charset="-120"/>
              </a:rPr>
              <a:t>3</a:t>
            </a:r>
            <a:endParaRPr lang="en-US" sz="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6256B">
              <a:alpha val="74000"/>
            </a:srgbClr>
          </a:solidFill>
          <a:ln w="12700">
            <a:solidFill>
              <a:srgbClr val="16256B">
                <a:alpha val="0"/>
              </a:srgbClr>
            </a:solidFill>
            <a:prstDash val="solid"/>
          </a:ln>
        </p:spPr>
        <p:txBody>
          <a:bodyPr/>
          <a:lstStyle/>
          <a:p>
            <a:endParaRPr/>
          </a:p>
        </p:txBody>
      </p:sp>
      <p:sp>
        <p:nvSpPr>
          <p:cNvPr id="3" name="Text 1"/>
          <p:cNvSpPr txBox="1"/>
          <p:nvPr/>
        </p:nvSpPr>
        <p:spPr>
          <a:xfrm>
            <a:off x="457200" y="292608"/>
            <a:ext cx="8229600" cy="228600"/>
          </a:xfrm>
          <a:prstGeom prst="rect">
            <a:avLst/>
          </a:prstGeom>
          <a:noFill/>
          <a:ln/>
        </p:spPr>
        <p:txBody>
          <a:bodyPr wrap="square" lIns="0" tIns="0" rIns="0" bIns="0" rtlCol="0" anchor="ctr"/>
          <a:lstStyle/>
          <a:p>
            <a:pPr marL="0" indent="0">
              <a:buNone/>
            </a:pPr>
            <a:r>
              <a:rPr lang="en-US" sz="900" b="1" kern="0" spc="200">
                <a:solidFill>
                  <a:srgbClr val="7FD3D0"/>
                </a:solidFill>
                <a:latin typeface="Calibri" pitchFamily="34" charset="0"/>
                <a:ea typeface="Calibri" pitchFamily="34" charset="-122"/>
                <a:cs typeface="Calibri" pitchFamily="34" charset="-120"/>
              </a:rPr>
              <a:t>POURQUOI UN FONDS DE DOTATION</a:t>
            </a:r>
            <a:endParaRPr lang="en-US" sz="900"/>
          </a:p>
        </p:txBody>
      </p:sp>
      <p:sp>
        <p:nvSpPr>
          <p:cNvPr id="4" name="Text 2"/>
          <p:cNvSpPr txBox="1"/>
          <p:nvPr/>
        </p:nvSpPr>
        <p:spPr>
          <a:xfrm>
            <a:off x="457200" y="502920"/>
            <a:ext cx="8229600" cy="411480"/>
          </a:xfrm>
          <a:prstGeom prst="rect">
            <a:avLst/>
          </a:prstGeom>
          <a:noFill/>
          <a:ln/>
        </p:spPr>
        <p:txBody>
          <a:bodyPr wrap="square" lIns="0" tIns="0" rIns="0" bIns="0" rtlCol="0" anchor="ctr"/>
          <a:lstStyle/>
          <a:p>
            <a:pPr marL="0" indent="0">
              <a:buNone/>
            </a:pPr>
            <a:r>
              <a:rPr lang="en-US" sz="2000" b="1">
                <a:solidFill>
                  <a:srgbClr val="FFFFFF"/>
                </a:solidFill>
                <a:latin typeface="Cambria" pitchFamily="34" charset="0"/>
                <a:ea typeface="Cambria" pitchFamily="34" charset="-122"/>
                <a:cs typeface="Cambria" pitchFamily="34" charset="-120"/>
              </a:rPr>
              <a:t>Un outil d’intérêt </a:t>
            </a:r>
            <a:r>
              <a:rPr lang="en-US" sz="2000" b="1" err="1">
                <a:solidFill>
                  <a:srgbClr val="FFFFFF"/>
                </a:solidFill>
                <a:latin typeface="Cambria" pitchFamily="34" charset="0"/>
                <a:ea typeface="Cambria" pitchFamily="34" charset="-122"/>
                <a:cs typeface="Cambria" pitchFamily="34" charset="-120"/>
              </a:rPr>
              <a:t>général</a:t>
            </a:r>
            <a:r>
              <a:rPr lang="en-US" sz="2000" b="1">
                <a:solidFill>
                  <a:srgbClr val="FFFFFF"/>
                </a:solidFill>
                <a:latin typeface="Cambria" pitchFamily="34" charset="0"/>
                <a:ea typeface="Cambria" pitchFamily="34" charset="-122"/>
                <a:cs typeface="Cambria" pitchFamily="34" charset="-120"/>
              </a:rPr>
              <a:t> pour </a:t>
            </a:r>
            <a:r>
              <a:rPr lang="en-US" sz="2000" b="1" err="1">
                <a:solidFill>
                  <a:srgbClr val="FFFFFF"/>
                </a:solidFill>
                <a:latin typeface="Cambria" pitchFamily="34" charset="0"/>
                <a:ea typeface="Cambria" pitchFamily="34" charset="-122"/>
                <a:cs typeface="Cambria" pitchFamily="34" charset="-120"/>
              </a:rPr>
              <a:t>agir</a:t>
            </a:r>
            <a:r>
              <a:rPr lang="en-US" sz="2000" b="1">
                <a:solidFill>
                  <a:srgbClr val="FFFFFF"/>
                </a:solidFill>
                <a:latin typeface="Cambria" pitchFamily="34" charset="0"/>
                <a:ea typeface="Cambria" pitchFamily="34" charset="-122"/>
                <a:cs typeface="Cambria" pitchFamily="34" charset="-120"/>
              </a:rPr>
              <a:t> </a:t>
            </a:r>
            <a:r>
              <a:rPr lang="en-US" sz="2000" b="1" err="1">
                <a:solidFill>
                  <a:srgbClr val="FFFFFF"/>
                </a:solidFill>
                <a:latin typeface="Cambria" pitchFamily="34" charset="0"/>
                <a:ea typeface="Cambria" pitchFamily="34" charset="-122"/>
                <a:cs typeface="Cambria" pitchFamily="34" charset="-120"/>
              </a:rPr>
              <a:t>autrement</a:t>
            </a:r>
            <a:endParaRPr lang="en-US" sz="2000"/>
          </a:p>
        </p:txBody>
      </p:sp>
      <p:sp>
        <p:nvSpPr>
          <p:cNvPr id="5" name="Shape 3"/>
          <p:cNvSpPr/>
          <p:nvPr/>
        </p:nvSpPr>
        <p:spPr>
          <a:xfrm>
            <a:off x="566928" y="1353312"/>
            <a:ext cx="0" cy="3017520"/>
          </a:xfrm>
          <a:prstGeom prst="line">
            <a:avLst/>
          </a:prstGeom>
          <a:noFill/>
          <a:ln w="12700">
            <a:solidFill>
              <a:srgbClr val="7FD3D0">
                <a:alpha val="45000"/>
              </a:srgbClr>
            </a:solidFill>
            <a:prstDash val="solid"/>
          </a:ln>
        </p:spPr>
        <p:txBody>
          <a:bodyPr/>
          <a:lstStyle/>
          <a:p>
            <a:endParaRPr/>
          </a:p>
        </p:txBody>
      </p:sp>
      <p:sp>
        <p:nvSpPr>
          <p:cNvPr id="6" name="Shape 4"/>
          <p:cNvSpPr/>
          <p:nvPr/>
        </p:nvSpPr>
        <p:spPr>
          <a:xfrm>
            <a:off x="457200" y="1316736"/>
            <a:ext cx="219456" cy="219456"/>
          </a:xfrm>
          <a:prstGeom prst="ellipse">
            <a:avLst/>
          </a:prstGeom>
          <a:solidFill>
            <a:srgbClr val="7FD3D0"/>
          </a:solidFill>
          <a:ln w="12700">
            <a:solidFill>
              <a:srgbClr val="7FD3D0"/>
            </a:solidFill>
            <a:prstDash val="solid"/>
          </a:ln>
        </p:spPr>
        <p:txBody>
          <a:bodyPr/>
          <a:lstStyle/>
          <a:p>
            <a:endParaRPr/>
          </a:p>
        </p:txBody>
      </p:sp>
      <p:sp>
        <p:nvSpPr>
          <p:cNvPr id="7" name="Text 5"/>
          <p:cNvSpPr txBox="1"/>
          <p:nvPr/>
        </p:nvSpPr>
        <p:spPr>
          <a:xfrm>
            <a:off x="822960" y="1261872"/>
            <a:ext cx="548640" cy="219456"/>
          </a:xfrm>
          <a:prstGeom prst="rect">
            <a:avLst/>
          </a:prstGeom>
          <a:noFill/>
          <a:ln/>
        </p:spPr>
        <p:txBody>
          <a:bodyPr wrap="square" lIns="0" tIns="0" rIns="0" bIns="0" rtlCol="0" anchor="ctr"/>
          <a:lstStyle/>
          <a:p>
            <a:pPr marL="0" indent="0">
              <a:buNone/>
            </a:pPr>
            <a:r>
              <a:rPr lang="en-US" sz="900" b="1" kern="0" spc="150">
                <a:solidFill>
                  <a:srgbClr val="7FD3D0"/>
                </a:solidFill>
                <a:latin typeface="Calibri" pitchFamily="34" charset="0"/>
                <a:ea typeface="Calibri" pitchFamily="34" charset="-122"/>
                <a:cs typeface="Calibri" pitchFamily="34" charset="-120"/>
              </a:rPr>
              <a:t>01</a:t>
            </a:r>
            <a:endParaRPr lang="en-US" sz="900"/>
          </a:p>
        </p:txBody>
      </p:sp>
      <p:sp>
        <p:nvSpPr>
          <p:cNvPr id="8" name="Text 6"/>
          <p:cNvSpPr txBox="1"/>
          <p:nvPr/>
        </p:nvSpPr>
        <p:spPr>
          <a:xfrm>
            <a:off x="822960" y="1444752"/>
            <a:ext cx="3749040" cy="274320"/>
          </a:xfrm>
          <a:prstGeom prst="rect">
            <a:avLst/>
          </a:prstGeom>
          <a:noFill/>
          <a:ln/>
        </p:spPr>
        <p:txBody>
          <a:bodyPr wrap="square" lIns="0" tIns="0" rIns="0" bIns="0" rtlCol="0" anchor="ctr"/>
          <a:lstStyle/>
          <a:p>
            <a:pPr marL="0" indent="0">
              <a:buNone/>
            </a:pPr>
            <a:r>
              <a:rPr lang="en-US" sz="1400" b="1">
                <a:solidFill>
                  <a:srgbClr val="FFFFFF"/>
                </a:solidFill>
                <a:latin typeface="Cambria" pitchFamily="34" charset="0"/>
                <a:ea typeface="Cambria" pitchFamily="34" charset="-122"/>
                <a:cs typeface="Cambria" pitchFamily="34" charset="-120"/>
              </a:rPr>
              <a:t>Reprendre l’initiative</a:t>
            </a:r>
            <a:endParaRPr lang="en-US" sz="1400"/>
          </a:p>
        </p:txBody>
      </p:sp>
      <p:sp>
        <p:nvSpPr>
          <p:cNvPr id="9" name="Text 7"/>
          <p:cNvSpPr txBox="1"/>
          <p:nvPr/>
        </p:nvSpPr>
        <p:spPr>
          <a:xfrm>
            <a:off x="822960" y="1737360"/>
            <a:ext cx="3657600" cy="658368"/>
          </a:xfrm>
          <a:prstGeom prst="rect">
            <a:avLst/>
          </a:prstGeom>
          <a:noFill/>
          <a:ln/>
        </p:spPr>
        <p:txBody>
          <a:bodyPr wrap="square" lIns="0" tIns="0" rIns="0" bIns="0" rtlCol="0" anchor="t"/>
          <a:lstStyle/>
          <a:p>
            <a:pPr marL="0" indent="0">
              <a:lnSpc>
                <a:spcPct val="115000"/>
              </a:lnSpc>
              <a:buNone/>
            </a:pPr>
            <a:r>
              <a:rPr lang="en-US" sz="900">
                <a:solidFill>
                  <a:srgbClr val="CADCFC"/>
                </a:solidFill>
                <a:latin typeface="Calibri" pitchFamily="34" charset="0"/>
                <a:ea typeface="Calibri" pitchFamily="34" charset="-122"/>
                <a:cs typeface="Calibri" pitchFamily="34" charset="-120"/>
              </a:rPr>
              <a:t>Sortir de la posture défensive et proposer un avenir désirable pour la pêche et pour la Méditerranée. Les pêcheurs animent la conversation sur la santé du milieu au lieu de la subir.</a:t>
            </a:r>
            <a:endParaRPr lang="en-US" sz="900"/>
          </a:p>
        </p:txBody>
      </p:sp>
      <p:sp>
        <p:nvSpPr>
          <p:cNvPr id="10" name="Shape 8"/>
          <p:cNvSpPr/>
          <p:nvPr/>
        </p:nvSpPr>
        <p:spPr>
          <a:xfrm>
            <a:off x="457200" y="2450592"/>
            <a:ext cx="219456" cy="219456"/>
          </a:xfrm>
          <a:prstGeom prst="ellipse">
            <a:avLst/>
          </a:prstGeom>
          <a:solidFill>
            <a:srgbClr val="7FD3D0"/>
          </a:solidFill>
          <a:ln w="12700">
            <a:solidFill>
              <a:srgbClr val="7FD3D0"/>
            </a:solidFill>
            <a:prstDash val="solid"/>
          </a:ln>
        </p:spPr>
        <p:txBody>
          <a:bodyPr/>
          <a:lstStyle/>
          <a:p>
            <a:endParaRPr/>
          </a:p>
        </p:txBody>
      </p:sp>
      <p:sp>
        <p:nvSpPr>
          <p:cNvPr id="11" name="Text 9"/>
          <p:cNvSpPr txBox="1"/>
          <p:nvPr/>
        </p:nvSpPr>
        <p:spPr>
          <a:xfrm>
            <a:off x="822960" y="2395728"/>
            <a:ext cx="548640" cy="219456"/>
          </a:xfrm>
          <a:prstGeom prst="rect">
            <a:avLst/>
          </a:prstGeom>
          <a:noFill/>
          <a:ln/>
        </p:spPr>
        <p:txBody>
          <a:bodyPr wrap="square" lIns="0" tIns="0" rIns="0" bIns="0" rtlCol="0" anchor="ctr"/>
          <a:lstStyle/>
          <a:p>
            <a:pPr marL="0" indent="0">
              <a:buNone/>
            </a:pPr>
            <a:r>
              <a:rPr lang="en-US" sz="900" b="1" kern="0" spc="150">
                <a:solidFill>
                  <a:srgbClr val="7FD3D0"/>
                </a:solidFill>
                <a:latin typeface="Calibri" pitchFamily="34" charset="0"/>
                <a:ea typeface="Calibri" pitchFamily="34" charset="-122"/>
                <a:cs typeface="Calibri" pitchFamily="34" charset="-120"/>
              </a:rPr>
              <a:t>02</a:t>
            </a:r>
            <a:endParaRPr lang="en-US" sz="900"/>
          </a:p>
        </p:txBody>
      </p:sp>
      <p:sp>
        <p:nvSpPr>
          <p:cNvPr id="12" name="Text 10"/>
          <p:cNvSpPr txBox="1"/>
          <p:nvPr/>
        </p:nvSpPr>
        <p:spPr>
          <a:xfrm>
            <a:off x="822960" y="2578608"/>
            <a:ext cx="3749040" cy="274320"/>
          </a:xfrm>
          <a:prstGeom prst="rect">
            <a:avLst/>
          </a:prstGeom>
          <a:noFill/>
          <a:ln/>
        </p:spPr>
        <p:txBody>
          <a:bodyPr wrap="square" lIns="0" tIns="0" rIns="0" bIns="0" rtlCol="0" anchor="ctr"/>
          <a:lstStyle/>
          <a:p>
            <a:pPr marL="0" indent="0">
              <a:buNone/>
            </a:pPr>
            <a:r>
              <a:rPr lang="en-US" sz="1400" b="1">
                <a:solidFill>
                  <a:srgbClr val="FFFFFF"/>
                </a:solidFill>
                <a:latin typeface="Cambria" pitchFamily="34" charset="0"/>
                <a:ea typeface="Cambria" pitchFamily="34" charset="-122"/>
                <a:cs typeface="Cambria" pitchFamily="34" charset="-120"/>
              </a:rPr>
              <a:t>Sortir de la </a:t>
            </a:r>
            <a:r>
              <a:rPr lang="en-US" sz="1400" b="1" err="1">
                <a:solidFill>
                  <a:srgbClr val="FFFFFF"/>
                </a:solidFill>
                <a:latin typeface="Cambria" pitchFamily="34" charset="0"/>
                <a:ea typeface="Cambria" pitchFamily="34" charset="-122"/>
                <a:cs typeface="Cambria" pitchFamily="34" charset="-120"/>
              </a:rPr>
              <a:t>dépendance</a:t>
            </a:r>
            <a:r>
              <a:rPr lang="en-US" sz="1400" b="1">
                <a:solidFill>
                  <a:srgbClr val="FFFFFF"/>
                </a:solidFill>
                <a:latin typeface="Cambria" pitchFamily="34" charset="0"/>
                <a:ea typeface="Cambria" pitchFamily="34" charset="-122"/>
                <a:cs typeface="Cambria" pitchFamily="34" charset="-120"/>
              </a:rPr>
              <a:t> aux aides publiques</a:t>
            </a:r>
            <a:endParaRPr lang="en-US" sz="1400"/>
          </a:p>
        </p:txBody>
      </p:sp>
      <p:sp>
        <p:nvSpPr>
          <p:cNvPr id="13" name="Text 11"/>
          <p:cNvSpPr txBox="1"/>
          <p:nvPr/>
        </p:nvSpPr>
        <p:spPr>
          <a:xfrm>
            <a:off x="822960" y="2871216"/>
            <a:ext cx="3657600" cy="658368"/>
          </a:xfrm>
          <a:prstGeom prst="rect">
            <a:avLst/>
          </a:prstGeom>
          <a:noFill/>
          <a:ln/>
        </p:spPr>
        <p:txBody>
          <a:bodyPr wrap="square" lIns="0" tIns="0" rIns="0" bIns="0" rtlCol="0" anchor="t"/>
          <a:lstStyle/>
          <a:p>
            <a:pPr marL="0" indent="0">
              <a:lnSpc>
                <a:spcPct val="115000"/>
              </a:lnSpc>
              <a:buNone/>
            </a:pPr>
            <a:r>
              <a:rPr lang="en-US" sz="900">
                <a:solidFill>
                  <a:srgbClr val="CADCFC"/>
                </a:solidFill>
                <a:latin typeface="Calibri" pitchFamily="34" charset="0"/>
                <a:ea typeface="Calibri" pitchFamily="34" charset="-122"/>
                <a:cs typeface="Calibri" pitchFamily="34" charset="-120"/>
              </a:rPr>
              <a:t>Les aides publiques ont des critères stricts et des délais longs, et ne répondent pas aux besoins les plus critiques de la filière. Le fonds permet d’y répondre sans dépendre d’un appel à </a:t>
            </a:r>
            <a:r>
              <a:rPr lang="en-US" sz="900" err="1">
                <a:solidFill>
                  <a:srgbClr val="CADCFC"/>
                </a:solidFill>
                <a:latin typeface="Calibri" pitchFamily="34" charset="0"/>
                <a:ea typeface="Calibri" pitchFamily="34" charset="-122"/>
                <a:cs typeface="Calibri" pitchFamily="34" charset="-120"/>
              </a:rPr>
              <a:t>projets</a:t>
            </a:r>
            <a:r>
              <a:rPr lang="en-US" sz="900">
                <a:solidFill>
                  <a:srgbClr val="CADCFC"/>
                </a:solidFill>
                <a:latin typeface="Calibri" pitchFamily="34" charset="0"/>
                <a:ea typeface="Calibri" pitchFamily="34" charset="-122"/>
                <a:cs typeface="Calibri" pitchFamily="34" charset="-120"/>
              </a:rPr>
              <a:t> </a:t>
            </a:r>
            <a:r>
              <a:rPr lang="en-US" sz="900" err="1">
                <a:solidFill>
                  <a:srgbClr val="CADCFC"/>
                </a:solidFill>
                <a:latin typeface="Calibri" pitchFamily="34" charset="0"/>
                <a:ea typeface="Calibri" pitchFamily="34" charset="-122"/>
                <a:cs typeface="Calibri" pitchFamily="34" charset="-120"/>
              </a:rPr>
              <a:t>ou</a:t>
            </a:r>
            <a:r>
              <a:rPr lang="en-US" sz="900">
                <a:solidFill>
                  <a:srgbClr val="CADCFC"/>
                </a:solidFill>
                <a:latin typeface="Calibri" pitchFamily="34" charset="0"/>
                <a:ea typeface="Calibri" pitchFamily="34" charset="-122"/>
                <a:cs typeface="Calibri" pitchFamily="34" charset="-120"/>
              </a:rPr>
              <a:t> de </a:t>
            </a:r>
            <a:r>
              <a:rPr lang="en-US" sz="900" err="1">
                <a:solidFill>
                  <a:srgbClr val="CADCFC"/>
                </a:solidFill>
                <a:latin typeface="Calibri" pitchFamily="34" charset="0"/>
                <a:ea typeface="Calibri" pitchFamily="34" charset="-122"/>
                <a:cs typeface="Calibri" pitchFamily="34" charset="-120"/>
              </a:rPr>
              <a:t>décision</a:t>
            </a:r>
            <a:r>
              <a:rPr lang="en-US" sz="900">
                <a:solidFill>
                  <a:srgbClr val="CADCFC"/>
                </a:solidFill>
                <a:latin typeface="Calibri" pitchFamily="34" charset="0"/>
                <a:ea typeface="Calibri" pitchFamily="34" charset="-122"/>
                <a:cs typeface="Calibri" pitchFamily="34" charset="-120"/>
              </a:rPr>
              <a:t> politique.</a:t>
            </a:r>
            <a:endParaRPr lang="en-US" sz="900"/>
          </a:p>
        </p:txBody>
      </p:sp>
      <p:sp>
        <p:nvSpPr>
          <p:cNvPr id="14" name="Shape 12"/>
          <p:cNvSpPr/>
          <p:nvPr/>
        </p:nvSpPr>
        <p:spPr>
          <a:xfrm>
            <a:off x="457200" y="3584448"/>
            <a:ext cx="219456" cy="219456"/>
          </a:xfrm>
          <a:prstGeom prst="ellipse">
            <a:avLst/>
          </a:prstGeom>
          <a:solidFill>
            <a:srgbClr val="7FD3D0"/>
          </a:solidFill>
          <a:ln w="12700">
            <a:solidFill>
              <a:srgbClr val="7FD3D0"/>
            </a:solidFill>
            <a:prstDash val="solid"/>
          </a:ln>
        </p:spPr>
        <p:txBody>
          <a:bodyPr/>
          <a:lstStyle/>
          <a:p>
            <a:endParaRPr/>
          </a:p>
        </p:txBody>
      </p:sp>
      <p:sp>
        <p:nvSpPr>
          <p:cNvPr id="15" name="Text 13"/>
          <p:cNvSpPr txBox="1"/>
          <p:nvPr/>
        </p:nvSpPr>
        <p:spPr>
          <a:xfrm>
            <a:off x="822960" y="3529584"/>
            <a:ext cx="548640" cy="219456"/>
          </a:xfrm>
          <a:prstGeom prst="rect">
            <a:avLst/>
          </a:prstGeom>
          <a:noFill/>
          <a:ln/>
        </p:spPr>
        <p:txBody>
          <a:bodyPr wrap="square" lIns="0" tIns="0" rIns="0" bIns="0" rtlCol="0" anchor="ctr"/>
          <a:lstStyle/>
          <a:p>
            <a:pPr marL="0" indent="0">
              <a:buNone/>
            </a:pPr>
            <a:r>
              <a:rPr lang="en-US" sz="900" b="1" kern="0" spc="150">
                <a:solidFill>
                  <a:srgbClr val="7FD3D0"/>
                </a:solidFill>
                <a:latin typeface="Calibri" pitchFamily="34" charset="0"/>
                <a:ea typeface="Calibri" pitchFamily="34" charset="-122"/>
                <a:cs typeface="Calibri" pitchFamily="34" charset="-120"/>
              </a:rPr>
              <a:t>03</a:t>
            </a:r>
            <a:endParaRPr lang="en-US" sz="900"/>
          </a:p>
        </p:txBody>
      </p:sp>
      <p:sp>
        <p:nvSpPr>
          <p:cNvPr id="16" name="Text 14"/>
          <p:cNvSpPr txBox="1"/>
          <p:nvPr/>
        </p:nvSpPr>
        <p:spPr>
          <a:xfrm>
            <a:off x="822960" y="3712464"/>
            <a:ext cx="3749040" cy="274320"/>
          </a:xfrm>
          <a:prstGeom prst="rect">
            <a:avLst/>
          </a:prstGeom>
          <a:noFill/>
          <a:ln/>
        </p:spPr>
        <p:txBody>
          <a:bodyPr wrap="square" lIns="0" tIns="0" rIns="0" bIns="0" rtlCol="0" anchor="ctr"/>
          <a:lstStyle/>
          <a:p>
            <a:pPr marL="0" indent="0">
              <a:buNone/>
            </a:pPr>
            <a:r>
              <a:rPr lang="en-US" sz="1400" b="1">
                <a:solidFill>
                  <a:srgbClr val="FFFFFF"/>
                </a:solidFill>
                <a:latin typeface="Cambria" pitchFamily="34" charset="0"/>
                <a:ea typeface="Cambria" pitchFamily="34" charset="-122"/>
                <a:cs typeface="Cambria" pitchFamily="34" charset="-120"/>
              </a:rPr>
              <a:t>Un laboratoire d’expérimentation</a:t>
            </a:r>
            <a:endParaRPr lang="en-US" sz="1400"/>
          </a:p>
        </p:txBody>
      </p:sp>
      <p:sp>
        <p:nvSpPr>
          <p:cNvPr id="17" name="Text 15"/>
          <p:cNvSpPr txBox="1"/>
          <p:nvPr/>
        </p:nvSpPr>
        <p:spPr>
          <a:xfrm>
            <a:off x="822960" y="4005072"/>
            <a:ext cx="3657600" cy="658368"/>
          </a:xfrm>
          <a:prstGeom prst="rect">
            <a:avLst/>
          </a:prstGeom>
          <a:noFill/>
          <a:ln/>
        </p:spPr>
        <p:txBody>
          <a:bodyPr wrap="square" lIns="0" tIns="0" rIns="0" bIns="0" rtlCol="0" anchor="t"/>
          <a:lstStyle/>
          <a:p>
            <a:r>
              <a:rPr lang="fr-FR" sz="900">
                <a:solidFill>
                  <a:srgbClr val="CADCFC"/>
                </a:solidFill>
                <a:latin typeface="Calibri" pitchFamily="34" charset="0"/>
                <a:ea typeface="Calibri" pitchFamily="34" charset="-122"/>
                <a:cs typeface="Calibri" pitchFamily="34" charset="-120"/>
              </a:rPr>
              <a:t>Faire émerger et accélérer la mise en œuvre de projets innovants, tout en expérimentant de nouveaux modèles économiques et organisationnels.</a:t>
            </a:r>
            <a:endParaRPr lang="en-US" sz="900">
              <a:solidFill>
                <a:srgbClr val="CADCFC"/>
              </a:solidFill>
              <a:latin typeface="Calibri" pitchFamily="34" charset="0"/>
              <a:ea typeface="Calibri" pitchFamily="34" charset="-122"/>
              <a:cs typeface="Calibri" pitchFamily="34" charset="-120"/>
            </a:endParaRPr>
          </a:p>
        </p:txBody>
      </p:sp>
      <p:sp>
        <p:nvSpPr>
          <p:cNvPr id="18" name="Shape 16"/>
          <p:cNvSpPr/>
          <p:nvPr/>
        </p:nvSpPr>
        <p:spPr>
          <a:xfrm>
            <a:off x="4864608" y="1133856"/>
            <a:ext cx="3822192" cy="3566160"/>
          </a:xfrm>
          <a:prstGeom prst="roundRect">
            <a:avLst>
              <a:gd name="adj" fmla="val 1538"/>
            </a:avLst>
          </a:prstGeom>
          <a:solidFill>
            <a:srgbClr val="FFFFFF"/>
          </a:solidFill>
          <a:ln w="12700">
            <a:solidFill>
              <a:srgbClr val="FFFFFF"/>
            </a:solidFill>
            <a:prstDash val="solid"/>
          </a:ln>
        </p:spPr>
        <p:txBody>
          <a:bodyPr/>
          <a:lstStyle/>
          <a:p>
            <a:endParaRPr/>
          </a:p>
        </p:txBody>
      </p:sp>
      <p:sp>
        <p:nvSpPr>
          <p:cNvPr id="19" name="Text 17"/>
          <p:cNvSpPr txBox="1"/>
          <p:nvPr/>
        </p:nvSpPr>
        <p:spPr>
          <a:xfrm>
            <a:off x="5084064" y="1271016"/>
            <a:ext cx="3383280" cy="182880"/>
          </a:xfrm>
          <a:prstGeom prst="rect">
            <a:avLst/>
          </a:prstGeom>
          <a:noFill/>
          <a:ln/>
        </p:spPr>
        <p:txBody>
          <a:bodyPr wrap="square" lIns="0" tIns="0" rIns="0" bIns="0" rtlCol="0" anchor="ctr"/>
          <a:lstStyle/>
          <a:p>
            <a:pPr marL="0" indent="0">
              <a:buNone/>
            </a:pPr>
            <a:r>
              <a:rPr lang="en-US" sz="850" b="1" kern="0" spc="150">
                <a:solidFill>
                  <a:srgbClr val="0E8A8A"/>
                </a:solidFill>
                <a:latin typeface="Calibri" pitchFamily="34" charset="0"/>
                <a:ea typeface="Calibri" pitchFamily="34" charset="-122"/>
                <a:cs typeface="Calibri" pitchFamily="34" charset="-120"/>
              </a:rPr>
              <a:t>CRÉÉ PAR LA FILIÈRE, AVEC SES PARTENAIRES</a:t>
            </a:r>
            <a:endParaRPr lang="en-US" sz="850"/>
          </a:p>
        </p:txBody>
      </p:sp>
      <p:sp>
        <p:nvSpPr>
          <p:cNvPr id="20" name="Text 18"/>
          <p:cNvSpPr txBox="1"/>
          <p:nvPr/>
        </p:nvSpPr>
        <p:spPr>
          <a:xfrm>
            <a:off x="5084064" y="1536192"/>
            <a:ext cx="969264" cy="429768"/>
          </a:xfrm>
          <a:prstGeom prst="rect">
            <a:avLst/>
          </a:prstGeom>
          <a:noFill/>
          <a:ln/>
        </p:spPr>
        <p:txBody>
          <a:bodyPr wrap="square" lIns="0" tIns="0" rIns="0" bIns="0" rtlCol="0" anchor="ctr"/>
          <a:lstStyle/>
          <a:p>
            <a:pPr marL="0" indent="0">
              <a:lnSpc>
                <a:spcPct val="100000"/>
              </a:lnSpc>
              <a:buNone/>
            </a:pPr>
            <a:r>
              <a:rPr lang="en-US" sz="650" b="1" kern="0" spc="100">
                <a:solidFill>
                  <a:srgbClr val="6B7280"/>
                </a:solidFill>
                <a:latin typeface="Calibri" pitchFamily="34" charset="0"/>
                <a:ea typeface="Calibri" pitchFamily="34" charset="-122"/>
                <a:cs typeface="Calibri" pitchFamily="34" charset="-120"/>
              </a:rPr>
              <a:t>PRODUCTEURS</a:t>
            </a:r>
            <a:endParaRPr lang="en-US" sz="650"/>
          </a:p>
        </p:txBody>
      </p:sp>
      <p:pic>
        <p:nvPicPr>
          <p:cNvPr id="22" name="Image 1" descr="/home/claude/v24/logos/opdusud.png"/>
          <p:cNvPicPr>
            <a:picLocks noChangeAspect="1"/>
          </p:cNvPicPr>
          <p:nvPr/>
        </p:nvPicPr>
        <p:blipFill>
          <a:blip r:embed="rId4"/>
          <a:stretch>
            <a:fillRect/>
          </a:stretch>
        </p:blipFill>
        <p:spPr>
          <a:xfrm>
            <a:off x="7080789" y="1635382"/>
            <a:ext cx="221695" cy="219456"/>
          </a:xfrm>
          <a:prstGeom prst="rect">
            <a:avLst/>
          </a:prstGeom>
        </p:spPr>
      </p:pic>
      <p:sp>
        <p:nvSpPr>
          <p:cNvPr id="23" name="Text 19"/>
          <p:cNvSpPr txBox="1"/>
          <p:nvPr/>
        </p:nvSpPr>
        <p:spPr>
          <a:xfrm>
            <a:off x="7618377" y="1536192"/>
            <a:ext cx="1097280" cy="429768"/>
          </a:xfrm>
          <a:prstGeom prst="rect">
            <a:avLst/>
          </a:prstGeom>
          <a:noFill/>
          <a:ln/>
        </p:spPr>
        <p:txBody>
          <a:bodyPr wrap="square" lIns="0" tIns="0" rIns="0" bIns="0" rtlCol="0" anchor="ctr"/>
          <a:lstStyle/>
          <a:p>
            <a:pPr marL="0" indent="0">
              <a:buNone/>
            </a:pPr>
            <a:r>
              <a:rPr lang="en-US" sz="600" i="1">
                <a:latin typeface="Calibri" pitchFamily="34" charset="0"/>
                <a:ea typeface="Calibri" pitchFamily="34" charset="-122"/>
                <a:cs typeface="Calibri" pitchFamily="34" charset="-120"/>
              </a:rPr>
              <a:t>SATHOAN, chef de file</a:t>
            </a:r>
            <a:endParaRPr lang="en-US" sz="600"/>
          </a:p>
        </p:txBody>
      </p:sp>
      <p:sp>
        <p:nvSpPr>
          <p:cNvPr id="24" name="Shape 20"/>
          <p:cNvSpPr/>
          <p:nvPr/>
        </p:nvSpPr>
        <p:spPr>
          <a:xfrm>
            <a:off x="5084064" y="1965960"/>
            <a:ext cx="3383280" cy="0"/>
          </a:xfrm>
          <a:prstGeom prst="line">
            <a:avLst/>
          </a:prstGeom>
          <a:noFill/>
          <a:ln w="12700">
            <a:solidFill>
              <a:srgbClr val="EEF1F7"/>
            </a:solidFill>
            <a:prstDash val="solid"/>
          </a:ln>
        </p:spPr>
        <p:txBody>
          <a:bodyPr/>
          <a:lstStyle/>
          <a:p>
            <a:endParaRPr/>
          </a:p>
        </p:txBody>
      </p:sp>
      <p:sp>
        <p:nvSpPr>
          <p:cNvPr id="25" name="Text 21"/>
          <p:cNvSpPr txBox="1"/>
          <p:nvPr/>
        </p:nvSpPr>
        <p:spPr>
          <a:xfrm>
            <a:off x="5084064" y="1965960"/>
            <a:ext cx="969264" cy="429768"/>
          </a:xfrm>
          <a:prstGeom prst="rect">
            <a:avLst/>
          </a:prstGeom>
          <a:noFill/>
          <a:ln/>
        </p:spPr>
        <p:txBody>
          <a:bodyPr wrap="square" lIns="0" tIns="0" rIns="0" bIns="0" rtlCol="0" anchor="ctr"/>
          <a:lstStyle/>
          <a:p>
            <a:pPr marL="0" indent="0">
              <a:lnSpc>
                <a:spcPct val="100000"/>
              </a:lnSpc>
              <a:buNone/>
            </a:pPr>
            <a:r>
              <a:rPr lang="en-US" sz="650" b="1" kern="0" spc="100">
                <a:solidFill>
                  <a:srgbClr val="6B7280"/>
                </a:solidFill>
                <a:latin typeface="Calibri" pitchFamily="34" charset="0"/>
                <a:ea typeface="Calibri" pitchFamily="34" charset="-122"/>
                <a:cs typeface="Calibri" pitchFamily="34" charset="-120"/>
              </a:rPr>
              <a:t>COMITÉ RÉGIONAL</a:t>
            </a:r>
            <a:endParaRPr lang="en-US" sz="650"/>
          </a:p>
          <a:p>
            <a:pPr marL="0" indent="0">
              <a:lnSpc>
                <a:spcPct val="100000"/>
              </a:lnSpc>
              <a:buNone/>
            </a:pPr>
            <a:r>
              <a:rPr lang="en-US" sz="650" b="1" kern="0" spc="100">
                <a:solidFill>
                  <a:srgbClr val="6B7280"/>
                </a:solidFill>
                <a:latin typeface="Calibri" pitchFamily="34" charset="0"/>
                <a:ea typeface="Calibri" pitchFamily="34" charset="-122"/>
                <a:cs typeface="Calibri" pitchFamily="34" charset="-120"/>
              </a:rPr>
              <a:t>DES PÊCHES ET DES ÉLEVAGES MARINS</a:t>
            </a:r>
            <a:endParaRPr lang="en-US" sz="650"/>
          </a:p>
        </p:txBody>
      </p:sp>
      <p:pic>
        <p:nvPicPr>
          <p:cNvPr id="26" name="Image 2" descr="/home/claude/v24/logos/crpmem_hi.png"/>
          <p:cNvPicPr>
            <a:picLocks noChangeAspect="1"/>
          </p:cNvPicPr>
          <p:nvPr/>
        </p:nvPicPr>
        <p:blipFill>
          <a:blip r:embed="rId5"/>
          <a:stretch>
            <a:fillRect/>
          </a:stretch>
        </p:blipFill>
        <p:spPr>
          <a:xfrm>
            <a:off x="6181344" y="2052828"/>
            <a:ext cx="225308" cy="256032"/>
          </a:xfrm>
          <a:prstGeom prst="rect">
            <a:avLst/>
          </a:prstGeom>
        </p:spPr>
      </p:pic>
      <p:sp>
        <p:nvSpPr>
          <p:cNvPr id="27" name="Shape 22"/>
          <p:cNvSpPr/>
          <p:nvPr/>
        </p:nvSpPr>
        <p:spPr>
          <a:xfrm>
            <a:off x="5084064" y="2395728"/>
            <a:ext cx="3383280" cy="0"/>
          </a:xfrm>
          <a:prstGeom prst="line">
            <a:avLst/>
          </a:prstGeom>
          <a:noFill/>
          <a:ln w="12700">
            <a:solidFill>
              <a:srgbClr val="EEF1F7"/>
            </a:solidFill>
            <a:prstDash val="solid"/>
          </a:ln>
        </p:spPr>
        <p:txBody>
          <a:bodyPr/>
          <a:lstStyle/>
          <a:p>
            <a:endParaRPr/>
          </a:p>
        </p:txBody>
      </p:sp>
      <p:sp>
        <p:nvSpPr>
          <p:cNvPr id="28" name="Text 23"/>
          <p:cNvSpPr txBox="1"/>
          <p:nvPr/>
        </p:nvSpPr>
        <p:spPr>
          <a:xfrm>
            <a:off x="5084064" y="2395728"/>
            <a:ext cx="969264" cy="429768"/>
          </a:xfrm>
          <a:prstGeom prst="rect">
            <a:avLst/>
          </a:prstGeom>
          <a:noFill/>
          <a:ln/>
        </p:spPr>
        <p:txBody>
          <a:bodyPr wrap="square" lIns="0" tIns="0" rIns="0" bIns="0" rtlCol="0" anchor="ctr"/>
          <a:lstStyle/>
          <a:p>
            <a:pPr marL="0" indent="0">
              <a:lnSpc>
                <a:spcPct val="100000"/>
              </a:lnSpc>
              <a:buNone/>
            </a:pPr>
            <a:r>
              <a:rPr lang="en-US" sz="650" b="1" kern="0" spc="100">
                <a:solidFill>
                  <a:srgbClr val="6B7280"/>
                </a:solidFill>
                <a:latin typeface="Calibri" pitchFamily="34" charset="0"/>
                <a:ea typeface="Calibri" pitchFamily="34" charset="-122"/>
                <a:cs typeface="Calibri" pitchFamily="34" charset="-120"/>
              </a:rPr>
              <a:t>RECHERCHE</a:t>
            </a:r>
            <a:endParaRPr lang="en-US" sz="650"/>
          </a:p>
          <a:p>
            <a:pPr marL="0" indent="0">
              <a:lnSpc>
                <a:spcPct val="100000"/>
              </a:lnSpc>
              <a:buNone/>
            </a:pPr>
            <a:r>
              <a:rPr lang="en-US" sz="650" b="1" kern="0" spc="100">
                <a:solidFill>
                  <a:srgbClr val="6B7280"/>
                </a:solidFill>
                <a:latin typeface="Calibri" pitchFamily="34" charset="0"/>
                <a:ea typeface="Calibri" pitchFamily="34" charset="-122"/>
                <a:cs typeface="Calibri" pitchFamily="34" charset="-120"/>
              </a:rPr>
              <a:t>ET EXPERTISE</a:t>
            </a:r>
            <a:endParaRPr lang="en-US" sz="650"/>
          </a:p>
        </p:txBody>
      </p:sp>
      <p:pic>
        <p:nvPicPr>
          <p:cNvPr id="29" name="Image 3" descr="/home/claude/v24/logos/ifremer.png"/>
          <p:cNvPicPr>
            <a:picLocks noChangeAspect="1"/>
          </p:cNvPicPr>
          <p:nvPr/>
        </p:nvPicPr>
        <p:blipFill>
          <a:blip r:embed="rId6"/>
          <a:stretch>
            <a:fillRect/>
          </a:stretch>
        </p:blipFill>
        <p:spPr>
          <a:xfrm>
            <a:off x="6181344" y="2519172"/>
            <a:ext cx="497996" cy="182880"/>
          </a:xfrm>
          <a:prstGeom prst="rect">
            <a:avLst/>
          </a:prstGeom>
        </p:spPr>
      </p:pic>
      <p:pic>
        <p:nvPicPr>
          <p:cNvPr id="30" name="Image 4" descr="/home/claude/v24/logos/inp.png"/>
          <p:cNvPicPr>
            <a:picLocks noChangeAspect="1"/>
          </p:cNvPicPr>
          <p:nvPr/>
        </p:nvPicPr>
        <p:blipFill>
          <a:blip r:embed="rId7"/>
          <a:stretch>
            <a:fillRect/>
          </a:stretch>
        </p:blipFill>
        <p:spPr>
          <a:xfrm>
            <a:off x="6853076" y="2500884"/>
            <a:ext cx="369366" cy="219456"/>
          </a:xfrm>
          <a:prstGeom prst="rect">
            <a:avLst/>
          </a:prstGeom>
        </p:spPr>
      </p:pic>
      <p:pic>
        <p:nvPicPr>
          <p:cNvPr id="31" name="Image 5" descr="/home/claude/v24/logos/cepralmar.png"/>
          <p:cNvPicPr>
            <a:picLocks noChangeAspect="1"/>
          </p:cNvPicPr>
          <p:nvPr/>
        </p:nvPicPr>
        <p:blipFill>
          <a:blip r:embed="rId8"/>
          <a:stretch>
            <a:fillRect/>
          </a:stretch>
        </p:blipFill>
        <p:spPr>
          <a:xfrm>
            <a:off x="7396178" y="2528316"/>
            <a:ext cx="444398" cy="164592"/>
          </a:xfrm>
          <a:prstGeom prst="rect">
            <a:avLst/>
          </a:prstGeom>
        </p:spPr>
      </p:pic>
      <p:sp>
        <p:nvSpPr>
          <p:cNvPr id="32" name="Shape 24"/>
          <p:cNvSpPr/>
          <p:nvPr/>
        </p:nvSpPr>
        <p:spPr>
          <a:xfrm>
            <a:off x="5084064" y="2825496"/>
            <a:ext cx="3383280" cy="0"/>
          </a:xfrm>
          <a:prstGeom prst="line">
            <a:avLst/>
          </a:prstGeom>
          <a:noFill/>
          <a:ln w="12700">
            <a:solidFill>
              <a:srgbClr val="EEF1F7"/>
            </a:solidFill>
            <a:prstDash val="solid"/>
          </a:ln>
        </p:spPr>
        <p:txBody>
          <a:bodyPr/>
          <a:lstStyle/>
          <a:p>
            <a:endParaRPr/>
          </a:p>
        </p:txBody>
      </p:sp>
      <p:sp>
        <p:nvSpPr>
          <p:cNvPr id="33" name="Text 25"/>
          <p:cNvSpPr txBox="1"/>
          <p:nvPr/>
        </p:nvSpPr>
        <p:spPr>
          <a:xfrm>
            <a:off x="5084064" y="2825496"/>
            <a:ext cx="969264" cy="429768"/>
          </a:xfrm>
          <a:prstGeom prst="rect">
            <a:avLst/>
          </a:prstGeom>
          <a:noFill/>
          <a:ln/>
        </p:spPr>
        <p:txBody>
          <a:bodyPr wrap="square" lIns="0" tIns="0" rIns="0" bIns="0" rtlCol="0" anchor="ctr"/>
          <a:lstStyle/>
          <a:p>
            <a:pPr marL="0" indent="0">
              <a:lnSpc>
                <a:spcPct val="100000"/>
              </a:lnSpc>
              <a:buNone/>
            </a:pPr>
            <a:r>
              <a:rPr lang="en-US" sz="650" b="1" kern="0" spc="100">
                <a:solidFill>
                  <a:srgbClr val="6B7280"/>
                </a:solidFill>
                <a:latin typeface="Calibri" pitchFamily="34" charset="0"/>
                <a:ea typeface="Calibri" pitchFamily="34" charset="-122"/>
                <a:cs typeface="Calibri" pitchFamily="34" charset="-120"/>
              </a:rPr>
              <a:t>FINANCEMENT</a:t>
            </a:r>
            <a:endParaRPr lang="en-US" sz="650"/>
          </a:p>
          <a:p>
            <a:pPr marL="0" indent="0">
              <a:lnSpc>
                <a:spcPct val="100000"/>
              </a:lnSpc>
              <a:buNone/>
            </a:pPr>
            <a:r>
              <a:rPr lang="en-US" sz="650" b="1" kern="0" spc="100">
                <a:solidFill>
                  <a:srgbClr val="6B7280"/>
                </a:solidFill>
                <a:latin typeface="Calibri" pitchFamily="34" charset="0"/>
                <a:ea typeface="Calibri" pitchFamily="34" charset="-122"/>
                <a:cs typeface="Calibri" pitchFamily="34" charset="-120"/>
              </a:rPr>
              <a:t>PRIVÉ</a:t>
            </a:r>
            <a:endParaRPr lang="en-US" sz="650"/>
          </a:p>
        </p:txBody>
      </p:sp>
      <p:pic>
        <p:nvPicPr>
          <p:cNvPr id="34" name="Image 6" descr="/home/claude/v24/logos/cm.png"/>
          <p:cNvPicPr>
            <a:picLocks noChangeAspect="1"/>
          </p:cNvPicPr>
          <p:nvPr/>
        </p:nvPicPr>
        <p:blipFill>
          <a:blip r:embed="rId9"/>
          <a:stretch>
            <a:fillRect/>
          </a:stretch>
        </p:blipFill>
        <p:spPr>
          <a:xfrm>
            <a:off x="6181344" y="2921508"/>
            <a:ext cx="237744" cy="237744"/>
          </a:xfrm>
          <a:prstGeom prst="rect">
            <a:avLst/>
          </a:prstGeom>
        </p:spPr>
      </p:pic>
      <p:pic>
        <p:nvPicPr>
          <p:cNvPr id="35" name="Image 7" descr="/home/claude/v24/logos/bp.png"/>
          <p:cNvPicPr>
            <a:picLocks noChangeAspect="1"/>
          </p:cNvPicPr>
          <p:nvPr/>
        </p:nvPicPr>
        <p:blipFill>
          <a:blip r:embed="rId10"/>
          <a:stretch>
            <a:fillRect/>
          </a:stretch>
        </p:blipFill>
        <p:spPr>
          <a:xfrm>
            <a:off x="6592824" y="2962656"/>
            <a:ext cx="534133" cy="155448"/>
          </a:xfrm>
          <a:prstGeom prst="rect">
            <a:avLst/>
          </a:prstGeom>
        </p:spPr>
      </p:pic>
      <p:sp>
        <p:nvSpPr>
          <p:cNvPr id="36" name="Shape 26"/>
          <p:cNvSpPr/>
          <p:nvPr/>
        </p:nvSpPr>
        <p:spPr>
          <a:xfrm>
            <a:off x="5084064" y="3255264"/>
            <a:ext cx="3383280" cy="0"/>
          </a:xfrm>
          <a:prstGeom prst="line">
            <a:avLst/>
          </a:prstGeom>
          <a:noFill/>
          <a:ln w="12700">
            <a:solidFill>
              <a:srgbClr val="EEF1F7"/>
            </a:solidFill>
            <a:prstDash val="solid"/>
          </a:ln>
        </p:spPr>
        <p:txBody>
          <a:bodyPr/>
          <a:lstStyle/>
          <a:p>
            <a:endParaRPr/>
          </a:p>
        </p:txBody>
      </p:sp>
      <p:sp>
        <p:nvSpPr>
          <p:cNvPr id="37" name="Text 27"/>
          <p:cNvSpPr txBox="1"/>
          <p:nvPr/>
        </p:nvSpPr>
        <p:spPr>
          <a:xfrm>
            <a:off x="5084064" y="3255264"/>
            <a:ext cx="969264" cy="429768"/>
          </a:xfrm>
          <a:prstGeom prst="rect">
            <a:avLst/>
          </a:prstGeom>
          <a:noFill/>
          <a:ln/>
        </p:spPr>
        <p:txBody>
          <a:bodyPr wrap="square" lIns="0" tIns="0" rIns="0" bIns="0" rtlCol="0" anchor="ctr"/>
          <a:lstStyle/>
          <a:p>
            <a:pPr marL="0" indent="0">
              <a:lnSpc>
                <a:spcPct val="100000"/>
              </a:lnSpc>
              <a:buNone/>
            </a:pPr>
            <a:r>
              <a:rPr lang="en-US" sz="650" b="1" kern="0" spc="100" dirty="0">
                <a:solidFill>
                  <a:srgbClr val="6B7280"/>
                </a:solidFill>
                <a:latin typeface="Calibri" pitchFamily="34" charset="0"/>
                <a:ea typeface="Calibri" pitchFamily="34" charset="-122"/>
                <a:cs typeface="Calibri" pitchFamily="34" charset="-120"/>
              </a:rPr>
              <a:t>FINANCEMENT ET ACCOMPAGNEMENT</a:t>
            </a:r>
            <a:endParaRPr lang="en-US" sz="650" dirty="0"/>
          </a:p>
          <a:p>
            <a:pPr marL="0" indent="0">
              <a:lnSpc>
                <a:spcPct val="100000"/>
              </a:lnSpc>
              <a:buNone/>
            </a:pPr>
            <a:r>
              <a:rPr lang="en-US" sz="650" b="1" kern="0" spc="100" dirty="0">
                <a:solidFill>
                  <a:srgbClr val="6B7280"/>
                </a:solidFill>
                <a:latin typeface="Calibri" pitchFamily="34" charset="0"/>
                <a:ea typeface="Calibri" pitchFamily="34" charset="-122"/>
                <a:cs typeface="Calibri" pitchFamily="34" charset="-120"/>
              </a:rPr>
              <a:t>PUBLIC</a:t>
            </a:r>
            <a:endParaRPr lang="en-US" sz="650" dirty="0"/>
          </a:p>
        </p:txBody>
      </p:sp>
      <p:pic>
        <p:nvPicPr>
          <p:cNvPr id="38" name="Image 8" descr="/home/claude/v24/logos/region.png"/>
          <p:cNvPicPr>
            <a:picLocks noChangeAspect="1"/>
          </p:cNvPicPr>
          <p:nvPr/>
        </p:nvPicPr>
        <p:blipFill>
          <a:blip r:embed="rId11"/>
          <a:stretch>
            <a:fillRect/>
          </a:stretch>
        </p:blipFill>
        <p:spPr>
          <a:xfrm>
            <a:off x="6181344" y="3351276"/>
            <a:ext cx="239182" cy="237744"/>
          </a:xfrm>
          <a:prstGeom prst="rect">
            <a:avLst/>
          </a:prstGeom>
        </p:spPr>
      </p:pic>
      <p:pic>
        <p:nvPicPr>
          <p:cNvPr id="39" name="Image 9" descr="/home/claude/v24/logos/rf.png"/>
          <p:cNvPicPr>
            <a:picLocks noChangeAspect="1"/>
          </p:cNvPicPr>
          <p:nvPr/>
        </p:nvPicPr>
        <p:blipFill>
          <a:blip r:embed="rId12"/>
          <a:stretch>
            <a:fillRect/>
          </a:stretch>
        </p:blipFill>
        <p:spPr>
          <a:xfrm>
            <a:off x="6594262" y="3360420"/>
            <a:ext cx="245059" cy="219456"/>
          </a:xfrm>
          <a:prstGeom prst="rect">
            <a:avLst/>
          </a:prstGeom>
        </p:spPr>
      </p:pic>
      <p:pic>
        <p:nvPicPr>
          <p:cNvPr id="40" name="Image 10" descr="/home/claude/v24/logos/ue_feampa.png"/>
          <p:cNvPicPr>
            <a:picLocks noChangeAspect="1"/>
          </p:cNvPicPr>
          <p:nvPr/>
        </p:nvPicPr>
        <p:blipFill>
          <a:blip r:embed="rId13"/>
          <a:stretch>
            <a:fillRect/>
          </a:stretch>
        </p:blipFill>
        <p:spPr>
          <a:xfrm>
            <a:off x="7013057" y="3351276"/>
            <a:ext cx="258834" cy="237744"/>
          </a:xfrm>
          <a:prstGeom prst="rect">
            <a:avLst/>
          </a:prstGeom>
        </p:spPr>
      </p:pic>
      <p:sp>
        <p:nvSpPr>
          <p:cNvPr id="41" name="Shape 28"/>
          <p:cNvSpPr/>
          <p:nvPr/>
        </p:nvSpPr>
        <p:spPr>
          <a:xfrm>
            <a:off x="5084064" y="3685032"/>
            <a:ext cx="3383280" cy="0"/>
          </a:xfrm>
          <a:prstGeom prst="line">
            <a:avLst/>
          </a:prstGeom>
          <a:noFill/>
          <a:ln w="12700">
            <a:solidFill>
              <a:srgbClr val="EEF1F7"/>
            </a:solidFill>
            <a:prstDash val="solid"/>
          </a:ln>
        </p:spPr>
        <p:txBody>
          <a:bodyPr/>
          <a:lstStyle/>
          <a:p>
            <a:endParaRPr/>
          </a:p>
        </p:txBody>
      </p:sp>
      <p:sp>
        <p:nvSpPr>
          <p:cNvPr id="42" name="Text 29"/>
          <p:cNvSpPr txBox="1"/>
          <p:nvPr/>
        </p:nvSpPr>
        <p:spPr>
          <a:xfrm>
            <a:off x="5084064" y="3685032"/>
            <a:ext cx="969264" cy="429768"/>
          </a:xfrm>
          <a:prstGeom prst="rect">
            <a:avLst/>
          </a:prstGeom>
          <a:noFill/>
          <a:ln/>
        </p:spPr>
        <p:txBody>
          <a:bodyPr wrap="square" lIns="0" tIns="0" rIns="0" bIns="0" rtlCol="0" anchor="ctr"/>
          <a:lstStyle/>
          <a:p>
            <a:pPr marL="0" indent="0">
              <a:lnSpc>
                <a:spcPct val="100000"/>
              </a:lnSpc>
              <a:buNone/>
            </a:pPr>
            <a:r>
              <a:rPr lang="en-US" sz="650" b="1" kern="0" spc="100">
                <a:solidFill>
                  <a:srgbClr val="6B7280"/>
                </a:solidFill>
                <a:latin typeface="Calibri" pitchFamily="34" charset="0"/>
                <a:ea typeface="Calibri" pitchFamily="34" charset="-122"/>
                <a:cs typeface="Calibri" pitchFamily="34" charset="-120"/>
              </a:rPr>
              <a:t>CONSEIL</a:t>
            </a:r>
            <a:endParaRPr lang="en-US" sz="650"/>
          </a:p>
        </p:txBody>
      </p:sp>
      <p:pic>
        <p:nvPicPr>
          <p:cNvPr id="43" name="Image 11" descr="/home/claude/v24/logos/fidal.png"/>
          <p:cNvPicPr>
            <a:picLocks noChangeAspect="1"/>
          </p:cNvPicPr>
          <p:nvPr/>
        </p:nvPicPr>
        <p:blipFill>
          <a:blip r:embed="rId14"/>
          <a:stretch>
            <a:fillRect/>
          </a:stretch>
        </p:blipFill>
        <p:spPr>
          <a:xfrm>
            <a:off x="6181344" y="3826764"/>
            <a:ext cx="386764" cy="146304"/>
          </a:xfrm>
          <a:prstGeom prst="rect">
            <a:avLst/>
          </a:prstGeom>
        </p:spPr>
      </p:pic>
      <p:pic>
        <p:nvPicPr>
          <p:cNvPr id="44" name="Image 12" descr="/home/claude/v24/logos/equalogy.png"/>
          <p:cNvPicPr>
            <a:picLocks noChangeAspect="1"/>
          </p:cNvPicPr>
          <p:nvPr/>
        </p:nvPicPr>
        <p:blipFill>
          <a:blip r:embed="rId15"/>
          <a:stretch>
            <a:fillRect/>
          </a:stretch>
        </p:blipFill>
        <p:spPr>
          <a:xfrm>
            <a:off x="6741844" y="3808476"/>
            <a:ext cx="492034" cy="182880"/>
          </a:xfrm>
          <a:prstGeom prst="rect">
            <a:avLst/>
          </a:prstGeom>
        </p:spPr>
      </p:pic>
      <p:sp>
        <p:nvSpPr>
          <p:cNvPr id="45" name="Shape 30"/>
          <p:cNvSpPr/>
          <p:nvPr/>
        </p:nvSpPr>
        <p:spPr>
          <a:xfrm>
            <a:off x="5084064" y="4114800"/>
            <a:ext cx="3383280" cy="0"/>
          </a:xfrm>
          <a:prstGeom prst="line">
            <a:avLst/>
          </a:prstGeom>
          <a:noFill/>
          <a:ln w="12700">
            <a:solidFill>
              <a:srgbClr val="EEF1F7"/>
            </a:solidFill>
            <a:prstDash val="solid"/>
          </a:ln>
        </p:spPr>
        <p:txBody>
          <a:bodyPr/>
          <a:lstStyle/>
          <a:p>
            <a:endParaRPr/>
          </a:p>
        </p:txBody>
      </p:sp>
      <p:sp>
        <p:nvSpPr>
          <p:cNvPr id="46" name="Text 31"/>
          <p:cNvSpPr txBox="1"/>
          <p:nvPr/>
        </p:nvSpPr>
        <p:spPr>
          <a:xfrm>
            <a:off x="5084064" y="4114800"/>
            <a:ext cx="969264" cy="429768"/>
          </a:xfrm>
          <a:prstGeom prst="rect">
            <a:avLst/>
          </a:prstGeom>
          <a:noFill/>
          <a:ln/>
        </p:spPr>
        <p:txBody>
          <a:bodyPr wrap="square" lIns="0" tIns="0" rIns="0" bIns="0" rtlCol="0" anchor="ctr"/>
          <a:lstStyle/>
          <a:p>
            <a:pPr marL="0" indent="0">
              <a:lnSpc>
                <a:spcPct val="100000"/>
              </a:lnSpc>
              <a:buNone/>
            </a:pPr>
            <a:r>
              <a:rPr lang="en-US" sz="650" b="1" kern="0" spc="100">
                <a:solidFill>
                  <a:srgbClr val="6B7280"/>
                </a:solidFill>
                <a:latin typeface="Calibri" pitchFamily="34" charset="0"/>
                <a:ea typeface="Calibri" pitchFamily="34" charset="-122"/>
                <a:cs typeface="Calibri" pitchFamily="34" charset="-120"/>
              </a:rPr>
              <a:t>ENVIRONNEMENT</a:t>
            </a:r>
            <a:endParaRPr lang="en-US" sz="650"/>
          </a:p>
        </p:txBody>
      </p:sp>
      <p:pic>
        <p:nvPicPr>
          <p:cNvPr id="47" name="Image 13" descr="/home/claude/v24/logos/wwf.png"/>
          <p:cNvPicPr>
            <a:picLocks noChangeAspect="1"/>
          </p:cNvPicPr>
          <p:nvPr/>
        </p:nvPicPr>
        <p:blipFill>
          <a:blip r:embed="rId16"/>
          <a:stretch>
            <a:fillRect/>
          </a:stretch>
        </p:blipFill>
        <p:spPr>
          <a:xfrm>
            <a:off x="6181344" y="4219956"/>
            <a:ext cx="137160" cy="219456"/>
          </a:xfrm>
          <a:prstGeom prst="rect">
            <a:avLst/>
          </a:prstGeom>
        </p:spPr>
      </p:pic>
      <p:pic>
        <p:nvPicPr>
          <p:cNvPr id="48" name="Image 14" descr="/home/claude/v24/logos/pnm.png"/>
          <p:cNvPicPr>
            <a:picLocks noChangeAspect="1"/>
          </p:cNvPicPr>
          <p:nvPr/>
        </p:nvPicPr>
        <p:blipFill>
          <a:blip r:embed="rId17"/>
          <a:stretch>
            <a:fillRect/>
          </a:stretch>
        </p:blipFill>
        <p:spPr>
          <a:xfrm>
            <a:off x="6492240" y="4210812"/>
            <a:ext cx="268851" cy="237744"/>
          </a:xfrm>
          <a:prstGeom prst="rect">
            <a:avLst/>
          </a:prstGeom>
        </p:spPr>
      </p:pic>
      <p:pic>
        <p:nvPicPr>
          <p:cNvPr id="49" name="Image 15" descr="/home/claude/v24/logos/planetemer.png"/>
          <p:cNvPicPr>
            <a:picLocks noChangeAspect="1"/>
          </p:cNvPicPr>
          <p:nvPr/>
        </p:nvPicPr>
        <p:blipFill>
          <a:blip r:embed="rId18"/>
          <a:stretch>
            <a:fillRect/>
          </a:stretch>
        </p:blipFill>
        <p:spPr>
          <a:xfrm>
            <a:off x="6934827" y="4247388"/>
            <a:ext cx="373271" cy="164592"/>
          </a:xfrm>
          <a:prstGeom prst="rect">
            <a:avLst/>
          </a:prstGeom>
        </p:spPr>
      </p:pic>
      <p:sp>
        <p:nvSpPr>
          <p:cNvPr id="50" name="Text 32"/>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CADCFC"/>
                </a:solidFill>
                <a:latin typeface="Calibri" pitchFamily="34" charset="0"/>
                <a:ea typeface="Calibri" pitchFamily="34" charset="-122"/>
                <a:cs typeface="Calibri" pitchFamily="34" charset="-120"/>
              </a:rPr>
              <a:t>4</a:t>
            </a:r>
            <a:endParaRPr lang="en-US" sz="800"/>
          </a:p>
        </p:txBody>
      </p:sp>
      <p:pic>
        <p:nvPicPr>
          <p:cNvPr id="52" name="Image 51">
            <a:extLst>
              <a:ext uri="{FF2B5EF4-FFF2-40B4-BE49-F238E27FC236}">
                <a16:creationId xmlns:a16="http://schemas.microsoft.com/office/drawing/2014/main" id="{DD911308-472A-1E49-9142-BC9004E84713}"/>
              </a:ext>
            </a:extLst>
          </p:cNvPr>
          <p:cNvPicPr>
            <a:picLocks noChangeAspect="1"/>
          </p:cNvPicPr>
          <p:nvPr/>
        </p:nvPicPr>
        <p:blipFill>
          <a:blip r:embed="rId19"/>
          <a:stretch>
            <a:fillRect/>
          </a:stretch>
        </p:blipFill>
        <p:spPr>
          <a:xfrm>
            <a:off x="6137049" y="1602665"/>
            <a:ext cx="840004" cy="26938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v26/d_a.jpg"/>
          <p:cNvPicPr>
            <a:picLocks noChangeAspect="1"/>
          </p:cNvPicPr>
          <p:nvPr/>
        </p:nvPicPr>
        <p:blipFill>
          <a:blip r:embed="rId2"/>
          <a:stretch>
            <a:fillRect/>
          </a:stretch>
        </p:blipFill>
        <p:spPr>
          <a:xfrm>
            <a:off x="5760720" y="0"/>
            <a:ext cx="3383280" cy="5148072"/>
          </a:xfrm>
          <a:prstGeom prst="rect">
            <a:avLst/>
          </a:prstGeom>
        </p:spPr>
      </p:pic>
      <p:sp>
        <p:nvSpPr>
          <p:cNvPr id="3" name="Shape 0"/>
          <p:cNvSpPr/>
          <p:nvPr/>
        </p:nvSpPr>
        <p:spPr>
          <a:xfrm>
            <a:off x="5760720" y="0"/>
            <a:ext cx="3383280" cy="5148072"/>
          </a:xfrm>
          <a:prstGeom prst="rect">
            <a:avLst/>
          </a:prstGeom>
          <a:solidFill>
            <a:srgbClr val="16256B">
              <a:alpha val="36000"/>
            </a:srgbClr>
          </a:solidFill>
          <a:ln w="12700">
            <a:solidFill>
              <a:srgbClr val="16256B">
                <a:alpha val="0"/>
              </a:srgbClr>
            </a:solidFill>
            <a:prstDash val="solid"/>
          </a:ln>
        </p:spPr>
        <p:txBody>
          <a:bodyPr/>
          <a:lstStyle/>
          <a:p>
            <a:endParaRPr/>
          </a:p>
        </p:txBody>
      </p:sp>
      <p:sp>
        <p:nvSpPr>
          <p:cNvPr id="4" name="Text 1"/>
          <p:cNvSpPr txBox="1"/>
          <p:nvPr/>
        </p:nvSpPr>
        <p:spPr>
          <a:xfrm>
            <a:off x="457200" y="292608"/>
            <a:ext cx="5029200" cy="201168"/>
          </a:xfrm>
          <a:prstGeom prst="rect">
            <a:avLst/>
          </a:prstGeom>
          <a:noFill/>
          <a:ln/>
        </p:spPr>
        <p:txBody>
          <a:bodyPr wrap="square" lIns="0" tIns="0" rIns="0" bIns="0" rtlCol="0" anchor="ctr"/>
          <a:lstStyle/>
          <a:p>
            <a:pPr marL="0" indent="0">
              <a:buNone/>
            </a:pPr>
            <a:r>
              <a:rPr lang="en-US" sz="900" b="1" kern="0" spc="200">
                <a:solidFill>
                  <a:srgbClr val="0E8A8A"/>
                </a:solidFill>
                <a:latin typeface="Calibri" pitchFamily="34" charset="0"/>
                <a:ea typeface="Calibri" pitchFamily="34" charset="-122"/>
                <a:cs typeface="Calibri" pitchFamily="34" charset="-120"/>
              </a:rPr>
              <a:t>NOS OBJECTIFS</a:t>
            </a:r>
            <a:endParaRPr lang="en-US" sz="900"/>
          </a:p>
        </p:txBody>
      </p:sp>
      <p:sp>
        <p:nvSpPr>
          <p:cNvPr id="5" name="Text 2"/>
          <p:cNvSpPr txBox="1"/>
          <p:nvPr/>
        </p:nvSpPr>
        <p:spPr>
          <a:xfrm>
            <a:off x="457200" y="493776"/>
            <a:ext cx="5029200" cy="384048"/>
          </a:xfrm>
          <a:prstGeom prst="rect">
            <a:avLst/>
          </a:prstGeom>
          <a:noFill/>
          <a:ln/>
        </p:spPr>
        <p:txBody>
          <a:bodyPr wrap="square" lIns="0" tIns="0" rIns="0" bIns="0" rtlCol="0" anchor="ctr"/>
          <a:lstStyle/>
          <a:p>
            <a:pPr marL="0" indent="0">
              <a:buNone/>
            </a:pPr>
            <a:r>
              <a:rPr lang="en-US" sz="2200" b="1">
                <a:solidFill>
                  <a:srgbClr val="16256B"/>
                </a:solidFill>
                <a:latin typeface="Cambria" pitchFamily="34" charset="0"/>
                <a:ea typeface="Cambria" pitchFamily="34" charset="-122"/>
                <a:cs typeface="Cambria" pitchFamily="34" charset="-120"/>
              </a:rPr>
              <a:t>Les objectifs de Mare </a:t>
            </a:r>
            <a:r>
              <a:rPr lang="en-US" sz="2200" b="1" err="1">
                <a:solidFill>
                  <a:srgbClr val="16256B"/>
                </a:solidFill>
                <a:latin typeface="Cambria" pitchFamily="34" charset="0"/>
                <a:ea typeface="Cambria" pitchFamily="34" charset="-122"/>
                <a:cs typeface="Cambria" pitchFamily="34" charset="-120"/>
              </a:rPr>
              <a:t>Durabilis</a:t>
            </a:r>
            <a:endParaRPr lang="en-US" sz="2200"/>
          </a:p>
        </p:txBody>
      </p:sp>
      <p:sp>
        <p:nvSpPr>
          <p:cNvPr id="7" name="Text 4"/>
          <p:cNvSpPr txBox="1"/>
          <p:nvPr/>
        </p:nvSpPr>
        <p:spPr>
          <a:xfrm>
            <a:off x="457200" y="1370000"/>
            <a:ext cx="566928" cy="420000"/>
          </a:xfrm>
          <a:prstGeom prst="rect">
            <a:avLst/>
          </a:prstGeom>
          <a:noFill/>
          <a:ln/>
        </p:spPr>
        <p:txBody>
          <a:bodyPr wrap="square" lIns="0" tIns="0" rIns="0" bIns="0" rtlCol="0" anchor="ctr"/>
          <a:lstStyle/>
          <a:p>
            <a:pPr marL="0" indent="0">
              <a:buNone/>
            </a:pPr>
            <a:r>
              <a:rPr lang="en-US" sz="2400" b="1">
                <a:solidFill>
                  <a:srgbClr val="16256B"/>
                </a:solidFill>
                <a:latin typeface="Cambria" pitchFamily="34" charset="0"/>
                <a:ea typeface="Cambria" pitchFamily="34" charset="-122"/>
                <a:cs typeface="Cambria" pitchFamily="34" charset="-120"/>
              </a:rPr>
              <a:t>01</a:t>
            </a:r>
            <a:endParaRPr lang="en-US" sz="2200"/>
          </a:p>
        </p:txBody>
      </p:sp>
      <p:sp>
        <p:nvSpPr>
          <p:cNvPr id="8" name="Text 5"/>
          <p:cNvSpPr txBox="1"/>
          <p:nvPr/>
        </p:nvSpPr>
        <p:spPr>
          <a:xfrm>
            <a:off x="1097280" y="1330000"/>
            <a:ext cx="4434840" cy="560000"/>
          </a:xfrm>
          <a:prstGeom prst="rect">
            <a:avLst/>
          </a:prstGeom>
          <a:noFill/>
          <a:ln/>
        </p:spPr>
        <p:txBody>
          <a:bodyPr wrap="square" lIns="0" tIns="0" rIns="0" bIns="0" rtlCol="0" anchor="ctr"/>
          <a:lstStyle/>
          <a:p>
            <a:pPr marL="0" indent="0">
              <a:lnSpc>
                <a:spcPct val="105000"/>
              </a:lnSpc>
              <a:buNone/>
            </a:pPr>
            <a:r>
              <a:rPr lang="en-US" sz="1350" b="1">
                <a:solidFill>
                  <a:srgbClr val="16256B"/>
                </a:solidFill>
                <a:latin typeface="Cambria" pitchFamily="34" charset="0"/>
                <a:ea typeface="Cambria" pitchFamily="34" charset="-122"/>
                <a:cs typeface="Cambria" pitchFamily="34" charset="-120"/>
              </a:rPr>
              <a:t>Restaurer durablement les écosystèmes marins méditerranéens</a:t>
            </a:r>
            <a:endParaRPr lang="en-US" sz="1300"/>
          </a:p>
        </p:txBody>
      </p:sp>
      <p:sp>
        <p:nvSpPr>
          <p:cNvPr id="9" name="Shape 6"/>
          <p:cNvSpPr/>
          <p:nvPr/>
        </p:nvSpPr>
        <p:spPr>
          <a:xfrm>
            <a:off x="457200" y="2010000"/>
            <a:ext cx="5074920" cy="0"/>
          </a:xfrm>
          <a:prstGeom prst="line">
            <a:avLst/>
          </a:prstGeom>
          <a:noFill/>
          <a:ln w="12700">
            <a:solidFill>
              <a:srgbClr val="E4E9F2"/>
            </a:solidFill>
            <a:prstDash val="solid"/>
          </a:ln>
        </p:spPr>
        <p:txBody>
          <a:bodyPr/>
          <a:lstStyle/>
          <a:p>
            <a:endParaRPr/>
          </a:p>
        </p:txBody>
      </p:sp>
      <p:sp>
        <p:nvSpPr>
          <p:cNvPr id="10" name="Text 7"/>
          <p:cNvSpPr txBox="1"/>
          <p:nvPr/>
        </p:nvSpPr>
        <p:spPr>
          <a:xfrm>
            <a:off x="457200" y="2110000"/>
            <a:ext cx="566928" cy="420000"/>
          </a:xfrm>
          <a:prstGeom prst="rect">
            <a:avLst/>
          </a:prstGeom>
          <a:noFill/>
          <a:ln/>
        </p:spPr>
        <p:txBody>
          <a:bodyPr wrap="square" lIns="0" tIns="0" rIns="0" bIns="0" rtlCol="0" anchor="ctr"/>
          <a:lstStyle/>
          <a:p>
            <a:pPr marL="0" indent="0">
              <a:buNone/>
            </a:pPr>
            <a:r>
              <a:rPr lang="en-US" sz="2400" b="1">
                <a:solidFill>
                  <a:srgbClr val="0E8A8A"/>
                </a:solidFill>
                <a:latin typeface="Cambria" pitchFamily="34" charset="0"/>
                <a:ea typeface="Cambria" pitchFamily="34" charset="-122"/>
                <a:cs typeface="Cambria" pitchFamily="34" charset="-120"/>
              </a:rPr>
              <a:t>02</a:t>
            </a:r>
            <a:endParaRPr lang="en-US" sz="2200"/>
          </a:p>
        </p:txBody>
      </p:sp>
      <p:sp>
        <p:nvSpPr>
          <p:cNvPr id="11" name="Text 8"/>
          <p:cNvSpPr txBox="1"/>
          <p:nvPr/>
        </p:nvSpPr>
        <p:spPr>
          <a:xfrm>
            <a:off x="1097280" y="2070000"/>
            <a:ext cx="4434840" cy="560000"/>
          </a:xfrm>
          <a:prstGeom prst="rect">
            <a:avLst/>
          </a:prstGeom>
          <a:noFill/>
          <a:ln/>
        </p:spPr>
        <p:txBody>
          <a:bodyPr wrap="square" lIns="0" tIns="0" rIns="0" bIns="0" rtlCol="0" anchor="ctr"/>
          <a:lstStyle/>
          <a:p>
            <a:pPr marL="0" indent="0">
              <a:lnSpc>
                <a:spcPct val="105000"/>
              </a:lnSpc>
              <a:buNone/>
            </a:pPr>
            <a:r>
              <a:rPr lang="en-US" sz="1350" b="1">
                <a:solidFill>
                  <a:srgbClr val="16256B"/>
                </a:solidFill>
                <a:latin typeface="Cambria" pitchFamily="34" charset="0"/>
                <a:ea typeface="Cambria" pitchFamily="34" charset="-122"/>
                <a:cs typeface="Cambria" pitchFamily="34" charset="-120"/>
              </a:rPr>
              <a:t>Sécuriser l’avenir économique des entreprises de pêche</a:t>
            </a:r>
            <a:endParaRPr lang="en-US" sz="1300"/>
          </a:p>
        </p:txBody>
      </p:sp>
      <p:sp>
        <p:nvSpPr>
          <p:cNvPr id="12" name="Shape 9"/>
          <p:cNvSpPr/>
          <p:nvPr/>
        </p:nvSpPr>
        <p:spPr>
          <a:xfrm>
            <a:off x="457200" y="2750000"/>
            <a:ext cx="5074920" cy="0"/>
          </a:xfrm>
          <a:prstGeom prst="line">
            <a:avLst/>
          </a:prstGeom>
          <a:noFill/>
          <a:ln w="12700">
            <a:solidFill>
              <a:srgbClr val="E4E9F2"/>
            </a:solidFill>
            <a:prstDash val="solid"/>
          </a:ln>
        </p:spPr>
        <p:txBody>
          <a:bodyPr/>
          <a:lstStyle/>
          <a:p>
            <a:endParaRPr/>
          </a:p>
        </p:txBody>
      </p:sp>
      <p:sp>
        <p:nvSpPr>
          <p:cNvPr id="13" name="Text 10"/>
          <p:cNvSpPr txBox="1"/>
          <p:nvPr/>
        </p:nvSpPr>
        <p:spPr>
          <a:xfrm>
            <a:off x="457200" y="2850000"/>
            <a:ext cx="566928" cy="420000"/>
          </a:xfrm>
          <a:prstGeom prst="rect">
            <a:avLst/>
          </a:prstGeom>
          <a:noFill/>
          <a:ln/>
        </p:spPr>
        <p:txBody>
          <a:bodyPr wrap="square" lIns="0" tIns="0" rIns="0" bIns="0" rtlCol="0" anchor="ctr"/>
          <a:lstStyle/>
          <a:p>
            <a:pPr marL="0" indent="0">
              <a:buNone/>
            </a:pPr>
            <a:r>
              <a:rPr lang="en-US" sz="2400" b="1">
                <a:solidFill>
                  <a:srgbClr val="16256B"/>
                </a:solidFill>
                <a:latin typeface="Cambria" pitchFamily="34" charset="0"/>
                <a:ea typeface="Cambria" pitchFamily="34" charset="-122"/>
                <a:cs typeface="Cambria" pitchFamily="34" charset="-120"/>
              </a:rPr>
              <a:t>03</a:t>
            </a:r>
            <a:endParaRPr lang="en-US" sz="2200"/>
          </a:p>
        </p:txBody>
      </p:sp>
      <p:sp>
        <p:nvSpPr>
          <p:cNvPr id="14" name="Text 11"/>
          <p:cNvSpPr txBox="1"/>
          <p:nvPr/>
        </p:nvSpPr>
        <p:spPr>
          <a:xfrm>
            <a:off x="1097280" y="2810000"/>
            <a:ext cx="4434840" cy="560000"/>
          </a:xfrm>
          <a:prstGeom prst="rect">
            <a:avLst/>
          </a:prstGeom>
          <a:noFill/>
          <a:ln/>
        </p:spPr>
        <p:txBody>
          <a:bodyPr wrap="square" lIns="0" tIns="0" rIns="0" bIns="0" rtlCol="0" anchor="ctr"/>
          <a:lstStyle/>
          <a:p>
            <a:pPr marL="0" indent="0">
              <a:lnSpc>
                <a:spcPct val="105000"/>
              </a:lnSpc>
              <a:buNone/>
            </a:pPr>
            <a:r>
              <a:rPr lang="en-US" sz="1350" b="1">
                <a:solidFill>
                  <a:srgbClr val="16256B"/>
                </a:solidFill>
                <a:latin typeface="Cambria" pitchFamily="34" charset="0"/>
                <a:ea typeface="Cambria" pitchFamily="34" charset="-122"/>
                <a:cs typeface="Cambria" pitchFamily="34" charset="-120"/>
              </a:rPr>
              <a:t>Accompagner la transition énergétique et technique des </a:t>
            </a:r>
            <a:r>
              <a:rPr lang="en-US" sz="1350" b="1" err="1">
                <a:solidFill>
                  <a:srgbClr val="16256B"/>
                </a:solidFill>
                <a:latin typeface="Cambria" pitchFamily="34" charset="0"/>
                <a:ea typeface="Cambria" pitchFamily="34" charset="-122"/>
                <a:cs typeface="Cambria" pitchFamily="34" charset="-120"/>
              </a:rPr>
              <a:t>flottes</a:t>
            </a:r>
            <a:r>
              <a:rPr lang="en-US" sz="1350" b="1">
                <a:solidFill>
                  <a:srgbClr val="16256B"/>
                </a:solidFill>
                <a:latin typeface="Cambria" pitchFamily="34" charset="0"/>
                <a:ea typeface="Cambria" pitchFamily="34" charset="-122"/>
                <a:cs typeface="Cambria" pitchFamily="34" charset="-120"/>
              </a:rPr>
              <a:t> </a:t>
            </a:r>
            <a:r>
              <a:rPr lang="en-US" sz="1350" b="1" err="1">
                <a:solidFill>
                  <a:srgbClr val="16256B"/>
                </a:solidFill>
                <a:latin typeface="Cambria" pitchFamily="34" charset="0"/>
                <a:ea typeface="Cambria" pitchFamily="34" charset="-122"/>
                <a:cs typeface="Cambria" pitchFamily="34" charset="-120"/>
              </a:rPr>
              <a:t>en</a:t>
            </a:r>
            <a:r>
              <a:rPr lang="en-US" sz="1350" b="1">
                <a:solidFill>
                  <a:srgbClr val="16256B"/>
                </a:solidFill>
                <a:latin typeface="Cambria" pitchFamily="34" charset="0"/>
                <a:ea typeface="Cambria" pitchFamily="34" charset="-122"/>
                <a:cs typeface="Cambria" pitchFamily="34" charset="-120"/>
              </a:rPr>
              <a:t> </a:t>
            </a:r>
            <a:r>
              <a:rPr lang="en-US" sz="1350" b="1" err="1">
                <a:solidFill>
                  <a:srgbClr val="16256B"/>
                </a:solidFill>
                <a:latin typeface="Cambria" pitchFamily="34" charset="0"/>
                <a:ea typeface="Cambria" pitchFamily="34" charset="-122"/>
                <a:cs typeface="Cambria" pitchFamily="34" charset="-120"/>
              </a:rPr>
              <a:t>favorisant</a:t>
            </a:r>
            <a:r>
              <a:rPr lang="en-US" sz="1350" b="1">
                <a:solidFill>
                  <a:srgbClr val="16256B"/>
                </a:solidFill>
                <a:latin typeface="Cambria" pitchFamily="34" charset="0"/>
                <a:ea typeface="Cambria" pitchFamily="34" charset="-122"/>
                <a:cs typeface="Cambria" pitchFamily="34" charset="-120"/>
              </a:rPr>
              <a:t> </a:t>
            </a:r>
            <a:r>
              <a:rPr lang="en-US" sz="1350" b="1" err="1">
                <a:solidFill>
                  <a:srgbClr val="16256B"/>
                </a:solidFill>
                <a:latin typeface="Cambria" pitchFamily="34" charset="0"/>
                <a:ea typeface="Cambria" pitchFamily="34" charset="-122"/>
                <a:cs typeface="Cambria" pitchFamily="34" charset="-120"/>
              </a:rPr>
              <a:t>une</a:t>
            </a:r>
            <a:r>
              <a:rPr lang="en-US" sz="1350" b="1">
                <a:solidFill>
                  <a:srgbClr val="16256B"/>
                </a:solidFill>
                <a:latin typeface="Cambria" pitchFamily="34" charset="0"/>
                <a:ea typeface="Cambria" pitchFamily="34" charset="-122"/>
                <a:cs typeface="Cambria" pitchFamily="34" charset="-120"/>
              </a:rPr>
              <a:t> culture </a:t>
            </a:r>
            <a:r>
              <a:rPr lang="en-US" sz="1350" b="1" err="1">
                <a:solidFill>
                  <a:srgbClr val="16256B"/>
                </a:solidFill>
                <a:latin typeface="Cambria" pitchFamily="34" charset="0"/>
                <a:ea typeface="Cambria" pitchFamily="34" charset="-122"/>
                <a:cs typeface="Cambria" pitchFamily="34" charset="-120"/>
              </a:rPr>
              <a:t>d’innovation</a:t>
            </a:r>
            <a:endParaRPr lang="en-US" sz="1300"/>
          </a:p>
        </p:txBody>
      </p:sp>
      <p:sp>
        <p:nvSpPr>
          <p:cNvPr id="15" name="Shape 12"/>
          <p:cNvSpPr/>
          <p:nvPr/>
        </p:nvSpPr>
        <p:spPr>
          <a:xfrm>
            <a:off x="457200" y="3490000"/>
            <a:ext cx="5074920" cy="0"/>
          </a:xfrm>
          <a:prstGeom prst="line">
            <a:avLst/>
          </a:prstGeom>
          <a:noFill/>
          <a:ln w="12700">
            <a:solidFill>
              <a:srgbClr val="E4E9F2"/>
            </a:solidFill>
            <a:prstDash val="solid"/>
          </a:ln>
        </p:spPr>
        <p:txBody>
          <a:bodyPr/>
          <a:lstStyle/>
          <a:p>
            <a:endParaRPr/>
          </a:p>
        </p:txBody>
      </p:sp>
      <p:sp>
        <p:nvSpPr>
          <p:cNvPr id="16" name="Text 13"/>
          <p:cNvSpPr txBox="1"/>
          <p:nvPr/>
        </p:nvSpPr>
        <p:spPr>
          <a:xfrm>
            <a:off x="457200" y="3590000"/>
            <a:ext cx="566928" cy="420000"/>
          </a:xfrm>
          <a:prstGeom prst="rect">
            <a:avLst/>
          </a:prstGeom>
          <a:noFill/>
          <a:ln/>
        </p:spPr>
        <p:txBody>
          <a:bodyPr wrap="square" lIns="0" tIns="0" rIns="0" bIns="0" rtlCol="0" anchor="ctr"/>
          <a:lstStyle/>
          <a:p>
            <a:pPr marL="0" indent="0">
              <a:buNone/>
            </a:pPr>
            <a:r>
              <a:rPr lang="en-US" sz="2400" b="1">
                <a:solidFill>
                  <a:srgbClr val="0E8A8A"/>
                </a:solidFill>
                <a:latin typeface="Cambria" pitchFamily="34" charset="0"/>
                <a:ea typeface="Cambria" pitchFamily="34" charset="-122"/>
                <a:cs typeface="Cambria" pitchFamily="34" charset="-120"/>
              </a:rPr>
              <a:t>04</a:t>
            </a:r>
            <a:endParaRPr lang="en-US" sz="2200"/>
          </a:p>
        </p:txBody>
      </p:sp>
      <p:sp>
        <p:nvSpPr>
          <p:cNvPr id="17" name="Text 14"/>
          <p:cNvSpPr txBox="1"/>
          <p:nvPr/>
        </p:nvSpPr>
        <p:spPr>
          <a:xfrm>
            <a:off x="1097280" y="3550000"/>
            <a:ext cx="4434840" cy="560000"/>
          </a:xfrm>
          <a:prstGeom prst="rect">
            <a:avLst/>
          </a:prstGeom>
          <a:noFill/>
          <a:ln/>
        </p:spPr>
        <p:txBody>
          <a:bodyPr wrap="square" lIns="0" tIns="0" rIns="0" bIns="0" rtlCol="0" anchor="ctr"/>
          <a:lstStyle/>
          <a:p>
            <a:pPr marL="0" indent="0">
              <a:lnSpc>
                <a:spcPct val="105000"/>
              </a:lnSpc>
              <a:buNone/>
            </a:pPr>
            <a:r>
              <a:rPr lang="en-US" sz="1350" b="1">
                <a:solidFill>
                  <a:srgbClr val="16256B"/>
                </a:solidFill>
                <a:latin typeface="Cambria" pitchFamily="34" charset="0"/>
                <a:ea typeface="Cambria" pitchFamily="34" charset="-122"/>
                <a:cs typeface="Cambria" pitchFamily="34" charset="-120"/>
              </a:rPr>
              <a:t>Produire et valoriser de la connaissance environnementale en mer</a:t>
            </a:r>
            <a:endParaRPr lang="en-US" sz="1300"/>
          </a:p>
        </p:txBody>
      </p:sp>
      <p:sp>
        <p:nvSpPr>
          <p:cNvPr id="18" name="Shape 15"/>
          <p:cNvSpPr/>
          <p:nvPr/>
        </p:nvSpPr>
        <p:spPr>
          <a:xfrm>
            <a:off x="457200" y="4230000"/>
            <a:ext cx="5074920" cy="0"/>
          </a:xfrm>
          <a:prstGeom prst="line">
            <a:avLst/>
          </a:prstGeom>
          <a:noFill/>
          <a:ln w="12700">
            <a:solidFill>
              <a:srgbClr val="E4E9F2"/>
            </a:solidFill>
            <a:prstDash val="solid"/>
          </a:ln>
        </p:spPr>
        <p:txBody>
          <a:bodyPr/>
          <a:lstStyle/>
          <a:p>
            <a:endParaRPr/>
          </a:p>
        </p:txBody>
      </p:sp>
      <p:sp>
        <p:nvSpPr>
          <p:cNvPr id="19" name="Text 16"/>
          <p:cNvSpPr txBox="1"/>
          <p:nvPr/>
        </p:nvSpPr>
        <p:spPr>
          <a:xfrm>
            <a:off x="457200" y="4330000"/>
            <a:ext cx="566928" cy="420000"/>
          </a:xfrm>
          <a:prstGeom prst="rect">
            <a:avLst/>
          </a:prstGeom>
          <a:noFill/>
          <a:ln/>
        </p:spPr>
        <p:txBody>
          <a:bodyPr wrap="square" lIns="0" tIns="0" rIns="0" bIns="0" rtlCol="0" anchor="ctr"/>
          <a:lstStyle/>
          <a:p>
            <a:pPr marL="0" indent="0">
              <a:buNone/>
            </a:pPr>
            <a:r>
              <a:rPr lang="en-US" sz="2400" b="1">
                <a:solidFill>
                  <a:srgbClr val="16256B"/>
                </a:solidFill>
                <a:latin typeface="Cambria" pitchFamily="34" charset="0"/>
                <a:ea typeface="Cambria" pitchFamily="34" charset="-122"/>
                <a:cs typeface="Cambria" pitchFamily="34" charset="-120"/>
              </a:rPr>
              <a:t>05</a:t>
            </a:r>
            <a:endParaRPr lang="en-US" sz="2200"/>
          </a:p>
        </p:txBody>
      </p:sp>
      <p:sp>
        <p:nvSpPr>
          <p:cNvPr id="20" name="Text 17"/>
          <p:cNvSpPr txBox="1"/>
          <p:nvPr/>
        </p:nvSpPr>
        <p:spPr>
          <a:xfrm>
            <a:off x="1097280" y="4290000"/>
            <a:ext cx="4434840" cy="560000"/>
          </a:xfrm>
          <a:prstGeom prst="rect">
            <a:avLst/>
          </a:prstGeom>
          <a:noFill/>
          <a:ln/>
        </p:spPr>
        <p:txBody>
          <a:bodyPr wrap="square" lIns="0" tIns="0" rIns="0" bIns="0" rtlCol="0" anchor="ctr"/>
          <a:lstStyle/>
          <a:p>
            <a:pPr marL="0" indent="0">
              <a:lnSpc>
                <a:spcPct val="105000"/>
              </a:lnSpc>
              <a:buNone/>
            </a:pPr>
            <a:r>
              <a:rPr lang="en-US" sz="1350" b="1">
                <a:solidFill>
                  <a:srgbClr val="16256B"/>
                </a:solidFill>
                <a:latin typeface="Cambria" pitchFamily="34" charset="0"/>
                <a:ea typeface="Cambria" pitchFamily="34" charset="-122"/>
                <a:cs typeface="Cambria" pitchFamily="34" charset="-120"/>
              </a:rPr>
              <a:t>Reconstruire l’image publique et la légitimité sociétale de la pêche</a:t>
            </a:r>
            <a:endParaRPr lang="en-US" sz="1300"/>
          </a:p>
        </p:txBody>
      </p:sp>
      <p:sp>
        <p:nvSpPr>
          <p:cNvPr id="23" name="Text 20"/>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FFFFFF"/>
                </a:solidFill>
                <a:latin typeface="Calibri" pitchFamily="34" charset="0"/>
                <a:ea typeface="Calibri" pitchFamily="34" charset="-122"/>
                <a:cs typeface="Calibri" pitchFamily="34" charset="-120"/>
              </a:rPr>
              <a:t>5</a:t>
            </a:r>
            <a:endParaRPr lang="en-US" sz="800"/>
          </a:p>
        </p:txBody>
      </p:sp>
      <p:sp>
        <p:nvSpPr>
          <p:cNvPr id="21" name="Shape 6"/>
          <p:cNvSpPr/>
          <p:nvPr/>
        </p:nvSpPr>
        <p:spPr>
          <a:xfrm>
            <a:off x="457200" y="1180000"/>
            <a:ext cx="5074920" cy="0"/>
          </a:xfrm>
          <a:prstGeom prst="line">
            <a:avLst/>
          </a:prstGeom>
          <a:noFill/>
          <a:ln w="12700">
            <a:solidFill>
              <a:srgbClr val="E4E9F2"/>
            </a:solidFill>
            <a:prstDash val="solid"/>
          </a:ln>
        </p:spPr>
        <p:txBody>
          <a:bodyPr/>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256B">
              <a:alpha val="60000"/>
            </a:srgbClr>
          </a:solidFill>
          <a:ln w="12700">
            <a:solidFill>
              <a:srgbClr val="16256B">
                <a:alpha val="0"/>
              </a:srgbClr>
            </a:solidFill>
            <a:prstDash val="solid"/>
          </a:ln>
        </p:spPr>
        <p:txBody>
          <a:bodyPr/>
          <a:lstStyle/>
          <a:p>
            <a:endParaRPr/>
          </a:p>
        </p:txBody>
      </p:sp>
      <p:sp>
        <p:nvSpPr>
          <p:cNvPr id="3" name="Text 1"/>
          <p:cNvSpPr txBox="1"/>
          <p:nvPr/>
        </p:nvSpPr>
        <p:spPr>
          <a:xfrm>
            <a:off x="457200" y="320040"/>
            <a:ext cx="8229600" cy="228600"/>
          </a:xfrm>
          <a:prstGeom prst="rect">
            <a:avLst/>
          </a:prstGeom>
          <a:noFill/>
          <a:ln/>
        </p:spPr>
        <p:txBody>
          <a:bodyPr wrap="square" lIns="0" tIns="0" rIns="0" bIns="0" rtlCol="0" anchor="ctr"/>
          <a:lstStyle/>
          <a:p>
            <a:pPr marL="0" indent="0">
              <a:buNone/>
            </a:pPr>
            <a:r>
              <a:rPr lang="en-US" sz="900" b="1" kern="0" spc="300">
                <a:solidFill>
                  <a:srgbClr val="7FD3D0"/>
                </a:solidFill>
                <a:latin typeface="Calibri" pitchFamily="34" charset="0"/>
                <a:ea typeface="Calibri" pitchFamily="34" charset="-122"/>
                <a:cs typeface="Calibri" pitchFamily="34" charset="-120"/>
              </a:rPr>
              <a:t>NOS PROGRAMMES D’ACTION</a:t>
            </a:r>
            <a:endParaRPr lang="en-US" sz="900"/>
          </a:p>
        </p:txBody>
      </p:sp>
      <p:sp>
        <p:nvSpPr>
          <p:cNvPr id="4" name="Text 2"/>
          <p:cNvSpPr txBox="1"/>
          <p:nvPr/>
        </p:nvSpPr>
        <p:spPr>
          <a:xfrm>
            <a:off x="457200" y="548640"/>
            <a:ext cx="8229600" cy="457200"/>
          </a:xfrm>
          <a:prstGeom prst="rect">
            <a:avLst/>
          </a:prstGeom>
          <a:noFill/>
          <a:ln/>
        </p:spPr>
        <p:txBody>
          <a:bodyPr wrap="square" lIns="0" tIns="0" rIns="0" bIns="0" rtlCol="0" anchor="ctr"/>
          <a:lstStyle/>
          <a:p>
            <a:pPr marL="0" indent="0">
              <a:buNone/>
            </a:pPr>
            <a:r>
              <a:rPr lang="en-US" sz="2600" b="1">
                <a:solidFill>
                  <a:srgbClr val="FFFFFF"/>
                </a:solidFill>
                <a:latin typeface="Cambria" pitchFamily="34" charset="0"/>
                <a:ea typeface="Cambria" pitchFamily="34" charset="-122"/>
                <a:cs typeface="Cambria" pitchFamily="34" charset="-120"/>
              </a:rPr>
              <a:t>Quatre </a:t>
            </a:r>
            <a:r>
              <a:rPr lang="en-US" sz="2600" b="1" err="1">
                <a:solidFill>
                  <a:srgbClr val="FFFFFF"/>
                </a:solidFill>
                <a:latin typeface="Cambria" pitchFamily="34" charset="0"/>
                <a:ea typeface="Cambria" pitchFamily="34" charset="-122"/>
                <a:cs typeface="Cambria" pitchFamily="34" charset="-120"/>
              </a:rPr>
              <a:t>programmes</a:t>
            </a:r>
            <a:r>
              <a:rPr lang="en-US" sz="2600" b="1">
                <a:solidFill>
                  <a:srgbClr val="FFFFFF"/>
                </a:solidFill>
                <a:latin typeface="Cambria" pitchFamily="34" charset="0"/>
                <a:ea typeface="Cambria" pitchFamily="34" charset="-122"/>
                <a:cs typeface="Cambria" pitchFamily="34" charset="-120"/>
              </a:rPr>
              <a:t> : 3,72 M€ visés sur 2026-2029</a:t>
            </a:r>
            <a:endParaRPr lang="en-US" sz="2600"/>
          </a:p>
        </p:txBody>
      </p:sp>
      <p:sp>
        <p:nvSpPr>
          <p:cNvPr id="5" name="Text 3"/>
          <p:cNvSpPr txBox="1"/>
          <p:nvPr/>
        </p:nvSpPr>
        <p:spPr>
          <a:xfrm>
            <a:off x="457200" y="1024128"/>
            <a:ext cx="8229600" cy="411480"/>
          </a:xfrm>
          <a:prstGeom prst="rect">
            <a:avLst/>
          </a:prstGeom>
          <a:noFill/>
          <a:ln/>
        </p:spPr>
        <p:txBody>
          <a:bodyPr wrap="square" lIns="0" tIns="0" rIns="0" bIns="0" rtlCol="0" anchor="t"/>
          <a:lstStyle/>
          <a:p>
            <a:pPr marL="0" indent="0">
              <a:buNone/>
            </a:pPr>
            <a:r>
              <a:rPr lang="en-US" sz="1050">
                <a:solidFill>
                  <a:srgbClr val="E6EAF5"/>
                </a:solidFill>
                <a:latin typeface="Calibri" pitchFamily="34" charset="0"/>
                <a:ea typeface="Calibri" pitchFamily="34" charset="-122"/>
                <a:cs typeface="Calibri" pitchFamily="34" charset="-120"/>
              </a:rPr>
              <a:t>Les projets sont sélectionnés par le conseil d’administration sur avis de </a:t>
            </a:r>
            <a:r>
              <a:rPr lang="en-US" sz="1050" err="1">
                <a:solidFill>
                  <a:srgbClr val="E6EAF5"/>
                </a:solidFill>
                <a:latin typeface="Calibri" pitchFamily="34" charset="0"/>
                <a:ea typeface="Calibri" pitchFamily="34" charset="-122"/>
                <a:cs typeface="Calibri" pitchFamily="34" charset="-120"/>
              </a:rPr>
              <a:t>comités</a:t>
            </a:r>
            <a:r>
              <a:rPr lang="en-US" sz="1050">
                <a:solidFill>
                  <a:srgbClr val="E6EAF5"/>
                </a:solidFill>
                <a:latin typeface="Calibri" pitchFamily="34" charset="0"/>
                <a:ea typeface="Calibri" pitchFamily="34" charset="-122"/>
                <a:cs typeface="Calibri" pitchFamily="34" charset="-120"/>
              </a:rPr>
              <a:t> </a:t>
            </a:r>
            <a:r>
              <a:rPr lang="en-US" sz="1050" err="1">
                <a:solidFill>
                  <a:srgbClr val="E6EAF5"/>
                </a:solidFill>
                <a:latin typeface="Calibri" pitchFamily="34" charset="0"/>
                <a:ea typeface="Calibri" pitchFamily="34" charset="-122"/>
                <a:cs typeface="Calibri" pitchFamily="34" charset="-120"/>
              </a:rPr>
              <a:t>consultatifs</a:t>
            </a:r>
            <a:r>
              <a:rPr lang="en-US" sz="1050">
                <a:solidFill>
                  <a:srgbClr val="E6EAF5"/>
                </a:solidFill>
                <a:latin typeface="Calibri" pitchFamily="34" charset="0"/>
                <a:ea typeface="Calibri" pitchFamily="34" charset="-122"/>
                <a:cs typeface="Calibri" pitchFamily="34" charset="-120"/>
              </a:rPr>
              <a:t> (comités des pêcheurs, scientifique, partenaires économiques et institutionnels). </a:t>
            </a:r>
            <a:endParaRPr lang="en-US" sz="1050"/>
          </a:p>
        </p:txBody>
      </p:sp>
      <p:sp>
        <p:nvSpPr>
          <p:cNvPr id="6" name="Shape 4"/>
          <p:cNvSpPr/>
          <p:nvPr/>
        </p:nvSpPr>
        <p:spPr>
          <a:xfrm>
            <a:off x="457200" y="1554480"/>
            <a:ext cx="1965960" cy="2926080"/>
          </a:xfrm>
          <a:prstGeom prst="roundRect">
            <a:avLst>
              <a:gd name="adj" fmla="val 2791"/>
            </a:avLst>
          </a:prstGeom>
          <a:solidFill>
            <a:srgbClr val="FFFFFF"/>
          </a:solidFill>
          <a:ln w="12700">
            <a:solidFill>
              <a:srgbClr val="FFFFFF"/>
            </a:solidFill>
            <a:prstDash val="solid"/>
          </a:ln>
        </p:spPr>
        <p:txBody>
          <a:bodyPr/>
          <a:lstStyle/>
          <a:p>
            <a:endParaRPr/>
          </a:p>
        </p:txBody>
      </p:sp>
      <p:sp>
        <p:nvSpPr>
          <p:cNvPr id="7" name="Shape 5"/>
          <p:cNvSpPr/>
          <p:nvPr/>
        </p:nvSpPr>
        <p:spPr>
          <a:xfrm>
            <a:off x="457200" y="1554480"/>
            <a:ext cx="1965960" cy="82296"/>
          </a:xfrm>
          <a:prstGeom prst="rect">
            <a:avLst/>
          </a:prstGeom>
          <a:solidFill>
            <a:srgbClr val="16256B"/>
          </a:solidFill>
          <a:ln w="12700">
            <a:solidFill>
              <a:srgbClr val="16256B"/>
            </a:solidFill>
            <a:prstDash val="solid"/>
          </a:ln>
        </p:spPr>
        <p:txBody>
          <a:bodyPr/>
          <a:lstStyle/>
          <a:p>
            <a:endParaRPr/>
          </a:p>
        </p:txBody>
      </p:sp>
      <p:sp>
        <p:nvSpPr>
          <p:cNvPr id="8" name="Shape 6"/>
          <p:cNvSpPr/>
          <p:nvPr/>
        </p:nvSpPr>
        <p:spPr>
          <a:xfrm>
            <a:off x="621792" y="1783080"/>
            <a:ext cx="384048" cy="384048"/>
          </a:xfrm>
          <a:prstGeom prst="ellipse">
            <a:avLst/>
          </a:prstGeom>
          <a:solidFill>
            <a:srgbClr val="16256B"/>
          </a:solidFill>
          <a:ln w="12700">
            <a:solidFill>
              <a:srgbClr val="16256B"/>
            </a:solidFill>
            <a:prstDash val="solid"/>
          </a:ln>
        </p:spPr>
        <p:txBody>
          <a:bodyPr/>
          <a:lstStyle/>
          <a:p>
            <a:endParaRPr/>
          </a:p>
        </p:txBody>
      </p:sp>
      <p:sp>
        <p:nvSpPr>
          <p:cNvPr id="9" name="Text 7"/>
          <p:cNvSpPr txBox="1"/>
          <p:nvPr/>
        </p:nvSpPr>
        <p:spPr>
          <a:xfrm>
            <a:off x="621792" y="1783080"/>
            <a:ext cx="384048" cy="384048"/>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P1</a:t>
            </a:r>
            <a:endParaRPr lang="en-US" sz="1000"/>
          </a:p>
        </p:txBody>
      </p:sp>
      <p:sp>
        <p:nvSpPr>
          <p:cNvPr id="10" name="Text 8"/>
          <p:cNvSpPr txBox="1"/>
          <p:nvPr/>
        </p:nvSpPr>
        <p:spPr>
          <a:xfrm>
            <a:off x="621792" y="2240280"/>
            <a:ext cx="1636776" cy="594360"/>
          </a:xfrm>
          <a:prstGeom prst="rect">
            <a:avLst/>
          </a:prstGeom>
          <a:noFill/>
          <a:ln/>
        </p:spPr>
        <p:txBody>
          <a:bodyPr wrap="square" lIns="0" tIns="0" rIns="0" bIns="0" rtlCol="0" anchor="t"/>
          <a:lstStyle/>
          <a:p>
            <a:pPr marL="0" indent="0">
              <a:lnSpc>
                <a:spcPct val="95000"/>
              </a:lnSpc>
              <a:buNone/>
            </a:pPr>
            <a:r>
              <a:rPr lang="en-US" sz="1150" b="1">
                <a:solidFill>
                  <a:srgbClr val="16256B"/>
                </a:solidFill>
                <a:latin typeface="Cambria" pitchFamily="34" charset="0"/>
                <a:ea typeface="Cambria" pitchFamily="34" charset="-122"/>
                <a:cs typeface="Cambria" pitchFamily="34" charset="-120"/>
              </a:rPr>
              <a:t>Connaître et suivre les milieux marins</a:t>
            </a:r>
            <a:endParaRPr lang="en-US" sz="1250"/>
          </a:p>
        </p:txBody>
      </p:sp>
      <p:sp>
        <p:nvSpPr>
          <p:cNvPr id="11" name="Text 9"/>
          <p:cNvSpPr txBox="1"/>
          <p:nvPr/>
        </p:nvSpPr>
        <p:spPr>
          <a:xfrm>
            <a:off x="621792" y="2834640"/>
            <a:ext cx="1636776" cy="868680"/>
          </a:xfrm>
          <a:prstGeom prst="rect">
            <a:avLst/>
          </a:prstGeom>
          <a:noFill/>
          <a:ln/>
        </p:spPr>
        <p:txBody>
          <a:bodyPr wrap="square" lIns="0" tIns="0" rIns="0" bIns="0" rtlCol="0" anchor="t"/>
          <a:lstStyle/>
          <a:p>
            <a:pPr marL="0" indent="0">
              <a:buNone/>
            </a:pPr>
            <a:r>
              <a:rPr lang="en-US" sz="800">
                <a:solidFill>
                  <a:srgbClr val="1F2937"/>
                </a:solidFill>
                <a:latin typeface="Calibri" pitchFamily="34" charset="0"/>
                <a:ea typeface="Calibri" pitchFamily="34" charset="-122"/>
                <a:cs typeface="Calibri" pitchFamily="34" charset="-120"/>
              </a:rPr>
              <a:t>Contribuer à compléter la connaissance nécessaire pour comprendre les évolutions observées et orienter l’action.</a:t>
            </a:r>
            <a:endParaRPr lang="en-US" sz="850"/>
          </a:p>
        </p:txBody>
      </p:sp>
      <p:sp>
        <p:nvSpPr>
          <p:cNvPr id="12" name="Text 10"/>
          <p:cNvSpPr txBox="1"/>
          <p:nvPr/>
        </p:nvSpPr>
        <p:spPr>
          <a:xfrm>
            <a:off x="621792" y="3767328"/>
            <a:ext cx="1636776" cy="365760"/>
          </a:xfrm>
          <a:prstGeom prst="rect">
            <a:avLst/>
          </a:prstGeom>
          <a:noFill/>
          <a:ln/>
        </p:spPr>
        <p:txBody>
          <a:bodyPr wrap="square" lIns="0" tIns="0" rIns="0" bIns="0" rtlCol="0" anchor="ctr"/>
          <a:lstStyle/>
          <a:p>
            <a:pPr marL="0" indent="0">
              <a:buNone/>
            </a:pPr>
            <a:r>
              <a:rPr lang="en-US" sz="1800" b="1">
                <a:solidFill>
                  <a:srgbClr val="16256B"/>
                </a:solidFill>
                <a:latin typeface="Cambria" pitchFamily="34" charset="0"/>
                <a:ea typeface="Cambria" pitchFamily="34" charset="-122"/>
                <a:cs typeface="Cambria" pitchFamily="34" charset="-120"/>
              </a:rPr>
              <a:t>450 000 €</a:t>
            </a:r>
            <a:endParaRPr lang="en-US" sz="1800"/>
          </a:p>
        </p:txBody>
      </p:sp>
      <p:sp>
        <p:nvSpPr>
          <p:cNvPr id="13" name="Text 11"/>
          <p:cNvSpPr txBox="1"/>
          <p:nvPr/>
        </p:nvSpPr>
        <p:spPr>
          <a:xfrm>
            <a:off x="621792" y="4133088"/>
            <a:ext cx="1636776" cy="228600"/>
          </a:xfrm>
          <a:prstGeom prst="rect">
            <a:avLst/>
          </a:prstGeom>
          <a:noFill/>
          <a:ln/>
        </p:spPr>
        <p:txBody>
          <a:bodyPr wrap="square" lIns="0" tIns="0" rIns="0" bIns="0" rtlCol="0" anchor="ctr"/>
          <a:lstStyle/>
          <a:p>
            <a:pPr marL="0" indent="0">
              <a:buNone/>
            </a:pPr>
            <a:r>
              <a:rPr lang="en-US" sz="900">
                <a:solidFill>
                  <a:srgbClr val="6B7280"/>
                </a:solidFill>
                <a:latin typeface="Calibri" pitchFamily="34" charset="0"/>
                <a:ea typeface="Calibri" pitchFamily="34" charset="-122"/>
                <a:cs typeface="Calibri" pitchFamily="34" charset="-120"/>
              </a:rPr>
              <a:t>12 % des programmes</a:t>
            </a:r>
            <a:endParaRPr lang="en-US" sz="900"/>
          </a:p>
        </p:txBody>
      </p:sp>
      <p:sp>
        <p:nvSpPr>
          <p:cNvPr id="14" name="Shape 12"/>
          <p:cNvSpPr/>
          <p:nvPr/>
        </p:nvSpPr>
        <p:spPr>
          <a:xfrm>
            <a:off x="2560320" y="1554480"/>
            <a:ext cx="1965960" cy="2926080"/>
          </a:xfrm>
          <a:prstGeom prst="roundRect">
            <a:avLst>
              <a:gd name="adj" fmla="val 2791"/>
            </a:avLst>
          </a:prstGeom>
          <a:solidFill>
            <a:srgbClr val="FFFFFF"/>
          </a:solidFill>
          <a:ln w="12700">
            <a:solidFill>
              <a:srgbClr val="FFFFFF"/>
            </a:solidFill>
            <a:prstDash val="solid"/>
          </a:ln>
        </p:spPr>
        <p:txBody>
          <a:bodyPr/>
          <a:lstStyle/>
          <a:p>
            <a:endParaRPr/>
          </a:p>
        </p:txBody>
      </p:sp>
      <p:sp>
        <p:nvSpPr>
          <p:cNvPr id="15" name="Shape 13"/>
          <p:cNvSpPr/>
          <p:nvPr/>
        </p:nvSpPr>
        <p:spPr>
          <a:xfrm>
            <a:off x="2560320" y="1554480"/>
            <a:ext cx="1965960" cy="82296"/>
          </a:xfrm>
          <a:prstGeom prst="rect">
            <a:avLst/>
          </a:prstGeom>
          <a:solidFill>
            <a:srgbClr val="0E8A8A"/>
          </a:solidFill>
          <a:ln w="12700">
            <a:solidFill>
              <a:srgbClr val="0E8A8A"/>
            </a:solidFill>
            <a:prstDash val="solid"/>
          </a:ln>
        </p:spPr>
        <p:txBody>
          <a:bodyPr/>
          <a:lstStyle/>
          <a:p>
            <a:endParaRPr/>
          </a:p>
        </p:txBody>
      </p:sp>
      <p:sp>
        <p:nvSpPr>
          <p:cNvPr id="16" name="Shape 14"/>
          <p:cNvSpPr/>
          <p:nvPr/>
        </p:nvSpPr>
        <p:spPr>
          <a:xfrm>
            <a:off x="2724912" y="1783080"/>
            <a:ext cx="384048" cy="384048"/>
          </a:xfrm>
          <a:prstGeom prst="ellipse">
            <a:avLst/>
          </a:prstGeom>
          <a:solidFill>
            <a:srgbClr val="0E8A8A"/>
          </a:solidFill>
          <a:ln w="12700">
            <a:solidFill>
              <a:srgbClr val="0E8A8A"/>
            </a:solidFill>
            <a:prstDash val="solid"/>
          </a:ln>
        </p:spPr>
        <p:txBody>
          <a:bodyPr/>
          <a:lstStyle/>
          <a:p>
            <a:endParaRPr/>
          </a:p>
        </p:txBody>
      </p:sp>
      <p:sp>
        <p:nvSpPr>
          <p:cNvPr id="17" name="Text 15"/>
          <p:cNvSpPr txBox="1"/>
          <p:nvPr/>
        </p:nvSpPr>
        <p:spPr>
          <a:xfrm>
            <a:off x="2724912" y="1783080"/>
            <a:ext cx="384048" cy="384048"/>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P2</a:t>
            </a:r>
            <a:endParaRPr lang="en-US" sz="1000"/>
          </a:p>
        </p:txBody>
      </p:sp>
      <p:sp>
        <p:nvSpPr>
          <p:cNvPr id="18" name="Text 16"/>
          <p:cNvSpPr txBox="1"/>
          <p:nvPr/>
        </p:nvSpPr>
        <p:spPr>
          <a:xfrm>
            <a:off x="2724912" y="2240280"/>
            <a:ext cx="1636776" cy="594360"/>
          </a:xfrm>
          <a:prstGeom prst="rect">
            <a:avLst/>
          </a:prstGeom>
          <a:noFill/>
          <a:ln/>
        </p:spPr>
        <p:txBody>
          <a:bodyPr wrap="square" lIns="0" tIns="0" rIns="0" bIns="0" rtlCol="0" anchor="t"/>
          <a:lstStyle/>
          <a:p>
            <a:pPr marL="0" indent="0">
              <a:lnSpc>
                <a:spcPct val="95000"/>
              </a:lnSpc>
              <a:buNone/>
            </a:pPr>
            <a:r>
              <a:rPr lang="en-US" sz="1150" b="1">
                <a:solidFill>
                  <a:srgbClr val="0E8A8A"/>
                </a:solidFill>
                <a:latin typeface="Cambria" pitchFamily="34" charset="0"/>
                <a:ea typeface="Cambria" pitchFamily="34" charset="-122"/>
                <a:cs typeface="Cambria" pitchFamily="34" charset="-120"/>
              </a:rPr>
              <a:t>Restaurer les écosystèmes</a:t>
            </a:r>
            <a:endParaRPr lang="en-US" sz="1250"/>
          </a:p>
        </p:txBody>
      </p:sp>
      <p:sp>
        <p:nvSpPr>
          <p:cNvPr id="19" name="Text 17"/>
          <p:cNvSpPr txBox="1"/>
          <p:nvPr/>
        </p:nvSpPr>
        <p:spPr>
          <a:xfrm>
            <a:off x="2724912" y="2834640"/>
            <a:ext cx="1636776" cy="868680"/>
          </a:xfrm>
          <a:prstGeom prst="rect">
            <a:avLst/>
          </a:prstGeom>
          <a:noFill/>
          <a:ln/>
        </p:spPr>
        <p:txBody>
          <a:bodyPr wrap="square" lIns="0" tIns="0" rIns="0" bIns="0" rtlCol="0" anchor="t"/>
          <a:lstStyle/>
          <a:p>
            <a:r>
              <a:rPr lang="en-US" sz="800" dirty="0" err="1">
                <a:solidFill>
                  <a:srgbClr val="1F2937"/>
                </a:solidFill>
                <a:latin typeface="Calibri" pitchFamily="34" charset="0"/>
                <a:ea typeface="Calibri" pitchFamily="34" charset="-122"/>
                <a:cs typeface="Calibri" pitchFamily="34" charset="-120"/>
              </a:rPr>
              <a:t>Expérimenter</a:t>
            </a:r>
            <a:r>
              <a:rPr lang="en-US" sz="800" dirty="0">
                <a:solidFill>
                  <a:srgbClr val="1F2937"/>
                </a:solidFill>
                <a:latin typeface="Calibri" pitchFamily="34" charset="0"/>
                <a:ea typeface="Calibri" pitchFamily="34" charset="-122"/>
                <a:cs typeface="Calibri" pitchFamily="34" charset="-120"/>
              </a:rPr>
              <a:t> et </a:t>
            </a:r>
            <a:r>
              <a:rPr lang="en-US" sz="800" dirty="0" err="1">
                <a:solidFill>
                  <a:srgbClr val="1F2937"/>
                </a:solidFill>
                <a:latin typeface="Calibri" pitchFamily="34" charset="0"/>
                <a:ea typeface="Calibri" pitchFamily="34" charset="-122"/>
                <a:cs typeface="Calibri" pitchFamily="34" charset="-120"/>
              </a:rPr>
              <a:t>déployer</a:t>
            </a:r>
            <a:r>
              <a:rPr lang="en-US" sz="800" dirty="0">
                <a:solidFill>
                  <a:srgbClr val="1F2937"/>
                </a:solidFill>
                <a:latin typeface="Calibri" pitchFamily="34" charset="0"/>
                <a:ea typeface="Calibri" pitchFamily="34" charset="-122"/>
                <a:cs typeface="Calibri" pitchFamily="34" charset="-120"/>
              </a:rPr>
              <a:t> des solutions de restauration </a:t>
            </a:r>
            <a:r>
              <a:rPr lang="en-US" sz="800" dirty="0" err="1">
                <a:solidFill>
                  <a:srgbClr val="1F2937"/>
                </a:solidFill>
                <a:latin typeface="Calibri" pitchFamily="34" charset="0"/>
                <a:ea typeface="Calibri" pitchFamily="34" charset="-122"/>
                <a:cs typeface="Calibri" pitchFamily="34" charset="-120"/>
              </a:rPr>
              <a:t>écologique</a:t>
            </a:r>
            <a:r>
              <a:rPr lang="en-US" sz="800" dirty="0">
                <a:solidFill>
                  <a:srgbClr val="1F2937"/>
                </a:solidFill>
                <a:latin typeface="Calibri" pitchFamily="34" charset="0"/>
                <a:ea typeface="Calibri" pitchFamily="34" charset="-122"/>
                <a:cs typeface="Calibri" pitchFamily="34" charset="-120"/>
              </a:rPr>
              <a:t> </a:t>
            </a:r>
            <a:r>
              <a:rPr lang="fr-FR" sz="800" dirty="0">
                <a:solidFill>
                  <a:srgbClr val="1F2937"/>
                </a:solidFill>
                <a:latin typeface="Calibri" pitchFamily="34" charset="0"/>
                <a:ea typeface="Calibri" pitchFamily="34" charset="-122"/>
                <a:cs typeface="Calibri" pitchFamily="34" charset="-120"/>
              </a:rPr>
              <a:t>favorisant la régénération des écosystèmes et le renouvellement des ressources halieutiques.</a:t>
            </a:r>
          </a:p>
          <a:p>
            <a:pPr marL="0" indent="0">
              <a:buNone/>
            </a:pPr>
            <a:endParaRPr lang="en-US" sz="850" dirty="0"/>
          </a:p>
        </p:txBody>
      </p:sp>
      <p:sp>
        <p:nvSpPr>
          <p:cNvPr id="20" name="Text 18"/>
          <p:cNvSpPr txBox="1"/>
          <p:nvPr/>
        </p:nvSpPr>
        <p:spPr>
          <a:xfrm>
            <a:off x="2724912" y="3767328"/>
            <a:ext cx="1636776" cy="365760"/>
          </a:xfrm>
          <a:prstGeom prst="rect">
            <a:avLst/>
          </a:prstGeom>
          <a:noFill/>
          <a:ln/>
        </p:spPr>
        <p:txBody>
          <a:bodyPr wrap="square" lIns="0" tIns="0" rIns="0" bIns="0" rtlCol="0" anchor="ctr"/>
          <a:lstStyle/>
          <a:p>
            <a:pPr marL="0" indent="0">
              <a:buNone/>
            </a:pPr>
            <a:r>
              <a:rPr lang="en-US" sz="1800" b="1">
                <a:solidFill>
                  <a:srgbClr val="16256B"/>
                </a:solidFill>
                <a:latin typeface="Cambria" pitchFamily="34" charset="0"/>
                <a:ea typeface="Cambria" pitchFamily="34" charset="-122"/>
                <a:cs typeface="Cambria" pitchFamily="34" charset="-120"/>
              </a:rPr>
              <a:t>800 000 €</a:t>
            </a:r>
            <a:endParaRPr lang="en-US" sz="1800"/>
          </a:p>
        </p:txBody>
      </p:sp>
      <p:sp>
        <p:nvSpPr>
          <p:cNvPr id="21" name="Text 19"/>
          <p:cNvSpPr txBox="1"/>
          <p:nvPr/>
        </p:nvSpPr>
        <p:spPr>
          <a:xfrm>
            <a:off x="2724912" y="4133088"/>
            <a:ext cx="1636776" cy="228600"/>
          </a:xfrm>
          <a:prstGeom prst="rect">
            <a:avLst/>
          </a:prstGeom>
          <a:noFill/>
          <a:ln/>
        </p:spPr>
        <p:txBody>
          <a:bodyPr wrap="square" lIns="0" tIns="0" rIns="0" bIns="0" rtlCol="0" anchor="ctr"/>
          <a:lstStyle/>
          <a:p>
            <a:pPr marL="0" indent="0">
              <a:buNone/>
            </a:pPr>
            <a:r>
              <a:rPr lang="en-US" sz="900">
                <a:solidFill>
                  <a:srgbClr val="6B7280"/>
                </a:solidFill>
                <a:latin typeface="Calibri" pitchFamily="34" charset="0"/>
                <a:ea typeface="Calibri" pitchFamily="34" charset="-122"/>
                <a:cs typeface="Calibri" pitchFamily="34" charset="-120"/>
              </a:rPr>
              <a:t>21 % des programmes</a:t>
            </a:r>
            <a:endParaRPr lang="en-US" sz="900"/>
          </a:p>
        </p:txBody>
      </p:sp>
      <p:sp>
        <p:nvSpPr>
          <p:cNvPr id="22" name="Shape 20"/>
          <p:cNvSpPr/>
          <p:nvPr/>
        </p:nvSpPr>
        <p:spPr>
          <a:xfrm>
            <a:off x="4663440" y="1554480"/>
            <a:ext cx="1965960" cy="2926080"/>
          </a:xfrm>
          <a:prstGeom prst="roundRect">
            <a:avLst>
              <a:gd name="adj" fmla="val 2791"/>
            </a:avLst>
          </a:prstGeom>
          <a:solidFill>
            <a:srgbClr val="FFFFFF"/>
          </a:solidFill>
          <a:ln w="12700">
            <a:solidFill>
              <a:srgbClr val="FFFFFF"/>
            </a:solidFill>
            <a:prstDash val="solid"/>
          </a:ln>
        </p:spPr>
        <p:txBody>
          <a:bodyPr/>
          <a:lstStyle/>
          <a:p>
            <a:endParaRPr/>
          </a:p>
        </p:txBody>
      </p:sp>
      <p:sp>
        <p:nvSpPr>
          <p:cNvPr id="23" name="Shape 21"/>
          <p:cNvSpPr/>
          <p:nvPr/>
        </p:nvSpPr>
        <p:spPr>
          <a:xfrm>
            <a:off x="4663440" y="1554480"/>
            <a:ext cx="1965960" cy="82296"/>
          </a:xfrm>
          <a:prstGeom prst="rect">
            <a:avLst/>
          </a:prstGeom>
          <a:solidFill>
            <a:srgbClr val="16256B"/>
          </a:solidFill>
          <a:ln w="12700">
            <a:solidFill>
              <a:srgbClr val="16256B"/>
            </a:solidFill>
            <a:prstDash val="solid"/>
          </a:ln>
        </p:spPr>
        <p:txBody>
          <a:bodyPr/>
          <a:lstStyle/>
          <a:p>
            <a:endParaRPr/>
          </a:p>
        </p:txBody>
      </p:sp>
      <p:sp>
        <p:nvSpPr>
          <p:cNvPr id="24" name="Shape 22"/>
          <p:cNvSpPr/>
          <p:nvPr/>
        </p:nvSpPr>
        <p:spPr>
          <a:xfrm>
            <a:off x="4828032" y="1783080"/>
            <a:ext cx="384048" cy="384048"/>
          </a:xfrm>
          <a:prstGeom prst="ellipse">
            <a:avLst/>
          </a:prstGeom>
          <a:solidFill>
            <a:srgbClr val="16256B"/>
          </a:solidFill>
          <a:ln w="12700">
            <a:solidFill>
              <a:srgbClr val="16256B"/>
            </a:solidFill>
            <a:prstDash val="solid"/>
          </a:ln>
        </p:spPr>
        <p:txBody>
          <a:bodyPr/>
          <a:lstStyle/>
          <a:p>
            <a:endParaRPr/>
          </a:p>
        </p:txBody>
      </p:sp>
      <p:sp>
        <p:nvSpPr>
          <p:cNvPr id="25" name="Text 23"/>
          <p:cNvSpPr txBox="1"/>
          <p:nvPr/>
        </p:nvSpPr>
        <p:spPr>
          <a:xfrm>
            <a:off x="4828032" y="1783080"/>
            <a:ext cx="384048" cy="384048"/>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P3</a:t>
            </a:r>
            <a:endParaRPr lang="en-US" sz="1000"/>
          </a:p>
        </p:txBody>
      </p:sp>
      <p:sp>
        <p:nvSpPr>
          <p:cNvPr id="26" name="Text 24"/>
          <p:cNvSpPr txBox="1"/>
          <p:nvPr/>
        </p:nvSpPr>
        <p:spPr>
          <a:xfrm>
            <a:off x="4828032" y="2240280"/>
            <a:ext cx="1636776" cy="594360"/>
          </a:xfrm>
          <a:prstGeom prst="rect">
            <a:avLst/>
          </a:prstGeom>
          <a:noFill/>
          <a:ln/>
        </p:spPr>
        <p:txBody>
          <a:bodyPr wrap="square" lIns="0" tIns="0" rIns="0" bIns="0" rtlCol="0" anchor="t"/>
          <a:lstStyle/>
          <a:p>
            <a:pPr marL="0" indent="0">
              <a:lnSpc>
                <a:spcPct val="95000"/>
              </a:lnSpc>
              <a:buNone/>
            </a:pPr>
            <a:r>
              <a:rPr lang="en-US" sz="1150" b="1">
                <a:solidFill>
                  <a:srgbClr val="16256B"/>
                </a:solidFill>
                <a:latin typeface="Cambria" pitchFamily="34" charset="0"/>
                <a:ea typeface="Cambria" pitchFamily="34" charset="-122"/>
                <a:cs typeface="Cambria" pitchFamily="34" charset="-120"/>
              </a:rPr>
              <a:t>Prévenir et réduire les pollutions en milieu marin</a:t>
            </a:r>
            <a:endParaRPr lang="en-US" sz="1250"/>
          </a:p>
        </p:txBody>
      </p:sp>
      <p:sp>
        <p:nvSpPr>
          <p:cNvPr id="27" name="Text 25"/>
          <p:cNvSpPr txBox="1"/>
          <p:nvPr/>
        </p:nvSpPr>
        <p:spPr>
          <a:xfrm>
            <a:off x="4828032" y="2834640"/>
            <a:ext cx="1636776" cy="868680"/>
          </a:xfrm>
          <a:prstGeom prst="rect">
            <a:avLst/>
          </a:prstGeom>
          <a:noFill/>
          <a:ln/>
        </p:spPr>
        <p:txBody>
          <a:bodyPr wrap="square" lIns="0" tIns="0" rIns="0" bIns="0" rtlCol="0" anchor="t"/>
          <a:lstStyle/>
          <a:p>
            <a:pPr marL="0" indent="0">
              <a:buNone/>
            </a:pPr>
            <a:r>
              <a:rPr lang="en-US" sz="800">
                <a:solidFill>
                  <a:srgbClr val="1F2937"/>
                </a:solidFill>
                <a:latin typeface="Calibri" pitchFamily="34" charset="0"/>
                <a:ea typeface="Calibri" pitchFamily="34" charset="-122"/>
                <a:cs typeface="Calibri" pitchFamily="34" charset="-120"/>
              </a:rPr>
              <a:t>Mobiliser les compétences et les moyens de la filière pêche pour contribuer à la prévention et à la réduction des pollutions affectant les milieux marins, tout en développant des activités rémunérées complémentaires pour les pêcheurs.</a:t>
            </a:r>
            <a:endParaRPr lang="en-US" sz="850"/>
          </a:p>
        </p:txBody>
      </p:sp>
      <p:sp>
        <p:nvSpPr>
          <p:cNvPr id="28" name="Text 26"/>
          <p:cNvSpPr txBox="1"/>
          <p:nvPr/>
        </p:nvSpPr>
        <p:spPr>
          <a:xfrm>
            <a:off x="4828032" y="3767328"/>
            <a:ext cx="1636776" cy="365760"/>
          </a:xfrm>
          <a:prstGeom prst="rect">
            <a:avLst/>
          </a:prstGeom>
          <a:noFill/>
          <a:ln/>
        </p:spPr>
        <p:txBody>
          <a:bodyPr wrap="square" lIns="0" tIns="0" rIns="0" bIns="0" rtlCol="0" anchor="ctr"/>
          <a:lstStyle/>
          <a:p>
            <a:pPr marL="0" indent="0">
              <a:buNone/>
            </a:pPr>
            <a:r>
              <a:rPr lang="en-US" sz="1800" b="1">
                <a:solidFill>
                  <a:srgbClr val="16256B"/>
                </a:solidFill>
                <a:latin typeface="Cambria" pitchFamily="34" charset="0"/>
                <a:ea typeface="Cambria" pitchFamily="34" charset="-122"/>
                <a:cs typeface="Cambria" pitchFamily="34" charset="-120"/>
              </a:rPr>
              <a:t>172 000 €</a:t>
            </a:r>
            <a:endParaRPr lang="en-US" sz="1800"/>
          </a:p>
        </p:txBody>
      </p:sp>
      <p:sp>
        <p:nvSpPr>
          <p:cNvPr id="29" name="Text 27"/>
          <p:cNvSpPr txBox="1"/>
          <p:nvPr/>
        </p:nvSpPr>
        <p:spPr>
          <a:xfrm>
            <a:off x="4828032" y="4133088"/>
            <a:ext cx="1636776" cy="228600"/>
          </a:xfrm>
          <a:prstGeom prst="rect">
            <a:avLst/>
          </a:prstGeom>
          <a:noFill/>
          <a:ln/>
        </p:spPr>
        <p:txBody>
          <a:bodyPr wrap="square" lIns="0" tIns="0" rIns="0" bIns="0" rtlCol="0" anchor="ctr"/>
          <a:lstStyle/>
          <a:p>
            <a:pPr marL="0" indent="0">
              <a:buNone/>
            </a:pPr>
            <a:r>
              <a:rPr lang="en-US" sz="900">
                <a:solidFill>
                  <a:srgbClr val="6B7280"/>
                </a:solidFill>
                <a:latin typeface="Calibri" pitchFamily="34" charset="0"/>
                <a:ea typeface="Calibri" pitchFamily="34" charset="-122"/>
                <a:cs typeface="Calibri" pitchFamily="34" charset="-120"/>
              </a:rPr>
              <a:t>5 % des programmes</a:t>
            </a:r>
            <a:endParaRPr lang="en-US" sz="900"/>
          </a:p>
        </p:txBody>
      </p:sp>
      <p:sp>
        <p:nvSpPr>
          <p:cNvPr id="30" name="Shape 28"/>
          <p:cNvSpPr/>
          <p:nvPr/>
        </p:nvSpPr>
        <p:spPr>
          <a:xfrm>
            <a:off x="6766560" y="1554480"/>
            <a:ext cx="1965960" cy="2926080"/>
          </a:xfrm>
          <a:prstGeom prst="roundRect">
            <a:avLst>
              <a:gd name="adj" fmla="val 2791"/>
            </a:avLst>
          </a:prstGeom>
          <a:solidFill>
            <a:srgbClr val="FFFFFF"/>
          </a:solidFill>
          <a:ln w="12700">
            <a:solidFill>
              <a:srgbClr val="FFFFFF"/>
            </a:solidFill>
            <a:prstDash val="solid"/>
          </a:ln>
        </p:spPr>
        <p:txBody>
          <a:bodyPr/>
          <a:lstStyle/>
          <a:p>
            <a:endParaRPr/>
          </a:p>
        </p:txBody>
      </p:sp>
      <p:sp>
        <p:nvSpPr>
          <p:cNvPr id="31" name="Shape 29"/>
          <p:cNvSpPr/>
          <p:nvPr/>
        </p:nvSpPr>
        <p:spPr>
          <a:xfrm>
            <a:off x="6766560" y="1554480"/>
            <a:ext cx="1965960" cy="82296"/>
          </a:xfrm>
          <a:prstGeom prst="rect">
            <a:avLst/>
          </a:prstGeom>
          <a:solidFill>
            <a:srgbClr val="0E8A8A"/>
          </a:solidFill>
          <a:ln w="12700">
            <a:solidFill>
              <a:srgbClr val="0E8A8A"/>
            </a:solidFill>
            <a:prstDash val="solid"/>
          </a:ln>
        </p:spPr>
        <p:txBody>
          <a:bodyPr/>
          <a:lstStyle/>
          <a:p>
            <a:endParaRPr/>
          </a:p>
        </p:txBody>
      </p:sp>
      <p:sp>
        <p:nvSpPr>
          <p:cNvPr id="32" name="Shape 30"/>
          <p:cNvSpPr/>
          <p:nvPr/>
        </p:nvSpPr>
        <p:spPr>
          <a:xfrm>
            <a:off x="6931152" y="1783080"/>
            <a:ext cx="384048" cy="384048"/>
          </a:xfrm>
          <a:prstGeom prst="ellipse">
            <a:avLst/>
          </a:prstGeom>
          <a:solidFill>
            <a:srgbClr val="0E8A8A"/>
          </a:solidFill>
          <a:ln w="12700">
            <a:solidFill>
              <a:srgbClr val="0E8A8A"/>
            </a:solidFill>
            <a:prstDash val="solid"/>
          </a:ln>
        </p:spPr>
        <p:txBody>
          <a:bodyPr/>
          <a:lstStyle/>
          <a:p>
            <a:endParaRPr/>
          </a:p>
        </p:txBody>
      </p:sp>
      <p:sp>
        <p:nvSpPr>
          <p:cNvPr id="33" name="Text 31"/>
          <p:cNvSpPr txBox="1"/>
          <p:nvPr/>
        </p:nvSpPr>
        <p:spPr>
          <a:xfrm>
            <a:off x="6931152" y="1783080"/>
            <a:ext cx="384048" cy="384048"/>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P4</a:t>
            </a:r>
            <a:endParaRPr lang="en-US" sz="1000"/>
          </a:p>
        </p:txBody>
      </p:sp>
      <p:sp>
        <p:nvSpPr>
          <p:cNvPr id="34" name="Text 32"/>
          <p:cNvSpPr txBox="1"/>
          <p:nvPr/>
        </p:nvSpPr>
        <p:spPr>
          <a:xfrm>
            <a:off x="6931152" y="2240280"/>
            <a:ext cx="1636776" cy="594360"/>
          </a:xfrm>
          <a:prstGeom prst="rect">
            <a:avLst/>
          </a:prstGeom>
          <a:noFill/>
          <a:ln/>
        </p:spPr>
        <p:txBody>
          <a:bodyPr wrap="square" lIns="0" tIns="0" rIns="0" bIns="0" rtlCol="0" anchor="t"/>
          <a:lstStyle/>
          <a:p>
            <a:pPr marL="0" indent="0">
              <a:lnSpc>
                <a:spcPct val="95000"/>
              </a:lnSpc>
              <a:buNone/>
            </a:pPr>
            <a:r>
              <a:rPr lang="en-US" sz="1150" b="1">
                <a:solidFill>
                  <a:srgbClr val="0E8A8A"/>
                </a:solidFill>
                <a:latin typeface="Cambria" pitchFamily="34" charset="0"/>
                <a:ea typeface="Cambria" pitchFamily="34" charset="-122"/>
                <a:cs typeface="Cambria" pitchFamily="34" charset="-120"/>
              </a:rPr>
              <a:t>Moderniser la </a:t>
            </a:r>
            <a:r>
              <a:rPr lang="en-US" sz="1150" b="1" err="1">
                <a:solidFill>
                  <a:srgbClr val="0E8A8A"/>
                </a:solidFill>
                <a:latin typeface="Cambria" pitchFamily="34" charset="0"/>
                <a:ea typeface="Cambria" pitchFamily="34" charset="-122"/>
                <a:cs typeface="Cambria" pitchFamily="34" charset="-120"/>
              </a:rPr>
              <a:t>filière</a:t>
            </a:r>
            <a:r>
              <a:rPr lang="en-US" sz="1150" b="1">
                <a:solidFill>
                  <a:srgbClr val="0E8A8A"/>
                </a:solidFill>
                <a:latin typeface="Cambria" pitchFamily="34" charset="0"/>
                <a:ea typeface="Cambria" pitchFamily="34" charset="-122"/>
                <a:cs typeface="Cambria" pitchFamily="34" charset="-120"/>
              </a:rPr>
              <a:t> (</a:t>
            </a:r>
            <a:r>
              <a:rPr lang="en-US" sz="1150" b="1" err="1">
                <a:solidFill>
                  <a:srgbClr val="0E8A8A"/>
                </a:solidFill>
                <a:latin typeface="Cambria" pitchFamily="34" charset="0"/>
                <a:ea typeface="Cambria" pitchFamily="34" charset="-122"/>
                <a:cs typeface="Cambria" pitchFamily="34" charset="-120"/>
              </a:rPr>
              <a:t>navires</a:t>
            </a:r>
            <a:r>
              <a:rPr lang="en-US" sz="1150" b="1">
                <a:solidFill>
                  <a:srgbClr val="0E8A8A"/>
                </a:solidFill>
                <a:latin typeface="Cambria" pitchFamily="34" charset="0"/>
                <a:ea typeface="Cambria" pitchFamily="34" charset="-122"/>
                <a:cs typeface="Cambria" pitchFamily="34" charset="-120"/>
              </a:rPr>
              <a:t> et </a:t>
            </a:r>
            <a:r>
              <a:rPr lang="en-US" sz="1150" b="1" err="1">
                <a:solidFill>
                  <a:srgbClr val="0E8A8A"/>
                </a:solidFill>
                <a:latin typeface="Cambria" pitchFamily="34" charset="0"/>
                <a:ea typeface="Cambria" pitchFamily="34" charset="-122"/>
                <a:cs typeface="Cambria" pitchFamily="34" charset="-120"/>
              </a:rPr>
              <a:t>engins</a:t>
            </a:r>
            <a:r>
              <a:rPr lang="en-US" sz="1150" b="1">
                <a:solidFill>
                  <a:srgbClr val="0E8A8A"/>
                </a:solidFill>
                <a:latin typeface="Cambria" pitchFamily="34" charset="0"/>
                <a:ea typeface="Cambria" pitchFamily="34" charset="-122"/>
                <a:cs typeface="Cambria" pitchFamily="34" charset="-120"/>
              </a:rPr>
              <a:t> de </a:t>
            </a:r>
            <a:r>
              <a:rPr lang="en-US" sz="1150" b="1" err="1">
                <a:solidFill>
                  <a:srgbClr val="0E8A8A"/>
                </a:solidFill>
                <a:latin typeface="Cambria" pitchFamily="34" charset="0"/>
                <a:ea typeface="Cambria" pitchFamily="34" charset="-122"/>
                <a:cs typeface="Cambria" pitchFamily="34" charset="-120"/>
              </a:rPr>
              <a:t>pêche</a:t>
            </a:r>
            <a:r>
              <a:rPr lang="en-US" sz="1150" b="1">
                <a:solidFill>
                  <a:srgbClr val="0E8A8A"/>
                </a:solidFill>
                <a:latin typeface="Cambria" pitchFamily="34" charset="0"/>
                <a:ea typeface="Cambria" pitchFamily="34" charset="-122"/>
                <a:cs typeface="Cambria" pitchFamily="34" charset="-120"/>
              </a:rPr>
              <a:t>)</a:t>
            </a:r>
            <a:endParaRPr lang="en-US" sz="1250"/>
          </a:p>
        </p:txBody>
      </p:sp>
      <p:sp>
        <p:nvSpPr>
          <p:cNvPr id="35" name="Text 33"/>
          <p:cNvSpPr txBox="1"/>
          <p:nvPr/>
        </p:nvSpPr>
        <p:spPr>
          <a:xfrm>
            <a:off x="6931152" y="2834640"/>
            <a:ext cx="1636776" cy="868680"/>
          </a:xfrm>
          <a:prstGeom prst="rect">
            <a:avLst/>
          </a:prstGeom>
          <a:noFill/>
          <a:ln/>
        </p:spPr>
        <p:txBody>
          <a:bodyPr wrap="square" lIns="0" tIns="0" rIns="0" bIns="0" rtlCol="0" anchor="t"/>
          <a:lstStyle/>
          <a:p>
            <a:pPr marL="0" indent="0">
              <a:buNone/>
            </a:pPr>
            <a:r>
              <a:rPr lang="fr-FR" sz="800">
                <a:solidFill>
                  <a:srgbClr val="1F2937"/>
                </a:solidFill>
                <a:latin typeface="Calibri" pitchFamily="34" charset="0"/>
                <a:ea typeface="Calibri" pitchFamily="34" charset="-122"/>
                <a:cs typeface="Calibri" pitchFamily="34" charset="-120"/>
              </a:rPr>
              <a:t>Accompagner le développement, l’expérimentation et le déploiement de navires et de matériels de pêche innovants répondant aux besoins économiques des professionnels et aux enjeux environnementaux de la pêche méditerranéenne.</a:t>
            </a:r>
            <a:endParaRPr lang="en-US" sz="850"/>
          </a:p>
        </p:txBody>
      </p:sp>
      <p:sp>
        <p:nvSpPr>
          <p:cNvPr id="36" name="Text 34"/>
          <p:cNvSpPr txBox="1"/>
          <p:nvPr/>
        </p:nvSpPr>
        <p:spPr>
          <a:xfrm>
            <a:off x="6931152" y="3767328"/>
            <a:ext cx="1636776" cy="365760"/>
          </a:xfrm>
          <a:prstGeom prst="rect">
            <a:avLst/>
          </a:prstGeom>
          <a:noFill/>
          <a:ln/>
        </p:spPr>
        <p:txBody>
          <a:bodyPr wrap="square" lIns="0" tIns="0" rIns="0" bIns="0" rtlCol="0" anchor="ctr"/>
          <a:lstStyle/>
          <a:p>
            <a:pPr marL="0" indent="0">
              <a:buNone/>
            </a:pPr>
            <a:r>
              <a:rPr lang="en-US" sz="1800" b="1">
                <a:solidFill>
                  <a:srgbClr val="16256B"/>
                </a:solidFill>
                <a:latin typeface="Cambria" pitchFamily="34" charset="0"/>
                <a:ea typeface="Cambria" pitchFamily="34" charset="-122"/>
                <a:cs typeface="Cambria" pitchFamily="34" charset="-120"/>
              </a:rPr>
              <a:t>2 294 550 €</a:t>
            </a:r>
            <a:endParaRPr lang="en-US" sz="1800"/>
          </a:p>
        </p:txBody>
      </p:sp>
      <p:sp>
        <p:nvSpPr>
          <p:cNvPr id="37" name="Text 35"/>
          <p:cNvSpPr txBox="1"/>
          <p:nvPr/>
        </p:nvSpPr>
        <p:spPr>
          <a:xfrm>
            <a:off x="6931152" y="4133088"/>
            <a:ext cx="1636776" cy="228600"/>
          </a:xfrm>
          <a:prstGeom prst="rect">
            <a:avLst/>
          </a:prstGeom>
          <a:noFill/>
          <a:ln/>
        </p:spPr>
        <p:txBody>
          <a:bodyPr wrap="square" lIns="0" tIns="0" rIns="0" bIns="0" rtlCol="0" anchor="ctr"/>
          <a:lstStyle/>
          <a:p>
            <a:pPr marL="0" indent="0">
              <a:buNone/>
            </a:pPr>
            <a:r>
              <a:rPr lang="en-US" sz="900">
                <a:solidFill>
                  <a:srgbClr val="6B7280"/>
                </a:solidFill>
                <a:latin typeface="Calibri" pitchFamily="34" charset="0"/>
                <a:ea typeface="Calibri" pitchFamily="34" charset="-122"/>
                <a:cs typeface="Calibri" pitchFamily="34" charset="-120"/>
              </a:rPr>
              <a:t>62 % des programmes</a:t>
            </a:r>
            <a:endParaRPr lang="en-US" sz="900"/>
          </a:p>
        </p:txBody>
      </p:sp>
      <p:sp>
        <p:nvSpPr>
          <p:cNvPr id="38" name="Text 36"/>
          <p:cNvSpPr txBox="1"/>
          <p:nvPr/>
        </p:nvSpPr>
        <p:spPr>
          <a:xfrm>
            <a:off x="457200" y="4572000"/>
            <a:ext cx="7863840" cy="228600"/>
          </a:xfrm>
          <a:prstGeom prst="rect">
            <a:avLst/>
          </a:prstGeom>
          <a:noFill/>
          <a:ln/>
        </p:spPr>
        <p:txBody>
          <a:bodyPr wrap="square" lIns="0" tIns="0" rIns="0" bIns="0" rtlCol="0" anchor="ctr"/>
          <a:lstStyle/>
          <a:p>
            <a:pPr marL="0" indent="0">
              <a:buNone/>
            </a:pPr>
            <a:r>
              <a:rPr lang="en-US" sz="750" i="1">
                <a:solidFill>
                  <a:srgbClr val="CADCFC"/>
                </a:solidFill>
                <a:latin typeface="Calibri" pitchFamily="34" charset="0"/>
                <a:ea typeface="Calibri" pitchFamily="34" charset="-122"/>
                <a:cs typeface="Calibri" pitchFamily="34" charset="-120"/>
              </a:rPr>
              <a:t>Engagements </a:t>
            </a:r>
            <a:r>
              <a:rPr lang="en-US" sz="750" i="1" err="1">
                <a:solidFill>
                  <a:srgbClr val="CADCFC"/>
                </a:solidFill>
                <a:latin typeface="Calibri" pitchFamily="34" charset="0"/>
                <a:ea typeface="Calibri" pitchFamily="34" charset="-122"/>
                <a:cs typeface="Calibri" pitchFamily="34" charset="-120"/>
              </a:rPr>
              <a:t>visés</a:t>
            </a:r>
            <a:r>
              <a:rPr lang="en-US" sz="750" i="1">
                <a:solidFill>
                  <a:srgbClr val="CADCFC"/>
                </a:solidFill>
                <a:latin typeface="Calibri" pitchFamily="34" charset="0"/>
                <a:ea typeface="Calibri" pitchFamily="34" charset="-122"/>
                <a:cs typeface="Calibri" pitchFamily="34" charset="-120"/>
              </a:rPr>
              <a:t> 2026-2029. Les </a:t>
            </a:r>
            <a:r>
              <a:rPr lang="en-US" sz="750" i="1" err="1">
                <a:solidFill>
                  <a:srgbClr val="CADCFC"/>
                </a:solidFill>
                <a:latin typeface="Calibri" pitchFamily="34" charset="0"/>
                <a:ea typeface="Calibri" pitchFamily="34" charset="-122"/>
                <a:cs typeface="Calibri" pitchFamily="34" charset="-120"/>
              </a:rPr>
              <a:t>montants</a:t>
            </a:r>
            <a:r>
              <a:rPr lang="en-US" sz="750" i="1">
                <a:solidFill>
                  <a:srgbClr val="CADCFC"/>
                </a:solidFill>
                <a:latin typeface="Calibri" pitchFamily="34" charset="0"/>
                <a:ea typeface="Calibri" pitchFamily="34" charset="-122"/>
                <a:cs typeface="Calibri" pitchFamily="34" charset="-120"/>
              </a:rPr>
              <a:t> ne </a:t>
            </a:r>
            <a:r>
              <a:rPr lang="en-US" sz="750" i="1" err="1">
                <a:solidFill>
                  <a:srgbClr val="CADCFC"/>
                </a:solidFill>
                <a:latin typeface="Calibri" pitchFamily="34" charset="0"/>
                <a:ea typeface="Calibri" pitchFamily="34" charset="-122"/>
                <a:cs typeface="Calibri" pitchFamily="34" charset="-120"/>
              </a:rPr>
              <a:t>sont</a:t>
            </a:r>
            <a:r>
              <a:rPr lang="en-US" sz="750" i="1">
                <a:solidFill>
                  <a:srgbClr val="CADCFC"/>
                </a:solidFill>
                <a:latin typeface="Calibri" pitchFamily="34" charset="0"/>
                <a:ea typeface="Calibri" pitchFamily="34" charset="-122"/>
                <a:cs typeface="Calibri" pitchFamily="34" charset="-120"/>
              </a:rPr>
              <a:t> pas </a:t>
            </a:r>
            <a:r>
              <a:rPr lang="en-US" sz="750" i="1" err="1">
                <a:solidFill>
                  <a:srgbClr val="CADCFC"/>
                </a:solidFill>
                <a:latin typeface="Calibri" pitchFamily="34" charset="0"/>
                <a:ea typeface="Calibri" pitchFamily="34" charset="-122"/>
                <a:cs typeface="Calibri" pitchFamily="34" charset="-120"/>
              </a:rPr>
              <a:t>arrêtés</a:t>
            </a:r>
            <a:r>
              <a:rPr lang="en-US" sz="750" i="1">
                <a:solidFill>
                  <a:srgbClr val="CADCFC"/>
                </a:solidFill>
                <a:latin typeface="Calibri" pitchFamily="34" charset="0"/>
                <a:ea typeface="Calibri" pitchFamily="34" charset="-122"/>
                <a:cs typeface="Calibri" pitchFamily="34" charset="-120"/>
              </a:rPr>
              <a:t>, </a:t>
            </a:r>
            <a:r>
              <a:rPr lang="en-US" sz="750" i="1" err="1">
                <a:solidFill>
                  <a:srgbClr val="CADCFC"/>
                </a:solidFill>
                <a:latin typeface="Calibri" pitchFamily="34" charset="0"/>
                <a:ea typeface="Calibri" pitchFamily="34" charset="-122"/>
                <a:cs typeface="Calibri" pitchFamily="34" charset="-120"/>
              </a:rPr>
              <a:t>aucun</a:t>
            </a:r>
            <a:r>
              <a:rPr lang="en-US" sz="750" i="1">
                <a:solidFill>
                  <a:srgbClr val="CADCFC"/>
                </a:solidFill>
                <a:latin typeface="Calibri" pitchFamily="34" charset="0"/>
                <a:ea typeface="Calibri" pitchFamily="34" charset="-122"/>
                <a:cs typeface="Calibri" pitchFamily="34" charset="-120"/>
              </a:rPr>
              <a:t> devis </a:t>
            </a:r>
            <a:r>
              <a:rPr lang="en-US" sz="750" i="1" err="1">
                <a:solidFill>
                  <a:srgbClr val="CADCFC"/>
                </a:solidFill>
                <a:latin typeface="Calibri" pitchFamily="34" charset="0"/>
                <a:ea typeface="Calibri" pitchFamily="34" charset="-122"/>
                <a:cs typeface="Calibri" pitchFamily="34" charset="-120"/>
              </a:rPr>
              <a:t>signé</a:t>
            </a:r>
            <a:r>
              <a:rPr lang="en-US" sz="750" i="1">
                <a:solidFill>
                  <a:srgbClr val="CADCFC"/>
                </a:solidFill>
                <a:latin typeface="Calibri" pitchFamily="34" charset="0"/>
                <a:ea typeface="Calibri" pitchFamily="34" charset="-122"/>
                <a:cs typeface="Calibri" pitchFamily="34" charset="-120"/>
              </a:rPr>
              <a:t> à </a:t>
            </a:r>
            <a:r>
              <a:rPr lang="en-US" sz="750" i="1" err="1">
                <a:solidFill>
                  <a:srgbClr val="CADCFC"/>
                </a:solidFill>
                <a:latin typeface="Calibri" pitchFamily="34" charset="0"/>
                <a:ea typeface="Calibri" pitchFamily="34" charset="-122"/>
                <a:cs typeface="Calibri" pitchFamily="34" charset="-120"/>
              </a:rPr>
              <a:t>ce</a:t>
            </a:r>
            <a:r>
              <a:rPr lang="en-US" sz="750" i="1">
                <a:solidFill>
                  <a:srgbClr val="CADCFC"/>
                </a:solidFill>
                <a:latin typeface="Calibri" pitchFamily="34" charset="0"/>
                <a:ea typeface="Calibri" pitchFamily="34" charset="-122"/>
                <a:cs typeface="Calibri" pitchFamily="34" charset="-120"/>
              </a:rPr>
              <a:t> </a:t>
            </a:r>
            <a:r>
              <a:rPr lang="en-US" sz="750" i="1" err="1">
                <a:solidFill>
                  <a:srgbClr val="CADCFC"/>
                </a:solidFill>
                <a:latin typeface="Calibri" pitchFamily="34" charset="0"/>
                <a:ea typeface="Calibri" pitchFamily="34" charset="-122"/>
                <a:cs typeface="Calibri" pitchFamily="34" charset="-120"/>
              </a:rPr>
              <a:t>stade</a:t>
            </a:r>
            <a:r>
              <a:rPr lang="en-US" sz="750" i="1">
                <a:solidFill>
                  <a:srgbClr val="CADCFC"/>
                </a:solidFill>
                <a:latin typeface="Calibri" pitchFamily="34" charset="0"/>
                <a:ea typeface="Calibri" pitchFamily="34" charset="-122"/>
                <a:cs typeface="Calibri" pitchFamily="34" charset="-120"/>
              </a:rPr>
              <a:t>. L’enveloppe de référence des programmes atteint 3,92 M€ en incluant les tranches 2030-2031 du </a:t>
            </a:r>
            <a:r>
              <a:rPr lang="en-US" sz="750" i="1" err="1">
                <a:solidFill>
                  <a:srgbClr val="CADCFC"/>
                </a:solidFill>
                <a:latin typeface="Calibri" pitchFamily="34" charset="0"/>
                <a:ea typeface="Calibri" pitchFamily="34" charset="-122"/>
                <a:cs typeface="Calibri" pitchFamily="34" charset="-120"/>
              </a:rPr>
              <a:t>projet</a:t>
            </a:r>
            <a:r>
              <a:rPr lang="en-US" sz="750" i="1">
                <a:solidFill>
                  <a:srgbClr val="CADCFC"/>
                </a:solidFill>
                <a:latin typeface="Calibri" pitchFamily="34" charset="0"/>
                <a:ea typeface="Calibri" pitchFamily="34" charset="-122"/>
                <a:cs typeface="Calibri" pitchFamily="34" charset="-120"/>
              </a:rPr>
              <a:t> de </a:t>
            </a:r>
            <a:r>
              <a:rPr lang="en-US" sz="750" i="1" err="1">
                <a:solidFill>
                  <a:srgbClr val="CADCFC"/>
                </a:solidFill>
                <a:latin typeface="Calibri" pitchFamily="34" charset="0"/>
                <a:ea typeface="Calibri" pitchFamily="34" charset="-122"/>
                <a:cs typeface="Calibri" pitchFamily="34" charset="-120"/>
              </a:rPr>
              <a:t>palangre</a:t>
            </a:r>
            <a:r>
              <a:rPr lang="en-US" sz="750" i="1">
                <a:solidFill>
                  <a:srgbClr val="CADCFC"/>
                </a:solidFill>
                <a:latin typeface="Calibri" pitchFamily="34" charset="0"/>
                <a:ea typeface="Calibri" pitchFamily="34" charset="-122"/>
                <a:cs typeface="Calibri" pitchFamily="34" charset="-120"/>
              </a:rPr>
              <a:t> </a:t>
            </a:r>
            <a:r>
              <a:rPr lang="en-US" sz="750" i="1" err="1">
                <a:solidFill>
                  <a:srgbClr val="CADCFC"/>
                </a:solidFill>
                <a:latin typeface="Calibri" pitchFamily="34" charset="0"/>
                <a:ea typeface="Calibri" pitchFamily="34" charset="-122"/>
                <a:cs typeface="Calibri" pitchFamily="34" charset="-120"/>
              </a:rPr>
              <a:t>connectée</a:t>
            </a:r>
            <a:r>
              <a:rPr lang="en-US" sz="750" i="1">
                <a:solidFill>
                  <a:srgbClr val="CADCFC"/>
                </a:solidFill>
                <a:latin typeface="Calibri" pitchFamily="34" charset="0"/>
                <a:ea typeface="Calibri" pitchFamily="34" charset="-122"/>
                <a:cs typeface="Calibri" pitchFamily="34" charset="-120"/>
              </a:rPr>
              <a:t>. Sous réserve de validation par le CA.</a:t>
            </a:r>
            <a:endParaRPr lang="en-US" sz="750"/>
          </a:p>
        </p:txBody>
      </p:sp>
      <p:sp>
        <p:nvSpPr>
          <p:cNvPr id="39" name="Text 37"/>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CADCFC"/>
                </a:solidFill>
                <a:latin typeface="Calibri" pitchFamily="34" charset="0"/>
                <a:ea typeface="Calibri" pitchFamily="34" charset="-122"/>
                <a:cs typeface="Calibri" pitchFamily="34" charset="-120"/>
              </a:rPr>
              <a:t>6</a:t>
            </a:r>
            <a:endParaRPr lang="en-US" sz="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ctr"/>
          <a:lstStyle/>
          <a:p>
            <a:pPr marL="0" indent="0">
              <a:buNone/>
            </a:pPr>
            <a:r>
              <a:rPr lang="en-US" sz="900" b="1" kern="0" spc="200">
                <a:solidFill>
                  <a:srgbClr val="0E8A8A"/>
                </a:solidFill>
                <a:latin typeface="Calibri" pitchFamily="34" charset="0"/>
                <a:ea typeface="Calibri" pitchFamily="34" charset="-122"/>
                <a:cs typeface="Calibri" pitchFamily="34" charset="-120"/>
              </a:rPr>
              <a:t>NOS PROJETS</a:t>
            </a:r>
            <a:endParaRPr lang="en-US" sz="900"/>
          </a:p>
        </p:txBody>
      </p:sp>
      <p:sp>
        <p:nvSpPr>
          <p:cNvPr id="3" name="Text 1"/>
          <p:cNvSpPr txBox="1"/>
          <p:nvPr/>
        </p:nvSpPr>
        <p:spPr>
          <a:xfrm>
            <a:off x="457200" y="502920"/>
            <a:ext cx="8229600" cy="640080"/>
          </a:xfrm>
          <a:prstGeom prst="rect">
            <a:avLst/>
          </a:prstGeom>
          <a:noFill/>
          <a:ln/>
        </p:spPr>
        <p:txBody>
          <a:bodyPr wrap="square" lIns="0" tIns="0" rIns="0" bIns="0" rtlCol="0" anchor="t"/>
          <a:lstStyle/>
          <a:p>
            <a:r>
              <a:rPr lang="fr-FR" sz="2200" b="1">
                <a:solidFill>
                  <a:srgbClr val="16256B"/>
                </a:solidFill>
                <a:latin typeface="Cambria" pitchFamily="34" charset="0"/>
                <a:ea typeface="Cambria" pitchFamily="34" charset="-122"/>
              </a:rPr>
              <a:t>Cinq</a:t>
            </a:r>
            <a:r>
              <a:rPr lang="fr-FR" sz="2400"/>
              <a:t> </a:t>
            </a:r>
            <a:r>
              <a:rPr lang="fr-FR" sz="2200" b="1">
                <a:solidFill>
                  <a:srgbClr val="16256B"/>
                </a:solidFill>
                <a:latin typeface="Cambria" pitchFamily="34" charset="0"/>
                <a:ea typeface="Cambria" pitchFamily="34" charset="-122"/>
              </a:rPr>
              <a:t>projets phares de Mare </a:t>
            </a:r>
            <a:r>
              <a:rPr lang="fr-FR" sz="2200" b="1" err="1">
                <a:solidFill>
                  <a:srgbClr val="16256B"/>
                </a:solidFill>
                <a:latin typeface="Cambria" pitchFamily="34" charset="0"/>
                <a:ea typeface="Cambria" pitchFamily="34" charset="-122"/>
              </a:rPr>
              <a:t>Durabilis</a:t>
            </a:r>
            <a:endParaRPr lang="en-US" sz="2200" b="1">
              <a:solidFill>
                <a:srgbClr val="16256B"/>
              </a:solidFill>
              <a:latin typeface="Cambria" pitchFamily="34" charset="0"/>
              <a:ea typeface="Cambria" pitchFamily="34" charset="-122"/>
            </a:endParaRPr>
          </a:p>
        </p:txBody>
      </p:sp>
      <p:sp>
        <p:nvSpPr>
          <p:cNvPr id="4" name="Card 0"/>
          <p:cNvSpPr/>
          <p:nvPr/>
        </p:nvSpPr>
        <p:spPr>
          <a:xfrm>
            <a:off x="457200" y="1119999"/>
            <a:ext cx="1572768" cy="3763113"/>
          </a:xfrm>
          <a:prstGeom prst="rect">
            <a:avLst/>
          </a:prstGeom>
          <a:solidFill>
            <a:srgbClr val="F5F7FB"/>
          </a:solidFill>
          <a:ln w="12700">
            <a:solidFill>
              <a:srgbClr val="F5F7FB"/>
            </a:solidFill>
            <a:prstDash val="solid"/>
          </a:ln>
        </p:spPr>
        <p:txBody>
          <a:bodyPr/>
          <a:lstStyle/>
          <a:p>
            <a:endParaRPr/>
          </a:p>
        </p:txBody>
      </p:sp>
      <p:pic>
        <p:nvPicPr>
          <p:cNvPr id="5" name="Photo 0"/>
          <p:cNvPicPr>
            <a:picLocks noChangeAspect="1"/>
          </p:cNvPicPr>
          <p:nvPr/>
        </p:nvPicPr>
        <p:blipFill>
          <a:blip r:embed="rId3"/>
          <a:srcRect l="8204" r="8204"/>
          <a:stretch>
            <a:fillRect/>
          </a:stretch>
        </p:blipFill>
        <p:spPr>
          <a:xfrm>
            <a:off x="457200" y="1120000"/>
            <a:ext cx="1572768" cy="1367874"/>
          </a:xfrm>
          <a:prstGeom prst="rect">
            <a:avLst/>
          </a:prstGeom>
        </p:spPr>
      </p:pic>
      <p:sp>
        <p:nvSpPr>
          <p:cNvPr id="6" name="Tag 0"/>
          <p:cNvSpPr txBox="1"/>
          <p:nvPr/>
        </p:nvSpPr>
        <p:spPr>
          <a:xfrm>
            <a:off x="548640" y="2587874"/>
            <a:ext cx="1389888" cy="180000"/>
          </a:xfrm>
          <a:prstGeom prst="rect">
            <a:avLst/>
          </a:prstGeom>
          <a:noFill/>
          <a:ln/>
        </p:spPr>
        <p:txBody>
          <a:bodyPr wrap="square" lIns="0" tIns="0" rIns="0" bIns="0" rtlCol="0" anchor="ctr"/>
          <a:lstStyle/>
          <a:p>
            <a:pPr marL="0" indent="0">
              <a:buNone/>
            </a:pPr>
            <a:r>
              <a:rPr lang="fr-FR" sz="800" b="1">
                <a:solidFill>
                  <a:srgbClr val="0E8A8A"/>
                </a:solidFill>
                <a:latin typeface="Calibri" pitchFamily="34" charset="0"/>
                <a:ea typeface="Calibri" pitchFamily="34" charset="-122"/>
                <a:cs typeface="Calibri" pitchFamily="34" charset="-120"/>
              </a:rPr>
              <a:t>P1 · 3 × 150 000 €</a:t>
            </a:r>
            <a:endParaRPr lang="fr-FR" sz="800"/>
          </a:p>
        </p:txBody>
      </p:sp>
      <p:sp>
        <p:nvSpPr>
          <p:cNvPr id="7" name="Titre 0"/>
          <p:cNvSpPr txBox="1"/>
          <p:nvPr/>
        </p:nvSpPr>
        <p:spPr>
          <a:xfrm>
            <a:off x="548640" y="2787874"/>
            <a:ext cx="1389888" cy="640000"/>
          </a:xfrm>
          <a:prstGeom prst="rect">
            <a:avLst/>
          </a:prstGeom>
          <a:noFill/>
          <a:ln/>
        </p:spPr>
        <p:txBody>
          <a:bodyPr wrap="square" lIns="0" tIns="0" rIns="0" bIns="0" rtlCol="0" anchor="t"/>
          <a:lstStyle/>
          <a:p>
            <a:r>
              <a:rPr lang="fr-FR" sz="1000" b="1" dirty="0">
                <a:solidFill>
                  <a:srgbClr val="16256B"/>
                </a:solidFill>
                <a:latin typeface="Cambria" pitchFamily="34" charset="0"/>
                <a:ea typeface="Cambria" pitchFamily="34" charset="-122"/>
                <a:cs typeface="Cambria" pitchFamily="34" charset="-120"/>
              </a:rPr>
              <a:t>Étude de l’impact </a:t>
            </a:r>
            <a:r>
              <a:rPr lang="fr-FR" sz="1000" b="1" dirty="0">
                <a:solidFill>
                  <a:srgbClr val="16256B"/>
                </a:solidFill>
                <a:latin typeface="Cambria" pitchFamily="34" charset="0"/>
                <a:ea typeface="Cambria" pitchFamily="34" charset="-122"/>
              </a:rPr>
              <a:t>des pollutions chimiques sur les écosystèmes marins.</a:t>
            </a:r>
          </a:p>
        </p:txBody>
      </p:sp>
      <p:sp>
        <p:nvSpPr>
          <p:cNvPr id="8" name="Desc 0"/>
          <p:cNvSpPr txBox="1"/>
          <p:nvPr/>
        </p:nvSpPr>
        <p:spPr>
          <a:xfrm>
            <a:off x="548640" y="3450000"/>
            <a:ext cx="1389888" cy="740000"/>
          </a:xfrm>
          <a:prstGeom prst="rect">
            <a:avLst/>
          </a:prstGeom>
          <a:noFill/>
          <a:ln/>
        </p:spPr>
        <p:txBody>
          <a:bodyPr wrap="square" lIns="0" tIns="0" rIns="0" bIns="0" rtlCol="0" anchor="t"/>
          <a:lstStyle/>
          <a:p>
            <a:r>
              <a:rPr lang="fr-FR" sz="800">
                <a:solidFill>
                  <a:srgbClr val="1F2937"/>
                </a:solidFill>
                <a:latin typeface="Calibri" pitchFamily="34" charset="0"/>
                <a:ea typeface="Calibri" pitchFamily="34" charset="-122"/>
                <a:cs typeface="Calibri" pitchFamily="34" charset="-120"/>
              </a:rPr>
              <a:t>Etude scientifique sur des pollutions d’origines terrestre et marine sur les écosystèmes côtiers et pélagiques commandée en propre par Mare Durabilis. 2027-2029.</a:t>
            </a:r>
          </a:p>
          <a:p>
            <a:endParaRPr lang="fr-FR" sz="800"/>
          </a:p>
        </p:txBody>
      </p:sp>
      <p:sp>
        <p:nvSpPr>
          <p:cNvPr id="9" name="Note 0"/>
          <p:cNvSpPr txBox="1"/>
          <p:nvPr/>
        </p:nvSpPr>
        <p:spPr>
          <a:xfrm>
            <a:off x="548640" y="4487003"/>
            <a:ext cx="1389888" cy="380000"/>
          </a:xfrm>
          <a:prstGeom prst="rect">
            <a:avLst/>
          </a:prstGeom>
          <a:noFill/>
          <a:ln/>
        </p:spPr>
        <p:txBody>
          <a:bodyPr wrap="square" lIns="0" tIns="0" rIns="0" bIns="0" rtlCol="0" anchor="t"/>
          <a:lstStyle/>
          <a:p>
            <a:pPr marL="0" indent="0">
              <a:buNone/>
            </a:pPr>
            <a:r>
              <a:rPr lang="fr-FR" sz="800" i="1">
                <a:solidFill>
                  <a:srgbClr val="6B7280"/>
                </a:solidFill>
                <a:latin typeface="Calibri" pitchFamily="34" charset="0"/>
                <a:ea typeface="Calibri" pitchFamily="34" charset="-122"/>
                <a:cs typeface="Calibri" pitchFamily="34" charset="-120"/>
              </a:rPr>
              <a:t>Devis non signé – montant indicatif et susceptible d’évolution – T1 2027.</a:t>
            </a:r>
            <a:endParaRPr lang="fr-FR" sz="800"/>
          </a:p>
        </p:txBody>
      </p:sp>
      <p:sp>
        <p:nvSpPr>
          <p:cNvPr id="10" name="Card 1"/>
          <p:cNvSpPr/>
          <p:nvPr/>
        </p:nvSpPr>
        <p:spPr>
          <a:xfrm>
            <a:off x="2121408" y="1119999"/>
            <a:ext cx="1572768" cy="3763113"/>
          </a:xfrm>
          <a:prstGeom prst="rect">
            <a:avLst/>
          </a:prstGeom>
          <a:solidFill>
            <a:srgbClr val="F5F7FB"/>
          </a:solidFill>
          <a:ln w="12700">
            <a:solidFill>
              <a:srgbClr val="F5F7FB"/>
            </a:solidFill>
            <a:prstDash val="solid"/>
          </a:ln>
        </p:spPr>
        <p:txBody>
          <a:bodyPr/>
          <a:lstStyle/>
          <a:p>
            <a:endParaRPr/>
          </a:p>
        </p:txBody>
      </p:sp>
      <p:pic>
        <p:nvPicPr>
          <p:cNvPr id="11" name="Photo 1"/>
          <p:cNvPicPr>
            <a:picLocks noChangeAspect="1"/>
          </p:cNvPicPr>
          <p:nvPr/>
        </p:nvPicPr>
        <p:blipFill>
          <a:blip r:embed="rId4"/>
          <a:srcRect l="8204" r="8204"/>
          <a:stretch>
            <a:fillRect/>
          </a:stretch>
        </p:blipFill>
        <p:spPr>
          <a:xfrm>
            <a:off x="2121408" y="1120000"/>
            <a:ext cx="1572768" cy="1367874"/>
          </a:xfrm>
          <a:prstGeom prst="rect">
            <a:avLst/>
          </a:prstGeom>
        </p:spPr>
      </p:pic>
      <p:sp>
        <p:nvSpPr>
          <p:cNvPr id="12" name="Tag 1"/>
          <p:cNvSpPr txBox="1"/>
          <p:nvPr/>
        </p:nvSpPr>
        <p:spPr>
          <a:xfrm>
            <a:off x="2212848" y="2587874"/>
            <a:ext cx="1389888" cy="180000"/>
          </a:xfrm>
          <a:prstGeom prst="rect">
            <a:avLst/>
          </a:prstGeom>
          <a:noFill/>
          <a:ln/>
        </p:spPr>
        <p:txBody>
          <a:bodyPr wrap="square" lIns="0" tIns="0" rIns="0" bIns="0" rtlCol="0" anchor="ctr"/>
          <a:lstStyle/>
          <a:p>
            <a:pPr marL="0" indent="0">
              <a:buNone/>
            </a:pPr>
            <a:r>
              <a:rPr lang="fr-FR" sz="800" b="1">
                <a:solidFill>
                  <a:srgbClr val="0E8A8A"/>
                </a:solidFill>
                <a:latin typeface="Calibri" pitchFamily="34" charset="0"/>
                <a:ea typeface="Calibri" pitchFamily="34" charset="-122"/>
                <a:cs typeface="Calibri" pitchFamily="34" charset="-120"/>
              </a:rPr>
              <a:t>P2 · 800 000 €</a:t>
            </a:r>
            <a:endParaRPr lang="fr-FR" sz="800"/>
          </a:p>
        </p:txBody>
      </p:sp>
      <p:sp>
        <p:nvSpPr>
          <p:cNvPr id="13" name="Titre 1"/>
          <p:cNvSpPr txBox="1"/>
          <p:nvPr/>
        </p:nvSpPr>
        <p:spPr>
          <a:xfrm>
            <a:off x="2212848" y="2787874"/>
            <a:ext cx="1389888" cy="640000"/>
          </a:xfrm>
          <a:prstGeom prst="rect">
            <a:avLst/>
          </a:prstGeom>
          <a:noFill/>
          <a:ln/>
        </p:spPr>
        <p:txBody>
          <a:bodyPr wrap="square" lIns="0" tIns="0" rIns="0" bIns="0" rtlCol="0" anchor="t"/>
          <a:lstStyle/>
          <a:p>
            <a:pPr marL="0" indent="0">
              <a:buNone/>
            </a:pPr>
            <a:r>
              <a:rPr lang="fr-FR" sz="1000" b="1" dirty="0">
                <a:solidFill>
                  <a:srgbClr val="16256B"/>
                </a:solidFill>
                <a:latin typeface="Cambria" pitchFamily="34" charset="0"/>
                <a:ea typeface="Cambria" pitchFamily="34" charset="-122"/>
                <a:cs typeface="Cambria" pitchFamily="34" charset="-120"/>
              </a:rPr>
              <a:t>Faire des parcs éoliens des refuges pour la biodiversité</a:t>
            </a:r>
            <a:endParaRPr lang="fr-FR" sz="800" dirty="0"/>
          </a:p>
        </p:txBody>
      </p:sp>
      <p:sp>
        <p:nvSpPr>
          <p:cNvPr id="14" name="Desc 1"/>
          <p:cNvSpPr txBox="1"/>
          <p:nvPr/>
        </p:nvSpPr>
        <p:spPr>
          <a:xfrm>
            <a:off x="2212848" y="3447874"/>
            <a:ext cx="1481328" cy="740000"/>
          </a:xfrm>
          <a:prstGeom prst="rect">
            <a:avLst/>
          </a:prstGeom>
          <a:noFill/>
          <a:ln/>
        </p:spPr>
        <p:txBody>
          <a:bodyPr wrap="square" lIns="0" tIns="0" rIns="0" bIns="0" rtlCol="0" anchor="t"/>
          <a:lstStyle/>
          <a:p>
            <a:r>
              <a:rPr lang="fr-FR" sz="800">
                <a:solidFill>
                  <a:srgbClr val="1F2937"/>
                </a:solidFill>
                <a:latin typeface="Calibri" pitchFamily="34" charset="0"/>
                <a:ea typeface="Calibri" pitchFamily="34" charset="-122"/>
                <a:cs typeface="Calibri" pitchFamily="34" charset="-120"/>
              </a:rPr>
              <a:t>Faire des futurs parcs éoliens flottants de Méditerranée de véritables espaces de régénération écologique et de coactivité maritime, en s’appuyant sur des structures écoconçues, bio-inspirées et bas carbone, capables de renforcer la biodiversité tout en favorisant le maintien et la pérennité des activités de pêche.</a:t>
            </a:r>
          </a:p>
        </p:txBody>
      </p:sp>
      <p:sp>
        <p:nvSpPr>
          <p:cNvPr id="16" name="Card 2"/>
          <p:cNvSpPr/>
          <p:nvPr/>
        </p:nvSpPr>
        <p:spPr>
          <a:xfrm>
            <a:off x="3785616" y="1119999"/>
            <a:ext cx="1572768" cy="3763114"/>
          </a:xfrm>
          <a:prstGeom prst="rect">
            <a:avLst/>
          </a:prstGeom>
          <a:solidFill>
            <a:srgbClr val="F5F7FB"/>
          </a:solidFill>
          <a:ln w="12700">
            <a:solidFill>
              <a:srgbClr val="F5F7FB"/>
            </a:solidFill>
            <a:prstDash val="solid"/>
          </a:ln>
        </p:spPr>
        <p:txBody>
          <a:bodyPr/>
          <a:lstStyle/>
          <a:p>
            <a:endParaRPr/>
          </a:p>
        </p:txBody>
      </p:sp>
      <p:pic>
        <p:nvPicPr>
          <p:cNvPr id="17" name="Photo 2"/>
          <p:cNvPicPr>
            <a:picLocks noChangeAspect="1"/>
          </p:cNvPicPr>
          <p:nvPr/>
        </p:nvPicPr>
        <p:blipFill>
          <a:blip r:embed="rId5"/>
          <a:srcRect l="8204" r="8204"/>
          <a:stretch>
            <a:fillRect/>
          </a:stretch>
        </p:blipFill>
        <p:spPr>
          <a:xfrm>
            <a:off x="3785616" y="1120000"/>
            <a:ext cx="1572768" cy="1367874"/>
          </a:xfrm>
          <a:prstGeom prst="rect">
            <a:avLst/>
          </a:prstGeom>
        </p:spPr>
      </p:pic>
      <p:sp>
        <p:nvSpPr>
          <p:cNvPr id="18" name="Tag 2"/>
          <p:cNvSpPr txBox="1"/>
          <p:nvPr/>
        </p:nvSpPr>
        <p:spPr>
          <a:xfrm>
            <a:off x="3877056" y="2587874"/>
            <a:ext cx="1389888" cy="180000"/>
          </a:xfrm>
          <a:prstGeom prst="rect">
            <a:avLst/>
          </a:prstGeom>
          <a:noFill/>
          <a:ln/>
        </p:spPr>
        <p:txBody>
          <a:bodyPr wrap="square" lIns="0" tIns="0" rIns="0" bIns="0" rtlCol="0" anchor="ctr"/>
          <a:lstStyle/>
          <a:p>
            <a:pPr marL="0" indent="0">
              <a:buNone/>
            </a:pPr>
            <a:r>
              <a:rPr lang="fr-FR" sz="800" b="1">
                <a:solidFill>
                  <a:srgbClr val="0E8A8A"/>
                </a:solidFill>
                <a:latin typeface="Calibri" pitchFamily="34" charset="0"/>
                <a:ea typeface="Calibri" pitchFamily="34" charset="-122"/>
                <a:cs typeface="Calibri" pitchFamily="34" charset="-120"/>
              </a:rPr>
              <a:t>P3 · 4 × 43 000 €</a:t>
            </a:r>
            <a:endParaRPr lang="fr-FR" sz="800"/>
          </a:p>
        </p:txBody>
      </p:sp>
      <p:sp>
        <p:nvSpPr>
          <p:cNvPr id="19" name="Titre 2"/>
          <p:cNvSpPr txBox="1"/>
          <p:nvPr/>
        </p:nvSpPr>
        <p:spPr>
          <a:xfrm>
            <a:off x="3877056" y="2787874"/>
            <a:ext cx="1389888" cy="640000"/>
          </a:xfrm>
          <a:prstGeom prst="rect">
            <a:avLst/>
          </a:prstGeom>
          <a:noFill/>
          <a:ln/>
        </p:spPr>
        <p:txBody>
          <a:bodyPr wrap="square" lIns="0" tIns="0" rIns="0" bIns="0" rtlCol="0" anchor="t"/>
          <a:lstStyle/>
          <a:p>
            <a:pPr marL="0" indent="0">
              <a:buNone/>
            </a:pPr>
            <a:r>
              <a:rPr lang="fr-FR" sz="1000" b="1">
                <a:solidFill>
                  <a:srgbClr val="16256B"/>
                </a:solidFill>
                <a:latin typeface="Cambria" pitchFamily="34" charset="0"/>
                <a:ea typeface="Cambria" pitchFamily="34" charset="-122"/>
                <a:cs typeface="Cambria" pitchFamily="34" charset="-120"/>
              </a:rPr>
              <a:t>Collecter et suivre les déchets plastiques remontés par les chalutiers</a:t>
            </a:r>
            <a:endParaRPr lang="fr-FR" sz="800"/>
          </a:p>
        </p:txBody>
      </p:sp>
      <p:sp>
        <p:nvSpPr>
          <p:cNvPr id="20" name="Desc 2"/>
          <p:cNvSpPr txBox="1"/>
          <p:nvPr/>
        </p:nvSpPr>
        <p:spPr>
          <a:xfrm>
            <a:off x="3877056" y="3450000"/>
            <a:ext cx="1389888" cy="740000"/>
          </a:xfrm>
          <a:prstGeom prst="rect">
            <a:avLst/>
          </a:prstGeom>
          <a:noFill/>
          <a:ln/>
        </p:spPr>
        <p:txBody>
          <a:bodyPr wrap="square" lIns="0" tIns="0" rIns="0" bIns="0" rtlCol="0" anchor="t"/>
          <a:lstStyle/>
          <a:p>
            <a:r>
              <a:rPr lang="fr-FR" sz="800" dirty="0">
                <a:solidFill>
                  <a:srgbClr val="1F2937"/>
                </a:solidFill>
                <a:latin typeface="Calibri" pitchFamily="34" charset="0"/>
                <a:ea typeface="Calibri" pitchFamily="34" charset="-122"/>
                <a:cs typeface="Calibri" pitchFamily="34" charset="-120"/>
              </a:rPr>
              <a:t>Rémunération de la flotte pour le tri du plastique à bord et son traçage via une application, de la collecte en mer jusqu’au recyclage.</a:t>
            </a:r>
            <a:endParaRPr lang="fr-FR" sz="800" dirty="0"/>
          </a:p>
        </p:txBody>
      </p:sp>
      <p:sp>
        <p:nvSpPr>
          <p:cNvPr id="21" name="Note 2"/>
          <p:cNvSpPr txBox="1"/>
          <p:nvPr/>
        </p:nvSpPr>
        <p:spPr>
          <a:xfrm>
            <a:off x="3877056" y="4503112"/>
            <a:ext cx="1389888" cy="380000"/>
          </a:xfrm>
          <a:prstGeom prst="rect">
            <a:avLst/>
          </a:prstGeom>
          <a:noFill/>
          <a:ln/>
        </p:spPr>
        <p:txBody>
          <a:bodyPr wrap="square" lIns="0" tIns="0" rIns="0" bIns="0" rtlCol="0" anchor="t"/>
          <a:lstStyle/>
          <a:p>
            <a:pPr marL="0" indent="0">
              <a:buNone/>
            </a:pPr>
            <a:r>
              <a:rPr lang="fr-FR" sz="800" i="1">
                <a:solidFill>
                  <a:srgbClr val="6B7280"/>
                </a:solidFill>
                <a:latin typeface="Calibri" pitchFamily="34" charset="0"/>
                <a:ea typeface="Calibri" pitchFamily="34" charset="-122"/>
                <a:cs typeface="Calibri" pitchFamily="34" charset="-120"/>
              </a:rPr>
              <a:t>Correspond à un versement de 1 000 € pour chaque chalutier. – T4 2026.</a:t>
            </a:r>
            <a:endParaRPr lang="fr-FR" sz="800"/>
          </a:p>
        </p:txBody>
      </p:sp>
      <p:sp>
        <p:nvSpPr>
          <p:cNvPr id="22" name="Card 3"/>
          <p:cNvSpPr/>
          <p:nvPr/>
        </p:nvSpPr>
        <p:spPr>
          <a:xfrm>
            <a:off x="5449824" y="1120000"/>
            <a:ext cx="1572768" cy="3763112"/>
          </a:xfrm>
          <a:prstGeom prst="rect">
            <a:avLst/>
          </a:prstGeom>
          <a:solidFill>
            <a:srgbClr val="F5F7FB"/>
          </a:solidFill>
          <a:ln w="12700">
            <a:solidFill>
              <a:srgbClr val="F5F7FB"/>
            </a:solidFill>
            <a:prstDash val="solid"/>
          </a:ln>
        </p:spPr>
        <p:txBody>
          <a:bodyPr/>
          <a:lstStyle/>
          <a:p>
            <a:endParaRPr/>
          </a:p>
        </p:txBody>
      </p:sp>
      <p:pic>
        <p:nvPicPr>
          <p:cNvPr id="23" name="Photo 3"/>
          <p:cNvPicPr>
            <a:picLocks noChangeAspect="1"/>
          </p:cNvPicPr>
          <p:nvPr/>
        </p:nvPicPr>
        <p:blipFill>
          <a:blip r:embed="rId6"/>
          <a:srcRect l="8204" r="8204"/>
          <a:stretch>
            <a:fillRect/>
          </a:stretch>
        </p:blipFill>
        <p:spPr>
          <a:xfrm>
            <a:off x="5449824" y="1120000"/>
            <a:ext cx="1572768" cy="1367874"/>
          </a:xfrm>
          <a:prstGeom prst="rect">
            <a:avLst/>
          </a:prstGeom>
        </p:spPr>
      </p:pic>
      <p:sp>
        <p:nvSpPr>
          <p:cNvPr id="24" name="Tag 3"/>
          <p:cNvSpPr txBox="1"/>
          <p:nvPr/>
        </p:nvSpPr>
        <p:spPr>
          <a:xfrm>
            <a:off x="5541264" y="2587874"/>
            <a:ext cx="1389888" cy="180000"/>
          </a:xfrm>
          <a:prstGeom prst="rect">
            <a:avLst/>
          </a:prstGeom>
          <a:noFill/>
          <a:ln/>
        </p:spPr>
        <p:txBody>
          <a:bodyPr wrap="square" lIns="0" tIns="0" rIns="0" bIns="0" rtlCol="0" anchor="ctr"/>
          <a:lstStyle/>
          <a:p>
            <a:pPr marL="0" indent="0">
              <a:buNone/>
            </a:pPr>
            <a:r>
              <a:rPr lang="fr-FR" sz="800" b="1">
                <a:solidFill>
                  <a:srgbClr val="0E8A8A"/>
                </a:solidFill>
                <a:latin typeface="Calibri" pitchFamily="34" charset="0"/>
                <a:ea typeface="Calibri" pitchFamily="34" charset="-122"/>
                <a:cs typeface="Calibri" pitchFamily="34" charset="-120"/>
              </a:rPr>
              <a:t>P4 · 224 550 € sur trois ans</a:t>
            </a:r>
            <a:endParaRPr lang="fr-FR" sz="800"/>
          </a:p>
        </p:txBody>
      </p:sp>
      <p:sp>
        <p:nvSpPr>
          <p:cNvPr id="25" name="Titre 3"/>
          <p:cNvSpPr txBox="1"/>
          <p:nvPr/>
        </p:nvSpPr>
        <p:spPr>
          <a:xfrm>
            <a:off x="5541264" y="2787874"/>
            <a:ext cx="1389888" cy="640000"/>
          </a:xfrm>
          <a:prstGeom prst="rect">
            <a:avLst/>
          </a:prstGeom>
          <a:noFill/>
          <a:ln/>
        </p:spPr>
        <p:txBody>
          <a:bodyPr wrap="square" lIns="0" tIns="0" rIns="0" bIns="0" rtlCol="0" anchor="t"/>
          <a:lstStyle/>
          <a:p>
            <a:pPr marL="0" indent="0">
              <a:buNone/>
            </a:pPr>
            <a:r>
              <a:rPr lang="fr-FR" sz="1000" b="1">
                <a:solidFill>
                  <a:srgbClr val="16256B"/>
                </a:solidFill>
                <a:latin typeface="Cambria" pitchFamily="34" charset="0"/>
                <a:ea typeface="Cambria" pitchFamily="34" charset="-122"/>
                <a:cs typeface="Cambria" pitchFamily="34" charset="-120"/>
              </a:rPr>
              <a:t>Palangre connectée</a:t>
            </a:r>
            <a:endParaRPr lang="fr-FR" sz="800"/>
          </a:p>
        </p:txBody>
      </p:sp>
      <p:sp>
        <p:nvSpPr>
          <p:cNvPr id="26" name="Desc 3"/>
          <p:cNvSpPr txBox="1"/>
          <p:nvPr/>
        </p:nvSpPr>
        <p:spPr>
          <a:xfrm>
            <a:off x="5541264" y="3450000"/>
            <a:ext cx="1389888" cy="740000"/>
          </a:xfrm>
          <a:prstGeom prst="rect">
            <a:avLst/>
          </a:prstGeom>
          <a:noFill/>
          <a:ln/>
        </p:spPr>
        <p:txBody>
          <a:bodyPr wrap="square" lIns="0" tIns="0" rIns="0" bIns="0" rtlCol="0" anchor="t"/>
          <a:lstStyle/>
          <a:p>
            <a:r>
              <a:rPr lang="fr-FR" sz="800">
                <a:solidFill>
                  <a:srgbClr val="1F2937"/>
                </a:solidFill>
                <a:latin typeface="Calibri" pitchFamily="34" charset="0"/>
                <a:ea typeface="Calibri" pitchFamily="34" charset="-122"/>
                <a:cs typeface="Calibri" pitchFamily="34" charset="-120"/>
              </a:rPr>
              <a:t>Un engin de pêche intelligent et sélectif permettant d’identifier les espèces capturées sur les hameçons afin de libérer rapidement les espèces sensibles ou protégées.</a:t>
            </a:r>
            <a:endParaRPr lang="fr-FR" sz="800"/>
          </a:p>
        </p:txBody>
      </p:sp>
      <p:sp>
        <p:nvSpPr>
          <p:cNvPr id="27" name="Note 3"/>
          <p:cNvSpPr txBox="1"/>
          <p:nvPr/>
        </p:nvSpPr>
        <p:spPr>
          <a:xfrm>
            <a:off x="5495544" y="4481145"/>
            <a:ext cx="1572768" cy="380000"/>
          </a:xfrm>
          <a:prstGeom prst="rect">
            <a:avLst/>
          </a:prstGeom>
          <a:noFill/>
          <a:ln/>
        </p:spPr>
        <p:txBody>
          <a:bodyPr wrap="square" lIns="0" tIns="0" rIns="0" bIns="0" rtlCol="0" anchor="t"/>
          <a:lstStyle/>
          <a:p>
            <a:pPr marL="0" indent="0">
              <a:buNone/>
            </a:pPr>
            <a:r>
              <a:rPr lang="fr-FR" sz="800" i="1">
                <a:solidFill>
                  <a:srgbClr val="6B7280"/>
                </a:solidFill>
                <a:latin typeface="Calibri" pitchFamily="34" charset="0"/>
                <a:ea typeface="Calibri" pitchFamily="34" charset="-122"/>
                <a:cs typeface="Calibri" pitchFamily="34" charset="-120"/>
              </a:rPr>
              <a:t>Co-financement Ifremer (50 %), </a:t>
            </a:r>
          </a:p>
          <a:p>
            <a:pPr marL="0" indent="0">
              <a:buNone/>
            </a:pPr>
            <a:r>
              <a:rPr lang="fr-FR" sz="800" i="1">
                <a:solidFill>
                  <a:srgbClr val="6B7280"/>
                </a:solidFill>
                <a:latin typeface="Calibri" pitchFamily="34" charset="0"/>
                <a:ea typeface="Calibri" pitchFamily="34" charset="-122"/>
                <a:cs typeface="Calibri" pitchFamily="34" charset="-120"/>
              </a:rPr>
              <a:t>WWF et Mare Durabilis en discussion pour compléter – T1 2027.</a:t>
            </a:r>
            <a:endParaRPr lang="fr-FR" sz="800"/>
          </a:p>
        </p:txBody>
      </p:sp>
      <p:sp>
        <p:nvSpPr>
          <p:cNvPr id="28" name="Card 4"/>
          <p:cNvSpPr/>
          <p:nvPr/>
        </p:nvSpPr>
        <p:spPr>
          <a:xfrm>
            <a:off x="7114032" y="1139160"/>
            <a:ext cx="1572768" cy="3743954"/>
          </a:xfrm>
          <a:prstGeom prst="rect">
            <a:avLst/>
          </a:prstGeom>
          <a:solidFill>
            <a:srgbClr val="F5F7FB"/>
          </a:solidFill>
          <a:ln w="12700">
            <a:solidFill>
              <a:srgbClr val="F5F7FB"/>
            </a:solidFill>
            <a:prstDash val="solid"/>
          </a:ln>
        </p:spPr>
        <p:txBody>
          <a:bodyPr/>
          <a:lstStyle/>
          <a:p>
            <a:endParaRPr/>
          </a:p>
        </p:txBody>
      </p:sp>
      <p:pic>
        <p:nvPicPr>
          <p:cNvPr id="29" name="Photo 4"/>
          <p:cNvPicPr>
            <a:picLocks noChangeAspect="1"/>
          </p:cNvPicPr>
          <p:nvPr/>
        </p:nvPicPr>
        <p:blipFill>
          <a:blip r:embed="rId7"/>
          <a:srcRect l="8204" r="8204"/>
          <a:stretch>
            <a:fillRect/>
          </a:stretch>
        </p:blipFill>
        <p:spPr>
          <a:xfrm>
            <a:off x="7114032" y="1120000"/>
            <a:ext cx="1572768" cy="1367874"/>
          </a:xfrm>
          <a:prstGeom prst="rect">
            <a:avLst/>
          </a:prstGeom>
        </p:spPr>
      </p:pic>
      <p:sp>
        <p:nvSpPr>
          <p:cNvPr id="30" name="Tag 4"/>
          <p:cNvSpPr txBox="1"/>
          <p:nvPr/>
        </p:nvSpPr>
        <p:spPr>
          <a:xfrm>
            <a:off x="7205472" y="2587874"/>
            <a:ext cx="1389888" cy="180000"/>
          </a:xfrm>
          <a:prstGeom prst="rect">
            <a:avLst/>
          </a:prstGeom>
          <a:noFill/>
          <a:ln/>
        </p:spPr>
        <p:txBody>
          <a:bodyPr wrap="square" lIns="0" tIns="0" rIns="0" bIns="0" rtlCol="0" anchor="ctr"/>
          <a:lstStyle/>
          <a:p>
            <a:pPr marL="0" indent="0">
              <a:buNone/>
            </a:pPr>
            <a:r>
              <a:rPr lang="fr-FR" sz="800" b="1">
                <a:solidFill>
                  <a:srgbClr val="0E8A8A"/>
                </a:solidFill>
                <a:latin typeface="Calibri" pitchFamily="34" charset="0"/>
                <a:ea typeface="Calibri" pitchFamily="34" charset="-122"/>
                <a:cs typeface="Calibri" pitchFamily="34" charset="-120"/>
              </a:rPr>
              <a:t>P4 · 2 070 000 €</a:t>
            </a:r>
            <a:endParaRPr lang="fr-FR" sz="800"/>
          </a:p>
        </p:txBody>
      </p:sp>
      <p:sp>
        <p:nvSpPr>
          <p:cNvPr id="31" name="Titre 4"/>
          <p:cNvSpPr txBox="1"/>
          <p:nvPr/>
        </p:nvSpPr>
        <p:spPr>
          <a:xfrm>
            <a:off x="7205472" y="2787874"/>
            <a:ext cx="1389888" cy="640000"/>
          </a:xfrm>
          <a:prstGeom prst="rect">
            <a:avLst/>
          </a:prstGeom>
          <a:noFill/>
          <a:ln/>
        </p:spPr>
        <p:txBody>
          <a:bodyPr wrap="square" lIns="0" tIns="0" rIns="0" bIns="0" rtlCol="0" anchor="t"/>
          <a:lstStyle/>
          <a:p>
            <a:pPr marL="0" indent="0">
              <a:buNone/>
            </a:pPr>
            <a:r>
              <a:rPr lang="fr-FR" sz="1000" b="1">
                <a:solidFill>
                  <a:srgbClr val="16256B"/>
                </a:solidFill>
                <a:latin typeface="Cambria" pitchFamily="34" charset="0"/>
                <a:ea typeface="Cambria" pitchFamily="34" charset="-122"/>
                <a:cs typeface="Cambria" pitchFamily="34" charset="-120"/>
              </a:rPr>
              <a:t>Conception et construction d’un chalutier bas carbone</a:t>
            </a:r>
            <a:endParaRPr lang="fr-FR" sz="800"/>
          </a:p>
        </p:txBody>
      </p:sp>
      <p:sp>
        <p:nvSpPr>
          <p:cNvPr id="32" name="Desc 4"/>
          <p:cNvSpPr txBox="1"/>
          <p:nvPr/>
        </p:nvSpPr>
        <p:spPr>
          <a:xfrm>
            <a:off x="7205472" y="3450000"/>
            <a:ext cx="1389888" cy="740000"/>
          </a:xfrm>
          <a:prstGeom prst="rect">
            <a:avLst/>
          </a:prstGeom>
          <a:noFill/>
          <a:ln/>
        </p:spPr>
        <p:txBody>
          <a:bodyPr wrap="square" lIns="0" tIns="0" rIns="0" bIns="0" rtlCol="0" anchor="t"/>
          <a:lstStyle/>
          <a:p>
            <a:pPr marL="0" indent="0">
              <a:buNone/>
            </a:pPr>
            <a:r>
              <a:rPr lang="fr-FR" sz="800">
                <a:solidFill>
                  <a:srgbClr val="1F2937"/>
                </a:solidFill>
                <a:latin typeface="Calibri" pitchFamily="34" charset="0"/>
                <a:ea typeface="Calibri" pitchFamily="34" charset="-122"/>
                <a:cs typeface="Calibri" pitchFamily="34" charset="-120"/>
              </a:rPr>
              <a:t>Étude confiée à un architecte naval (70 000 €, 2026) pour concevoir une tête de série reproductible ; construction du démonstrateur en 2028 (2 000 000 €).</a:t>
            </a:r>
            <a:endParaRPr lang="fr-FR" sz="800"/>
          </a:p>
        </p:txBody>
      </p:sp>
      <p:sp>
        <p:nvSpPr>
          <p:cNvPr id="33" name="Note 4"/>
          <p:cNvSpPr txBox="1"/>
          <p:nvPr/>
        </p:nvSpPr>
        <p:spPr>
          <a:xfrm>
            <a:off x="7205472" y="4470892"/>
            <a:ext cx="1389888" cy="380000"/>
          </a:xfrm>
          <a:prstGeom prst="rect">
            <a:avLst/>
          </a:prstGeom>
          <a:noFill/>
          <a:ln/>
        </p:spPr>
        <p:txBody>
          <a:bodyPr wrap="square" lIns="0" tIns="0" rIns="0" bIns="0" rtlCol="0" anchor="t"/>
          <a:lstStyle/>
          <a:p>
            <a:pPr marL="0" indent="0">
              <a:buNone/>
            </a:pPr>
            <a:r>
              <a:rPr lang="fr-FR" sz="800" i="1">
                <a:solidFill>
                  <a:srgbClr val="6B7280"/>
                </a:solidFill>
                <a:latin typeface="Calibri" pitchFamily="34" charset="0"/>
                <a:ea typeface="Calibri" pitchFamily="34" charset="-122"/>
                <a:cs typeface="Calibri" pitchFamily="34" charset="-120"/>
              </a:rPr>
              <a:t>Devis en cours de définition par le cabinet MAURIC, part de fonds propres du projet – T4 2026.</a:t>
            </a:r>
          </a:p>
        </p:txBody>
      </p:sp>
      <p:sp>
        <p:nvSpPr>
          <p:cNvPr id="34" name="Text 22"/>
          <p:cNvSpPr txBox="1"/>
          <p:nvPr/>
        </p:nvSpPr>
        <p:spPr>
          <a:xfrm>
            <a:off x="457200" y="4883113"/>
            <a:ext cx="8229600" cy="228600"/>
          </a:xfrm>
          <a:prstGeom prst="rect">
            <a:avLst/>
          </a:prstGeom>
          <a:noFill/>
          <a:ln/>
        </p:spPr>
        <p:txBody>
          <a:bodyPr wrap="square" lIns="0" tIns="0" rIns="0" bIns="0" rtlCol="0" anchor="ctr"/>
          <a:lstStyle/>
          <a:p>
            <a:r>
              <a:rPr lang="fr-FR" sz="750" i="1">
                <a:solidFill>
                  <a:srgbClr val="6B7280"/>
                </a:solidFill>
                <a:latin typeface="Calibri" pitchFamily="34" charset="0"/>
                <a:ea typeface="Calibri" pitchFamily="34" charset="-122"/>
                <a:cs typeface="Calibri" pitchFamily="34" charset="-120"/>
              </a:rPr>
              <a:t>Montants prévisionnels au titre du fonds sur la période 2026-2029. Sous réserve de validation par le CA. Illustrations de la palangre connectée et de Fishwind – vues d’artiste.</a:t>
            </a:r>
            <a:endParaRPr lang="en-US" sz="750"/>
          </a:p>
        </p:txBody>
      </p:sp>
      <p:sp>
        <p:nvSpPr>
          <p:cNvPr id="35" name="Text 23"/>
          <p:cNvSpPr txBox="1"/>
          <p:nvPr/>
        </p:nvSpPr>
        <p:spPr>
          <a:xfrm>
            <a:off x="8503920" y="4773168"/>
            <a:ext cx="274320" cy="228600"/>
          </a:xfrm>
          <a:prstGeom prst="rect">
            <a:avLst/>
          </a:prstGeom>
          <a:noFill/>
          <a:ln/>
        </p:spPr>
        <p:txBody>
          <a:bodyPr wrap="square" lIns="0" tIns="0" rIns="0" bIns="0" rtlCol="0" anchor="ctr"/>
          <a:lstStyle/>
          <a:p>
            <a:pPr marL="0" indent="0" algn="r">
              <a:buNone/>
            </a:pPr>
            <a:r>
              <a:rPr lang="en-US" sz="800">
                <a:solidFill>
                  <a:srgbClr val="6B7280"/>
                </a:solidFill>
                <a:latin typeface="Calibri" pitchFamily="34" charset="0"/>
                <a:ea typeface="Calibri" pitchFamily="34" charset="-122"/>
                <a:cs typeface="Calibri" pitchFamily="34" charset="-120"/>
              </a:rPr>
              <a:t>7</a:t>
            </a:r>
            <a:endParaRPr lang="en-US" sz="800"/>
          </a:p>
        </p:txBody>
      </p:sp>
      <p:sp>
        <p:nvSpPr>
          <p:cNvPr id="42" name="Note 0">
            <a:extLst>
              <a:ext uri="{FF2B5EF4-FFF2-40B4-BE49-F238E27FC236}">
                <a16:creationId xmlns:a16="http://schemas.microsoft.com/office/drawing/2014/main" id="{6CFBFB6F-230F-388F-E01E-7C18C877C0B9}"/>
              </a:ext>
            </a:extLst>
          </p:cNvPr>
          <p:cNvSpPr txBox="1"/>
          <p:nvPr/>
        </p:nvSpPr>
        <p:spPr>
          <a:xfrm>
            <a:off x="2212848" y="4731713"/>
            <a:ext cx="1389888" cy="380000"/>
          </a:xfrm>
          <a:prstGeom prst="rect">
            <a:avLst/>
          </a:prstGeom>
          <a:noFill/>
          <a:ln/>
        </p:spPr>
        <p:txBody>
          <a:bodyPr wrap="square" lIns="0" tIns="0" rIns="0" bIns="0" rtlCol="0" anchor="t"/>
          <a:lstStyle/>
          <a:p>
            <a:r>
              <a:rPr lang="fr-FR" sz="800" i="1">
                <a:solidFill>
                  <a:srgbClr val="6B7280"/>
                </a:solidFill>
                <a:latin typeface="Calibri" pitchFamily="34" charset="0"/>
                <a:ea typeface="Calibri" pitchFamily="34" charset="-122"/>
                <a:cs typeface="Calibri" pitchFamily="34" charset="-120"/>
              </a:rPr>
              <a:t>Création start-up T3 2027.</a:t>
            </a:r>
          </a:p>
          <a:p>
            <a:pPr marL="0" indent="0">
              <a:buNone/>
            </a:pPr>
            <a:endParaRPr lang="fr-FR" sz="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256B">
              <a:alpha val="65000"/>
            </a:srgbClr>
          </a:solidFill>
          <a:ln w="12700">
            <a:solidFill>
              <a:srgbClr val="16256B">
                <a:alpha val="0"/>
              </a:srgbClr>
            </a:solidFill>
            <a:prstDash val="solid"/>
          </a:ln>
        </p:spPr>
        <p:txBody>
          <a:bodyPr/>
          <a:lstStyle/>
          <a:p>
            <a:endParaRPr/>
          </a:p>
        </p:txBody>
      </p:sp>
      <p:sp>
        <p:nvSpPr>
          <p:cNvPr id="3" name="Text 1"/>
          <p:cNvSpPr txBox="1"/>
          <p:nvPr/>
        </p:nvSpPr>
        <p:spPr>
          <a:xfrm>
            <a:off x="457200" y="320040"/>
            <a:ext cx="8229600" cy="228600"/>
          </a:xfrm>
          <a:prstGeom prst="rect">
            <a:avLst/>
          </a:prstGeom>
          <a:noFill/>
          <a:ln/>
        </p:spPr>
        <p:txBody>
          <a:bodyPr wrap="square" lIns="0" tIns="0" rIns="0" bIns="0" rtlCol="0" anchor="ctr"/>
          <a:lstStyle/>
          <a:p>
            <a:pPr marL="0" indent="0">
              <a:buNone/>
            </a:pPr>
            <a:r>
              <a:rPr lang="en-US" sz="900" b="1" kern="0" spc="300">
                <a:solidFill>
                  <a:srgbClr val="7FD3D0"/>
                </a:solidFill>
                <a:latin typeface="Calibri" pitchFamily="34" charset="0"/>
                <a:ea typeface="Calibri" pitchFamily="34" charset="-122"/>
                <a:cs typeface="Calibri" pitchFamily="34" charset="-120"/>
              </a:rPr>
              <a:t>CE QUE LE DON PRODUIT</a:t>
            </a:r>
            <a:endParaRPr lang="en-US" sz="900"/>
          </a:p>
        </p:txBody>
      </p:sp>
      <p:sp>
        <p:nvSpPr>
          <p:cNvPr id="4" name="Text 2"/>
          <p:cNvSpPr txBox="1"/>
          <p:nvPr/>
        </p:nvSpPr>
        <p:spPr>
          <a:xfrm>
            <a:off x="457200" y="548640"/>
            <a:ext cx="8229600" cy="457200"/>
          </a:xfrm>
          <a:prstGeom prst="rect">
            <a:avLst/>
          </a:prstGeom>
          <a:noFill/>
          <a:ln/>
        </p:spPr>
        <p:txBody>
          <a:bodyPr wrap="square" lIns="0" tIns="0" rIns="0" bIns="0" rtlCol="0" anchor="ctr"/>
          <a:lstStyle/>
          <a:p>
            <a:pPr marL="0" indent="0">
              <a:buNone/>
            </a:pPr>
            <a:r>
              <a:rPr lang="en-US" sz="2600" b="1">
                <a:solidFill>
                  <a:srgbClr val="FFFFFF"/>
                </a:solidFill>
                <a:latin typeface="Cambria" pitchFamily="34" charset="0"/>
                <a:ea typeface="Cambria" pitchFamily="34" charset="-122"/>
                <a:cs typeface="Cambria" pitchFamily="34" charset="-120"/>
              </a:rPr>
              <a:t>Cinq catégories de bénéfices, trois lectures</a:t>
            </a:r>
            <a:endParaRPr lang="en-US" sz="2600"/>
          </a:p>
        </p:txBody>
      </p:sp>
      <p:sp>
        <p:nvSpPr>
          <p:cNvPr id="5" name="Text 3"/>
          <p:cNvSpPr txBox="1"/>
          <p:nvPr/>
        </p:nvSpPr>
        <p:spPr>
          <a:xfrm>
            <a:off x="457200" y="1005840"/>
            <a:ext cx="8229600" cy="274320"/>
          </a:xfrm>
          <a:prstGeom prst="rect">
            <a:avLst/>
          </a:prstGeom>
          <a:noFill/>
          <a:ln/>
        </p:spPr>
        <p:txBody>
          <a:bodyPr wrap="square" lIns="0" tIns="0" rIns="0" bIns="0" rtlCol="0" anchor="ctr"/>
          <a:lstStyle/>
          <a:p>
            <a:pPr marL="0" indent="0">
              <a:buNone/>
            </a:pPr>
            <a:r>
              <a:rPr lang="en-US" sz="1050" dirty="0">
                <a:solidFill>
                  <a:srgbClr val="E6EAF5"/>
                </a:solidFill>
                <a:latin typeface="Calibri" pitchFamily="34" charset="0"/>
                <a:ea typeface="Calibri" pitchFamily="34" charset="-122"/>
                <a:cs typeface="Calibri" pitchFamily="34" charset="-120"/>
              </a:rPr>
              <a:t>Les </a:t>
            </a:r>
            <a:r>
              <a:rPr lang="en-US" sz="1050" dirty="0" err="1">
                <a:solidFill>
                  <a:srgbClr val="E6EAF5"/>
                </a:solidFill>
                <a:latin typeface="Calibri" pitchFamily="34" charset="0"/>
                <a:ea typeface="Calibri" pitchFamily="34" charset="-122"/>
                <a:cs typeface="Calibri" pitchFamily="34" charset="-120"/>
              </a:rPr>
              <a:t>bénéfices</a:t>
            </a:r>
            <a:r>
              <a:rPr lang="en-US" sz="1050" dirty="0">
                <a:solidFill>
                  <a:srgbClr val="E6EAF5"/>
                </a:solidFill>
                <a:latin typeface="Calibri" pitchFamily="34" charset="0"/>
                <a:ea typeface="Calibri" pitchFamily="34" charset="-122"/>
                <a:cs typeface="Calibri" pitchFamily="34" charset="-120"/>
              </a:rPr>
              <a:t> </a:t>
            </a:r>
            <a:r>
              <a:rPr lang="en-US" sz="1050" dirty="0" err="1">
                <a:solidFill>
                  <a:srgbClr val="E6EAF5"/>
                </a:solidFill>
                <a:latin typeface="Calibri" pitchFamily="34" charset="0"/>
                <a:ea typeface="Calibri" pitchFamily="34" charset="-122"/>
                <a:cs typeface="Calibri" pitchFamily="34" charset="-120"/>
              </a:rPr>
              <a:t>que</a:t>
            </a:r>
            <a:r>
              <a:rPr lang="en-US" sz="1050" dirty="0">
                <a:solidFill>
                  <a:srgbClr val="E6EAF5"/>
                </a:solidFill>
                <a:latin typeface="Calibri" pitchFamily="34" charset="0"/>
                <a:ea typeface="Calibri" pitchFamily="34" charset="-122"/>
                <a:cs typeface="Calibri" pitchFamily="34" charset="-120"/>
              </a:rPr>
              <a:t> Mare </a:t>
            </a:r>
            <a:r>
              <a:rPr lang="en-US" sz="1050" dirty="0" err="1">
                <a:solidFill>
                  <a:srgbClr val="E6EAF5"/>
                </a:solidFill>
                <a:latin typeface="Calibri" pitchFamily="34" charset="0"/>
                <a:ea typeface="Calibri" pitchFamily="34" charset="-122"/>
                <a:cs typeface="Calibri" pitchFamily="34" charset="-120"/>
              </a:rPr>
              <a:t>Durabilis</a:t>
            </a:r>
            <a:r>
              <a:rPr lang="en-US" sz="1050" dirty="0">
                <a:solidFill>
                  <a:srgbClr val="E6EAF5"/>
                </a:solidFill>
                <a:latin typeface="Calibri" pitchFamily="34" charset="0"/>
                <a:ea typeface="Calibri" pitchFamily="34" charset="-122"/>
                <a:cs typeface="Calibri" pitchFamily="34" charset="-120"/>
              </a:rPr>
              <a:t> vise à </a:t>
            </a:r>
            <a:r>
              <a:rPr lang="en-US" sz="1050" dirty="0" err="1">
                <a:solidFill>
                  <a:srgbClr val="E6EAF5"/>
                </a:solidFill>
                <a:latin typeface="Calibri" pitchFamily="34" charset="0"/>
                <a:ea typeface="Calibri" pitchFamily="34" charset="-122"/>
                <a:cs typeface="Calibri" pitchFamily="34" charset="-120"/>
              </a:rPr>
              <a:t>apporter</a:t>
            </a:r>
            <a:r>
              <a:rPr lang="en-US" sz="1050" dirty="0">
                <a:solidFill>
                  <a:srgbClr val="E6EAF5"/>
                </a:solidFill>
                <a:latin typeface="Calibri" pitchFamily="34" charset="0"/>
                <a:ea typeface="Calibri" pitchFamily="34" charset="-122"/>
                <a:cs typeface="Calibri" pitchFamily="34" charset="-120"/>
              </a:rPr>
              <a:t> :</a:t>
            </a:r>
            <a:endParaRPr lang="en-US" sz="1050" dirty="0"/>
          </a:p>
        </p:txBody>
      </p:sp>
      <p:sp>
        <p:nvSpPr>
          <p:cNvPr id="6" name="Shape 4"/>
          <p:cNvSpPr/>
          <p:nvPr/>
        </p:nvSpPr>
        <p:spPr>
          <a:xfrm>
            <a:off x="1508760" y="1371600"/>
            <a:ext cx="2377440" cy="292608"/>
          </a:xfrm>
          <a:prstGeom prst="rect">
            <a:avLst/>
          </a:prstGeom>
          <a:solidFill>
            <a:srgbClr val="16256B"/>
          </a:solidFill>
          <a:ln w="12700">
            <a:solidFill>
              <a:srgbClr val="16256B"/>
            </a:solidFill>
            <a:prstDash val="solid"/>
          </a:ln>
        </p:spPr>
        <p:txBody>
          <a:bodyPr/>
          <a:lstStyle/>
          <a:p>
            <a:endParaRPr/>
          </a:p>
        </p:txBody>
      </p:sp>
      <p:sp>
        <p:nvSpPr>
          <p:cNvPr id="7" name="Text 5"/>
          <p:cNvSpPr txBox="1"/>
          <p:nvPr/>
        </p:nvSpPr>
        <p:spPr>
          <a:xfrm>
            <a:off x="1508760" y="1371600"/>
            <a:ext cx="2377440" cy="292608"/>
          </a:xfrm>
          <a:prstGeom prst="rect">
            <a:avLst/>
          </a:prstGeom>
          <a:noFill/>
          <a:ln/>
        </p:spPr>
        <p:txBody>
          <a:bodyPr wrap="square" lIns="0" tIns="0" rIns="0" bIns="0" rtlCol="0" anchor="ctr"/>
          <a:lstStyle/>
          <a:p>
            <a:pPr marL="0" indent="0" algn="ctr">
              <a:buNone/>
            </a:pPr>
            <a:r>
              <a:rPr lang="en-US" sz="850" b="1" kern="0" spc="150" dirty="0">
                <a:solidFill>
                  <a:srgbClr val="FFFFFF"/>
                </a:solidFill>
                <a:latin typeface="Calibri" pitchFamily="34" charset="0"/>
                <a:ea typeface="Calibri" pitchFamily="34" charset="-122"/>
                <a:cs typeface="Calibri" pitchFamily="34" charset="-120"/>
              </a:rPr>
              <a:t>FINANCIERS</a:t>
            </a:r>
            <a:endParaRPr lang="en-US" sz="850" dirty="0"/>
          </a:p>
        </p:txBody>
      </p:sp>
      <p:sp>
        <p:nvSpPr>
          <p:cNvPr id="8" name="Shape 6"/>
          <p:cNvSpPr/>
          <p:nvPr/>
        </p:nvSpPr>
        <p:spPr>
          <a:xfrm>
            <a:off x="3977640" y="1371600"/>
            <a:ext cx="2377440" cy="292608"/>
          </a:xfrm>
          <a:prstGeom prst="rect">
            <a:avLst/>
          </a:prstGeom>
          <a:solidFill>
            <a:srgbClr val="0E8A8A"/>
          </a:solidFill>
          <a:ln w="12700">
            <a:solidFill>
              <a:srgbClr val="0E8A8A"/>
            </a:solidFill>
            <a:prstDash val="solid"/>
          </a:ln>
        </p:spPr>
        <p:txBody>
          <a:bodyPr/>
          <a:lstStyle/>
          <a:p>
            <a:endParaRPr/>
          </a:p>
        </p:txBody>
      </p:sp>
      <p:sp>
        <p:nvSpPr>
          <p:cNvPr id="9" name="Text 7"/>
          <p:cNvSpPr txBox="1"/>
          <p:nvPr/>
        </p:nvSpPr>
        <p:spPr>
          <a:xfrm>
            <a:off x="3977640" y="1371600"/>
            <a:ext cx="2377440" cy="292608"/>
          </a:xfrm>
          <a:prstGeom prst="rect">
            <a:avLst/>
          </a:prstGeom>
          <a:noFill/>
          <a:ln/>
        </p:spPr>
        <p:txBody>
          <a:bodyPr wrap="square" lIns="0" tIns="0" rIns="0" bIns="0" rtlCol="0" anchor="ctr"/>
          <a:lstStyle/>
          <a:p>
            <a:pPr marL="0" indent="0" algn="ctr">
              <a:buNone/>
            </a:pPr>
            <a:r>
              <a:rPr lang="en-US" sz="850" b="1" kern="0" spc="150">
                <a:solidFill>
                  <a:srgbClr val="FFFFFF"/>
                </a:solidFill>
                <a:latin typeface="Calibri" pitchFamily="34" charset="0"/>
                <a:ea typeface="Calibri" pitchFamily="34" charset="-122"/>
                <a:cs typeface="Calibri" pitchFamily="34" charset="-120"/>
              </a:rPr>
              <a:t>POUR LA FILIÈRE</a:t>
            </a:r>
            <a:endParaRPr lang="en-US" sz="850"/>
          </a:p>
        </p:txBody>
      </p:sp>
      <p:sp>
        <p:nvSpPr>
          <p:cNvPr id="10" name="Shape 8"/>
          <p:cNvSpPr/>
          <p:nvPr/>
        </p:nvSpPr>
        <p:spPr>
          <a:xfrm>
            <a:off x="6446520" y="1371600"/>
            <a:ext cx="2377440" cy="292608"/>
          </a:xfrm>
          <a:prstGeom prst="rect">
            <a:avLst/>
          </a:prstGeom>
          <a:solidFill>
            <a:srgbClr val="1E2F7F"/>
          </a:solidFill>
          <a:ln w="12700">
            <a:solidFill>
              <a:srgbClr val="1E2F7F"/>
            </a:solidFill>
            <a:prstDash val="solid"/>
          </a:ln>
        </p:spPr>
        <p:txBody>
          <a:bodyPr/>
          <a:lstStyle/>
          <a:p>
            <a:endParaRPr/>
          </a:p>
        </p:txBody>
      </p:sp>
      <p:sp>
        <p:nvSpPr>
          <p:cNvPr id="11" name="Text 9"/>
          <p:cNvSpPr txBox="1"/>
          <p:nvPr/>
        </p:nvSpPr>
        <p:spPr>
          <a:xfrm>
            <a:off x="6446520" y="1371600"/>
            <a:ext cx="2377440" cy="292608"/>
          </a:xfrm>
          <a:prstGeom prst="rect">
            <a:avLst/>
          </a:prstGeom>
          <a:noFill/>
          <a:ln/>
        </p:spPr>
        <p:txBody>
          <a:bodyPr wrap="square" lIns="0" tIns="0" rIns="0" bIns="0" rtlCol="0" anchor="ctr"/>
          <a:lstStyle/>
          <a:p>
            <a:pPr marL="0" indent="0" algn="ctr">
              <a:buNone/>
            </a:pPr>
            <a:r>
              <a:rPr lang="en-US" sz="850" b="1" kern="0" spc="150">
                <a:solidFill>
                  <a:srgbClr val="FFFFFF"/>
                </a:solidFill>
                <a:latin typeface="Calibri" pitchFamily="34" charset="0"/>
                <a:ea typeface="Calibri" pitchFamily="34" charset="-122"/>
                <a:cs typeface="Calibri" pitchFamily="34" charset="-120"/>
              </a:rPr>
              <a:t>POUR LE MILIEU</a:t>
            </a:r>
            <a:endParaRPr lang="en-US" sz="850"/>
          </a:p>
        </p:txBody>
      </p:sp>
      <p:sp>
        <p:nvSpPr>
          <p:cNvPr id="12" name="Shape 10"/>
          <p:cNvSpPr/>
          <p:nvPr/>
        </p:nvSpPr>
        <p:spPr>
          <a:xfrm>
            <a:off x="457200" y="1719072"/>
            <a:ext cx="978408" cy="502920"/>
          </a:xfrm>
          <a:prstGeom prst="roundRect">
            <a:avLst>
              <a:gd name="adj" fmla="val 9091"/>
            </a:avLst>
          </a:prstGeom>
          <a:solidFill>
            <a:srgbClr val="FFFFFF">
              <a:alpha val="88000"/>
            </a:srgbClr>
          </a:solidFill>
          <a:ln w="12700">
            <a:solidFill>
              <a:srgbClr val="FFFFFF">
                <a:alpha val="0"/>
              </a:srgbClr>
            </a:solidFill>
            <a:prstDash val="solid"/>
          </a:ln>
        </p:spPr>
        <p:txBody>
          <a:bodyPr/>
          <a:lstStyle/>
          <a:p>
            <a:endParaRPr/>
          </a:p>
        </p:txBody>
      </p:sp>
      <p:sp>
        <p:nvSpPr>
          <p:cNvPr id="13" name="Text 11"/>
          <p:cNvSpPr txBox="1"/>
          <p:nvPr/>
        </p:nvSpPr>
        <p:spPr>
          <a:xfrm>
            <a:off x="548640" y="1719072"/>
            <a:ext cx="868680" cy="502920"/>
          </a:xfrm>
          <a:prstGeom prst="rect">
            <a:avLst/>
          </a:prstGeom>
          <a:noFill/>
          <a:ln/>
        </p:spPr>
        <p:txBody>
          <a:bodyPr wrap="square" lIns="0" tIns="0" rIns="0" bIns="0" rtlCol="0" anchor="ctr"/>
          <a:lstStyle/>
          <a:p>
            <a:pPr marL="0" indent="0">
              <a:buNone/>
            </a:pPr>
            <a:r>
              <a:rPr lang="en-US" sz="1100" b="1">
                <a:solidFill>
                  <a:srgbClr val="16256B"/>
                </a:solidFill>
                <a:latin typeface="Cambria" pitchFamily="34" charset="0"/>
                <a:ea typeface="Cambria" pitchFamily="34" charset="-122"/>
                <a:cs typeface="Cambria" pitchFamily="34" charset="-120"/>
              </a:rPr>
              <a:t>Immédiat</a:t>
            </a:r>
            <a:endParaRPr lang="en-US" sz="1100"/>
          </a:p>
        </p:txBody>
      </p:sp>
      <p:sp>
        <p:nvSpPr>
          <p:cNvPr id="14" name="Shape 12"/>
          <p:cNvSpPr/>
          <p:nvPr/>
        </p:nvSpPr>
        <p:spPr>
          <a:xfrm>
            <a:off x="1508760" y="1719072"/>
            <a:ext cx="2377440" cy="502920"/>
          </a:xfrm>
          <a:prstGeom prst="roundRect">
            <a:avLst>
              <a:gd name="adj" fmla="val 9091"/>
            </a:avLst>
          </a:prstGeom>
          <a:solidFill>
            <a:srgbClr val="FFFFFF">
              <a:alpha val="92000"/>
            </a:srgbClr>
          </a:solidFill>
          <a:ln w="12700">
            <a:solidFill>
              <a:srgbClr val="FFFFFF">
                <a:alpha val="0"/>
              </a:srgbClr>
            </a:solidFill>
            <a:prstDash val="solid"/>
          </a:ln>
        </p:spPr>
        <p:txBody>
          <a:bodyPr/>
          <a:lstStyle/>
          <a:p>
            <a:endParaRPr/>
          </a:p>
        </p:txBody>
      </p:sp>
      <p:sp>
        <p:nvSpPr>
          <p:cNvPr id="15" name="Text 13"/>
          <p:cNvSpPr txBox="1"/>
          <p:nvPr/>
        </p:nvSpPr>
        <p:spPr>
          <a:xfrm>
            <a:off x="1600200" y="1719072"/>
            <a:ext cx="2194560" cy="502920"/>
          </a:xfrm>
          <a:prstGeom prst="rect">
            <a:avLst/>
          </a:prstGeom>
          <a:noFill/>
          <a:ln/>
        </p:spPr>
        <p:txBody>
          <a:bodyPr wrap="square" lIns="0" tIns="0" rIns="0" bIns="0" rtlCol="0" anchor="ctr"/>
          <a:lstStyle/>
          <a:p>
            <a:pPr marL="0" indent="0">
              <a:buNone/>
            </a:pPr>
            <a:r>
              <a:rPr lang="en-US" sz="850">
                <a:solidFill>
                  <a:srgbClr val="1F2937"/>
                </a:solidFill>
                <a:latin typeface="Calibri" pitchFamily="34" charset="0"/>
                <a:ea typeface="Calibri" pitchFamily="34" charset="-122"/>
                <a:cs typeface="Calibri" pitchFamily="34" charset="-120"/>
              </a:rPr>
              <a:t>Rémunération de missions sur la plateforme Mare Services détenue par le fonds de dotation</a:t>
            </a:r>
            <a:endParaRPr lang="en-US" sz="850"/>
          </a:p>
        </p:txBody>
      </p:sp>
      <p:sp>
        <p:nvSpPr>
          <p:cNvPr id="16" name="Shape 14"/>
          <p:cNvSpPr/>
          <p:nvPr/>
        </p:nvSpPr>
        <p:spPr>
          <a:xfrm>
            <a:off x="3977640" y="1719072"/>
            <a:ext cx="2377440" cy="502920"/>
          </a:xfrm>
          <a:prstGeom prst="roundRect">
            <a:avLst>
              <a:gd name="adj" fmla="val 9091"/>
            </a:avLst>
          </a:prstGeom>
          <a:solidFill>
            <a:srgbClr val="FFFFFF">
              <a:alpha val="92000"/>
            </a:srgbClr>
          </a:solidFill>
          <a:ln w="12700">
            <a:solidFill>
              <a:srgbClr val="FFFFFF">
                <a:alpha val="0"/>
              </a:srgbClr>
            </a:solidFill>
            <a:prstDash val="solid"/>
          </a:ln>
        </p:spPr>
        <p:txBody>
          <a:bodyPr/>
          <a:lstStyle/>
          <a:p>
            <a:endParaRPr/>
          </a:p>
        </p:txBody>
      </p:sp>
      <p:sp>
        <p:nvSpPr>
          <p:cNvPr id="17" name="Text 15"/>
          <p:cNvSpPr txBox="1"/>
          <p:nvPr/>
        </p:nvSpPr>
        <p:spPr>
          <a:xfrm>
            <a:off x="4069080" y="1719072"/>
            <a:ext cx="2194560" cy="502920"/>
          </a:xfrm>
          <a:prstGeom prst="rect">
            <a:avLst/>
          </a:prstGeom>
          <a:noFill/>
          <a:ln/>
        </p:spPr>
        <p:txBody>
          <a:bodyPr wrap="square" lIns="0" tIns="0" rIns="0" bIns="0" rtlCol="0" anchor="ctr"/>
          <a:lstStyle/>
          <a:p>
            <a:pPr marL="0" indent="0">
              <a:buNone/>
            </a:pPr>
            <a:r>
              <a:rPr lang="en-US" sz="850">
                <a:solidFill>
                  <a:srgbClr val="1F2937"/>
                </a:solidFill>
                <a:latin typeface="Calibri" pitchFamily="34" charset="0"/>
                <a:ea typeface="Calibri" pitchFamily="34" charset="-122"/>
                <a:cs typeface="Calibri" pitchFamily="34" charset="-120"/>
              </a:rPr>
              <a:t>Reconnaissance et visibilité du métier</a:t>
            </a:r>
            <a:endParaRPr lang="en-US" sz="850"/>
          </a:p>
        </p:txBody>
      </p:sp>
      <p:sp>
        <p:nvSpPr>
          <p:cNvPr id="18" name="Shape 16"/>
          <p:cNvSpPr/>
          <p:nvPr/>
        </p:nvSpPr>
        <p:spPr>
          <a:xfrm>
            <a:off x="6446520" y="1719072"/>
            <a:ext cx="2377440" cy="502920"/>
          </a:xfrm>
          <a:prstGeom prst="roundRect">
            <a:avLst>
              <a:gd name="adj" fmla="val 9091"/>
            </a:avLst>
          </a:prstGeom>
          <a:solidFill>
            <a:srgbClr val="FFFFFF">
              <a:alpha val="92000"/>
            </a:srgbClr>
          </a:solidFill>
          <a:ln w="12700">
            <a:solidFill>
              <a:srgbClr val="FFFFFF">
                <a:alpha val="0"/>
              </a:srgbClr>
            </a:solidFill>
            <a:prstDash val="solid"/>
          </a:ln>
        </p:spPr>
        <p:txBody>
          <a:bodyPr/>
          <a:lstStyle/>
          <a:p>
            <a:endParaRPr/>
          </a:p>
        </p:txBody>
      </p:sp>
      <p:sp>
        <p:nvSpPr>
          <p:cNvPr id="19" name="Text 17"/>
          <p:cNvSpPr txBox="1"/>
          <p:nvPr/>
        </p:nvSpPr>
        <p:spPr>
          <a:xfrm>
            <a:off x="6537960" y="1719072"/>
            <a:ext cx="2194560" cy="502920"/>
          </a:xfrm>
          <a:prstGeom prst="rect">
            <a:avLst/>
          </a:prstGeom>
          <a:noFill/>
          <a:ln/>
        </p:spPr>
        <p:txBody>
          <a:bodyPr wrap="square" lIns="0" tIns="0" rIns="0" bIns="0" rtlCol="0" anchor="ctr"/>
          <a:lstStyle/>
          <a:p>
            <a:pPr marL="0" indent="0">
              <a:buNone/>
            </a:pPr>
            <a:r>
              <a:rPr lang="en-US" sz="850">
                <a:solidFill>
                  <a:srgbClr val="1F2937"/>
                </a:solidFill>
                <a:latin typeface="Calibri" pitchFamily="34" charset="0"/>
                <a:ea typeface="Calibri" pitchFamily="34" charset="-122"/>
                <a:cs typeface="Calibri" pitchFamily="34" charset="-120"/>
              </a:rPr>
              <a:t>Une pression retirée du milieu dès l’exercice</a:t>
            </a:r>
            <a:endParaRPr lang="en-US" sz="850"/>
          </a:p>
        </p:txBody>
      </p:sp>
      <p:sp>
        <p:nvSpPr>
          <p:cNvPr id="20" name="Shape 18"/>
          <p:cNvSpPr/>
          <p:nvPr/>
        </p:nvSpPr>
        <p:spPr>
          <a:xfrm>
            <a:off x="457200" y="2276856"/>
            <a:ext cx="978408" cy="502920"/>
          </a:xfrm>
          <a:prstGeom prst="roundRect">
            <a:avLst>
              <a:gd name="adj" fmla="val 9091"/>
            </a:avLst>
          </a:prstGeom>
          <a:solidFill>
            <a:srgbClr val="FFFFFF">
              <a:alpha val="88000"/>
            </a:srgbClr>
          </a:solidFill>
          <a:ln w="12700">
            <a:solidFill>
              <a:srgbClr val="FFFFFF">
                <a:alpha val="0"/>
              </a:srgbClr>
            </a:solidFill>
            <a:prstDash val="solid"/>
          </a:ln>
        </p:spPr>
        <p:txBody>
          <a:bodyPr/>
          <a:lstStyle/>
          <a:p>
            <a:endParaRPr/>
          </a:p>
        </p:txBody>
      </p:sp>
      <p:sp>
        <p:nvSpPr>
          <p:cNvPr id="21" name="Text 19"/>
          <p:cNvSpPr txBox="1"/>
          <p:nvPr/>
        </p:nvSpPr>
        <p:spPr>
          <a:xfrm>
            <a:off x="548640" y="2276856"/>
            <a:ext cx="868680" cy="502920"/>
          </a:xfrm>
          <a:prstGeom prst="rect">
            <a:avLst/>
          </a:prstGeom>
          <a:noFill/>
          <a:ln/>
        </p:spPr>
        <p:txBody>
          <a:bodyPr wrap="square" lIns="0" tIns="0" rIns="0" bIns="0" rtlCol="0" anchor="ctr"/>
          <a:lstStyle/>
          <a:p>
            <a:pPr marL="0" indent="0">
              <a:buNone/>
            </a:pPr>
            <a:r>
              <a:rPr lang="en-US" sz="1100" b="1">
                <a:solidFill>
                  <a:srgbClr val="16256B"/>
                </a:solidFill>
                <a:latin typeface="Cambria" pitchFamily="34" charset="0"/>
                <a:ea typeface="Cambria" pitchFamily="34" charset="-122"/>
                <a:cs typeface="Cambria" pitchFamily="34" charset="-120"/>
              </a:rPr>
              <a:t>Différé</a:t>
            </a:r>
            <a:endParaRPr lang="en-US" sz="1100"/>
          </a:p>
        </p:txBody>
      </p:sp>
      <p:sp>
        <p:nvSpPr>
          <p:cNvPr id="22" name="Shape 20"/>
          <p:cNvSpPr/>
          <p:nvPr/>
        </p:nvSpPr>
        <p:spPr>
          <a:xfrm>
            <a:off x="1508760" y="2276856"/>
            <a:ext cx="2377440" cy="502920"/>
          </a:xfrm>
          <a:prstGeom prst="roundRect">
            <a:avLst>
              <a:gd name="adj" fmla="val 9091"/>
            </a:avLst>
          </a:prstGeom>
          <a:solidFill>
            <a:srgbClr val="FFFFFF">
              <a:alpha val="92000"/>
            </a:srgbClr>
          </a:solidFill>
          <a:ln w="12700">
            <a:solidFill>
              <a:srgbClr val="FFFFFF">
                <a:alpha val="0"/>
              </a:srgbClr>
            </a:solidFill>
            <a:prstDash val="solid"/>
          </a:ln>
        </p:spPr>
        <p:txBody>
          <a:bodyPr/>
          <a:lstStyle/>
          <a:p>
            <a:endParaRPr/>
          </a:p>
        </p:txBody>
      </p:sp>
      <p:sp>
        <p:nvSpPr>
          <p:cNvPr id="23" name="Text 21"/>
          <p:cNvSpPr txBox="1"/>
          <p:nvPr/>
        </p:nvSpPr>
        <p:spPr>
          <a:xfrm>
            <a:off x="1600200" y="2276856"/>
            <a:ext cx="2194560" cy="502920"/>
          </a:xfrm>
          <a:prstGeom prst="rect">
            <a:avLst/>
          </a:prstGeom>
          <a:noFill/>
          <a:ln/>
        </p:spPr>
        <p:txBody>
          <a:bodyPr wrap="square" lIns="0" tIns="0" rIns="0" bIns="0" rtlCol="0" anchor="ctr"/>
          <a:lstStyle/>
          <a:p>
            <a:pPr marL="0" indent="0">
              <a:buNone/>
            </a:pPr>
            <a:r>
              <a:rPr lang="en-US" sz="850">
                <a:solidFill>
                  <a:srgbClr val="1F2937"/>
                </a:solidFill>
                <a:latin typeface="Calibri" pitchFamily="34" charset="0"/>
                <a:ea typeface="Calibri" pitchFamily="34" charset="-122"/>
                <a:cs typeface="Calibri" pitchFamily="34" charset="-120"/>
              </a:rPr>
              <a:t>Droits valorisables : brevets, licences, données</a:t>
            </a:r>
            <a:endParaRPr lang="en-US" sz="850"/>
          </a:p>
        </p:txBody>
      </p:sp>
      <p:sp>
        <p:nvSpPr>
          <p:cNvPr id="24" name="Shape 22"/>
          <p:cNvSpPr/>
          <p:nvPr/>
        </p:nvSpPr>
        <p:spPr>
          <a:xfrm>
            <a:off x="3977640" y="2276856"/>
            <a:ext cx="2377440" cy="502920"/>
          </a:xfrm>
          <a:prstGeom prst="roundRect">
            <a:avLst>
              <a:gd name="adj" fmla="val 9091"/>
            </a:avLst>
          </a:prstGeom>
          <a:solidFill>
            <a:srgbClr val="FFFFFF">
              <a:alpha val="92000"/>
            </a:srgbClr>
          </a:solidFill>
          <a:ln w="12700">
            <a:solidFill>
              <a:srgbClr val="FFFFFF">
                <a:alpha val="0"/>
              </a:srgbClr>
            </a:solidFill>
            <a:prstDash val="solid"/>
          </a:ln>
        </p:spPr>
        <p:txBody>
          <a:bodyPr/>
          <a:lstStyle/>
          <a:p>
            <a:endParaRPr/>
          </a:p>
        </p:txBody>
      </p:sp>
      <p:sp>
        <p:nvSpPr>
          <p:cNvPr id="25" name="Text 23"/>
          <p:cNvSpPr txBox="1"/>
          <p:nvPr/>
        </p:nvSpPr>
        <p:spPr>
          <a:xfrm>
            <a:off x="4069080" y="2276856"/>
            <a:ext cx="2194560" cy="502920"/>
          </a:xfrm>
          <a:prstGeom prst="rect">
            <a:avLst/>
          </a:prstGeom>
          <a:noFill/>
          <a:ln/>
        </p:spPr>
        <p:txBody>
          <a:bodyPr wrap="square" lIns="0" tIns="0" rIns="0" bIns="0" rtlCol="0" anchor="ctr"/>
          <a:lstStyle/>
          <a:p>
            <a:pPr marL="0" indent="0">
              <a:buNone/>
            </a:pPr>
            <a:r>
              <a:rPr lang="en-US" sz="850">
                <a:solidFill>
                  <a:srgbClr val="1F2937"/>
                </a:solidFill>
                <a:latin typeface="Calibri" pitchFamily="34" charset="0"/>
                <a:ea typeface="Calibri" pitchFamily="34" charset="-122"/>
                <a:cs typeface="Calibri" pitchFamily="34" charset="-120"/>
              </a:rPr>
              <a:t>Un capital de crédibilité et </a:t>
            </a:r>
            <a:r>
              <a:rPr lang="en-US" sz="850" err="1">
                <a:solidFill>
                  <a:srgbClr val="1F2937"/>
                </a:solidFill>
                <a:latin typeface="Calibri" pitchFamily="34" charset="0"/>
                <a:ea typeface="Calibri" pitchFamily="34" charset="-122"/>
                <a:cs typeface="Calibri" pitchFamily="34" charset="-120"/>
              </a:rPr>
              <a:t>d’expertise</a:t>
            </a:r>
            <a:r>
              <a:rPr lang="en-US" sz="850">
                <a:solidFill>
                  <a:srgbClr val="1F2937"/>
                </a:solidFill>
                <a:latin typeface="Calibri" pitchFamily="34" charset="0"/>
                <a:ea typeface="Calibri" pitchFamily="34" charset="-122"/>
                <a:cs typeface="Calibri" pitchFamily="34" charset="-120"/>
              </a:rPr>
              <a:t> </a:t>
            </a:r>
            <a:r>
              <a:rPr lang="en-US" sz="850" err="1">
                <a:solidFill>
                  <a:srgbClr val="1F2937"/>
                </a:solidFill>
                <a:latin typeface="Calibri" pitchFamily="34" charset="0"/>
                <a:ea typeface="Calibri" pitchFamily="34" charset="-122"/>
                <a:cs typeface="Calibri" pitchFamily="34" charset="-120"/>
              </a:rPr>
              <a:t>structuré</a:t>
            </a:r>
            <a:endParaRPr lang="en-US" sz="850"/>
          </a:p>
        </p:txBody>
      </p:sp>
      <p:sp>
        <p:nvSpPr>
          <p:cNvPr id="26" name="Shape 24"/>
          <p:cNvSpPr/>
          <p:nvPr/>
        </p:nvSpPr>
        <p:spPr>
          <a:xfrm>
            <a:off x="6446520" y="2276856"/>
            <a:ext cx="2377440" cy="502920"/>
          </a:xfrm>
          <a:prstGeom prst="roundRect">
            <a:avLst>
              <a:gd name="adj" fmla="val 9091"/>
            </a:avLst>
          </a:prstGeom>
          <a:solidFill>
            <a:srgbClr val="FFFFFF">
              <a:alpha val="92000"/>
            </a:srgbClr>
          </a:solidFill>
          <a:ln w="12700">
            <a:solidFill>
              <a:srgbClr val="FFFFFF">
                <a:alpha val="0"/>
              </a:srgbClr>
            </a:solidFill>
            <a:prstDash val="solid"/>
          </a:ln>
        </p:spPr>
        <p:txBody>
          <a:bodyPr/>
          <a:lstStyle/>
          <a:p>
            <a:endParaRPr/>
          </a:p>
        </p:txBody>
      </p:sp>
      <p:sp>
        <p:nvSpPr>
          <p:cNvPr id="27" name="Text 25"/>
          <p:cNvSpPr txBox="1"/>
          <p:nvPr/>
        </p:nvSpPr>
        <p:spPr>
          <a:xfrm>
            <a:off x="6537960" y="2276856"/>
            <a:ext cx="2194560" cy="502920"/>
          </a:xfrm>
          <a:prstGeom prst="rect">
            <a:avLst/>
          </a:prstGeom>
          <a:noFill/>
          <a:ln/>
        </p:spPr>
        <p:txBody>
          <a:bodyPr wrap="square" lIns="0" tIns="0" rIns="0" bIns="0" rtlCol="0" anchor="ctr"/>
          <a:lstStyle/>
          <a:p>
            <a:r>
              <a:rPr lang="fr-FR" sz="850">
                <a:solidFill>
                  <a:srgbClr val="1F2937"/>
                </a:solidFill>
                <a:latin typeface="Calibri" pitchFamily="34" charset="0"/>
                <a:ea typeface="Calibri" pitchFamily="34" charset="-122"/>
                <a:cs typeface="Calibri" pitchFamily="34" charset="-120"/>
              </a:rPr>
              <a:t>Le milieu répond : les premiers résultats apparaissent</a:t>
            </a:r>
            <a:endParaRPr lang="en-US" sz="850">
              <a:solidFill>
                <a:srgbClr val="1F2937"/>
              </a:solidFill>
              <a:latin typeface="Calibri" pitchFamily="34" charset="0"/>
              <a:ea typeface="Calibri" pitchFamily="34" charset="-122"/>
              <a:cs typeface="Calibri" pitchFamily="34" charset="-120"/>
            </a:endParaRPr>
          </a:p>
        </p:txBody>
      </p:sp>
      <p:sp>
        <p:nvSpPr>
          <p:cNvPr id="28" name="Shape 26"/>
          <p:cNvSpPr/>
          <p:nvPr/>
        </p:nvSpPr>
        <p:spPr>
          <a:xfrm>
            <a:off x="457200" y="2834640"/>
            <a:ext cx="978408" cy="502920"/>
          </a:xfrm>
          <a:prstGeom prst="roundRect">
            <a:avLst>
              <a:gd name="adj" fmla="val 9091"/>
            </a:avLst>
          </a:prstGeom>
          <a:solidFill>
            <a:srgbClr val="FFFFFF">
              <a:alpha val="88000"/>
            </a:srgbClr>
          </a:solidFill>
          <a:ln w="12700">
            <a:solidFill>
              <a:srgbClr val="FFFFFF">
                <a:alpha val="0"/>
              </a:srgbClr>
            </a:solidFill>
            <a:prstDash val="solid"/>
          </a:ln>
        </p:spPr>
        <p:txBody>
          <a:bodyPr/>
          <a:lstStyle/>
          <a:p>
            <a:endParaRPr/>
          </a:p>
        </p:txBody>
      </p:sp>
      <p:sp>
        <p:nvSpPr>
          <p:cNvPr id="29" name="Text 27"/>
          <p:cNvSpPr txBox="1"/>
          <p:nvPr/>
        </p:nvSpPr>
        <p:spPr>
          <a:xfrm>
            <a:off x="548640" y="2834640"/>
            <a:ext cx="868680" cy="502920"/>
          </a:xfrm>
          <a:prstGeom prst="rect">
            <a:avLst/>
          </a:prstGeom>
          <a:noFill/>
          <a:ln/>
        </p:spPr>
        <p:txBody>
          <a:bodyPr wrap="square" lIns="0" tIns="0" rIns="0" bIns="0" rtlCol="0" anchor="ctr"/>
          <a:lstStyle/>
          <a:p>
            <a:pPr marL="0" indent="0">
              <a:buNone/>
            </a:pPr>
            <a:r>
              <a:rPr lang="en-US" sz="1100" b="1">
                <a:solidFill>
                  <a:srgbClr val="16256B"/>
                </a:solidFill>
                <a:latin typeface="Cambria" pitchFamily="34" charset="0"/>
                <a:ea typeface="Cambria" pitchFamily="34" charset="-122"/>
                <a:cs typeface="Cambria" pitchFamily="34" charset="-120"/>
              </a:rPr>
              <a:t>Structurel</a:t>
            </a:r>
            <a:endParaRPr lang="en-US" sz="1100"/>
          </a:p>
        </p:txBody>
      </p:sp>
      <p:sp>
        <p:nvSpPr>
          <p:cNvPr id="30" name="Shape 28"/>
          <p:cNvSpPr/>
          <p:nvPr/>
        </p:nvSpPr>
        <p:spPr>
          <a:xfrm>
            <a:off x="1508760" y="2834640"/>
            <a:ext cx="2377440" cy="502920"/>
          </a:xfrm>
          <a:prstGeom prst="roundRect">
            <a:avLst>
              <a:gd name="adj" fmla="val 9091"/>
            </a:avLst>
          </a:prstGeom>
          <a:solidFill>
            <a:srgbClr val="FFFFFF">
              <a:alpha val="92000"/>
            </a:srgbClr>
          </a:solidFill>
          <a:ln w="12700">
            <a:solidFill>
              <a:srgbClr val="FFFFFF">
                <a:alpha val="0"/>
              </a:srgbClr>
            </a:solidFill>
            <a:prstDash val="solid"/>
          </a:ln>
        </p:spPr>
        <p:txBody>
          <a:bodyPr/>
          <a:lstStyle/>
          <a:p>
            <a:endParaRPr/>
          </a:p>
        </p:txBody>
      </p:sp>
      <p:sp>
        <p:nvSpPr>
          <p:cNvPr id="31" name="Text 29"/>
          <p:cNvSpPr txBox="1"/>
          <p:nvPr/>
        </p:nvSpPr>
        <p:spPr>
          <a:xfrm>
            <a:off x="1600200" y="2834640"/>
            <a:ext cx="2194560" cy="502920"/>
          </a:xfrm>
          <a:prstGeom prst="rect">
            <a:avLst/>
          </a:prstGeom>
          <a:noFill/>
          <a:ln/>
        </p:spPr>
        <p:txBody>
          <a:bodyPr wrap="square" lIns="0" tIns="0" rIns="0" bIns="0" rtlCol="0" anchor="ctr"/>
          <a:lstStyle/>
          <a:p>
            <a:pPr marL="0" indent="0">
              <a:buNone/>
            </a:pPr>
            <a:r>
              <a:rPr lang="en-US" sz="850">
                <a:solidFill>
                  <a:srgbClr val="1F2937"/>
                </a:solidFill>
                <a:latin typeface="Calibri" pitchFamily="34" charset="0"/>
                <a:ea typeface="Calibri" pitchFamily="34" charset="-122"/>
                <a:cs typeface="Calibri" pitchFamily="34" charset="-120"/>
              </a:rPr>
              <a:t>De nouvelles chaînes de valeur, revenus réinvestis</a:t>
            </a:r>
            <a:endParaRPr lang="en-US" sz="850"/>
          </a:p>
        </p:txBody>
      </p:sp>
      <p:sp>
        <p:nvSpPr>
          <p:cNvPr id="32" name="Shape 30"/>
          <p:cNvSpPr/>
          <p:nvPr/>
        </p:nvSpPr>
        <p:spPr>
          <a:xfrm>
            <a:off x="3977640" y="2834640"/>
            <a:ext cx="2377440" cy="502920"/>
          </a:xfrm>
          <a:prstGeom prst="roundRect">
            <a:avLst>
              <a:gd name="adj" fmla="val 9091"/>
            </a:avLst>
          </a:prstGeom>
          <a:solidFill>
            <a:srgbClr val="FFFFFF">
              <a:alpha val="92000"/>
            </a:srgbClr>
          </a:solidFill>
          <a:ln w="12700">
            <a:solidFill>
              <a:srgbClr val="FFFFFF">
                <a:alpha val="0"/>
              </a:srgbClr>
            </a:solidFill>
            <a:prstDash val="solid"/>
          </a:ln>
        </p:spPr>
        <p:txBody>
          <a:bodyPr/>
          <a:lstStyle/>
          <a:p>
            <a:endParaRPr/>
          </a:p>
        </p:txBody>
      </p:sp>
      <p:sp>
        <p:nvSpPr>
          <p:cNvPr id="33" name="Text 31"/>
          <p:cNvSpPr txBox="1"/>
          <p:nvPr/>
        </p:nvSpPr>
        <p:spPr>
          <a:xfrm>
            <a:off x="4069080" y="2834640"/>
            <a:ext cx="2194560" cy="502920"/>
          </a:xfrm>
          <a:prstGeom prst="rect">
            <a:avLst/>
          </a:prstGeom>
          <a:noFill/>
          <a:ln/>
        </p:spPr>
        <p:txBody>
          <a:bodyPr wrap="square" lIns="0" tIns="0" rIns="0" bIns="0" rtlCol="0" anchor="ctr"/>
          <a:lstStyle/>
          <a:p>
            <a:pPr marL="0" indent="0">
              <a:buNone/>
            </a:pPr>
            <a:r>
              <a:rPr lang="en-US" sz="850">
                <a:solidFill>
                  <a:srgbClr val="1F2937"/>
                </a:solidFill>
                <a:latin typeface="Calibri" pitchFamily="34" charset="0"/>
                <a:ea typeface="Calibri" pitchFamily="34" charset="-122"/>
                <a:cs typeface="Calibri" pitchFamily="34" charset="-120"/>
              </a:rPr>
              <a:t>La filière, partie </a:t>
            </a:r>
            <a:r>
              <a:rPr lang="en-US" sz="850" err="1">
                <a:solidFill>
                  <a:srgbClr val="1F2937"/>
                </a:solidFill>
                <a:latin typeface="Calibri" pitchFamily="34" charset="0"/>
                <a:ea typeface="Calibri" pitchFamily="34" charset="-122"/>
                <a:cs typeface="Calibri" pitchFamily="34" charset="-120"/>
              </a:rPr>
              <a:t>prenante</a:t>
            </a:r>
            <a:r>
              <a:rPr lang="en-US" sz="850">
                <a:solidFill>
                  <a:srgbClr val="1F2937"/>
                </a:solidFill>
                <a:latin typeface="Calibri" pitchFamily="34" charset="0"/>
                <a:ea typeface="Calibri" pitchFamily="34" charset="-122"/>
                <a:cs typeface="Calibri" pitchFamily="34" charset="-120"/>
              </a:rPr>
              <a:t> </a:t>
            </a:r>
            <a:r>
              <a:rPr lang="en-US" sz="850" err="1">
                <a:solidFill>
                  <a:srgbClr val="1F2937"/>
                </a:solidFill>
                <a:latin typeface="Calibri" pitchFamily="34" charset="0"/>
                <a:ea typeface="Calibri" pitchFamily="34" charset="-122"/>
                <a:cs typeface="Calibri" pitchFamily="34" charset="-120"/>
              </a:rPr>
              <a:t>reconnue</a:t>
            </a:r>
            <a:r>
              <a:rPr lang="en-US" sz="850">
                <a:solidFill>
                  <a:srgbClr val="1F2937"/>
                </a:solidFill>
                <a:latin typeface="Calibri" pitchFamily="34" charset="0"/>
                <a:ea typeface="Calibri" pitchFamily="34" charset="-122"/>
                <a:cs typeface="Calibri" pitchFamily="34" charset="-120"/>
              </a:rPr>
              <a:t> par les institutions</a:t>
            </a:r>
            <a:endParaRPr lang="en-US" sz="850"/>
          </a:p>
        </p:txBody>
      </p:sp>
      <p:sp>
        <p:nvSpPr>
          <p:cNvPr id="34" name="Shape 32"/>
          <p:cNvSpPr/>
          <p:nvPr/>
        </p:nvSpPr>
        <p:spPr>
          <a:xfrm>
            <a:off x="6446520" y="2834640"/>
            <a:ext cx="2377440" cy="502920"/>
          </a:xfrm>
          <a:prstGeom prst="roundRect">
            <a:avLst>
              <a:gd name="adj" fmla="val 9091"/>
            </a:avLst>
          </a:prstGeom>
          <a:solidFill>
            <a:srgbClr val="FFFFFF">
              <a:alpha val="92000"/>
            </a:srgbClr>
          </a:solidFill>
          <a:ln w="12700">
            <a:solidFill>
              <a:srgbClr val="FFFFFF">
                <a:alpha val="0"/>
              </a:srgbClr>
            </a:solidFill>
            <a:prstDash val="solid"/>
          </a:ln>
        </p:spPr>
        <p:txBody>
          <a:bodyPr/>
          <a:lstStyle/>
          <a:p>
            <a:endParaRPr/>
          </a:p>
        </p:txBody>
      </p:sp>
      <p:sp>
        <p:nvSpPr>
          <p:cNvPr id="35" name="Text 33"/>
          <p:cNvSpPr txBox="1"/>
          <p:nvPr/>
        </p:nvSpPr>
        <p:spPr>
          <a:xfrm>
            <a:off x="6537960" y="2834640"/>
            <a:ext cx="2194560" cy="502920"/>
          </a:xfrm>
          <a:prstGeom prst="rect">
            <a:avLst/>
          </a:prstGeom>
          <a:noFill/>
          <a:ln/>
        </p:spPr>
        <p:txBody>
          <a:bodyPr wrap="square" lIns="0" tIns="0" rIns="0" bIns="0" rtlCol="0" anchor="ctr"/>
          <a:lstStyle/>
          <a:p>
            <a:pPr marL="0" indent="0">
              <a:buNone/>
            </a:pPr>
            <a:r>
              <a:rPr lang="en-US" sz="850">
                <a:solidFill>
                  <a:srgbClr val="1F2937"/>
                </a:solidFill>
                <a:latin typeface="Calibri" pitchFamily="34" charset="0"/>
                <a:ea typeface="Calibri" pitchFamily="34" charset="-122"/>
                <a:cs typeface="Calibri" pitchFamily="34" charset="-120"/>
              </a:rPr>
              <a:t>Contribution aux trajectoires écologiques de la façade</a:t>
            </a:r>
            <a:endParaRPr lang="en-US" sz="850"/>
          </a:p>
        </p:txBody>
      </p:sp>
      <p:sp>
        <p:nvSpPr>
          <p:cNvPr id="36" name="Shape 34"/>
          <p:cNvSpPr/>
          <p:nvPr/>
        </p:nvSpPr>
        <p:spPr>
          <a:xfrm>
            <a:off x="457200" y="3392424"/>
            <a:ext cx="978408" cy="502920"/>
          </a:xfrm>
          <a:prstGeom prst="roundRect">
            <a:avLst>
              <a:gd name="adj" fmla="val 9091"/>
            </a:avLst>
          </a:prstGeom>
          <a:solidFill>
            <a:srgbClr val="FFFFFF">
              <a:alpha val="88000"/>
            </a:srgbClr>
          </a:solidFill>
          <a:ln w="12700">
            <a:solidFill>
              <a:srgbClr val="FFFFFF">
                <a:alpha val="0"/>
              </a:srgbClr>
            </a:solidFill>
            <a:prstDash val="solid"/>
          </a:ln>
        </p:spPr>
        <p:txBody>
          <a:bodyPr/>
          <a:lstStyle/>
          <a:p>
            <a:endParaRPr/>
          </a:p>
        </p:txBody>
      </p:sp>
      <p:sp>
        <p:nvSpPr>
          <p:cNvPr id="37" name="Text 35"/>
          <p:cNvSpPr txBox="1"/>
          <p:nvPr/>
        </p:nvSpPr>
        <p:spPr>
          <a:xfrm>
            <a:off x="548640" y="3392424"/>
            <a:ext cx="868680" cy="502920"/>
          </a:xfrm>
          <a:prstGeom prst="rect">
            <a:avLst/>
          </a:prstGeom>
          <a:noFill/>
          <a:ln/>
        </p:spPr>
        <p:txBody>
          <a:bodyPr wrap="square" lIns="0" tIns="0" rIns="0" bIns="0" rtlCol="0" anchor="ctr"/>
          <a:lstStyle/>
          <a:p>
            <a:pPr marL="0" indent="0">
              <a:buNone/>
            </a:pPr>
            <a:r>
              <a:rPr lang="en-US" sz="1100" b="1">
                <a:solidFill>
                  <a:srgbClr val="16256B"/>
                </a:solidFill>
                <a:latin typeface="Cambria" pitchFamily="34" charset="0"/>
                <a:ea typeface="Cambria" pitchFamily="34" charset="-122"/>
                <a:cs typeface="Cambria" pitchFamily="34" charset="-120"/>
              </a:rPr>
              <a:t>Préventif</a:t>
            </a:r>
            <a:endParaRPr lang="en-US" sz="1100"/>
          </a:p>
        </p:txBody>
      </p:sp>
      <p:sp>
        <p:nvSpPr>
          <p:cNvPr id="38" name="Shape 36"/>
          <p:cNvSpPr/>
          <p:nvPr/>
        </p:nvSpPr>
        <p:spPr>
          <a:xfrm>
            <a:off x="1508760" y="3392424"/>
            <a:ext cx="2377440" cy="502920"/>
          </a:xfrm>
          <a:prstGeom prst="roundRect">
            <a:avLst>
              <a:gd name="adj" fmla="val 9091"/>
            </a:avLst>
          </a:prstGeom>
          <a:solidFill>
            <a:srgbClr val="FFFFFF">
              <a:alpha val="92000"/>
            </a:srgbClr>
          </a:solidFill>
          <a:ln w="12700">
            <a:solidFill>
              <a:srgbClr val="FFFFFF">
                <a:alpha val="0"/>
              </a:srgbClr>
            </a:solidFill>
            <a:prstDash val="solid"/>
          </a:ln>
        </p:spPr>
        <p:txBody>
          <a:bodyPr/>
          <a:lstStyle/>
          <a:p>
            <a:endParaRPr/>
          </a:p>
        </p:txBody>
      </p:sp>
      <p:sp>
        <p:nvSpPr>
          <p:cNvPr id="39" name="Text 37"/>
          <p:cNvSpPr txBox="1"/>
          <p:nvPr/>
        </p:nvSpPr>
        <p:spPr>
          <a:xfrm>
            <a:off x="1600200" y="3392424"/>
            <a:ext cx="2194560" cy="502920"/>
          </a:xfrm>
          <a:prstGeom prst="rect">
            <a:avLst/>
          </a:prstGeom>
          <a:noFill/>
          <a:ln/>
        </p:spPr>
        <p:txBody>
          <a:bodyPr wrap="square" lIns="0" tIns="0" rIns="0" bIns="0" rtlCol="0" anchor="ctr"/>
          <a:lstStyle/>
          <a:p>
            <a:pPr marL="0" indent="0">
              <a:buNone/>
            </a:pPr>
            <a:r>
              <a:rPr lang="en-US" sz="850">
                <a:solidFill>
                  <a:srgbClr val="1F2937"/>
                </a:solidFill>
                <a:latin typeface="Calibri" pitchFamily="34" charset="0"/>
                <a:ea typeface="Calibri" pitchFamily="34" charset="-122"/>
                <a:cs typeface="Calibri" pitchFamily="34" charset="-120"/>
              </a:rPr>
              <a:t>Coûts et dommages évités</a:t>
            </a:r>
            <a:endParaRPr lang="en-US" sz="850"/>
          </a:p>
        </p:txBody>
      </p:sp>
      <p:sp>
        <p:nvSpPr>
          <p:cNvPr id="40" name="Shape 38"/>
          <p:cNvSpPr/>
          <p:nvPr/>
        </p:nvSpPr>
        <p:spPr>
          <a:xfrm>
            <a:off x="3977640" y="3392424"/>
            <a:ext cx="2377440" cy="502920"/>
          </a:xfrm>
          <a:prstGeom prst="roundRect">
            <a:avLst>
              <a:gd name="adj" fmla="val 9091"/>
            </a:avLst>
          </a:prstGeom>
          <a:solidFill>
            <a:srgbClr val="FFFFFF">
              <a:alpha val="92000"/>
            </a:srgbClr>
          </a:solidFill>
          <a:ln w="12700">
            <a:solidFill>
              <a:srgbClr val="FFFFFF">
                <a:alpha val="0"/>
              </a:srgbClr>
            </a:solidFill>
            <a:prstDash val="solid"/>
          </a:ln>
        </p:spPr>
        <p:txBody>
          <a:bodyPr/>
          <a:lstStyle/>
          <a:p>
            <a:endParaRPr/>
          </a:p>
        </p:txBody>
      </p:sp>
      <p:sp>
        <p:nvSpPr>
          <p:cNvPr id="41" name="Text 39"/>
          <p:cNvSpPr txBox="1"/>
          <p:nvPr/>
        </p:nvSpPr>
        <p:spPr>
          <a:xfrm>
            <a:off x="4069080" y="3392424"/>
            <a:ext cx="2194560" cy="502920"/>
          </a:xfrm>
          <a:prstGeom prst="rect">
            <a:avLst/>
          </a:prstGeom>
          <a:noFill/>
          <a:ln/>
        </p:spPr>
        <p:txBody>
          <a:bodyPr wrap="square" lIns="0" tIns="0" rIns="0" bIns="0" rtlCol="0" anchor="ctr"/>
          <a:lstStyle/>
          <a:p>
            <a:pPr marL="0" indent="0">
              <a:buNone/>
            </a:pPr>
            <a:r>
              <a:rPr lang="en-US" sz="850">
                <a:solidFill>
                  <a:srgbClr val="1F2937"/>
                </a:solidFill>
                <a:latin typeface="Calibri" pitchFamily="34" charset="0"/>
                <a:ea typeface="Calibri" pitchFamily="34" charset="-122"/>
                <a:cs typeface="Calibri" pitchFamily="34" charset="-120"/>
              </a:rPr>
              <a:t>Un métier attractif, des équipages renouvelés</a:t>
            </a:r>
            <a:endParaRPr lang="en-US" sz="850"/>
          </a:p>
        </p:txBody>
      </p:sp>
      <p:sp>
        <p:nvSpPr>
          <p:cNvPr id="42" name="Shape 40"/>
          <p:cNvSpPr/>
          <p:nvPr/>
        </p:nvSpPr>
        <p:spPr>
          <a:xfrm>
            <a:off x="6446520" y="3392424"/>
            <a:ext cx="2377440" cy="502920"/>
          </a:xfrm>
          <a:prstGeom prst="roundRect">
            <a:avLst>
              <a:gd name="adj" fmla="val 9091"/>
            </a:avLst>
          </a:prstGeom>
          <a:solidFill>
            <a:srgbClr val="FFFFFF">
              <a:alpha val="92000"/>
            </a:srgbClr>
          </a:solidFill>
          <a:ln w="12700">
            <a:solidFill>
              <a:srgbClr val="FFFFFF">
                <a:alpha val="0"/>
              </a:srgbClr>
            </a:solidFill>
            <a:prstDash val="solid"/>
          </a:ln>
        </p:spPr>
        <p:txBody>
          <a:bodyPr/>
          <a:lstStyle/>
          <a:p>
            <a:endParaRPr/>
          </a:p>
        </p:txBody>
      </p:sp>
      <p:sp>
        <p:nvSpPr>
          <p:cNvPr id="43" name="Text 41"/>
          <p:cNvSpPr txBox="1"/>
          <p:nvPr/>
        </p:nvSpPr>
        <p:spPr>
          <a:xfrm>
            <a:off x="6537960" y="3392424"/>
            <a:ext cx="2194560" cy="502920"/>
          </a:xfrm>
          <a:prstGeom prst="rect">
            <a:avLst/>
          </a:prstGeom>
          <a:noFill/>
          <a:ln/>
        </p:spPr>
        <p:txBody>
          <a:bodyPr wrap="square" lIns="0" tIns="0" rIns="0" bIns="0" rtlCol="0" anchor="ctr"/>
          <a:lstStyle/>
          <a:p>
            <a:pPr marL="0" indent="0">
              <a:buNone/>
            </a:pPr>
            <a:r>
              <a:rPr lang="en-US" sz="850">
                <a:solidFill>
                  <a:srgbClr val="1F2937"/>
                </a:solidFill>
                <a:latin typeface="Calibri" pitchFamily="34" charset="0"/>
                <a:ea typeface="Calibri" pitchFamily="34" charset="-122"/>
                <a:cs typeface="Calibri" pitchFamily="34" charset="-120"/>
              </a:rPr>
              <a:t>Dégradation prévenue, résilience renforcée</a:t>
            </a:r>
            <a:endParaRPr lang="en-US" sz="850"/>
          </a:p>
        </p:txBody>
      </p:sp>
      <p:sp>
        <p:nvSpPr>
          <p:cNvPr id="44" name="Shape 42"/>
          <p:cNvSpPr/>
          <p:nvPr/>
        </p:nvSpPr>
        <p:spPr>
          <a:xfrm>
            <a:off x="457200" y="3950208"/>
            <a:ext cx="978408" cy="502920"/>
          </a:xfrm>
          <a:prstGeom prst="roundRect">
            <a:avLst>
              <a:gd name="adj" fmla="val 9091"/>
            </a:avLst>
          </a:prstGeom>
          <a:solidFill>
            <a:srgbClr val="FFFFFF">
              <a:alpha val="88000"/>
            </a:srgbClr>
          </a:solidFill>
          <a:ln w="12700">
            <a:solidFill>
              <a:srgbClr val="FFFFFF">
                <a:alpha val="0"/>
              </a:srgbClr>
            </a:solidFill>
            <a:prstDash val="solid"/>
          </a:ln>
        </p:spPr>
        <p:txBody>
          <a:bodyPr/>
          <a:lstStyle/>
          <a:p>
            <a:endParaRPr/>
          </a:p>
        </p:txBody>
      </p:sp>
      <p:sp>
        <p:nvSpPr>
          <p:cNvPr id="45" name="Text 43"/>
          <p:cNvSpPr txBox="1"/>
          <p:nvPr/>
        </p:nvSpPr>
        <p:spPr>
          <a:xfrm>
            <a:off x="548640" y="3950208"/>
            <a:ext cx="868680" cy="502920"/>
          </a:xfrm>
          <a:prstGeom prst="rect">
            <a:avLst/>
          </a:prstGeom>
          <a:noFill/>
          <a:ln/>
        </p:spPr>
        <p:txBody>
          <a:bodyPr wrap="square" lIns="0" tIns="0" rIns="0" bIns="0" rtlCol="0" anchor="ctr"/>
          <a:lstStyle/>
          <a:p>
            <a:pPr marL="0" indent="0">
              <a:buNone/>
            </a:pPr>
            <a:r>
              <a:rPr lang="en-US" sz="1100" b="1">
                <a:solidFill>
                  <a:srgbClr val="16256B"/>
                </a:solidFill>
                <a:latin typeface="Cambria" pitchFamily="34" charset="0"/>
                <a:ea typeface="Cambria" pitchFamily="34" charset="-122"/>
                <a:cs typeface="Cambria" pitchFamily="34" charset="-120"/>
              </a:rPr>
              <a:t>Réparateur</a:t>
            </a:r>
            <a:endParaRPr lang="en-US" sz="1100"/>
          </a:p>
        </p:txBody>
      </p:sp>
      <p:sp>
        <p:nvSpPr>
          <p:cNvPr id="46" name="Shape 44"/>
          <p:cNvSpPr/>
          <p:nvPr/>
        </p:nvSpPr>
        <p:spPr>
          <a:xfrm>
            <a:off x="1508760" y="3950208"/>
            <a:ext cx="2377440" cy="502920"/>
          </a:xfrm>
          <a:prstGeom prst="roundRect">
            <a:avLst>
              <a:gd name="adj" fmla="val 9091"/>
            </a:avLst>
          </a:prstGeom>
          <a:solidFill>
            <a:srgbClr val="FFFFFF">
              <a:alpha val="92000"/>
            </a:srgbClr>
          </a:solidFill>
          <a:ln w="12700">
            <a:solidFill>
              <a:srgbClr val="FFFFFF">
                <a:alpha val="0"/>
              </a:srgbClr>
            </a:solidFill>
            <a:prstDash val="solid"/>
          </a:ln>
        </p:spPr>
        <p:txBody>
          <a:bodyPr/>
          <a:lstStyle/>
          <a:p>
            <a:endParaRPr/>
          </a:p>
        </p:txBody>
      </p:sp>
      <p:sp>
        <p:nvSpPr>
          <p:cNvPr id="47" name="Text 45"/>
          <p:cNvSpPr txBox="1"/>
          <p:nvPr/>
        </p:nvSpPr>
        <p:spPr>
          <a:xfrm>
            <a:off x="1600200" y="3950208"/>
            <a:ext cx="2194560" cy="502920"/>
          </a:xfrm>
          <a:prstGeom prst="rect">
            <a:avLst/>
          </a:prstGeom>
          <a:noFill/>
          <a:ln/>
        </p:spPr>
        <p:txBody>
          <a:bodyPr wrap="square" lIns="0" tIns="0" rIns="0" bIns="0" rtlCol="0" anchor="ctr"/>
          <a:lstStyle/>
          <a:p>
            <a:pPr marL="0" indent="0">
              <a:buNone/>
            </a:pPr>
            <a:r>
              <a:rPr lang="en-US" sz="850">
                <a:solidFill>
                  <a:srgbClr val="1F2937"/>
                </a:solidFill>
                <a:latin typeface="Calibri" pitchFamily="34" charset="0"/>
                <a:ea typeface="Calibri" pitchFamily="34" charset="-122"/>
                <a:cs typeface="Calibri" pitchFamily="34" charset="-120"/>
              </a:rPr>
              <a:t>Le droit de la réparation mobilisé</a:t>
            </a:r>
            <a:endParaRPr lang="en-US" sz="850"/>
          </a:p>
        </p:txBody>
      </p:sp>
      <p:sp>
        <p:nvSpPr>
          <p:cNvPr id="48" name="Shape 46"/>
          <p:cNvSpPr/>
          <p:nvPr/>
        </p:nvSpPr>
        <p:spPr>
          <a:xfrm>
            <a:off x="3977640" y="3950208"/>
            <a:ext cx="2377440" cy="502920"/>
          </a:xfrm>
          <a:prstGeom prst="roundRect">
            <a:avLst>
              <a:gd name="adj" fmla="val 9091"/>
            </a:avLst>
          </a:prstGeom>
          <a:solidFill>
            <a:srgbClr val="FFFFFF">
              <a:alpha val="92000"/>
            </a:srgbClr>
          </a:solidFill>
          <a:ln w="12700">
            <a:solidFill>
              <a:srgbClr val="FFFFFF">
                <a:alpha val="0"/>
              </a:srgbClr>
            </a:solidFill>
            <a:prstDash val="solid"/>
          </a:ln>
        </p:spPr>
        <p:txBody>
          <a:bodyPr/>
          <a:lstStyle/>
          <a:p>
            <a:endParaRPr/>
          </a:p>
        </p:txBody>
      </p:sp>
      <p:sp>
        <p:nvSpPr>
          <p:cNvPr id="49" name="Text 47"/>
          <p:cNvSpPr txBox="1"/>
          <p:nvPr/>
        </p:nvSpPr>
        <p:spPr>
          <a:xfrm>
            <a:off x="4069080" y="3950208"/>
            <a:ext cx="2194560" cy="502920"/>
          </a:xfrm>
          <a:prstGeom prst="rect">
            <a:avLst/>
          </a:prstGeom>
          <a:noFill/>
          <a:ln/>
        </p:spPr>
        <p:txBody>
          <a:bodyPr wrap="square" lIns="0" tIns="0" rIns="0" bIns="0" rtlCol="0" anchor="ctr"/>
          <a:lstStyle/>
          <a:p>
            <a:pPr marL="0" indent="0">
              <a:buNone/>
            </a:pPr>
            <a:r>
              <a:rPr lang="en-US" sz="850">
                <a:solidFill>
                  <a:srgbClr val="1F2937"/>
                </a:solidFill>
                <a:latin typeface="Calibri" pitchFamily="34" charset="0"/>
                <a:ea typeface="Calibri" pitchFamily="34" charset="-122"/>
                <a:cs typeface="Calibri" pitchFamily="34" charset="-120"/>
              </a:rPr>
              <a:t>Une réputation et des relations rétablies</a:t>
            </a:r>
            <a:endParaRPr lang="en-US" sz="850"/>
          </a:p>
        </p:txBody>
      </p:sp>
      <p:sp>
        <p:nvSpPr>
          <p:cNvPr id="50" name="Shape 48"/>
          <p:cNvSpPr/>
          <p:nvPr/>
        </p:nvSpPr>
        <p:spPr>
          <a:xfrm>
            <a:off x="6446520" y="3950208"/>
            <a:ext cx="2377440" cy="502920"/>
          </a:xfrm>
          <a:prstGeom prst="roundRect">
            <a:avLst>
              <a:gd name="adj" fmla="val 9091"/>
            </a:avLst>
          </a:prstGeom>
          <a:solidFill>
            <a:srgbClr val="FFFFFF">
              <a:alpha val="92000"/>
            </a:srgbClr>
          </a:solidFill>
          <a:ln w="12700">
            <a:solidFill>
              <a:srgbClr val="FFFFFF">
                <a:alpha val="0"/>
              </a:srgbClr>
            </a:solidFill>
            <a:prstDash val="solid"/>
          </a:ln>
        </p:spPr>
        <p:txBody>
          <a:bodyPr/>
          <a:lstStyle/>
          <a:p>
            <a:endParaRPr/>
          </a:p>
        </p:txBody>
      </p:sp>
      <p:sp>
        <p:nvSpPr>
          <p:cNvPr id="51" name="Text 49"/>
          <p:cNvSpPr txBox="1"/>
          <p:nvPr/>
        </p:nvSpPr>
        <p:spPr>
          <a:xfrm>
            <a:off x="6537960" y="3950208"/>
            <a:ext cx="2194560" cy="502920"/>
          </a:xfrm>
          <a:prstGeom prst="rect">
            <a:avLst/>
          </a:prstGeom>
          <a:noFill/>
          <a:ln/>
        </p:spPr>
        <p:txBody>
          <a:bodyPr wrap="square" lIns="0" tIns="0" rIns="0" bIns="0" rtlCol="0" anchor="ctr"/>
          <a:lstStyle/>
          <a:p>
            <a:pPr marL="0" indent="0">
              <a:buNone/>
            </a:pPr>
            <a:r>
              <a:rPr lang="en-US" sz="850">
                <a:solidFill>
                  <a:srgbClr val="1F2937"/>
                </a:solidFill>
                <a:latin typeface="Calibri" pitchFamily="34" charset="0"/>
                <a:ea typeface="Calibri" pitchFamily="34" charset="-122"/>
                <a:cs typeface="Calibri" pitchFamily="34" charset="-120"/>
              </a:rPr>
              <a:t>Rétablissement écologique établi par la mesure</a:t>
            </a:r>
            <a:endParaRPr lang="en-US" sz="850"/>
          </a:p>
        </p:txBody>
      </p:sp>
      <p:sp>
        <p:nvSpPr>
          <p:cNvPr id="52" name="Text 50"/>
          <p:cNvSpPr txBox="1"/>
          <p:nvPr/>
        </p:nvSpPr>
        <p:spPr>
          <a:xfrm>
            <a:off x="457200" y="4617720"/>
            <a:ext cx="7863840" cy="201168"/>
          </a:xfrm>
          <a:prstGeom prst="rect">
            <a:avLst/>
          </a:prstGeom>
          <a:noFill/>
          <a:ln/>
        </p:spPr>
        <p:txBody>
          <a:bodyPr wrap="square" lIns="0" tIns="0" rIns="0" bIns="0" rtlCol="0" anchor="ctr"/>
          <a:lstStyle/>
          <a:p>
            <a:pPr marL="0" indent="0">
              <a:buNone/>
            </a:pPr>
            <a:r>
              <a:rPr lang="en-US" sz="750" i="1">
                <a:solidFill>
                  <a:srgbClr val="CADCFC"/>
                </a:solidFill>
                <a:latin typeface="Calibri" pitchFamily="34" charset="0"/>
                <a:ea typeface="Calibri" pitchFamily="34" charset="-122"/>
                <a:cs typeface="Calibri" pitchFamily="34" charset="-120"/>
              </a:rPr>
              <a:t>Une même action produit les trois bénéfices : ils décrivent le même fait sous trois angles.</a:t>
            </a:r>
            <a:endParaRPr lang="en-US" sz="750"/>
          </a:p>
        </p:txBody>
      </p:sp>
      <p:sp>
        <p:nvSpPr>
          <p:cNvPr id="53" name="Text 51"/>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CADCFC"/>
                </a:solidFill>
                <a:latin typeface="Calibri" pitchFamily="34" charset="0"/>
                <a:ea typeface="Calibri" pitchFamily="34" charset="-122"/>
                <a:cs typeface="Calibri" pitchFamily="34" charset="-120"/>
              </a:rPr>
              <a:t>8</a:t>
            </a:r>
            <a:endParaRPr lang="en-US" sz="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256B">
              <a:alpha val="55000"/>
            </a:srgbClr>
          </a:solidFill>
          <a:ln w="12700">
            <a:solidFill>
              <a:srgbClr val="16256B">
                <a:alpha val="0"/>
              </a:srgbClr>
            </a:solidFill>
            <a:prstDash val="solid"/>
          </a:ln>
        </p:spPr>
        <p:txBody>
          <a:bodyPr/>
          <a:lstStyle/>
          <a:p>
            <a:endParaRPr/>
          </a:p>
        </p:txBody>
      </p:sp>
      <p:sp>
        <p:nvSpPr>
          <p:cNvPr id="3" name="Shape 1"/>
          <p:cNvSpPr/>
          <p:nvPr/>
        </p:nvSpPr>
        <p:spPr>
          <a:xfrm>
            <a:off x="457200" y="1874520"/>
            <a:ext cx="109728" cy="1371600"/>
          </a:xfrm>
          <a:prstGeom prst="rect">
            <a:avLst/>
          </a:prstGeom>
          <a:solidFill>
            <a:srgbClr val="7FD3D0"/>
          </a:solidFill>
          <a:ln w="12700">
            <a:solidFill>
              <a:srgbClr val="7FD3D0"/>
            </a:solidFill>
            <a:prstDash val="solid"/>
          </a:ln>
        </p:spPr>
        <p:txBody>
          <a:bodyPr/>
          <a:lstStyle/>
          <a:p>
            <a:endParaRPr/>
          </a:p>
        </p:txBody>
      </p:sp>
      <p:sp>
        <p:nvSpPr>
          <p:cNvPr id="4" name="Text 2"/>
          <p:cNvSpPr txBox="1"/>
          <p:nvPr/>
        </p:nvSpPr>
        <p:spPr>
          <a:xfrm>
            <a:off x="777240" y="1828800"/>
            <a:ext cx="7315200" cy="274320"/>
          </a:xfrm>
          <a:prstGeom prst="rect">
            <a:avLst/>
          </a:prstGeom>
          <a:noFill/>
          <a:ln/>
        </p:spPr>
        <p:txBody>
          <a:bodyPr wrap="square" lIns="0" tIns="0" rIns="0" bIns="0" rtlCol="0" anchor="ctr"/>
          <a:lstStyle/>
          <a:p>
            <a:pPr marL="0" indent="0">
              <a:buNone/>
            </a:pPr>
            <a:r>
              <a:rPr lang="en-US" sz="1000" b="1" kern="0" spc="400">
                <a:solidFill>
                  <a:srgbClr val="7FD3D0"/>
                </a:solidFill>
                <a:latin typeface="Calibri" pitchFamily="34" charset="0"/>
                <a:ea typeface="Calibri" pitchFamily="34" charset="-122"/>
                <a:cs typeface="Calibri" pitchFamily="34" charset="-120"/>
              </a:rPr>
              <a:t>DEUXIÈME PARTIE</a:t>
            </a:r>
            <a:endParaRPr lang="en-US" sz="1000"/>
          </a:p>
        </p:txBody>
      </p:sp>
      <p:sp>
        <p:nvSpPr>
          <p:cNvPr id="5" name="Text 3"/>
          <p:cNvSpPr txBox="1"/>
          <p:nvPr/>
        </p:nvSpPr>
        <p:spPr>
          <a:xfrm>
            <a:off x="777240" y="2103120"/>
            <a:ext cx="7315200" cy="914400"/>
          </a:xfrm>
          <a:prstGeom prst="rect">
            <a:avLst/>
          </a:prstGeom>
          <a:noFill/>
          <a:ln/>
        </p:spPr>
        <p:txBody>
          <a:bodyPr wrap="square" lIns="0" tIns="0" rIns="0" bIns="0" rtlCol="0" anchor="t"/>
          <a:lstStyle/>
          <a:p>
            <a:pPr marL="0" indent="0">
              <a:buNone/>
            </a:pPr>
            <a:r>
              <a:rPr lang="en-US" sz="5400" b="1">
                <a:solidFill>
                  <a:srgbClr val="FFFFFF"/>
                </a:solidFill>
                <a:latin typeface="Cambria" pitchFamily="34" charset="0"/>
                <a:ea typeface="Cambria" pitchFamily="34" charset="-122"/>
                <a:cs typeface="Cambria" pitchFamily="34" charset="-120"/>
              </a:rPr>
              <a:t>Mécénat</a:t>
            </a:r>
            <a:endParaRPr lang="en-US" sz="5400"/>
          </a:p>
        </p:txBody>
      </p:sp>
      <p:sp>
        <p:nvSpPr>
          <p:cNvPr id="6" name="Text 4"/>
          <p:cNvSpPr txBox="1"/>
          <p:nvPr/>
        </p:nvSpPr>
        <p:spPr>
          <a:xfrm>
            <a:off x="777240" y="3017520"/>
            <a:ext cx="7315200" cy="320040"/>
          </a:xfrm>
          <a:prstGeom prst="rect">
            <a:avLst/>
          </a:prstGeom>
          <a:noFill/>
          <a:ln/>
        </p:spPr>
        <p:txBody>
          <a:bodyPr wrap="square" lIns="0" tIns="0" rIns="0" bIns="0" rtlCol="0" anchor="ctr"/>
          <a:lstStyle/>
          <a:p>
            <a:pPr marL="0" indent="0">
              <a:buNone/>
            </a:pPr>
            <a:r>
              <a:rPr lang="en-US" sz="1400">
                <a:solidFill>
                  <a:srgbClr val="E6EAF5"/>
                </a:solidFill>
                <a:latin typeface="Calibri" pitchFamily="34" charset="0"/>
                <a:ea typeface="Calibri" pitchFamily="34" charset="-122"/>
                <a:cs typeface="Calibri" pitchFamily="34" charset="-120"/>
              </a:rPr>
              <a:t>Les montants recherchés, l’emploi des fonds et le régime fiscal du don.</a:t>
            </a:r>
            <a:endParaRPr lang="en-US" sz="1400"/>
          </a:p>
        </p:txBody>
      </p:sp>
      <p:pic>
        <p:nvPicPr>
          <p:cNvPr id="7" name="Image 0" descr="/home/claude/v8/img/logo_white.png"/>
          <p:cNvPicPr>
            <a:picLocks noChangeAspect="1"/>
          </p:cNvPicPr>
          <p:nvPr/>
        </p:nvPicPr>
        <p:blipFill>
          <a:blip r:embed="rId3"/>
          <a:stretch>
            <a:fillRect/>
          </a:stretch>
        </p:blipFill>
        <p:spPr>
          <a:xfrm>
            <a:off x="6949440" y="320040"/>
            <a:ext cx="1621380" cy="548640"/>
          </a:xfrm>
          <a:prstGeom prst="rect">
            <a:avLst/>
          </a:prstGeom>
        </p:spPr>
      </p:pic>
      <p:sp>
        <p:nvSpPr>
          <p:cNvPr id="8" name="Text 5"/>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CADCFC"/>
                </a:solidFill>
                <a:latin typeface="Calibri" pitchFamily="34" charset="0"/>
                <a:ea typeface="Calibri" pitchFamily="34" charset="-122"/>
                <a:cs typeface="Calibri" pitchFamily="34" charset="-120"/>
              </a:rPr>
              <a:t>9</a:t>
            </a:r>
            <a:endParaRPr lang="en-US" sz="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256B">
              <a:alpha val="50000"/>
            </a:srgbClr>
          </a:solidFill>
          <a:ln w="12700">
            <a:solidFill>
              <a:srgbClr val="16256B">
                <a:alpha val="0"/>
              </a:srgbClr>
            </a:solidFill>
            <a:prstDash val="solid"/>
          </a:ln>
        </p:spPr>
        <p:txBody>
          <a:bodyPr/>
          <a:lstStyle/>
          <a:p>
            <a:endParaRPr/>
          </a:p>
        </p:txBody>
      </p:sp>
      <p:sp>
        <p:nvSpPr>
          <p:cNvPr id="3" name="Shape 1"/>
          <p:cNvSpPr/>
          <p:nvPr/>
        </p:nvSpPr>
        <p:spPr>
          <a:xfrm>
            <a:off x="0" y="0"/>
            <a:ext cx="4872386" cy="5143500"/>
          </a:xfrm>
          <a:prstGeom prst="rect">
            <a:avLst/>
          </a:prstGeom>
          <a:solidFill>
            <a:srgbClr val="16256B">
              <a:alpha val="75000"/>
            </a:srgbClr>
          </a:solidFill>
          <a:ln w="12700">
            <a:solidFill>
              <a:srgbClr val="16256B">
                <a:alpha val="0"/>
              </a:srgbClr>
            </a:solidFill>
            <a:prstDash val="solid"/>
          </a:ln>
        </p:spPr>
        <p:txBody>
          <a:bodyPr/>
          <a:lstStyle/>
          <a:p>
            <a:endParaRPr/>
          </a:p>
        </p:txBody>
      </p:sp>
      <p:sp>
        <p:nvSpPr>
          <p:cNvPr id="4" name="Text 2"/>
          <p:cNvSpPr txBox="1"/>
          <p:nvPr/>
        </p:nvSpPr>
        <p:spPr>
          <a:xfrm>
            <a:off x="457200" y="320040"/>
            <a:ext cx="4572000" cy="228600"/>
          </a:xfrm>
          <a:prstGeom prst="rect">
            <a:avLst/>
          </a:prstGeom>
          <a:noFill/>
          <a:ln/>
        </p:spPr>
        <p:txBody>
          <a:bodyPr wrap="square" lIns="0" tIns="0" rIns="0" bIns="0" rtlCol="0" anchor="ctr"/>
          <a:lstStyle/>
          <a:p>
            <a:pPr marL="0" indent="0">
              <a:buNone/>
            </a:pPr>
            <a:r>
              <a:rPr lang="en-US" sz="900" b="1" kern="0" spc="300">
                <a:solidFill>
                  <a:srgbClr val="7FD3D0"/>
                </a:solidFill>
                <a:latin typeface="Calibri" pitchFamily="34" charset="0"/>
                <a:ea typeface="Calibri" pitchFamily="34" charset="-122"/>
                <a:cs typeface="Calibri" pitchFamily="34" charset="-120"/>
              </a:rPr>
              <a:t>MONTANT RECHERCHÉ · PREMIÈRE LEVÉE · T4 2026</a:t>
            </a:r>
            <a:endParaRPr lang="en-US" sz="900"/>
          </a:p>
        </p:txBody>
      </p:sp>
      <p:sp>
        <p:nvSpPr>
          <p:cNvPr id="5" name="Text 3"/>
          <p:cNvSpPr txBox="1"/>
          <p:nvPr/>
        </p:nvSpPr>
        <p:spPr>
          <a:xfrm>
            <a:off x="457200" y="566928"/>
            <a:ext cx="4389120" cy="502920"/>
          </a:xfrm>
          <a:prstGeom prst="rect">
            <a:avLst/>
          </a:prstGeom>
          <a:noFill/>
          <a:ln/>
        </p:spPr>
        <p:txBody>
          <a:bodyPr wrap="square" lIns="0" tIns="0" rIns="0" bIns="0" rtlCol="0" anchor="ctr"/>
          <a:lstStyle/>
          <a:p>
            <a:pPr marL="0" indent="0">
              <a:buNone/>
            </a:pPr>
            <a:r>
              <a:rPr lang="en-US" sz="2800" b="1">
                <a:solidFill>
                  <a:srgbClr val="FFFFFF"/>
                </a:solidFill>
                <a:latin typeface="Cambria" pitchFamily="34" charset="0"/>
                <a:ea typeface="Cambria" pitchFamily="34" charset="-122"/>
                <a:cs typeface="Cambria" pitchFamily="34" charset="-120"/>
              </a:rPr>
              <a:t>Ouvrir le fonds.</a:t>
            </a:r>
            <a:endParaRPr lang="en-US" sz="2800"/>
          </a:p>
        </p:txBody>
      </p:sp>
      <p:sp>
        <p:nvSpPr>
          <p:cNvPr id="6" name="Text 4"/>
          <p:cNvSpPr txBox="1"/>
          <p:nvPr/>
        </p:nvSpPr>
        <p:spPr>
          <a:xfrm>
            <a:off x="457200" y="1051560"/>
            <a:ext cx="4389120" cy="868680"/>
          </a:xfrm>
          <a:prstGeom prst="rect">
            <a:avLst/>
          </a:prstGeom>
          <a:noFill/>
          <a:ln/>
        </p:spPr>
        <p:txBody>
          <a:bodyPr wrap="square" lIns="0" tIns="0" rIns="0" bIns="0" rtlCol="0" anchor="t"/>
          <a:lstStyle/>
          <a:p>
            <a:pPr marL="0" indent="0">
              <a:buNone/>
            </a:pPr>
            <a:r>
              <a:rPr lang="en-US" sz="5400" b="1">
                <a:solidFill>
                  <a:srgbClr val="FFFFFF"/>
                </a:solidFill>
                <a:latin typeface="Cambria" pitchFamily="34" charset="0"/>
                <a:ea typeface="Cambria" pitchFamily="34" charset="-122"/>
                <a:cs typeface="Cambria" pitchFamily="34" charset="-120"/>
              </a:rPr>
              <a:t>165 000 €</a:t>
            </a:r>
            <a:endParaRPr lang="en-US" sz="5400"/>
          </a:p>
        </p:txBody>
      </p:sp>
      <p:sp>
        <p:nvSpPr>
          <p:cNvPr id="7" name="Text 5"/>
          <p:cNvSpPr txBox="1"/>
          <p:nvPr/>
        </p:nvSpPr>
        <p:spPr>
          <a:xfrm>
            <a:off x="457200" y="2011680"/>
            <a:ext cx="4206240" cy="914400"/>
          </a:xfrm>
          <a:prstGeom prst="rect">
            <a:avLst/>
          </a:prstGeom>
          <a:noFill/>
          <a:ln/>
        </p:spPr>
        <p:txBody>
          <a:bodyPr wrap="square" lIns="0" tIns="0" rIns="0" bIns="0" rtlCol="0" anchor="t"/>
          <a:lstStyle/>
          <a:p>
            <a:pPr marL="0" indent="0">
              <a:buNone/>
            </a:pPr>
            <a:r>
              <a:rPr lang="en-US" sz="1250" b="1">
                <a:solidFill>
                  <a:srgbClr val="FFFFFF"/>
                </a:solidFill>
                <a:latin typeface="Calibri" pitchFamily="34" charset="0"/>
                <a:ea typeface="Calibri" pitchFamily="34" charset="-122"/>
                <a:cs typeface="Calibri" pitchFamily="34" charset="-120"/>
              </a:rPr>
              <a:t>Des entreprises et des particuliers.</a:t>
            </a:r>
            <a:endParaRPr lang="en-US" sz="1250"/>
          </a:p>
          <a:p>
            <a:pPr marL="0" indent="0">
              <a:buNone/>
            </a:pPr>
            <a:r>
              <a:rPr lang="en-US" sz="1250">
                <a:solidFill>
                  <a:srgbClr val="E6EAF5"/>
                </a:solidFill>
                <a:latin typeface="Calibri" pitchFamily="34" charset="0"/>
                <a:ea typeface="Calibri" pitchFamily="34" charset="-122"/>
                <a:cs typeface="Calibri" pitchFamily="34" charset="-120"/>
              </a:rPr>
              <a:t>20 000 € par entreprise — 12 000 € de réduction d’impôt ; 1 000 € par particulier — 660 €.</a:t>
            </a:r>
            <a:endParaRPr lang="en-US" sz="1250"/>
          </a:p>
        </p:txBody>
      </p:sp>
      <p:sp>
        <p:nvSpPr>
          <p:cNvPr id="8" name="Shape 6"/>
          <p:cNvSpPr/>
          <p:nvPr/>
        </p:nvSpPr>
        <p:spPr>
          <a:xfrm>
            <a:off x="457200" y="3017520"/>
            <a:ext cx="3017520" cy="566928"/>
          </a:xfrm>
          <a:prstGeom prst="roundRect">
            <a:avLst>
              <a:gd name="adj" fmla="val 16129"/>
            </a:avLst>
          </a:prstGeom>
          <a:solidFill>
            <a:srgbClr val="0E8A8A"/>
          </a:solidFill>
          <a:ln w="12700">
            <a:solidFill>
              <a:srgbClr val="0E8A8A"/>
            </a:solidFill>
            <a:prstDash val="solid"/>
          </a:ln>
        </p:spPr>
        <p:txBody>
          <a:bodyPr/>
          <a:lstStyle/>
          <a:p>
            <a:endParaRPr/>
          </a:p>
        </p:txBody>
      </p:sp>
      <p:sp>
        <p:nvSpPr>
          <p:cNvPr id="9" name="Text 7"/>
          <p:cNvSpPr txBox="1"/>
          <p:nvPr/>
        </p:nvSpPr>
        <p:spPr>
          <a:xfrm>
            <a:off x="594360" y="3017520"/>
            <a:ext cx="2834640" cy="566928"/>
          </a:xfrm>
          <a:prstGeom prst="rect">
            <a:avLst/>
          </a:prstGeom>
          <a:noFill/>
          <a:ln/>
        </p:spPr>
        <p:txBody>
          <a:bodyPr wrap="square" lIns="0" tIns="0" rIns="0" bIns="0" rtlCol="0" anchor="ctr"/>
          <a:lstStyle/>
          <a:p>
            <a:pPr marL="0" indent="0">
              <a:buNone/>
            </a:pPr>
            <a:r>
              <a:rPr lang="en-US" sz="1150" b="1">
                <a:solidFill>
                  <a:srgbClr val="FFFFFF"/>
                </a:solidFill>
                <a:latin typeface="Calibri" pitchFamily="34" charset="0"/>
                <a:ea typeface="Calibri" pitchFamily="34" charset="-122"/>
                <a:cs typeface="Calibri" pitchFamily="34" charset="-120"/>
              </a:rPr>
              <a:t>Un don de 20 000 € </a:t>
            </a:r>
            <a:r>
              <a:rPr lang="en-US" sz="1150">
                <a:solidFill>
                  <a:srgbClr val="E6FFFE"/>
                </a:solidFill>
                <a:latin typeface="Calibri" pitchFamily="34" charset="0"/>
                <a:ea typeface="Calibri" pitchFamily="34" charset="-122"/>
                <a:cs typeface="Calibri" pitchFamily="34" charset="-120"/>
              </a:rPr>
              <a:t>= 12 % de la levée</a:t>
            </a:r>
            <a:endParaRPr lang="en-US" sz="1150"/>
          </a:p>
        </p:txBody>
      </p:sp>
      <p:sp>
        <p:nvSpPr>
          <p:cNvPr id="10" name="Shape 8"/>
          <p:cNvSpPr/>
          <p:nvPr/>
        </p:nvSpPr>
        <p:spPr>
          <a:xfrm>
            <a:off x="4892040" y="502920"/>
            <a:ext cx="1874520" cy="1463040"/>
          </a:xfrm>
          <a:prstGeom prst="rect">
            <a:avLst/>
          </a:prstGeom>
          <a:solidFill>
            <a:srgbClr val="FFFFFF"/>
          </a:solidFill>
          <a:ln w="12700">
            <a:solidFill>
              <a:srgbClr val="FFFFFF"/>
            </a:solidFill>
            <a:prstDash val="solid"/>
          </a:ln>
        </p:spPr>
        <p:txBody>
          <a:bodyPr/>
          <a:lstStyle/>
          <a:p>
            <a:endParaRPr/>
          </a:p>
        </p:txBody>
      </p:sp>
      <p:pic>
        <p:nvPicPr>
          <p:cNvPr id="11" name="Image 0" descr="/home/claude/v8/img/t_chal.jpg"/>
          <p:cNvPicPr>
            <a:picLocks noChangeAspect="1"/>
          </p:cNvPicPr>
          <p:nvPr/>
        </p:nvPicPr>
        <p:blipFill>
          <a:blip r:embed="rId3"/>
          <a:stretch>
            <a:fillRect/>
          </a:stretch>
        </p:blipFill>
        <p:spPr>
          <a:xfrm>
            <a:off x="4892040" y="502920"/>
            <a:ext cx="1874520" cy="777240"/>
          </a:xfrm>
          <a:prstGeom prst="rect">
            <a:avLst/>
          </a:prstGeom>
        </p:spPr>
      </p:pic>
      <p:sp>
        <p:nvSpPr>
          <p:cNvPr id="12" name="Shape 9"/>
          <p:cNvSpPr/>
          <p:nvPr/>
        </p:nvSpPr>
        <p:spPr>
          <a:xfrm>
            <a:off x="6217920" y="576072"/>
            <a:ext cx="475488" cy="219456"/>
          </a:xfrm>
          <a:prstGeom prst="roundRect">
            <a:avLst>
              <a:gd name="adj" fmla="val 50000"/>
            </a:avLst>
          </a:prstGeom>
          <a:solidFill>
            <a:srgbClr val="16256B"/>
          </a:solidFill>
          <a:ln w="12700">
            <a:solidFill>
              <a:srgbClr val="16256B"/>
            </a:solidFill>
            <a:prstDash val="solid"/>
          </a:ln>
        </p:spPr>
        <p:txBody>
          <a:bodyPr/>
          <a:lstStyle/>
          <a:p>
            <a:endParaRPr/>
          </a:p>
        </p:txBody>
      </p:sp>
      <p:sp>
        <p:nvSpPr>
          <p:cNvPr id="13" name="Text 10"/>
          <p:cNvSpPr txBox="1"/>
          <p:nvPr/>
        </p:nvSpPr>
        <p:spPr>
          <a:xfrm>
            <a:off x="6217920" y="576072"/>
            <a:ext cx="475488" cy="219456"/>
          </a:xfrm>
          <a:prstGeom prst="rect">
            <a:avLst/>
          </a:prstGeom>
          <a:noFill/>
          <a:ln/>
        </p:spPr>
        <p:txBody>
          <a:bodyPr wrap="square" lIns="0" tIns="0" rIns="0" bIns="0"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43 %</a:t>
            </a:r>
            <a:endParaRPr lang="en-US" sz="850"/>
          </a:p>
        </p:txBody>
      </p:sp>
      <p:sp>
        <p:nvSpPr>
          <p:cNvPr id="14" name="Text 11"/>
          <p:cNvSpPr txBox="1"/>
          <p:nvPr/>
        </p:nvSpPr>
        <p:spPr>
          <a:xfrm>
            <a:off x="5001768" y="1325880"/>
            <a:ext cx="1691640" cy="274320"/>
          </a:xfrm>
          <a:prstGeom prst="rect">
            <a:avLst/>
          </a:prstGeom>
          <a:noFill/>
          <a:ln/>
        </p:spPr>
        <p:txBody>
          <a:bodyPr wrap="square" lIns="0" tIns="0" rIns="0" bIns="0" rtlCol="0" anchor="ctr"/>
          <a:lstStyle/>
          <a:p>
            <a:pPr marL="0" indent="0">
              <a:buNone/>
            </a:pPr>
            <a:r>
              <a:rPr lang="en-US" sz="1500" b="1">
                <a:solidFill>
                  <a:srgbClr val="16256B"/>
                </a:solidFill>
                <a:latin typeface="Cambria" pitchFamily="34" charset="0"/>
                <a:ea typeface="Cambria" pitchFamily="34" charset="-122"/>
                <a:cs typeface="Cambria" pitchFamily="34" charset="-120"/>
              </a:rPr>
              <a:t>70 000 €</a:t>
            </a:r>
            <a:endParaRPr lang="en-US" sz="1500"/>
          </a:p>
        </p:txBody>
      </p:sp>
      <p:sp>
        <p:nvSpPr>
          <p:cNvPr id="15" name="Text 12"/>
          <p:cNvSpPr txBox="1"/>
          <p:nvPr/>
        </p:nvSpPr>
        <p:spPr>
          <a:xfrm>
            <a:off x="5001768" y="1581912"/>
            <a:ext cx="1691640" cy="365760"/>
          </a:xfrm>
          <a:prstGeom prst="rect">
            <a:avLst/>
          </a:prstGeom>
          <a:noFill/>
          <a:ln/>
        </p:spPr>
        <p:txBody>
          <a:bodyPr wrap="square" lIns="0" tIns="0" rIns="0" bIns="0" rtlCol="0" anchor="t"/>
          <a:lstStyle/>
          <a:p>
            <a:pPr marL="0" indent="0">
              <a:buNone/>
            </a:pPr>
            <a:r>
              <a:rPr lang="en-US" sz="850">
                <a:solidFill>
                  <a:srgbClr val="1F2937"/>
                </a:solidFill>
                <a:latin typeface="Calibri" pitchFamily="34" charset="0"/>
                <a:ea typeface="Calibri" pitchFamily="34" charset="-122"/>
                <a:cs typeface="Calibri" pitchFamily="34" charset="-120"/>
              </a:rPr>
              <a:t>Étude de conception du chalutier bas carbone</a:t>
            </a:r>
            <a:endParaRPr lang="en-US" sz="850"/>
          </a:p>
        </p:txBody>
      </p:sp>
      <p:sp>
        <p:nvSpPr>
          <p:cNvPr id="16" name="Shape 13"/>
          <p:cNvSpPr/>
          <p:nvPr/>
        </p:nvSpPr>
        <p:spPr>
          <a:xfrm>
            <a:off x="6903720" y="502920"/>
            <a:ext cx="1874520" cy="1463040"/>
          </a:xfrm>
          <a:prstGeom prst="rect">
            <a:avLst/>
          </a:prstGeom>
          <a:solidFill>
            <a:srgbClr val="FFFFFF"/>
          </a:solidFill>
          <a:ln w="12700">
            <a:solidFill>
              <a:srgbClr val="FFFFFF"/>
            </a:solidFill>
            <a:prstDash val="solid"/>
          </a:ln>
        </p:spPr>
        <p:txBody>
          <a:bodyPr/>
          <a:lstStyle/>
          <a:p>
            <a:endParaRPr/>
          </a:p>
        </p:txBody>
      </p:sp>
      <p:pic>
        <p:nvPicPr>
          <p:cNvPr id="17" name="Image 1" descr="/home/claude/v8/img/t_coll.jpg"/>
          <p:cNvPicPr>
            <a:picLocks noChangeAspect="1"/>
          </p:cNvPicPr>
          <p:nvPr/>
        </p:nvPicPr>
        <p:blipFill>
          <a:blip r:embed="rId4"/>
          <a:stretch>
            <a:fillRect/>
          </a:stretch>
        </p:blipFill>
        <p:spPr>
          <a:xfrm>
            <a:off x="6903720" y="502920"/>
            <a:ext cx="1874520" cy="777240"/>
          </a:xfrm>
          <a:prstGeom prst="rect">
            <a:avLst/>
          </a:prstGeom>
        </p:spPr>
      </p:pic>
      <p:sp>
        <p:nvSpPr>
          <p:cNvPr id="18" name="Shape 14"/>
          <p:cNvSpPr/>
          <p:nvPr/>
        </p:nvSpPr>
        <p:spPr>
          <a:xfrm>
            <a:off x="8229600" y="576072"/>
            <a:ext cx="475488" cy="219456"/>
          </a:xfrm>
          <a:prstGeom prst="roundRect">
            <a:avLst>
              <a:gd name="adj" fmla="val 50000"/>
            </a:avLst>
          </a:prstGeom>
          <a:solidFill>
            <a:srgbClr val="16256B"/>
          </a:solidFill>
          <a:ln w="12700">
            <a:solidFill>
              <a:srgbClr val="16256B"/>
            </a:solidFill>
            <a:prstDash val="solid"/>
          </a:ln>
        </p:spPr>
        <p:txBody>
          <a:bodyPr/>
          <a:lstStyle/>
          <a:p>
            <a:endParaRPr/>
          </a:p>
        </p:txBody>
      </p:sp>
      <p:sp>
        <p:nvSpPr>
          <p:cNvPr id="19" name="Text 15"/>
          <p:cNvSpPr txBox="1"/>
          <p:nvPr/>
        </p:nvSpPr>
        <p:spPr>
          <a:xfrm>
            <a:off x="8229600" y="576072"/>
            <a:ext cx="475488" cy="219456"/>
          </a:xfrm>
          <a:prstGeom prst="rect">
            <a:avLst/>
          </a:prstGeom>
          <a:noFill/>
          <a:ln/>
        </p:spPr>
        <p:txBody>
          <a:bodyPr wrap="square" lIns="0" tIns="0" rIns="0" bIns="0"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26 %</a:t>
            </a:r>
            <a:endParaRPr lang="en-US" sz="850"/>
          </a:p>
        </p:txBody>
      </p:sp>
      <p:sp>
        <p:nvSpPr>
          <p:cNvPr id="20" name="Text 16"/>
          <p:cNvSpPr txBox="1"/>
          <p:nvPr/>
        </p:nvSpPr>
        <p:spPr>
          <a:xfrm>
            <a:off x="7013448" y="1325880"/>
            <a:ext cx="1691640" cy="274320"/>
          </a:xfrm>
          <a:prstGeom prst="rect">
            <a:avLst/>
          </a:prstGeom>
          <a:noFill/>
          <a:ln/>
        </p:spPr>
        <p:txBody>
          <a:bodyPr wrap="square" lIns="0" tIns="0" rIns="0" bIns="0" rtlCol="0" anchor="ctr"/>
          <a:lstStyle/>
          <a:p>
            <a:pPr marL="0" indent="0">
              <a:buNone/>
            </a:pPr>
            <a:r>
              <a:rPr lang="en-US" sz="1500" b="1">
                <a:solidFill>
                  <a:srgbClr val="16256B"/>
                </a:solidFill>
                <a:latin typeface="Cambria" pitchFamily="34" charset="0"/>
                <a:ea typeface="Cambria" pitchFamily="34" charset="-122"/>
                <a:cs typeface="Cambria" pitchFamily="34" charset="-120"/>
              </a:rPr>
              <a:t>43 000 €</a:t>
            </a:r>
            <a:endParaRPr lang="en-US" sz="1500"/>
          </a:p>
        </p:txBody>
      </p:sp>
      <p:sp>
        <p:nvSpPr>
          <p:cNvPr id="21" name="Text 17"/>
          <p:cNvSpPr txBox="1"/>
          <p:nvPr/>
        </p:nvSpPr>
        <p:spPr>
          <a:xfrm>
            <a:off x="7013448" y="1581912"/>
            <a:ext cx="1691640" cy="365760"/>
          </a:xfrm>
          <a:prstGeom prst="rect">
            <a:avLst/>
          </a:prstGeom>
          <a:noFill/>
          <a:ln/>
        </p:spPr>
        <p:txBody>
          <a:bodyPr wrap="square" lIns="0" tIns="0" rIns="0" bIns="0" rtlCol="0" anchor="t"/>
          <a:lstStyle/>
          <a:p>
            <a:pPr marL="0" indent="0">
              <a:buNone/>
            </a:pPr>
            <a:r>
              <a:rPr lang="en-US" sz="850">
                <a:solidFill>
                  <a:srgbClr val="1F2937"/>
                </a:solidFill>
                <a:latin typeface="Calibri" pitchFamily="34" charset="0"/>
                <a:ea typeface="Calibri" pitchFamily="34" charset="-122"/>
                <a:cs typeface="Calibri" pitchFamily="34" charset="-120"/>
              </a:rPr>
              <a:t>Plastique remonté par les chalutiers — première tranche</a:t>
            </a:r>
            <a:endParaRPr lang="en-US" sz="850"/>
          </a:p>
        </p:txBody>
      </p:sp>
      <p:sp>
        <p:nvSpPr>
          <p:cNvPr id="22" name="Shape 18"/>
          <p:cNvSpPr/>
          <p:nvPr/>
        </p:nvSpPr>
        <p:spPr>
          <a:xfrm>
            <a:off x="4892040" y="2103120"/>
            <a:ext cx="1874520" cy="1463040"/>
          </a:xfrm>
          <a:prstGeom prst="rect">
            <a:avLst/>
          </a:prstGeom>
          <a:solidFill>
            <a:srgbClr val="FFFFFF"/>
          </a:solidFill>
          <a:ln w="12700">
            <a:solidFill>
              <a:srgbClr val="FFFFFF"/>
            </a:solidFill>
            <a:prstDash val="solid"/>
          </a:ln>
        </p:spPr>
        <p:txBody>
          <a:bodyPr/>
          <a:lstStyle/>
          <a:p>
            <a:endParaRPr/>
          </a:p>
        </p:txBody>
      </p:sp>
      <p:pic>
        <p:nvPicPr>
          <p:cNvPr id="23" name="Image 2" descr="/home/claude/v8/img/t_fonc.jpg"/>
          <p:cNvPicPr>
            <a:picLocks noChangeAspect="1"/>
          </p:cNvPicPr>
          <p:nvPr/>
        </p:nvPicPr>
        <p:blipFill>
          <a:blip r:embed="rId5"/>
          <a:stretch>
            <a:fillRect/>
          </a:stretch>
        </p:blipFill>
        <p:spPr>
          <a:xfrm>
            <a:off x="4892040" y="2103120"/>
            <a:ext cx="1874520" cy="777240"/>
          </a:xfrm>
          <a:prstGeom prst="rect">
            <a:avLst/>
          </a:prstGeom>
        </p:spPr>
      </p:pic>
      <p:sp>
        <p:nvSpPr>
          <p:cNvPr id="24" name="Shape 19"/>
          <p:cNvSpPr/>
          <p:nvPr/>
        </p:nvSpPr>
        <p:spPr>
          <a:xfrm>
            <a:off x="6217920" y="2176272"/>
            <a:ext cx="475488" cy="219456"/>
          </a:xfrm>
          <a:prstGeom prst="roundRect">
            <a:avLst>
              <a:gd name="adj" fmla="val 50000"/>
            </a:avLst>
          </a:prstGeom>
          <a:solidFill>
            <a:srgbClr val="16256B"/>
          </a:solidFill>
          <a:ln w="12700">
            <a:solidFill>
              <a:srgbClr val="16256B"/>
            </a:solidFill>
            <a:prstDash val="solid"/>
          </a:ln>
        </p:spPr>
        <p:txBody>
          <a:bodyPr/>
          <a:lstStyle/>
          <a:p>
            <a:endParaRPr/>
          </a:p>
        </p:txBody>
      </p:sp>
      <p:sp>
        <p:nvSpPr>
          <p:cNvPr id="25" name="Text 20"/>
          <p:cNvSpPr txBox="1"/>
          <p:nvPr/>
        </p:nvSpPr>
        <p:spPr>
          <a:xfrm>
            <a:off x="6217920" y="2176272"/>
            <a:ext cx="475488" cy="219456"/>
          </a:xfrm>
          <a:prstGeom prst="rect">
            <a:avLst/>
          </a:prstGeom>
          <a:noFill/>
          <a:ln/>
        </p:spPr>
        <p:txBody>
          <a:bodyPr wrap="square" lIns="0" tIns="0" rIns="0" bIns="0"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20 %</a:t>
            </a:r>
            <a:endParaRPr lang="en-US" sz="850"/>
          </a:p>
        </p:txBody>
      </p:sp>
      <p:sp>
        <p:nvSpPr>
          <p:cNvPr id="26" name="Text 21"/>
          <p:cNvSpPr txBox="1"/>
          <p:nvPr/>
        </p:nvSpPr>
        <p:spPr>
          <a:xfrm>
            <a:off x="5001768" y="2926080"/>
            <a:ext cx="1691640" cy="274320"/>
          </a:xfrm>
          <a:prstGeom prst="rect">
            <a:avLst/>
          </a:prstGeom>
          <a:noFill/>
          <a:ln/>
        </p:spPr>
        <p:txBody>
          <a:bodyPr wrap="square" lIns="0" tIns="0" rIns="0" bIns="0" rtlCol="0" anchor="ctr"/>
          <a:lstStyle/>
          <a:p>
            <a:pPr marL="0" indent="0">
              <a:buNone/>
            </a:pPr>
            <a:r>
              <a:rPr lang="en-US" sz="1500" b="1">
                <a:solidFill>
                  <a:srgbClr val="16256B"/>
                </a:solidFill>
                <a:latin typeface="Cambria" pitchFamily="34" charset="0"/>
                <a:ea typeface="Cambria" pitchFamily="34" charset="-122"/>
                <a:cs typeface="Cambria" pitchFamily="34" charset="-120"/>
              </a:rPr>
              <a:t>33 356 €</a:t>
            </a:r>
            <a:endParaRPr lang="en-US" sz="1500"/>
          </a:p>
        </p:txBody>
      </p:sp>
      <p:sp>
        <p:nvSpPr>
          <p:cNvPr id="27" name="Text 22"/>
          <p:cNvSpPr txBox="1"/>
          <p:nvPr/>
        </p:nvSpPr>
        <p:spPr>
          <a:xfrm>
            <a:off x="5001768" y="3182112"/>
            <a:ext cx="1691640" cy="365760"/>
          </a:xfrm>
          <a:prstGeom prst="rect">
            <a:avLst/>
          </a:prstGeom>
          <a:noFill/>
          <a:ln/>
        </p:spPr>
        <p:txBody>
          <a:bodyPr wrap="square" lIns="0" tIns="0" rIns="0" bIns="0" rtlCol="0" anchor="t"/>
          <a:lstStyle/>
          <a:p>
            <a:pPr marL="0" indent="0">
              <a:buNone/>
            </a:pPr>
            <a:r>
              <a:rPr lang="en-US" sz="850">
                <a:solidFill>
                  <a:srgbClr val="1F2937"/>
                </a:solidFill>
                <a:latin typeface="Calibri" pitchFamily="34" charset="0"/>
                <a:ea typeface="Calibri" pitchFamily="34" charset="-122"/>
                <a:cs typeface="Calibri" pitchFamily="34" charset="-120"/>
              </a:rPr>
              <a:t>Fonctionnement de l’écosystème 2026-2027</a:t>
            </a:r>
            <a:endParaRPr lang="en-US" sz="850"/>
          </a:p>
        </p:txBody>
      </p:sp>
      <p:sp>
        <p:nvSpPr>
          <p:cNvPr id="28" name="Shape 23"/>
          <p:cNvSpPr/>
          <p:nvPr/>
        </p:nvSpPr>
        <p:spPr>
          <a:xfrm>
            <a:off x="6903720" y="2103120"/>
            <a:ext cx="1874520" cy="1463040"/>
          </a:xfrm>
          <a:prstGeom prst="rect">
            <a:avLst/>
          </a:prstGeom>
          <a:solidFill>
            <a:srgbClr val="FFFFFF"/>
          </a:solidFill>
          <a:ln w="12700">
            <a:solidFill>
              <a:srgbClr val="FFFFFF"/>
            </a:solidFill>
            <a:prstDash val="solid"/>
          </a:ln>
        </p:spPr>
        <p:txBody>
          <a:bodyPr/>
          <a:lstStyle/>
          <a:p>
            <a:endParaRPr/>
          </a:p>
        </p:txBody>
      </p:sp>
      <p:pic>
        <p:nvPicPr>
          <p:cNvPr id="29" name="Image 3" descr="/home/claude/v8/img/t_moy.jpg"/>
          <p:cNvPicPr>
            <a:picLocks noChangeAspect="1"/>
          </p:cNvPicPr>
          <p:nvPr/>
        </p:nvPicPr>
        <p:blipFill>
          <a:blip r:embed="rId6"/>
          <a:stretch>
            <a:fillRect/>
          </a:stretch>
        </p:blipFill>
        <p:spPr>
          <a:xfrm>
            <a:off x="6903720" y="2103120"/>
            <a:ext cx="1874520" cy="777240"/>
          </a:xfrm>
          <a:prstGeom prst="rect">
            <a:avLst/>
          </a:prstGeom>
        </p:spPr>
      </p:pic>
      <p:sp>
        <p:nvSpPr>
          <p:cNvPr id="30" name="Shape 24"/>
          <p:cNvSpPr/>
          <p:nvPr/>
        </p:nvSpPr>
        <p:spPr>
          <a:xfrm>
            <a:off x="8229600" y="2176272"/>
            <a:ext cx="475488" cy="219456"/>
          </a:xfrm>
          <a:prstGeom prst="roundRect">
            <a:avLst>
              <a:gd name="adj" fmla="val 50000"/>
            </a:avLst>
          </a:prstGeom>
          <a:solidFill>
            <a:srgbClr val="16256B"/>
          </a:solidFill>
          <a:ln w="12700">
            <a:solidFill>
              <a:srgbClr val="16256B"/>
            </a:solidFill>
            <a:prstDash val="solid"/>
          </a:ln>
        </p:spPr>
        <p:txBody>
          <a:bodyPr/>
          <a:lstStyle/>
          <a:p>
            <a:endParaRPr/>
          </a:p>
        </p:txBody>
      </p:sp>
      <p:sp>
        <p:nvSpPr>
          <p:cNvPr id="31" name="Text 25"/>
          <p:cNvSpPr txBox="1"/>
          <p:nvPr/>
        </p:nvSpPr>
        <p:spPr>
          <a:xfrm>
            <a:off x="8229600" y="2176272"/>
            <a:ext cx="475488" cy="219456"/>
          </a:xfrm>
          <a:prstGeom prst="rect">
            <a:avLst/>
          </a:prstGeom>
          <a:noFill/>
          <a:ln/>
        </p:spPr>
        <p:txBody>
          <a:bodyPr wrap="square" lIns="0" tIns="0" rIns="0" bIns="0"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11 %</a:t>
            </a:r>
            <a:endParaRPr lang="en-US" sz="850"/>
          </a:p>
        </p:txBody>
      </p:sp>
      <p:sp>
        <p:nvSpPr>
          <p:cNvPr id="32" name="Text 26"/>
          <p:cNvSpPr txBox="1"/>
          <p:nvPr/>
        </p:nvSpPr>
        <p:spPr>
          <a:xfrm>
            <a:off x="7013448" y="2926080"/>
            <a:ext cx="1691640" cy="274320"/>
          </a:xfrm>
          <a:prstGeom prst="rect">
            <a:avLst/>
          </a:prstGeom>
          <a:noFill/>
          <a:ln/>
        </p:spPr>
        <p:txBody>
          <a:bodyPr wrap="square" lIns="0" tIns="0" rIns="0" bIns="0" rtlCol="0" anchor="ctr"/>
          <a:lstStyle/>
          <a:p>
            <a:pPr marL="0" indent="0">
              <a:buNone/>
            </a:pPr>
            <a:r>
              <a:rPr lang="en-US" sz="1500" b="1">
                <a:solidFill>
                  <a:srgbClr val="16256B"/>
                </a:solidFill>
                <a:latin typeface="Cambria" pitchFamily="34" charset="0"/>
                <a:ea typeface="Cambria" pitchFamily="34" charset="-122"/>
                <a:cs typeface="Cambria" pitchFamily="34" charset="-120"/>
              </a:rPr>
              <a:t>18 363 €</a:t>
            </a:r>
            <a:endParaRPr lang="en-US" sz="1500"/>
          </a:p>
        </p:txBody>
      </p:sp>
      <p:sp>
        <p:nvSpPr>
          <p:cNvPr id="33" name="Text 27"/>
          <p:cNvSpPr txBox="1"/>
          <p:nvPr/>
        </p:nvSpPr>
        <p:spPr>
          <a:xfrm>
            <a:off x="7013448" y="3182112"/>
            <a:ext cx="1691640" cy="365760"/>
          </a:xfrm>
          <a:prstGeom prst="rect">
            <a:avLst/>
          </a:prstGeom>
          <a:noFill/>
          <a:ln/>
        </p:spPr>
        <p:txBody>
          <a:bodyPr wrap="square" lIns="0" tIns="0" rIns="0" bIns="0" rtlCol="0" anchor="t"/>
          <a:lstStyle/>
          <a:p>
            <a:pPr marL="0" indent="0">
              <a:buNone/>
            </a:pPr>
            <a:r>
              <a:rPr lang="en-US" sz="850">
                <a:solidFill>
                  <a:srgbClr val="1F2937"/>
                </a:solidFill>
                <a:latin typeface="Calibri" pitchFamily="34" charset="0"/>
                <a:ea typeface="Calibri" pitchFamily="34" charset="-122"/>
                <a:cs typeface="Calibri" pitchFamily="34" charset="-120"/>
              </a:rPr>
              <a:t>Moyens communs 2026-2027 — </a:t>
            </a:r>
            <a:r>
              <a:rPr lang="en-US" sz="850" err="1">
                <a:solidFill>
                  <a:srgbClr val="1F2937"/>
                </a:solidFill>
                <a:latin typeface="Calibri" pitchFamily="34" charset="0"/>
                <a:ea typeface="Calibri" pitchFamily="34" charset="-122"/>
                <a:cs typeface="Calibri" pitchFamily="34" charset="-120"/>
              </a:rPr>
              <a:t>plateforme, matériel, part non publique de l’association</a:t>
            </a:r>
            <a:r>
              <a:rPr lang="en-US" sz="850">
                <a:solidFill>
                  <a:srgbClr val="1F2937"/>
                </a:solidFill>
                <a:latin typeface="Calibri" pitchFamily="34" charset="0"/>
                <a:ea typeface="Calibri" pitchFamily="34" charset="-122"/>
                <a:cs typeface="Calibri" pitchFamily="34" charset="-120"/>
              </a:rPr>
              <a:t/>
            </a:r>
            <a:endParaRPr lang="en-US" sz="850"/>
          </a:p>
        </p:txBody>
      </p:sp>
      <p:sp>
        <p:nvSpPr>
          <p:cNvPr id="34" name="Shape 28"/>
          <p:cNvSpPr/>
          <p:nvPr/>
        </p:nvSpPr>
        <p:spPr>
          <a:xfrm>
            <a:off x="457200" y="4114800"/>
            <a:ext cx="8321040" cy="274320"/>
          </a:xfrm>
          <a:prstGeom prst="rect">
            <a:avLst/>
          </a:prstGeom>
          <a:solidFill>
            <a:srgbClr val="FFFFFF"/>
          </a:solidFill>
          <a:ln w="12700">
            <a:solidFill>
              <a:srgbClr val="FFFFFF"/>
            </a:solidFill>
            <a:prstDash val="solid"/>
          </a:ln>
        </p:spPr>
        <p:txBody>
          <a:bodyPr/>
          <a:lstStyle/>
          <a:p>
            <a:endParaRPr/>
          </a:p>
        </p:txBody>
      </p:sp>
      <p:sp>
        <p:nvSpPr>
          <p:cNvPr id="35" name="Shape 29"/>
          <p:cNvSpPr/>
          <p:nvPr/>
        </p:nvSpPr>
        <p:spPr>
          <a:xfrm>
            <a:off x="457200" y="4114800"/>
            <a:ext cx="3536161" cy="274320"/>
          </a:xfrm>
          <a:prstGeom prst="rect">
            <a:avLst/>
          </a:prstGeom>
          <a:solidFill>
            <a:srgbClr val="16256B"/>
          </a:solidFill>
          <a:ln w="12700">
            <a:solidFill>
              <a:srgbClr val="FFFFFF"/>
            </a:solidFill>
            <a:prstDash val="solid"/>
          </a:ln>
        </p:spPr>
        <p:txBody>
          <a:bodyPr/>
          <a:lstStyle/>
          <a:p>
            <a:endParaRPr/>
          </a:p>
        </p:txBody>
      </p:sp>
      <p:sp>
        <p:nvSpPr>
          <p:cNvPr id="36" name="Shape 30"/>
          <p:cNvSpPr/>
          <p:nvPr/>
        </p:nvSpPr>
        <p:spPr>
          <a:xfrm>
            <a:off x="3993361" y="4114800"/>
            <a:ext cx="2172213" cy="274320"/>
          </a:xfrm>
          <a:prstGeom prst="rect">
            <a:avLst/>
          </a:prstGeom>
          <a:solidFill>
            <a:srgbClr val="0E8A8A"/>
          </a:solidFill>
          <a:ln w="12700">
            <a:solidFill>
              <a:srgbClr val="FFFFFF"/>
            </a:solidFill>
            <a:prstDash val="solid"/>
          </a:ln>
        </p:spPr>
        <p:txBody>
          <a:bodyPr/>
          <a:lstStyle/>
          <a:p>
            <a:endParaRPr/>
          </a:p>
        </p:txBody>
      </p:sp>
      <p:sp>
        <p:nvSpPr>
          <p:cNvPr id="37" name="Shape 31"/>
          <p:cNvSpPr/>
          <p:nvPr/>
        </p:nvSpPr>
        <p:spPr>
          <a:xfrm>
            <a:off x="6165574" y="4114800"/>
            <a:ext cx="1685011" cy="274320"/>
          </a:xfrm>
          <a:prstGeom prst="rect">
            <a:avLst/>
          </a:prstGeom>
          <a:solidFill>
            <a:srgbClr val="4A5AA8"/>
          </a:solidFill>
          <a:ln w="12700">
            <a:solidFill>
              <a:srgbClr val="FFFFFF"/>
            </a:solidFill>
            <a:prstDash val="solid"/>
          </a:ln>
        </p:spPr>
        <p:txBody>
          <a:bodyPr/>
          <a:lstStyle/>
          <a:p>
            <a:endParaRPr/>
          </a:p>
        </p:txBody>
      </p:sp>
      <p:sp>
        <p:nvSpPr>
          <p:cNvPr id="38" name="Shape 32"/>
          <p:cNvSpPr/>
          <p:nvPr/>
        </p:nvSpPr>
        <p:spPr>
          <a:xfrm>
            <a:off x="7850585" y="4114800"/>
            <a:ext cx="927654" cy="274320"/>
          </a:xfrm>
          <a:prstGeom prst="rect">
            <a:avLst/>
          </a:prstGeom>
          <a:solidFill>
            <a:srgbClr val="7FD3D0"/>
          </a:solidFill>
          <a:ln w="12700">
            <a:solidFill>
              <a:srgbClr val="FFFFFF"/>
            </a:solidFill>
            <a:prstDash val="solid"/>
          </a:ln>
        </p:spPr>
        <p:txBody>
          <a:bodyPr/>
          <a:lstStyle/>
          <a:p>
            <a:endParaRPr/>
          </a:p>
        </p:txBody>
      </p:sp>
      <p:sp>
        <p:nvSpPr>
          <p:cNvPr id="39" name="Shape 33"/>
          <p:cNvSpPr/>
          <p:nvPr/>
        </p:nvSpPr>
        <p:spPr>
          <a:xfrm>
            <a:off x="457200" y="4041648"/>
            <a:ext cx="1010332" cy="420624"/>
          </a:xfrm>
          <a:prstGeom prst="rect">
            <a:avLst/>
          </a:prstGeom>
          <a:solidFill>
            <a:srgbClr val="FFFFFF">
              <a:alpha val="0"/>
            </a:srgbClr>
          </a:solidFill>
          <a:ln w="12700">
            <a:solidFill>
              <a:srgbClr val="E05A1E"/>
            </a:solidFill>
            <a:prstDash val="solid"/>
          </a:ln>
        </p:spPr>
        <p:txBody>
          <a:bodyPr/>
          <a:lstStyle/>
          <a:p>
            <a:endParaRPr/>
          </a:p>
        </p:txBody>
      </p:sp>
      <p:sp>
        <p:nvSpPr>
          <p:cNvPr id="40" name="Text 34"/>
          <p:cNvSpPr txBox="1"/>
          <p:nvPr/>
        </p:nvSpPr>
        <p:spPr>
          <a:xfrm>
            <a:off x="438912" y="4425696"/>
            <a:ext cx="2011680" cy="182880"/>
          </a:xfrm>
          <a:prstGeom prst="rect">
            <a:avLst/>
          </a:prstGeom>
          <a:noFill/>
          <a:ln/>
        </p:spPr>
        <p:txBody>
          <a:bodyPr wrap="square" lIns="0" tIns="0" rIns="0" bIns="0" rtlCol="0" anchor="ctr"/>
          <a:lstStyle/>
          <a:p>
            <a:pPr marL="0" indent="0">
              <a:buNone/>
            </a:pPr>
            <a:r>
              <a:rPr lang="en-US" sz="850" b="1">
                <a:solidFill>
                  <a:srgbClr val="E05A1E"/>
                </a:solidFill>
                <a:latin typeface="Calibri" pitchFamily="34" charset="0"/>
                <a:ea typeface="Calibri" pitchFamily="34" charset="-122"/>
                <a:cs typeface="Calibri" pitchFamily="34" charset="-120"/>
              </a:rPr>
              <a:t>20 000 € — un mécène</a:t>
            </a:r>
            <a:endParaRPr lang="en-US" sz="850"/>
          </a:p>
        </p:txBody>
      </p:sp>
      <p:sp>
        <p:nvSpPr>
          <p:cNvPr id="41" name="Text 35"/>
          <p:cNvSpPr txBox="1"/>
          <p:nvPr/>
        </p:nvSpPr>
        <p:spPr>
          <a:xfrm>
            <a:off x="457200" y="3840480"/>
            <a:ext cx="914400" cy="182880"/>
          </a:xfrm>
          <a:prstGeom prst="rect">
            <a:avLst/>
          </a:prstGeom>
          <a:noFill/>
          <a:ln/>
        </p:spPr>
        <p:txBody>
          <a:bodyPr wrap="square" lIns="0" tIns="0" rIns="0" bIns="0" rtlCol="0" anchor="ctr"/>
          <a:lstStyle/>
          <a:p>
            <a:pPr marL="0" indent="0">
              <a:buNone/>
            </a:pPr>
            <a:r>
              <a:rPr lang="en-US" sz="850">
                <a:solidFill>
                  <a:srgbClr val="E6EAF5"/>
                </a:solidFill>
                <a:latin typeface="Calibri" pitchFamily="34" charset="0"/>
                <a:ea typeface="Calibri" pitchFamily="34" charset="-122"/>
                <a:cs typeface="Calibri" pitchFamily="34" charset="-120"/>
              </a:rPr>
              <a:t>0 €</a:t>
            </a:r>
            <a:endParaRPr lang="en-US" sz="850"/>
          </a:p>
        </p:txBody>
      </p:sp>
      <p:sp>
        <p:nvSpPr>
          <p:cNvPr id="42" name="Text 36"/>
          <p:cNvSpPr txBox="1"/>
          <p:nvPr/>
        </p:nvSpPr>
        <p:spPr>
          <a:xfrm>
            <a:off x="5852160" y="3840480"/>
            <a:ext cx="2926080" cy="182880"/>
          </a:xfrm>
          <a:prstGeom prst="rect">
            <a:avLst/>
          </a:prstGeom>
          <a:noFill/>
          <a:ln/>
        </p:spPr>
        <p:txBody>
          <a:bodyPr wrap="square" lIns="0" tIns="0" rIns="0" bIns="0" rtlCol="0" anchor="ctr"/>
          <a:lstStyle/>
          <a:p>
            <a:pPr marL="0" indent="0" algn="r">
              <a:buNone/>
            </a:pPr>
            <a:r>
              <a:rPr lang="en-US" sz="850" b="1">
                <a:solidFill>
                  <a:srgbClr val="FFFFFF"/>
                </a:solidFill>
                <a:latin typeface="Calibri" pitchFamily="34" charset="0"/>
                <a:ea typeface="Calibri" pitchFamily="34" charset="-122"/>
                <a:cs typeface="Calibri" pitchFamily="34" charset="-120"/>
              </a:rPr>
              <a:t>164 719 € — le fonds est opérationnel</a:t>
            </a:r>
            <a:endParaRPr lang="en-US" sz="850"/>
          </a:p>
        </p:txBody>
      </p:sp>
      <p:sp>
        <p:nvSpPr>
          <p:cNvPr id="43" name="Text 37"/>
          <p:cNvSpPr txBox="1"/>
          <p:nvPr/>
        </p:nvSpPr>
        <p:spPr>
          <a:xfrm>
            <a:off x="2468880" y="4443984"/>
            <a:ext cx="6309360" cy="228600"/>
          </a:xfrm>
          <a:prstGeom prst="rect">
            <a:avLst/>
          </a:prstGeom>
          <a:noFill/>
          <a:ln/>
        </p:spPr>
        <p:txBody>
          <a:bodyPr wrap="square" lIns="0" tIns="0" rIns="0" bIns="0" rtlCol="0" anchor="ctr"/>
          <a:lstStyle/>
          <a:p>
            <a:pPr marL="0" indent="0" algn="r">
              <a:buNone/>
            </a:pPr>
            <a:r>
              <a:rPr lang="en-US" sz="800" i="1">
                <a:solidFill>
                  <a:srgbClr val="CADCFC"/>
                </a:solidFill>
                <a:latin typeface="Calibri" pitchFamily="34" charset="0"/>
                <a:ea typeface="Calibri" pitchFamily="34" charset="-122"/>
                <a:cs typeface="Calibri" pitchFamily="34" charset="-120"/>
              </a:rPr>
              <a:t>Encaissée au T4 2026, avant les premiers engagements. Les levées 2 et 3 — 3,79 M€ — suivent en 2027 et 2028, une fois le socle constitué.</a:t>
            </a:r>
            <a:endParaRPr lang="en-US" sz="800"/>
          </a:p>
        </p:txBody>
      </p:sp>
      <p:sp>
        <p:nvSpPr>
          <p:cNvPr id="44" name="Text 38"/>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CADCFC"/>
                </a:solidFill>
                <a:latin typeface="Calibri" pitchFamily="34" charset="0"/>
                <a:ea typeface="Calibri" pitchFamily="34" charset="-122"/>
                <a:cs typeface="Calibri" pitchFamily="34" charset="-120"/>
              </a:rPr>
              <a:t>10</a:t>
            </a:r>
            <a:endParaRPr lang="en-US" sz="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256B">
              <a:alpha val="65000"/>
            </a:srgbClr>
          </a:solidFill>
          <a:ln w="12700">
            <a:solidFill>
              <a:srgbClr val="16256B">
                <a:alpha val="0"/>
              </a:srgbClr>
            </a:solidFill>
            <a:prstDash val="solid"/>
          </a:ln>
        </p:spPr>
        <p:txBody>
          <a:bodyPr/>
          <a:lstStyle/>
          <a:p>
            <a:endParaRPr/>
          </a:p>
        </p:txBody>
      </p:sp>
      <p:sp>
        <p:nvSpPr>
          <p:cNvPr id="3" name="Text 1"/>
          <p:cNvSpPr txBox="1"/>
          <p:nvPr/>
        </p:nvSpPr>
        <p:spPr>
          <a:xfrm>
            <a:off x="457200" y="320040"/>
            <a:ext cx="8229600" cy="228600"/>
          </a:xfrm>
          <a:prstGeom prst="rect">
            <a:avLst/>
          </a:prstGeom>
          <a:noFill/>
          <a:ln/>
        </p:spPr>
        <p:txBody>
          <a:bodyPr wrap="square" lIns="0" tIns="0" rIns="0" bIns="0" rtlCol="0" anchor="ctr"/>
          <a:lstStyle/>
          <a:p>
            <a:pPr marL="0" indent="0">
              <a:buNone/>
            </a:pPr>
            <a:r>
              <a:rPr lang="en-US" sz="900" b="1" kern="0" spc="300">
                <a:solidFill>
                  <a:srgbClr val="7FD3D0"/>
                </a:solidFill>
                <a:latin typeface="Calibri" pitchFamily="34" charset="0"/>
                <a:ea typeface="Calibri" pitchFamily="34" charset="-122"/>
                <a:cs typeface="Calibri" pitchFamily="34" charset="-120"/>
              </a:rPr>
              <a:t>LES MÉCÈNES RECHERCHÉS EN 2026</a:t>
            </a:r>
            <a:endParaRPr lang="en-US" sz="900"/>
          </a:p>
        </p:txBody>
      </p:sp>
      <p:sp>
        <p:nvSpPr>
          <p:cNvPr id="4" name="Text 2"/>
          <p:cNvSpPr txBox="1"/>
          <p:nvPr/>
        </p:nvSpPr>
        <p:spPr>
          <a:xfrm>
            <a:off x="457200" y="548640"/>
            <a:ext cx="8229600" cy="502920"/>
          </a:xfrm>
          <a:prstGeom prst="rect">
            <a:avLst/>
          </a:prstGeom>
          <a:noFill/>
          <a:ln/>
        </p:spPr>
        <p:txBody>
          <a:bodyPr wrap="square" lIns="0" tIns="0" rIns="0" bIns="0" rtlCol="0" anchor="ctr"/>
          <a:lstStyle/>
          <a:p>
            <a:pPr marL="0" indent="0">
              <a:buNone/>
            </a:pPr>
            <a:r>
              <a:rPr lang="en-US" sz="2600" b="1">
                <a:solidFill>
                  <a:srgbClr val="FFFFFF"/>
                </a:solidFill>
                <a:latin typeface="Cambria" pitchFamily="34" charset="0"/>
                <a:ea typeface="Cambria" pitchFamily="34" charset="-122"/>
                <a:cs typeface="Cambria" pitchFamily="34" charset="-120"/>
              </a:rPr>
              <a:t>Un socle de PME et de particuliers</a:t>
            </a:r>
            <a:endParaRPr lang="en-US" sz="2600"/>
          </a:p>
        </p:txBody>
      </p:sp>
      <p:sp>
        <p:nvSpPr>
          <p:cNvPr id="5" name="Shape 3"/>
          <p:cNvSpPr/>
          <p:nvPr/>
        </p:nvSpPr>
        <p:spPr>
          <a:xfrm>
            <a:off x="457200" y="1234440"/>
            <a:ext cx="3977640" cy="3246120"/>
          </a:xfrm>
          <a:prstGeom prst="roundRect">
            <a:avLst>
              <a:gd name="adj" fmla="val 2254"/>
            </a:avLst>
          </a:prstGeom>
          <a:solidFill>
            <a:srgbClr val="FFFFFF"/>
          </a:solidFill>
          <a:ln w="12700">
            <a:solidFill>
              <a:srgbClr val="FFFFFF"/>
            </a:solidFill>
            <a:prstDash val="solid"/>
          </a:ln>
        </p:spPr>
        <p:txBody>
          <a:bodyPr/>
          <a:lstStyle/>
          <a:p>
            <a:endParaRPr/>
          </a:p>
        </p:txBody>
      </p:sp>
      <p:sp>
        <p:nvSpPr>
          <p:cNvPr id="6" name="Text 4"/>
          <p:cNvSpPr txBox="1"/>
          <p:nvPr/>
        </p:nvSpPr>
        <p:spPr>
          <a:xfrm>
            <a:off x="685800" y="1371600"/>
            <a:ext cx="3566160" cy="201168"/>
          </a:xfrm>
          <a:prstGeom prst="rect">
            <a:avLst/>
          </a:prstGeom>
          <a:noFill/>
          <a:ln/>
        </p:spPr>
        <p:txBody>
          <a:bodyPr wrap="square" lIns="0" tIns="0" rIns="0" bIns="0" rtlCol="0" anchor="ctr"/>
          <a:lstStyle/>
          <a:p>
            <a:pPr marL="0" indent="0">
              <a:buNone/>
            </a:pPr>
            <a:r>
              <a:rPr lang="en-US" sz="850" b="1" kern="0" spc="200">
                <a:solidFill>
                  <a:srgbClr val="0E8A8A"/>
                </a:solidFill>
                <a:latin typeface="Calibri" pitchFamily="34" charset="0"/>
                <a:ea typeface="Calibri" pitchFamily="34" charset="-122"/>
                <a:cs typeface="Calibri" pitchFamily="34" charset="-120"/>
              </a:rPr>
              <a:t>PHASE 1 · AMORÇAGE · T4 2026 · 164 719 €</a:t>
            </a:r>
            <a:endParaRPr lang="en-US" sz="850"/>
          </a:p>
        </p:txBody>
      </p:sp>
      <p:sp>
        <p:nvSpPr>
          <p:cNvPr id="8" name="Text 6"/>
          <p:cNvSpPr txBox="1"/>
          <p:nvPr/>
        </p:nvSpPr>
        <p:spPr>
          <a:xfrm>
            <a:off x="685800" y="1600200"/>
            <a:ext cx="3566160" cy="256032"/>
          </a:xfrm>
          <a:prstGeom prst="rect">
            <a:avLst/>
          </a:prstGeom>
          <a:noFill/>
          <a:ln/>
        </p:spPr>
        <p:txBody>
          <a:bodyPr wrap="square" lIns="0" tIns="0" rIns="0" bIns="0" rtlCol="0" anchor="ctr"/>
          <a:lstStyle/>
          <a:p>
            <a:pPr marL="0" indent="0">
              <a:buNone/>
            </a:pPr>
            <a:r>
              <a:rPr lang="en-US" sz="1200" b="1">
                <a:solidFill>
                  <a:srgbClr val="16256B"/>
                </a:solidFill>
                <a:latin typeface="Calibri" pitchFamily="34" charset="0"/>
                <a:ea typeface="Calibri" pitchFamily="34" charset="-122"/>
                <a:cs typeface="Calibri" pitchFamily="34" charset="-120"/>
              </a:rPr>
              <a:t>PME régionales</a:t>
            </a:r>
            <a:endParaRPr lang="en-US" sz="1200"/>
          </a:p>
        </p:txBody>
      </p:sp>
      <p:sp>
        <p:nvSpPr>
          <p:cNvPr id="9" name="Text 7"/>
          <p:cNvSpPr txBox="1"/>
          <p:nvPr/>
        </p:nvSpPr>
        <p:spPr>
          <a:xfrm>
            <a:off x="685800" y="2240280"/>
            <a:ext cx="3566160" cy="228600"/>
          </a:xfrm>
          <a:prstGeom prst="rect">
            <a:avLst/>
          </a:prstGeom>
          <a:noFill/>
          <a:ln/>
        </p:spPr>
        <p:txBody>
          <a:bodyPr wrap="square" lIns="0" tIns="0" rIns="0" bIns="0" rtlCol="0" anchor="ctr"/>
          <a:lstStyle/>
          <a:p>
            <a:pPr marL="0" indent="0">
              <a:buNone/>
            </a:pPr>
            <a:r>
              <a:rPr lang="en-US" sz="1000" b="1">
                <a:solidFill>
                  <a:srgbClr val="1F2937"/>
                </a:solidFill>
                <a:latin typeface="Calibri" pitchFamily="34" charset="0"/>
                <a:ea typeface="Calibri" pitchFamily="34" charset="-122"/>
                <a:cs typeface="Calibri" pitchFamily="34" charset="-120"/>
              </a:rPr>
              <a:t>Par l’intermédiaire des prescripteurs et de leur clientèle :</a:t>
            </a:r>
            <a:endParaRPr lang="en-US" sz="1000"/>
          </a:p>
        </p:txBody>
      </p:sp>
      <p:sp>
        <p:nvSpPr>
          <p:cNvPr id="10" name="Shape 8"/>
          <p:cNvSpPr/>
          <p:nvPr/>
        </p:nvSpPr>
        <p:spPr>
          <a:xfrm>
            <a:off x="685800" y="2514600"/>
            <a:ext cx="3566160" cy="502920"/>
          </a:xfrm>
          <a:prstGeom prst="roundRect">
            <a:avLst>
              <a:gd name="adj" fmla="val 19048"/>
            </a:avLst>
          </a:prstGeom>
          <a:solidFill>
            <a:srgbClr val="EEF1FB"/>
          </a:solidFill>
          <a:ln w="12700">
            <a:solidFill>
              <a:srgbClr val="EEF1FB"/>
            </a:solidFill>
            <a:prstDash val="solid"/>
          </a:ln>
        </p:spPr>
        <p:txBody>
          <a:bodyPr/>
          <a:lstStyle/>
          <a:p>
            <a:endParaRPr/>
          </a:p>
        </p:txBody>
      </p:sp>
      <p:sp>
        <p:nvSpPr>
          <p:cNvPr id="11" name="Shape 9"/>
          <p:cNvSpPr/>
          <p:nvPr/>
        </p:nvSpPr>
        <p:spPr>
          <a:xfrm>
            <a:off x="777240" y="2647188"/>
            <a:ext cx="237744" cy="237744"/>
          </a:xfrm>
          <a:prstGeom prst="ellipse">
            <a:avLst/>
          </a:prstGeom>
          <a:solidFill>
            <a:srgbClr val="16256B"/>
          </a:solidFill>
          <a:ln w="12700">
            <a:solidFill>
              <a:srgbClr val="16256B"/>
            </a:solidFill>
            <a:prstDash val="solid"/>
          </a:ln>
        </p:spPr>
        <p:txBody>
          <a:bodyPr/>
          <a:lstStyle/>
          <a:p>
            <a:endParaRPr/>
          </a:p>
        </p:txBody>
      </p:sp>
      <p:sp>
        <p:nvSpPr>
          <p:cNvPr id="12" name="Text 10"/>
          <p:cNvSpPr txBox="1"/>
          <p:nvPr/>
        </p:nvSpPr>
        <p:spPr>
          <a:xfrm>
            <a:off x="777240" y="2647188"/>
            <a:ext cx="237744" cy="237744"/>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a:t>
            </a:r>
            <a:endParaRPr lang="en-US" sz="900"/>
          </a:p>
        </p:txBody>
      </p:sp>
      <p:sp>
        <p:nvSpPr>
          <p:cNvPr id="13" name="Text 11"/>
          <p:cNvSpPr txBox="1"/>
          <p:nvPr/>
        </p:nvSpPr>
        <p:spPr>
          <a:xfrm>
            <a:off x="1097280" y="2514600"/>
            <a:ext cx="3108960" cy="502920"/>
          </a:xfrm>
          <a:prstGeom prst="rect">
            <a:avLst/>
          </a:prstGeom>
          <a:noFill/>
          <a:ln/>
        </p:spPr>
        <p:txBody>
          <a:bodyPr wrap="square" lIns="0" tIns="0" rIns="0" bIns="0" rtlCol="0" anchor="ctr"/>
          <a:lstStyle/>
          <a:p>
            <a:pPr marL="0" indent="0">
              <a:buNone/>
            </a:pPr>
            <a:r>
              <a:rPr lang="en-US" sz="850" b="1">
                <a:solidFill>
                  <a:srgbClr val="16256B"/>
                </a:solidFill>
                <a:latin typeface="Calibri" pitchFamily="34" charset="0"/>
                <a:ea typeface="Calibri" pitchFamily="34" charset="-122"/>
                <a:cs typeface="Calibri" pitchFamily="34" charset="-120"/>
              </a:rPr>
              <a:t>Cabinets d’audit — </a:t>
            </a:r>
            <a:r>
              <a:rPr lang="en-US" sz="850">
                <a:solidFill>
                  <a:srgbClr val="1F2937"/>
                </a:solidFill>
                <a:latin typeface="Calibri" pitchFamily="34" charset="0"/>
                <a:ea typeface="Calibri" pitchFamily="34" charset="-122"/>
                <a:cs typeface="Calibri" pitchFamily="34" charset="-120"/>
              </a:rPr>
              <a:t>une ouverture à leur portefeuille de </a:t>
            </a:r>
            <a:r>
              <a:rPr lang="en-US" sz="850" err="1">
                <a:solidFill>
                  <a:srgbClr val="1F2937"/>
                </a:solidFill>
                <a:latin typeface="Calibri" pitchFamily="34" charset="0"/>
                <a:ea typeface="Calibri" pitchFamily="34" charset="-122"/>
                <a:cs typeface="Calibri" pitchFamily="34" charset="-120"/>
              </a:rPr>
              <a:t>dirigeants</a:t>
            </a:r>
            <a:r>
              <a:rPr lang="en-US" sz="850">
                <a:solidFill>
                  <a:srgbClr val="1F2937"/>
                </a:solidFill>
                <a:latin typeface="Calibri" pitchFamily="34" charset="0"/>
                <a:ea typeface="Calibri" pitchFamily="34" charset="-122"/>
                <a:cs typeface="Calibri" pitchFamily="34" charset="-120"/>
              </a:rPr>
              <a:t>, ouverture réseau</a:t>
            </a:r>
            <a:endParaRPr lang="en-US" sz="850"/>
          </a:p>
        </p:txBody>
      </p:sp>
      <p:sp>
        <p:nvSpPr>
          <p:cNvPr id="14" name="Shape 12"/>
          <p:cNvSpPr/>
          <p:nvPr/>
        </p:nvSpPr>
        <p:spPr>
          <a:xfrm>
            <a:off x="685800" y="3127248"/>
            <a:ext cx="3566160" cy="502920"/>
          </a:xfrm>
          <a:prstGeom prst="roundRect">
            <a:avLst>
              <a:gd name="adj" fmla="val 19048"/>
            </a:avLst>
          </a:prstGeom>
          <a:solidFill>
            <a:srgbClr val="EEF1FB"/>
          </a:solidFill>
          <a:ln w="12700">
            <a:solidFill>
              <a:srgbClr val="EEF1FB"/>
            </a:solidFill>
            <a:prstDash val="solid"/>
          </a:ln>
        </p:spPr>
        <p:txBody>
          <a:bodyPr/>
          <a:lstStyle/>
          <a:p>
            <a:endParaRPr/>
          </a:p>
        </p:txBody>
      </p:sp>
      <p:sp>
        <p:nvSpPr>
          <p:cNvPr id="15" name="Shape 13"/>
          <p:cNvSpPr/>
          <p:nvPr/>
        </p:nvSpPr>
        <p:spPr>
          <a:xfrm>
            <a:off x="777240" y="3259836"/>
            <a:ext cx="237744" cy="237744"/>
          </a:xfrm>
          <a:prstGeom prst="ellipse">
            <a:avLst/>
          </a:prstGeom>
          <a:solidFill>
            <a:srgbClr val="16256B"/>
          </a:solidFill>
          <a:ln w="12700">
            <a:solidFill>
              <a:srgbClr val="16256B"/>
            </a:solidFill>
            <a:prstDash val="solid"/>
          </a:ln>
        </p:spPr>
        <p:txBody>
          <a:bodyPr/>
          <a:lstStyle/>
          <a:p>
            <a:endParaRPr/>
          </a:p>
        </p:txBody>
      </p:sp>
      <p:sp>
        <p:nvSpPr>
          <p:cNvPr id="16" name="Text 14"/>
          <p:cNvSpPr txBox="1"/>
          <p:nvPr/>
        </p:nvSpPr>
        <p:spPr>
          <a:xfrm>
            <a:off x="777240" y="3259836"/>
            <a:ext cx="237744" cy="237744"/>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a:t>
            </a:r>
            <a:endParaRPr lang="en-US" sz="900"/>
          </a:p>
        </p:txBody>
      </p:sp>
      <p:sp>
        <p:nvSpPr>
          <p:cNvPr id="17" name="Text 15"/>
          <p:cNvSpPr txBox="1"/>
          <p:nvPr/>
        </p:nvSpPr>
        <p:spPr>
          <a:xfrm>
            <a:off x="1097280" y="3127248"/>
            <a:ext cx="3108960" cy="502920"/>
          </a:xfrm>
          <a:prstGeom prst="rect">
            <a:avLst/>
          </a:prstGeom>
          <a:noFill/>
          <a:ln/>
        </p:spPr>
        <p:txBody>
          <a:bodyPr wrap="square" lIns="0" tIns="0" rIns="0" bIns="0" rtlCol="0" anchor="ctr"/>
          <a:lstStyle/>
          <a:p>
            <a:pPr marL="0" indent="0">
              <a:buNone/>
            </a:pPr>
            <a:r>
              <a:rPr lang="en-US" sz="850" b="1">
                <a:solidFill>
                  <a:srgbClr val="16256B"/>
                </a:solidFill>
                <a:latin typeface="Calibri" pitchFamily="34" charset="0"/>
                <a:ea typeface="Calibri" pitchFamily="34" charset="-122"/>
                <a:cs typeface="Calibri" pitchFamily="34" charset="-120"/>
              </a:rPr>
              <a:t>Experts-comptables — </a:t>
            </a:r>
            <a:r>
              <a:rPr lang="en-US" sz="850">
                <a:solidFill>
                  <a:srgbClr val="1F2937"/>
                </a:solidFill>
                <a:latin typeface="Calibri" pitchFamily="34" charset="0"/>
                <a:ea typeface="Calibri" pitchFamily="34" charset="-122"/>
                <a:cs typeface="Calibri" pitchFamily="34" charset="-120"/>
              </a:rPr>
              <a:t>une présentation du fonds à leurs clients, entreprises et particuliers</a:t>
            </a:r>
            <a:endParaRPr lang="en-US" sz="850"/>
          </a:p>
        </p:txBody>
      </p:sp>
      <p:sp>
        <p:nvSpPr>
          <p:cNvPr id="18" name="Shape 16"/>
          <p:cNvSpPr/>
          <p:nvPr/>
        </p:nvSpPr>
        <p:spPr>
          <a:xfrm>
            <a:off x="685800" y="3739896"/>
            <a:ext cx="3566160" cy="502920"/>
          </a:xfrm>
          <a:prstGeom prst="roundRect">
            <a:avLst>
              <a:gd name="adj" fmla="val 19048"/>
            </a:avLst>
          </a:prstGeom>
          <a:solidFill>
            <a:srgbClr val="EEF1FB"/>
          </a:solidFill>
          <a:ln w="12700">
            <a:solidFill>
              <a:srgbClr val="EEF1FB"/>
            </a:solidFill>
            <a:prstDash val="solid"/>
          </a:ln>
        </p:spPr>
        <p:txBody>
          <a:bodyPr/>
          <a:lstStyle/>
          <a:p>
            <a:endParaRPr/>
          </a:p>
        </p:txBody>
      </p:sp>
      <p:sp>
        <p:nvSpPr>
          <p:cNvPr id="19" name="Shape 17"/>
          <p:cNvSpPr/>
          <p:nvPr/>
        </p:nvSpPr>
        <p:spPr>
          <a:xfrm>
            <a:off x="777240" y="3872484"/>
            <a:ext cx="237744" cy="237744"/>
          </a:xfrm>
          <a:prstGeom prst="ellipse">
            <a:avLst/>
          </a:prstGeom>
          <a:solidFill>
            <a:srgbClr val="16256B"/>
          </a:solidFill>
          <a:ln w="12700">
            <a:solidFill>
              <a:srgbClr val="16256B"/>
            </a:solidFill>
            <a:prstDash val="solid"/>
          </a:ln>
        </p:spPr>
        <p:txBody>
          <a:bodyPr/>
          <a:lstStyle/>
          <a:p>
            <a:endParaRPr/>
          </a:p>
        </p:txBody>
      </p:sp>
      <p:sp>
        <p:nvSpPr>
          <p:cNvPr id="20" name="Text 18"/>
          <p:cNvSpPr txBox="1"/>
          <p:nvPr/>
        </p:nvSpPr>
        <p:spPr>
          <a:xfrm>
            <a:off x="777240" y="3872484"/>
            <a:ext cx="237744" cy="237744"/>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a:t>
            </a:r>
            <a:endParaRPr lang="en-US" sz="900"/>
          </a:p>
        </p:txBody>
      </p:sp>
      <p:sp>
        <p:nvSpPr>
          <p:cNvPr id="21" name="Text 19"/>
          <p:cNvSpPr txBox="1"/>
          <p:nvPr/>
        </p:nvSpPr>
        <p:spPr>
          <a:xfrm>
            <a:off x="1097280" y="3739896"/>
            <a:ext cx="3108960" cy="502920"/>
          </a:xfrm>
          <a:prstGeom prst="rect">
            <a:avLst/>
          </a:prstGeom>
          <a:noFill/>
          <a:ln/>
        </p:spPr>
        <p:txBody>
          <a:bodyPr wrap="square" lIns="0" tIns="0" rIns="0" bIns="0" rtlCol="0" anchor="ctr"/>
          <a:lstStyle/>
          <a:p>
            <a:pPr marL="0" indent="0">
              <a:buNone/>
            </a:pPr>
            <a:r>
              <a:rPr lang="en-US" sz="850" b="1">
                <a:solidFill>
                  <a:srgbClr val="16256B"/>
                </a:solidFill>
                <a:latin typeface="Calibri" pitchFamily="34" charset="0"/>
                <a:ea typeface="Calibri" pitchFamily="34" charset="-122"/>
                <a:cs typeface="Calibri" pitchFamily="34" charset="-120"/>
              </a:rPr>
              <a:t>Conseils en gestion de patrimoine — </a:t>
            </a:r>
            <a:r>
              <a:rPr lang="en-US" sz="850">
                <a:solidFill>
                  <a:srgbClr val="1F2937"/>
                </a:solidFill>
                <a:latin typeface="Calibri" pitchFamily="34" charset="0"/>
                <a:ea typeface="Calibri" pitchFamily="34" charset="-122"/>
                <a:cs typeface="Calibri" pitchFamily="34" charset="-120"/>
              </a:rPr>
              <a:t>une introduction auprès de leurs clients, chefs d’entreprise et particuliers</a:t>
            </a:r>
            <a:endParaRPr lang="en-US" sz="850"/>
          </a:p>
        </p:txBody>
      </p:sp>
      <p:sp>
        <p:nvSpPr>
          <p:cNvPr id="23" name="Shape 21"/>
          <p:cNvSpPr/>
          <p:nvPr/>
        </p:nvSpPr>
        <p:spPr>
          <a:xfrm>
            <a:off x="4507992" y="2606040"/>
            <a:ext cx="292608" cy="457200"/>
          </a:xfrm>
          <a:prstGeom prst="rightArrow">
            <a:avLst/>
          </a:prstGeom>
          <a:solidFill>
            <a:srgbClr val="7FD3D0"/>
          </a:solidFill>
          <a:ln w="12700">
            <a:solidFill>
              <a:srgbClr val="7FD3D0"/>
            </a:solidFill>
            <a:prstDash val="solid"/>
          </a:ln>
        </p:spPr>
        <p:txBody>
          <a:bodyPr/>
          <a:lstStyle/>
          <a:p>
            <a:endParaRPr/>
          </a:p>
        </p:txBody>
      </p:sp>
      <p:sp>
        <p:nvSpPr>
          <p:cNvPr id="24" name="Shape 22"/>
          <p:cNvSpPr/>
          <p:nvPr/>
        </p:nvSpPr>
        <p:spPr>
          <a:xfrm>
            <a:off x="4892040" y="1234440"/>
            <a:ext cx="3886200" cy="3246120"/>
          </a:xfrm>
          <a:prstGeom prst="roundRect">
            <a:avLst>
              <a:gd name="adj" fmla="val 2254"/>
            </a:avLst>
          </a:prstGeom>
          <a:solidFill>
            <a:srgbClr val="16256B"/>
          </a:solidFill>
          <a:ln w="12700">
            <a:solidFill>
              <a:srgbClr val="16256B"/>
            </a:solidFill>
            <a:prstDash val="solid"/>
          </a:ln>
        </p:spPr>
        <p:txBody>
          <a:bodyPr/>
          <a:lstStyle/>
          <a:p>
            <a:endParaRPr/>
          </a:p>
        </p:txBody>
      </p:sp>
      <p:sp>
        <p:nvSpPr>
          <p:cNvPr id="25" name="Text 23"/>
          <p:cNvSpPr txBox="1"/>
          <p:nvPr/>
        </p:nvSpPr>
        <p:spPr>
          <a:xfrm>
            <a:off x="5120640" y="1371600"/>
            <a:ext cx="3474720" cy="201168"/>
          </a:xfrm>
          <a:prstGeom prst="rect">
            <a:avLst/>
          </a:prstGeom>
          <a:noFill/>
          <a:ln/>
        </p:spPr>
        <p:txBody>
          <a:bodyPr wrap="square" lIns="0" tIns="0" rIns="0" bIns="0" rtlCol="0" anchor="ctr"/>
          <a:lstStyle/>
          <a:p>
            <a:pPr marL="0" indent="0">
              <a:buNone/>
            </a:pPr>
            <a:r>
              <a:rPr lang="en-US" sz="850" b="1" kern="0" spc="200">
                <a:solidFill>
                  <a:srgbClr val="7FD3D0"/>
                </a:solidFill>
                <a:latin typeface="Calibri" pitchFamily="34" charset="0"/>
                <a:ea typeface="Calibri" pitchFamily="34" charset="-122"/>
                <a:cs typeface="Calibri" pitchFamily="34" charset="-120"/>
              </a:rPr>
              <a:t>PHASE 2 · 2027-2028</a:t>
            </a:r>
            <a:endParaRPr lang="en-US" sz="850"/>
          </a:p>
        </p:txBody>
      </p:sp>
      <p:sp>
        <p:nvSpPr>
          <p:cNvPr id="26" name="Text 24"/>
          <p:cNvSpPr txBox="1"/>
          <p:nvPr/>
        </p:nvSpPr>
        <p:spPr>
          <a:xfrm>
            <a:off x="5120640" y="1600200"/>
            <a:ext cx="2057400" cy="731520"/>
          </a:xfrm>
          <a:prstGeom prst="rect">
            <a:avLst/>
          </a:prstGeom>
          <a:noFill/>
          <a:ln/>
        </p:spPr>
        <p:txBody>
          <a:bodyPr wrap="square" lIns="0" tIns="0" rIns="0" bIns="0" rtlCol="0" anchor="t"/>
          <a:lstStyle/>
          <a:p>
            <a:pPr marL="0" indent="0">
              <a:buNone/>
            </a:pPr>
            <a:r>
              <a:rPr lang="en-US" sz="4200" b="1">
                <a:solidFill>
                  <a:srgbClr val="FFFFFF"/>
                </a:solidFill>
                <a:latin typeface="Cambria" pitchFamily="34" charset="0"/>
                <a:ea typeface="Cambria" pitchFamily="34" charset="-122"/>
                <a:cs typeface="Cambria" pitchFamily="34" charset="-120"/>
              </a:rPr>
              <a:t>3,8 M€</a:t>
            </a:r>
            <a:endParaRPr lang="en-US" sz="4200"/>
          </a:p>
        </p:txBody>
      </p:sp>
      <p:sp>
        <p:nvSpPr>
          <p:cNvPr id="27" name="Text 25"/>
          <p:cNvSpPr txBox="1"/>
          <p:nvPr/>
        </p:nvSpPr>
        <p:spPr>
          <a:xfrm>
            <a:off x="7223760" y="1691640"/>
            <a:ext cx="1463040" cy="548640"/>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ea typeface="Calibri" pitchFamily="34" charset="-122"/>
                <a:cs typeface="Calibri" pitchFamily="34" charset="-120"/>
              </a:rPr>
              <a:t>Changer d’échelle</a:t>
            </a:r>
            <a:endParaRPr lang="en-US" sz="1100"/>
          </a:p>
          <a:p>
            <a:pPr marL="0" indent="0">
              <a:buNone/>
            </a:pPr>
            <a:r>
              <a:rPr lang="en-US" sz="1100">
                <a:solidFill>
                  <a:srgbClr val="CADCFC"/>
                </a:solidFill>
                <a:latin typeface="Calibri" pitchFamily="34" charset="0"/>
                <a:ea typeface="Calibri" pitchFamily="34" charset="-122"/>
                <a:cs typeface="Calibri" pitchFamily="34" charset="-120"/>
              </a:rPr>
              <a:t>levées 2 et 3, sur un fonds déjà actif</a:t>
            </a:r>
            <a:endParaRPr lang="en-US" sz="1100"/>
          </a:p>
        </p:txBody>
      </p:sp>
      <p:sp>
        <p:nvSpPr>
          <p:cNvPr id="28" name="Shape 26"/>
          <p:cNvSpPr/>
          <p:nvPr/>
        </p:nvSpPr>
        <p:spPr>
          <a:xfrm>
            <a:off x="5120640" y="2423160"/>
            <a:ext cx="1097280" cy="1600200"/>
          </a:xfrm>
          <a:prstGeom prst="roundRect">
            <a:avLst>
              <a:gd name="adj" fmla="val 6667"/>
            </a:avLst>
          </a:prstGeom>
          <a:solidFill>
            <a:srgbClr val="1E2F7F"/>
          </a:solidFill>
          <a:ln w="12700">
            <a:solidFill>
              <a:srgbClr val="2C3F99"/>
            </a:solidFill>
            <a:prstDash val="solid"/>
          </a:ln>
        </p:spPr>
        <p:txBody>
          <a:bodyPr/>
          <a:lstStyle/>
          <a:p>
            <a:endParaRPr/>
          </a:p>
        </p:txBody>
      </p:sp>
      <p:sp>
        <p:nvSpPr>
          <p:cNvPr id="29" name="Shape 27"/>
          <p:cNvSpPr/>
          <p:nvPr/>
        </p:nvSpPr>
        <p:spPr>
          <a:xfrm>
            <a:off x="5486400" y="2542032"/>
            <a:ext cx="365760" cy="365760"/>
          </a:xfrm>
          <a:prstGeom prst="ellipse">
            <a:avLst/>
          </a:prstGeom>
          <a:solidFill>
            <a:srgbClr val="0E8A8A"/>
          </a:solidFill>
          <a:ln w="12700">
            <a:solidFill>
              <a:srgbClr val="0E8A8A"/>
            </a:solidFill>
            <a:prstDash val="solid"/>
          </a:ln>
        </p:spPr>
        <p:txBody>
          <a:bodyPr/>
          <a:lstStyle/>
          <a:p>
            <a:endParaRPr/>
          </a:p>
        </p:txBody>
      </p:sp>
      <p:sp>
        <p:nvSpPr>
          <p:cNvPr id="30" name="Text 28"/>
          <p:cNvSpPr txBox="1"/>
          <p:nvPr/>
        </p:nvSpPr>
        <p:spPr>
          <a:xfrm>
            <a:off x="5486400" y="2542032"/>
            <a:ext cx="365760" cy="36576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1</a:t>
            </a:r>
            <a:endParaRPr lang="en-US" sz="1200"/>
          </a:p>
        </p:txBody>
      </p:sp>
      <p:sp>
        <p:nvSpPr>
          <p:cNvPr id="31" name="Text 29"/>
          <p:cNvSpPr txBox="1"/>
          <p:nvPr/>
        </p:nvSpPr>
        <p:spPr>
          <a:xfrm>
            <a:off x="5166360" y="2971800"/>
            <a:ext cx="1005840" cy="256032"/>
          </a:xfrm>
          <a:prstGeom prst="rect">
            <a:avLst/>
          </a:prstGeom>
          <a:noFill/>
          <a:ln/>
        </p:spPr>
        <p:txBody>
          <a:bodyPr wrap="square" lIns="0" tIns="0" rIns="0" bIns="0" rtlCol="0" anchor="ctr"/>
          <a:lstStyle/>
          <a:p>
            <a:pPr marL="0" indent="0" algn="ctr">
              <a:buNone/>
            </a:pPr>
            <a:r>
              <a:rPr lang="en-US" sz="1150" b="1">
                <a:solidFill>
                  <a:srgbClr val="FFFFFF"/>
                </a:solidFill>
                <a:latin typeface="Cambria" pitchFamily="34" charset="0"/>
                <a:ea typeface="Cambria" pitchFamily="34" charset="-122"/>
                <a:cs typeface="Cambria" pitchFamily="34" charset="-120"/>
              </a:rPr>
              <a:t>Fondations</a:t>
            </a:r>
            <a:endParaRPr lang="en-US" sz="1150"/>
          </a:p>
        </p:txBody>
      </p:sp>
      <p:sp>
        <p:nvSpPr>
          <p:cNvPr id="32" name="Text 30"/>
          <p:cNvSpPr txBox="1"/>
          <p:nvPr/>
        </p:nvSpPr>
        <p:spPr>
          <a:xfrm>
            <a:off x="5166360" y="3218688"/>
            <a:ext cx="1005840" cy="228600"/>
          </a:xfrm>
          <a:prstGeom prst="rect">
            <a:avLst/>
          </a:prstGeom>
          <a:noFill/>
          <a:ln/>
        </p:spPr>
        <p:txBody>
          <a:bodyPr wrap="square" lIns="0" tIns="0" rIns="0" bIns="0" rtlCol="0" anchor="ctr"/>
          <a:lstStyle/>
          <a:p>
            <a:pPr marL="0" indent="0" algn="ctr">
              <a:buNone/>
            </a:pPr>
            <a:r>
              <a:rPr lang="en-US" sz="850">
                <a:solidFill>
                  <a:srgbClr val="7FD3D0"/>
                </a:solidFill>
                <a:latin typeface="Calibri" pitchFamily="34" charset="0"/>
                <a:ea typeface="Calibri" pitchFamily="34" charset="-122"/>
                <a:cs typeface="Calibri" pitchFamily="34" charset="-120"/>
              </a:rPr>
              <a:t>de grands groupes</a:t>
            </a:r>
            <a:endParaRPr lang="en-US" sz="850"/>
          </a:p>
        </p:txBody>
      </p:sp>
      <p:sp>
        <p:nvSpPr>
          <p:cNvPr id="33" name="Text 31"/>
          <p:cNvSpPr txBox="1"/>
          <p:nvPr/>
        </p:nvSpPr>
        <p:spPr>
          <a:xfrm>
            <a:off x="5166360" y="3474720"/>
            <a:ext cx="1005840" cy="457200"/>
          </a:xfrm>
          <a:prstGeom prst="rect">
            <a:avLst/>
          </a:prstGeom>
          <a:noFill/>
          <a:ln/>
        </p:spPr>
        <p:txBody>
          <a:bodyPr wrap="square" lIns="0" tIns="0" rIns="0" bIns="0" rtlCol="0" anchor="t"/>
          <a:lstStyle/>
          <a:p>
            <a:pPr marL="0" indent="0" algn="ctr">
              <a:buNone/>
            </a:pPr>
            <a:r>
              <a:rPr lang="en-US" sz="800">
                <a:solidFill>
                  <a:srgbClr val="CADCFC"/>
                </a:solidFill>
                <a:latin typeface="Calibri" pitchFamily="34" charset="0"/>
                <a:ea typeface="Calibri" pitchFamily="34" charset="-122"/>
                <a:cs typeface="Calibri" pitchFamily="34" charset="-120"/>
              </a:rPr>
              <a:t>Fondation CMA CGM, par ex.</a:t>
            </a:r>
            <a:endParaRPr lang="en-US" sz="800"/>
          </a:p>
        </p:txBody>
      </p:sp>
      <p:sp>
        <p:nvSpPr>
          <p:cNvPr id="34" name="Shape 32"/>
          <p:cNvSpPr/>
          <p:nvPr/>
        </p:nvSpPr>
        <p:spPr>
          <a:xfrm>
            <a:off x="6309360" y="2423160"/>
            <a:ext cx="1097280" cy="1600200"/>
          </a:xfrm>
          <a:prstGeom prst="roundRect">
            <a:avLst>
              <a:gd name="adj" fmla="val 6667"/>
            </a:avLst>
          </a:prstGeom>
          <a:solidFill>
            <a:srgbClr val="1E2F7F"/>
          </a:solidFill>
          <a:ln w="12700">
            <a:solidFill>
              <a:srgbClr val="2C3F99"/>
            </a:solidFill>
            <a:prstDash val="solid"/>
          </a:ln>
        </p:spPr>
        <p:txBody>
          <a:bodyPr/>
          <a:lstStyle/>
          <a:p>
            <a:endParaRPr/>
          </a:p>
        </p:txBody>
      </p:sp>
      <p:sp>
        <p:nvSpPr>
          <p:cNvPr id="35" name="Shape 33"/>
          <p:cNvSpPr/>
          <p:nvPr/>
        </p:nvSpPr>
        <p:spPr>
          <a:xfrm>
            <a:off x="6675120" y="2542032"/>
            <a:ext cx="365760" cy="365760"/>
          </a:xfrm>
          <a:prstGeom prst="ellipse">
            <a:avLst/>
          </a:prstGeom>
          <a:solidFill>
            <a:srgbClr val="0E8A8A"/>
          </a:solidFill>
          <a:ln w="12700">
            <a:solidFill>
              <a:srgbClr val="0E8A8A"/>
            </a:solidFill>
            <a:prstDash val="solid"/>
          </a:ln>
        </p:spPr>
        <p:txBody>
          <a:bodyPr/>
          <a:lstStyle/>
          <a:p>
            <a:endParaRPr/>
          </a:p>
        </p:txBody>
      </p:sp>
      <p:sp>
        <p:nvSpPr>
          <p:cNvPr id="36" name="Text 34"/>
          <p:cNvSpPr txBox="1"/>
          <p:nvPr/>
        </p:nvSpPr>
        <p:spPr>
          <a:xfrm>
            <a:off x="6675120" y="2542032"/>
            <a:ext cx="365760" cy="36576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2</a:t>
            </a:r>
            <a:endParaRPr lang="en-US" sz="1200"/>
          </a:p>
        </p:txBody>
      </p:sp>
      <p:sp>
        <p:nvSpPr>
          <p:cNvPr id="37" name="Text 35"/>
          <p:cNvSpPr txBox="1"/>
          <p:nvPr/>
        </p:nvSpPr>
        <p:spPr>
          <a:xfrm>
            <a:off x="6355080" y="2971800"/>
            <a:ext cx="1005840" cy="256032"/>
          </a:xfrm>
          <a:prstGeom prst="rect">
            <a:avLst/>
          </a:prstGeom>
          <a:noFill/>
          <a:ln/>
        </p:spPr>
        <p:txBody>
          <a:bodyPr wrap="square" lIns="0" tIns="0" rIns="0" bIns="0" rtlCol="0" anchor="ctr"/>
          <a:lstStyle/>
          <a:p>
            <a:pPr marL="0" indent="0" algn="ctr">
              <a:buNone/>
            </a:pPr>
            <a:r>
              <a:rPr lang="en-US" sz="1150" b="1">
                <a:solidFill>
                  <a:srgbClr val="FFFFFF"/>
                </a:solidFill>
                <a:latin typeface="Cambria" pitchFamily="34" charset="0"/>
                <a:ea typeface="Cambria" pitchFamily="34" charset="-122"/>
                <a:cs typeface="Cambria" pitchFamily="34" charset="-120"/>
              </a:rPr>
              <a:t>Micro-dons</a:t>
            </a:r>
            <a:endParaRPr lang="en-US" sz="1150"/>
          </a:p>
        </p:txBody>
      </p:sp>
      <p:sp>
        <p:nvSpPr>
          <p:cNvPr id="38" name="Text 36"/>
          <p:cNvSpPr txBox="1"/>
          <p:nvPr/>
        </p:nvSpPr>
        <p:spPr>
          <a:xfrm>
            <a:off x="6355080" y="3218688"/>
            <a:ext cx="1005840" cy="228600"/>
          </a:xfrm>
          <a:prstGeom prst="rect">
            <a:avLst/>
          </a:prstGeom>
          <a:noFill/>
          <a:ln/>
        </p:spPr>
        <p:txBody>
          <a:bodyPr wrap="square" lIns="0" tIns="0" rIns="0" bIns="0" rtlCol="0" anchor="ctr"/>
          <a:lstStyle/>
          <a:p>
            <a:pPr marL="0" indent="0" algn="ctr">
              <a:buNone/>
            </a:pPr>
            <a:r>
              <a:rPr lang="en-US" sz="850">
                <a:solidFill>
                  <a:srgbClr val="7FD3D0"/>
                </a:solidFill>
                <a:latin typeface="Calibri" pitchFamily="34" charset="0"/>
                <a:ea typeface="Calibri" pitchFamily="34" charset="-122"/>
                <a:cs typeface="Calibri" pitchFamily="34" charset="-120"/>
              </a:rPr>
              <a:t>arrondi en caisse</a:t>
            </a:r>
            <a:endParaRPr lang="en-US" sz="850"/>
          </a:p>
        </p:txBody>
      </p:sp>
      <p:sp>
        <p:nvSpPr>
          <p:cNvPr id="39" name="Text 37"/>
          <p:cNvSpPr txBox="1"/>
          <p:nvPr/>
        </p:nvSpPr>
        <p:spPr>
          <a:xfrm>
            <a:off x="6355080" y="3474720"/>
            <a:ext cx="1005840" cy="457200"/>
          </a:xfrm>
          <a:prstGeom prst="rect">
            <a:avLst/>
          </a:prstGeom>
          <a:noFill/>
          <a:ln/>
        </p:spPr>
        <p:txBody>
          <a:bodyPr wrap="square" lIns="0" tIns="0" rIns="0" bIns="0" rtlCol="0" anchor="t"/>
          <a:lstStyle/>
          <a:p>
            <a:pPr marL="0" indent="0" algn="ctr">
              <a:buNone/>
            </a:pPr>
            <a:r>
              <a:rPr lang="en-US" sz="800">
                <a:solidFill>
                  <a:srgbClr val="CADCFC"/>
                </a:solidFill>
                <a:latin typeface="Calibri" pitchFamily="34" charset="0"/>
                <a:ea typeface="Calibri" pitchFamily="34" charset="-122"/>
                <a:cs typeface="Calibri" pitchFamily="34" charset="-120"/>
              </a:rPr>
              <a:t>supermarchés de la région</a:t>
            </a:r>
            <a:endParaRPr lang="en-US" sz="800"/>
          </a:p>
        </p:txBody>
      </p:sp>
      <p:sp>
        <p:nvSpPr>
          <p:cNvPr id="40" name="Shape 38"/>
          <p:cNvSpPr/>
          <p:nvPr/>
        </p:nvSpPr>
        <p:spPr>
          <a:xfrm>
            <a:off x="7498080" y="2423160"/>
            <a:ext cx="1097280" cy="1600200"/>
          </a:xfrm>
          <a:prstGeom prst="roundRect">
            <a:avLst>
              <a:gd name="adj" fmla="val 6667"/>
            </a:avLst>
          </a:prstGeom>
          <a:solidFill>
            <a:srgbClr val="1E2F7F"/>
          </a:solidFill>
          <a:ln w="12700">
            <a:solidFill>
              <a:srgbClr val="2C3F99"/>
            </a:solidFill>
            <a:prstDash val="solid"/>
          </a:ln>
        </p:spPr>
        <p:txBody>
          <a:bodyPr/>
          <a:lstStyle/>
          <a:p>
            <a:endParaRPr/>
          </a:p>
        </p:txBody>
      </p:sp>
      <p:sp>
        <p:nvSpPr>
          <p:cNvPr id="41" name="Shape 39"/>
          <p:cNvSpPr/>
          <p:nvPr/>
        </p:nvSpPr>
        <p:spPr>
          <a:xfrm>
            <a:off x="7863840" y="2542032"/>
            <a:ext cx="365760" cy="365760"/>
          </a:xfrm>
          <a:prstGeom prst="ellipse">
            <a:avLst/>
          </a:prstGeom>
          <a:solidFill>
            <a:srgbClr val="0E8A8A"/>
          </a:solidFill>
          <a:ln w="12700">
            <a:solidFill>
              <a:srgbClr val="0E8A8A"/>
            </a:solidFill>
            <a:prstDash val="solid"/>
          </a:ln>
        </p:spPr>
        <p:txBody>
          <a:bodyPr/>
          <a:lstStyle/>
          <a:p>
            <a:endParaRPr/>
          </a:p>
        </p:txBody>
      </p:sp>
      <p:sp>
        <p:nvSpPr>
          <p:cNvPr id="42" name="Text 40"/>
          <p:cNvSpPr txBox="1"/>
          <p:nvPr/>
        </p:nvSpPr>
        <p:spPr>
          <a:xfrm>
            <a:off x="7863840" y="2542032"/>
            <a:ext cx="365760" cy="36576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3</a:t>
            </a:r>
            <a:endParaRPr lang="en-US" sz="1200"/>
          </a:p>
        </p:txBody>
      </p:sp>
      <p:sp>
        <p:nvSpPr>
          <p:cNvPr id="43" name="Text 41"/>
          <p:cNvSpPr txBox="1"/>
          <p:nvPr/>
        </p:nvSpPr>
        <p:spPr>
          <a:xfrm>
            <a:off x="7543800" y="2971800"/>
            <a:ext cx="1005840" cy="256032"/>
          </a:xfrm>
          <a:prstGeom prst="rect">
            <a:avLst/>
          </a:prstGeom>
          <a:noFill/>
          <a:ln/>
        </p:spPr>
        <p:txBody>
          <a:bodyPr wrap="square" lIns="0" tIns="0" rIns="0" bIns="0" rtlCol="0" anchor="ctr"/>
          <a:lstStyle/>
          <a:p>
            <a:pPr marL="0" indent="0" algn="ctr">
              <a:buNone/>
            </a:pPr>
            <a:r>
              <a:rPr lang="en-US" sz="1150" b="1">
                <a:solidFill>
                  <a:srgbClr val="FFFFFF"/>
                </a:solidFill>
                <a:latin typeface="Cambria" pitchFamily="34" charset="0"/>
                <a:ea typeface="Cambria" pitchFamily="34" charset="-122"/>
                <a:cs typeface="Cambria" pitchFamily="34" charset="-120"/>
              </a:rPr>
              <a:t>Crowdfunding</a:t>
            </a:r>
            <a:endParaRPr lang="en-US" sz="1150"/>
          </a:p>
        </p:txBody>
      </p:sp>
      <p:sp>
        <p:nvSpPr>
          <p:cNvPr id="44" name="Text 42"/>
          <p:cNvSpPr txBox="1"/>
          <p:nvPr/>
        </p:nvSpPr>
        <p:spPr>
          <a:xfrm>
            <a:off x="7543800" y="3218688"/>
            <a:ext cx="1005840" cy="228600"/>
          </a:xfrm>
          <a:prstGeom prst="rect">
            <a:avLst/>
          </a:prstGeom>
          <a:noFill/>
          <a:ln/>
        </p:spPr>
        <p:txBody>
          <a:bodyPr wrap="square" lIns="0" tIns="0" rIns="0" bIns="0" rtlCol="0" anchor="ctr"/>
          <a:lstStyle/>
          <a:p>
            <a:pPr marL="0" indent="0" algn="ctr">
              <a:buNone/>
            </a:pPr>
            <a:r>
              <a:rPr lang="en-US" sz="850">
                <a:solidFill>
                  <a:srgbClr val="7FD3D0"/>
                </a:solidFill>
                <a:latin typeface="Calibri" pitchFamily="34" charset="0"/>
                <a:ea typeface="Calibri" pitchFamily="34" charset="-122"/>
                <a:cs typeface="Calibri" pitchFamily="34" charset="-120"/>
              </a:rPr>
              <a:t>campagnes en ligne</a:t>
            </a:r>
            <a:endParaRPr lang="en-US" sz="850"/>
          </a:p>
        </p:txBody>
      </p:sp>
      <p:sp>
        <p:nvSpPr>
          <p:cNvPr id="45" name="Text 43"/>
          <p:cNvSpPr txBox="1"/>
          <p:nvPr/>
        </p:nvSpPr>
        <p:spPr>
          <a:xfrm>
            <a:off x="7543800" y="3474720"/>
            <a:ext cx="1005840" cy="457200"/>
          </a:xfrm>
          <a:prstGeom prst="rect">
            <a:avLst/>
          </a:prstGeom>
          <a:noFill/>
          <a:ln/>
        </p:spPr>
        <p:txBody>
          <a:bodyPr wrap="square" lIns="0" tIns="0" rIns="0" bIns="0" rtlCol="0" anchor="t"/>
          <a:lstStyle/>
          <a:p>
            <a:pPr marL="0" indent="0" algn="ctr">
              <a:buNone/>
            </a:pPr>
            <a:r>
              <a:rPr lang="en-US" sz="800">
                <a:solidFill>
                  <a:srgbClr val="CADCFC"/>
                </a:solidFill>
                <a:latin typeface="Calibri" pitchFamily="34" charset="0"/>
                <a:ea typeface="Calibri" pitchFamily="34" charset="-122"/>
                <a:cs typeface="Calibri" pitchFamily="34" charset="-120"/>
              </a:rPr>
              <a:t>Sites internet dédiés</a:t>
            </a:r>
            <a:endParaRPr lang="en-US" sz="800"/>
          </a:p>
        </p:txBody>
      </p:sp>
      <p:sp>
        <p:nvSpPr>
          <p:cNvPr id="46" name="Text 44"/>
          <p:cNvSpPr txBox="1"/>
          <p:nvPr/>
        </p:nvSpPr>
        <p:spPr>
          <a:xfrm>
            <a:off x="5120640" y="4087368"/>
            <a:ext cx="3474720" cy="320040"/>
          </a:xfrm>
          <a:prstGeom prst="rect">
            <a:avLst/>
          </a:prstGeom>
          <a:noFill/>
          <a:ln/>
        </p:spPr>
        <p:txBody>
          <a:bodyPr wrap="square" lIns="0" tIns="0" rIns="0" bIns="0" rtlCol="0" anchor="ctr"/>
          <a:lstStyle/>
          <a:p>
            <a:pPr marL="0" indent="0">
              <a:buNone/>
            </a:pPr>
            <a:r>
              <a:rPr lang="en-US" sz="850" i="1">
                <a:solidFill>
                  <a:srgbClr val="CADCFC"/>
                </a:solidFill>
                <a:latin typeface="Calibri" pitchFamily="34" charset="0"/>
                <a:ea typeface="Calibri" pitchFamily="34" charset="-122"/>
                <a:cs typeface="Calibri" pitchFamily="34" charset="-120"/>
              </a:rPr>
              <a:t>Premiers résultats et mécènes de référence en main, le dossier devient crédible pour une fondation ou une enseigne.</a:t>
            </a:r>
            <a:endParaRPr lang="en-US" sz="850"/>
          </a:p>
        </p:txBody>
      </p:sp>
      <p:sp>
        <p:nvSpPr>
          <p:cNvPr id="47" name="Text 45"/>
          <p:cNvSpPr txBox="1"/>
          <p:nvPr/>
        </p:nvSpPr>
        <p:spPr>
          <a:xfrm>
            <a:off x="457200" y="4617720"/>
            <a:ext cx="7863840" cy="228600"/>
          </a:xfrm>
          <a:prstGeom prst="rect">
            <a:avLst/>
          </a:prstGeom>
          <a:noFill/>
          <a:ln/>
        </p:spPr>
        <p:txBody>
          <a:bodyPr wrap="square" lIns="0" tIns="0" rIns="0" bIns="0" rtlCol="0" anchor="ctr"/>
          <a:lstStyle/>
          <a:p>
            <a:pPr marL="0" indent="0">
              <a:buNone/>
            </a:pPr>
            <a:r>
              <a:rPr lang="en-US" sz="750" i="1">
                <a:solidFill>
                  <a:srgbClr val="CADCFC"/>
                </a:solidFill>
                <a:latin typeface="Calibri" pitchFamily="34" charset="0"/>
                <a:ea typeface="Calibri" pitchFamily="34" charset="-122"/>
                <a:cs typeface="Calibri" pitchFamily="34" charset="-120"/>
              </a:rPr>
              <a:t>Générosité du public (micro-dons, financement participatif) sous réserve de la déclaration préfectorale d’appel à la générosité publique.</a:t>
            </a:r>
            <a:endParaRPr lang="en-US" sz="750"/>
          </a:p>
        </p:txBody>
      </p:sp>
      <p:sp>
        <p:nvSpPr>
          <p:cNvPr id="48" name="Text 46"/>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CADCFC"/>
                </a:solidFill>
                <a:latin typeface="Calibri" pitchFamily="34" charset="0"/>
                <a:ea typeface="Calibri" pitchFamily="34" charset="-122"/>
                <a:cs typeface="Calibri" pitchFamily="34" charset="-120"/>
              </a:rPr>
              <a:t>11</a:t>
            </a:r>
            <a:endParaRPr lang="en-US" sz="800"/>
          </a:p>
        </p:txBody>
      </p:sp>
      <p:sp>
        <p:nvSpPr>
          <p:cNvPr id="7" name="Text 6b"/>
          <p:cNvSpPr txBox="1"/>
          <p:nvPr/>
        </p:nvSpPr>
        <p:spPr>
          <a:xfrm>
            <a:off x="685800" y="1874520"/>
            <a:ext cx="3566160" cy="256032"/>
          </a:xfrm>
          <a:prstGeom prst="rect">
            <a:avLst/>
          </a:prstGeom>
          <a:noFill/>
          <a:ln/>
        </p:spPr>
        <p:txBody>
          <a:bodyPr wrap="square" lIns="0" tIns="0" rIns="0" bIns="0" rtlCol="0" anchor="ctr"/>
          <a:lstStyle/>
          <a:p>
            <a:pPr marL="0" indent="0">
              <a:buNone/>
            </a:pPr>
            <a:r>
              <a:rPr lang="en-US" sz="1200" b="1">
                <a:solidFill>
                  <a:srgbClr val="16256B"/>
                </a:solidFill>
                <a:latin typeface="Calibri" pitchFamily="34" charset="0"/>
                <a:ea typeface="Calibri" pitchFamily="34" charset="-122"/>
                <a:cs typeface="Calibri" pitchFamily="34" charset="-120"/>
              </a:rPr>
              <a:t>Particuliers</a:t>
            </a:r>
            <a:endParaRPr lang="en-US" sz="12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ctr"/>
          <a:lstStyle/>
          <a:p>
            <a:r>
              <a:rPr lang="en-US" sz="900" b="1" kern="0" spc="200">
                <a:solidFill>
                  <a:srgbClr val="0E8A8A"/>
                </a:solidFill>
                <a:latin typeface="Calibri" pitchFamily="34" charset="0"/>
                <a:ea typeface="Calibri" pitchFamily="34" charset="-122"/>
                <a:cs typeface="Calibri" pitchFamily="34" charset="-120"/>
              </a:rPr>
              <a:t>L’EMPLOI DES FONDS ·</a:t>
            </a:r>
            <a:r>
              <a:rPr lang="en-US" sz="900" b="1" kern="0" spc="300">
                <a:solidFill>
                  <a:srgbClr val="7FD3D0"/>
                </a:solidFill>
                <a:latin typeface="Calibri" pitchFamily="34" charset="0"/>
                <a:ea typeface="Calibri" pitchFamily="34" charset="-122"/>
                <a:cs typeface="Calibri" pitchFamily="34" charset="-120"/>
              </a:rPr>
              <a:t> </a:t>
            </a:r>
            <a:r>
              <a:rPr lang="en-US" sz="900" b="1" kern="0" spc="200">
                <a:solidFill>
                  <a:srgbClr val="0E8A8A"/>
                </a:solidFill>
                <a:latin typeface="Calibri" pitchFamily="34" charset="0"/>
                <a:ea typeface="Calibri" pitchFamily="34" charset="-122"/>
                <a:cs typeface="Calibri" pitchFamily="34" charset="-120"/>
              </a:rPr>
              <a:t>TRANCHE 2026-2029</a:t>
            </a:r>
            <a:endParaRPr lang="en-US" sz="90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600" b="1">
                <a:solidFill>
                  <a:srgbClr val="16256B"/>
                </a:solidFill>
                <a:latin typeface="Cambria" pitchFamily="34" charset="0"/>
                <a:ea typeface="Cambria" pitchFamily="34" charset="-122"/>
                <a:cs typeface="Cambria" pitchFamily="34" charset="-120"/>
              </a:rPr>
              <a:t>94 € sur 100 vont aux programmes</a:t>
            </a:r>
            <a:endParaRPr lang="en-US" sz="2600"/>
          </a:p>
        </p:txBody>
      </p:sp>
      <p:sp>
        <p:nvSpPr>
          <p:cNvPr id="4" name="Text 2"/>
          <p:cNvSpPr txBox="1"/>
          <p:nvPr/>
        </p:nvSpPr>
        <p:spPr>
          <a:xfrm>
            <a:off x="457200" y="1051560"/>
            <a:ext cx="8229600" cy="274320"/>
          </a:xfrm>
          <a:prstGeom prst="rect">
            <a:avLst/>
          </a:prstGeom>
          <a:noFill/>
          <a:ln/>
        </p:spPr>
        <p:txBody>
          <a:bodyPr wrap="square" lIns="0" tIns="0" rIns="0" bIns="0" rtlCol="0" anchor="ctr"/>
          <a:lstStyle/>
          <a:p>
            <a:pPr marL="0" indent="0">
              <a:buNone/>
            </a:pPr>
            <a:r>
              <a:rPr lang="en-US" sz="1050">
                <a:solidFill>
                  <a:srgbClr val="6B7280"/>
                </a:solidFill>
                <a:latin typeface="Calibri" pitchFamily="34" charset="0"/>
                <a:ea typeface="Calibri" pitchFamily="34" charset="-122"/>
                <a:cs typeface="Calibri" pitchFamily="34" charset="-120"/>
              </a:rPr>
              <a:t>Emplois du fonds 2026-2029 : 3 958 688 €, lus en cumul sur la période.</a:t>
            </a:r>
            <a:endParaRPr lang="en-US" sz="1050"/>
          </a:p>
        </p:txBody>
      </p:sp>
      <p:graphicFrame>
        <p:nvGraphicFramePr>
          <p:cNvPr id="5" name="Chart 0"/>
          <p:cNvGraphicFramePr/>
          <p:nvPr/>
        </p:nvGraphicFramePr>
        <p:xfrm>
          <a:off x="274320" y="1325880"/>
          <a:ext cx="365760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1005840" y="2286000"/>
            <a:ext cx="2194560" cy="1371600"/>
          </a:xfrm>
          <a:prstGeom prst="rect">
            <a:avLst/>
          </a:prstGeom>
          <a:noFill/>
          <a:ln/>
        </p:spPr>
        <p:txBody>
          <a:bodyPr wrap="square" lIns="0" tIns="0" rIns="0" bIns="0" rtlCol="0" anchor="ctr"/>
          <a:lstStyle/>
          <a:p>
            <a:pPr marL="0" indent="0" algn="ctr">
              <a:buNone/>
            </a:pPr>
            <a:r>
              <a:rPr lang="en-US" sz="3800" b="1">
                <a:solidFill>
                  <a:srgbClr val="16256B"/>
                </a:solidFill>
                <a:latin typeface="Cambria" pitchFamily="34" charset="0"/>
                <a:ea typeface="Cambria" pitchFamily="34" charset="-122"/>
                <a:cs typeface="Cambria" pitchFamily="34" charset="-120"/>
              </a:rPr>
              <a:t>94 €</a:t>
            </a:r>
            <a:endParaRPr lang="en-US" sz="3800"/>
          </a:p>
          <a:p>
            <a:pPr marL="0" indent="0" algn="ctr">
              <a:buNone/>
            </a:pPr>
            <a:r>
              <a:rPr lang="en-US" sz="1400">
                <a:solidFill>
                  <a:srgbClr val="6B7280"/>
                </a:solidFill>
                <a:latin typeface="Cambria" pitchFamily="34" charset="0"/>
                <a:ea typeface="Cambria" pitchFamily="34" charset="-122"/>
                <a:cs typeface="Cambria" pitchFamily="34" charset="-120"/>
              </a:rPr>
              <a:t>sur 100</a:t>
            </a:r>
            <a:endParaRPr lang="en-US" sz="3800"/>
          </a:p>
          <a:p>
            <a:pPr marL="0" indent="0" algn="ctr">
              <a:buNone/>
            </a:pPr>
            <a:r>
              <a:rPr lang="en-US" sz="1000">
                <a:solidFill>
                  <a:srgbClr val="6B7280"/>
                </a:solidFill>
                <a:latin typeface="Cambria" pitchFamily="34" charset="0"/>
                <a:ea typeface="Cambria" pitchFamily="34" charset="-122"/>
                <a:cs typeface="Cambria" pitchFamily="34" charset="-120"/>
              </a:rPr>
              <a:t>aux programmes</a:t>
            </a:r>
            <a:endParaRPr lang="en-US" sz="3800"/>
          </a:p>
        </p:txBody>
      </p:sp>
      <p:sp>
        <p:nvSpPr>
          <p:cNvPr id="7" name="Shape 4"/>
          <p:cNvSpPr/>
          <p:nvPr/>
        </p:nvSpPr>
        <p:spPr>
          <a:xfrm>
            <a:off x="4297680" y="1463040"/>
            <a:ext cx="91440" cy="457200"/>
          </a:xfrm>
          <a:prstGeom prst="rect">
            <a:avLst/>
          </a:prstGeom>
          <a:solidFill>
            <a:srgbClr val="16256B"/>
          </a:solidFill>
          <a:ln w="12700">
            <a:solidFill>
              <a:srgbClr val="16256B"/>
            </a:solidFill>
            <a:prstDash val="solid"/>
          </a:ln>
        </p:spPr>
        <p:txBody>
          <a:bodyPr/>
          <a:lstStyle/>
          <a:p>
            <a:endParaRPr/>
          </a:p>
        </p:txBody>
      </p:sp>
      <p:sp>
        <p:nvSpPr>
          <p:cNvPr id="8" name="Text 5"/>
          <p:cNvSpPr txBox="1"/>
          <p:nvPr/>
        </p:nvSpPr>
        <p:spPr>
          <a:xfrm>
            <a:off x="4526280" y="1371600"/>
            <a:ext cx="1371600" cy="640080"/>
          </a:xfrm>
          <a:prstGeom prst="rect">
            <a:avLst/>
          </a:prstGeom>
          <a:noFill/>
          <a:ln/>
        </p:spPr>
        <p:txBody>
          <a:bodyPr wrap="square" lIns="0" tIns="0" rIns="0" bIns="0" rtlCol="0" anchor="ctr"/>
          <a:lstStyle/>
          <a:p>
            <a:pPr marL="0" indent="0">
              <a:buNone/>
            </a:pPr>
            <a:r>
              <a:rPr lang="en-US" sz="2400" b="1">
                <a:solidFill>
                  <a:srgbClr val="16256B"/>
                </a:solidFill>
                <a:latin typeface="Cambria" pitchFamily="34" charset="0"/>
                <a:ea typeface="Cambria" pitchFamily="34" charset="-122"/>
                <a:cs typeface="Cambria" pitchFamily="34" charset="-120"/>
              </a:rPr>
              <a:t>93,9 %</a:t>
            </a:r>
            <a:endParaRPr lang="en-US" sz="2400"/>
          </a:p>
        </p:txBody>
      </p:sp>
      <p:sp>
        <p:nvSpPr>
          <p:cNvPr id="9" name="Text 6"/>
          <p:cNvSpPr txBox="1"/>
          <p:nvPr/>
        </p:nvSpPr>
        <p:spPr>
          <a:xfrm>
            <a:off x="5943600" y="1371600"/>
            <a:ext cx="2834640" cy="640080"/>
          </a:xfrm>
          <a:prstGeom prst="rect">
            <a:avLst/>
          </a:prstGeom>
          <a:noFill/>
          <a:ln/>
        </p:spPr>
        <p:txBody>
          <a:bodyPr wrap="square" lIns="0" tIns="0" rIns="0" bIns="0" rtlCol="0" anchor="ctr"/>
          <a:lstStyle/>
          <a:p>
            <a:pPr marL="0" indent="0">
              <a:buNone/>
            </a:pPr>
            <a:r>
              <a:rPr lang="en-US" sz="1200" b="1">
                <a:solidFill>
                  <a:srgbClr val="16256B"/>
                </a:solidFill>
                <a:latin typeface="Calibri" pitchFamily="34" charset="0"/>
                <a:ea typeface="Calibri" pitchFamily="34" charset="-122"/>
                <a:cs typeface="Calibri" pitchFamily="34" charset="-120"/>
              </a:rPr>
              <a:t>Programmes d’action</a:t>
            </a:r>
            <a:endParaRPr lang="en-US" sz="1200"/>
          </a:p>
          <a:p>
            <a:pPr marL="0" indent="0">
              <a:buNone/>
            </a:pPr>
            <a:r>
              <a:rPr lang="en-US" sz="1050">
                <a:solidFill>
                  <a:srgbClr val="6B7280"/>
                </a:solidFill>
                <a:latin typeface="Calibri" pitchFamily="34" charset="0"/>
                <a:ea typeface="Calibri" pitchFamily="34" charset="-122"/>
                <a:cs typeface="Calibri" pitchFamily="34" charset="-120"/>
              </a:rPr>
              <a:t>3 716 550 €</a:t>
            </a:r>
            <a:endParaRPr lang="en-US" sz="1200"/>
          </a:p>
        </p:txBody>
      </p:sp>
      <p:sp>
        <p:nvSpPr>
          <p:cNvPr id="10" name="Shape 7"/>
          <p:cNvSpPr/>
          <p:nvPr/>
        </p:nvSpPr>
        <p:spPr>
          <a:xfrm>
            <a:off x="4297680" y="2121408"/>
            <a:ext cx="91440" cy="457200"/>
          </a:xfrm>
          <a:prstGeom prst="rect">
            <a:avLst/>
          </a:prstGeom>
          <a:solidFill>
            <a:srgbClr val="4A5AA8"/>
          </a:solidFill>
          <a:ln w="12700">
            <a:solidFill>
              <a:srgbClr val="4A5AA8"/>
            </a:solidFill>
            <a:prstDash val="solid"/>
          </a:ln>
        </p:spPr>
        <p:txBody>
          <a:bodyPr/>
          <a:lstStyle/>
          <a:p>
            <a:endParaRPr/>
          </a:p>
        </p:txBody>
      </p:sp>
      <p:sp>
        <p:nvSpPr>
          <p:cNvPr id="11" name="Text 8"/>
          <p:cNvSpPr txBox="1"/>
          <p:nvPr/>
        </p:nvSpPr>
        <p:spPr>
          <a:xfrm>
            <a:off x="4526280" y="2029968"/>
            <a:ext cx="1371600" cy="640080"/>
          </a:xfrm>
          <a:prstGeom prst="rect">
            <a:avLst/>
          </a:prstGeom>
          <a:noFill/>
          <a:ln/>
        </p:spPr>
        <p:txBody>
          <a:bodyPr wrap="square" lIns="0" tIns="0" rIns="0" bIns="0" rtlCol="0" anchor="ctr"/>
          <a:lstStyle/>
          <a:p>
            <a:pPr marL="0" indent="0">
              <a:buNone/>
            </a:pPr>
            <a:r>
              <a:rPr lang="en-US" sz="2400" b="1">
                <a:solidFill>
                  <a:srgbClr val="4A5AA8"/>
                </a:solidFill>
                <a:latin typeface="Cambria" pitchFamily="34" charset="0"/>
                <a:ea typeface="Cambria" pitchFamily="34" charset="-122"/>
                <a:cs typeface="Cambria" pitchFamily="34" charset="-120"/>
              </a:rPr>
              <a:t>2,2 %</a:t>
            </a:r>
            <a:endParaRPr lang="en-US" sz="2400"/>
          </a:p>
        </p:txBody>
      </p:sp>
      <p:sp>
        <p:nvSpPr>
          <p:cNvPr id="12" name="Text 9"/>
          <p:cNvSpPr txBox="1"/>
          <p:nvPr/>
        </p:nvSpPr>
        <p:spPr>
          <a:xfrm>
            <a:off x="5943600" y="2029968"/>
            <a:ext cx="2834640" cy="640080"/>
          </a:xfrm>
          <a:prstGeom prst="rect">
            <a:avLst/>
          </a:prstGeom>
          <a:noFill/>
          <a:ln/>
        </p:spPr>
        <p:txBody>
          <a:bodyPr wrap="square" lIns="0" tIns="0" rIns="0" bIns="0" rtlCol="0" anchor="ctr"/>
          <a:lstStyle/>
          <a:p>
            <a:pPr marL="0" indent="0">
              <a:buNone/>
            </a:pPr>
            <a:r>
              <a:rPr lang="en-US" sz="1200" b="1">
                <a:solidFill>
                  <a:srgbClr val="16256B"/>
                </a:solidFill>
                <a:latin typeface="Calibri" pitchFamily="34" charset="0"/>
                <a:ea typeface="Calibri" pitchFamily="34" charset="-122"/>
                <a:cs typeface="Calibri" pitchFamily="34" charset="-120"/>
              </a:rPr>
              <a:t>Moyens communs</a:t>
            </a:r>
            <a:endParaRPr lang="en-US" sz="1200"/>
          </a:p>
          <a:p>
            <a:pPr marL="0" indent="0">
              <a:buNone/>
            </a:pPr>
            <a:r>
              <a:rPr lang="en-US" sz="1050">
                <a:solidFill>
                  <a:srgbClr val="6B7280"/>
                </a:solidFill>
                <a:latin typeface="Calibri" pitchFamily="34" charset="0"/>
                <a:ea typeface="Calibri" pitchFamily="34" charset="-122"/>
                <a:cs typeface="Calibri" pitchFamily="34" charset="-120"/>
              </a:rPr>
              <a:t>86 053 €</a:t>
            </a:r>
            <a:endParaRPr lang="en-US" sz="1200"/>
          </a:p>
        </p:txBody>
      </p:sp>
      <p:sp>
        <p:nvSpPr>
          <p:cNvPr id="13" name="Shape 10"/>
          <p:cNvSpPr/>
          <p:nvPr/>
        </p:nvSpPr>
        <p:spPr>
          <a:xfrm>
            <a:off x="4297680" y="2779776"/>
            <a:ext cx="91440" cy="457200"/>
          </a:xfrm>
          <a:prstGeom prst="rect">
            <a:avLst/>
          </a:prstGeom>
          <a:solidFill>
            <a:srgbClr val="0E8A8A"/>
          </a:solidFill>
          <a:ln w="12700">
            <a:solidFill>
              <a:srgbClr val="0E8A8A"/>
            </a:solidFill>
            <a:prstDash val="solid"/>
          </a:ln>
        </p:spPr>
        <p:txBody>
          <a:bodyPr/>
          <a:lstStyle/>
          <a:p>
            <a:endParaRPr/>
          </a:p>
        </p:txBody>
      </p:sp>
      <p:sp>
        <p:nvSpPr>
          <p:cNvPr id="14" name="Text 11"/>
          <p:cNvSpPr txBox="1"/>
          <p:nvPr/>
        </p:nvSpPr>
        <p:spPr>
          <a:xfrm>
            <a:off x="4526280" y="2688336"/>
            <a:ext cx="1371600" cy="640080"/>
          </a:xfrm>
          <a:prstGeom prst="rect">
            <a:avLst/>
          </a:prstGeom>
          <a:noFill/>
          <a:ln/>
        </p:spPr>
        <p:txBody>
          <a:bodyPr wrap="square" lIns="0" tIns="0" rIns="0" bIns="0" rtlCol="0" anchor="ctr"/>
          <a:lstStyle/>
          <a:p>
            <a:pPr marL="0" indent="0">
              <a:buNone/>
            </a:pPr>
            <a:r>
              <a:rPr lang="en-US" sz="2400" b="1">
                <a:solidFill>
                  <a:srgbClr val="0E8A8A"/>
                </a:solidFill>
                <a:latin typeface="Cambria" pitchFamily="34" charset="0"/>
                <a:ea typeface="Cambria" pitchFamily="34" charset="-122"/>
                <a:cs typeface="Cambria" pitchFamily="34" charset="-120"/>
              </a:rPr>
              <a:t>3,9 %</a:t>
            </a:r>
            <a:endParaRPr lang="en-US" sz="2400"/>
          </a:p>
        </p:txBody>
      </p:sp>
      <p:sp>
        <p:nvSpPr>
          <p:cNvPr id="15" name="Text 12"/>
          <p:cNvSpPr txBox="1"/>
          <p:nvPr/>
        </p:nvSpPr>
        <p:spPr>
          <a:xfrm>
            <a:off x="5943600" y="2688336"/>
            <a:ext cx="2834640" cy="640080"/>
          </a:xfrm>
          <a:prstGeom prst="rect">
            <a:avLst/>
          </a:prstGeom>
          <a:noFill/>
          <a:ln/>
        </p:spPr>
        <p:txBody>
          <a:bodyPr wrap="square" lIns="0" tIns="0" rIns="0" bIns="0" rtlCol="0" anchor="ctr"/>
          <a:lstStyle/>
          <a:p>
            <a:pPr marL="0" indent="0">
              <a:buNone/>
            </a:pPr>
            <a:r>
              <a:rPr lang="en-US" sz="1200" b="1">
                <a:solidFill>
                  <a:srgbClr val="16256B"/>
                </a:solidFill>
                <a:latin typeface="Calibri" pitchFamily="34" charset="0"/>
                <a:ea typeface="Calibri" pitchFamily="34" charset="-122"/>
                <a:cs typeface="Calibri" pitchFamily="34" charset="-120"/>
              </a:rPr>
              <a:t>Frais de fonctionnement</a:t>
            </a:r>
            <a:endParaRPr lang="en-US" sz="1200"/>
          </a:p>
          <a:p>
            <a:pPr marL="0" indent="0">
              <a:buNone/>
            </a:pPr>
            <a:r>
              <a:rPr lang="en-US" sz="1050">
                <a:solidFill>
                  <a:srgbClr val="6B7280"/>
                </a:solidFill>
                <a:latin typeface="Calibri" pitchFamily="34" charset="0"/>
                <a:ea typeface="Calibri" pitchFamily="34" charset="-122"/>
                <a:cs typeface="Calibri" pitchFamily="34" charset="-120"/>
              </a:rPr>
              <a:t>156 085 €</a:t>
            </a:r>
            <a:endParaRPr lang="en-US" sz="1200"/>
          </a:p>
        </p:txBody>
      </p:sp>
      <p:sp>
        <p:nvSpPr>
          <p:cNvPr id="16" name="Shape 13"/>
          <p:cNvSpPr/>
          <p:nvPr/>
        </p:nvSpPr>
        <p:spPr>
          <a:xfrm>
            <a:off x="4297680" y="3401568"/>
            <a:ext cx="4480560" cy="896112"/>
          </a:xfrm>
          <a:prstGeom prst="roundRect">
            <a:avLst>
              <a:gd name="adj" fmla="val 6122"/>
            </a:avLst>
          </a:prstGeom>
          <a:solidFill>
            <a:srgbClr val="EEF1FB"/>
          </a:solidFill>
          <a:ln w="12700">
            <a:solidFill>
              <a:srgbClr val="EEF1FB"/>
            </a:solidFill>
            <a:prstDash val="solid"/>
          </a:ln>
        </p:spPr>
        <p:txBody>
          <a:bodyPr/>
          <a:lstStyle/>
          <a:p>
            <a:endParaRPr/>
          </a:p>
        </p:txBody>
      </p:sp>
      <p:sp>
        <p:nvSpPr>
          <p:cNvPr id="17" name="Text 14"/>
          <p:cNvSpPr txBox="1"/>
          <p:nvPr/>
        </p:nvSpPr>
        <p:spPr>
          <a:xfrm>
            <a:off x="4434840" y="3438144"/>
            <a:ext cx="4206240" cy="822960"/>
          </a:xfrm>
          <a:prstGeom prst="rect">
            <a:avLst/>
          </a:prstGeom>
          <a:noFill/>
          <a:ln/>
        </p:spPr>
        <p:txBody>
          <a:bodyPr wrap="square" lIns="0" tIns="0" rIns="0" bIns="0" rtlCol="0" anchor="ctr"/>
          <a:lstStyle/>
          <a:p>
            <a:pPr marL="0" indent="0">
              <a:buNone/>
            </a:pPr>
            <a:r>
              <a:rPr lang="en-US" sz="850" b="1">
                <a:solidFill>
                  <a:srgbClr val="16256B"/>
                </a:solidFill>
                <a:latin typeface="Calibri" pitchFamily="34" charset="0"/>
                <a:ea typeface="Calibri" pitchFamily="34" charset="-122"/>
                <a:cs typeface="Calibri" pitchFamily="34" charset="-120"/>
              </a:rPr>
              <a:t>Pourquoi une part de fonctionnement aussi faible — </a:t>
            </a:r>
            <a:r>
              <a:rPr lang="en-US" sz="850">
                <a:solidFill>
                  <a:srgbClr val="1F2937"/>
                </a:solidFill>
                <a:latin typeface="Calibri" pitchFamily="34" charset="0"/>
                <a:ea typeface="Calibri" pitchFamily="34" charset="-122"/>
                <a:cs typeface="Calibri" pitchFamily="34" charset="-120"/>
              </a:rPr>
              <a:t>l’animation de l’écosystème et le poste de chef de projet sont portés par </a:t>
            </a:r>
            <a:r>
              <a:rPr lang="en-US" sz="850" err="1">
                <a:solidFill>
                  <a:srgbClr val="1F2937"/>
                </a:solidFill>
                <a:latin typeface="Calibri" pitchFamily="34" charset="0"/>
                <a:ea typeface="Calibri" pitchFamily="34" charset="-122"/>
                <a:cs typeface="Calibri" pitchFamily="34" charset="-120"/>
              </a:rPr>
              <a:t>l’association</a:t>
            </a:r>
            <a:r>
              <a:rPr lang="en-US" sz="850">
                <a:solidFill>
                  <a:srgbClr val="1F2937"/>
                </a:solidFill>
                <a:latin typeface="Calibri" pitchFamily="34" charset="0"/>
                <a:ea typeface="Calibri" pitchFamily="34" charset="-122"/>
                <a:cs typeface="Calibri" pitchFamily="34" charset="-120"/>
              </a:rPr>
              <a:t> Mare </a:t>
            </a:r>
            <a:r>
              <a:rPr lang="en-US" sz="850" err="1">
                <a:solidFill>
                  <a:srgbClr val="1F2937"/>
                </a:solidFill>
                <a:latin typeface="Calibri" pitchFamily="34" charset="0"/>
                <a:ea typeface="Calibri" pitchFamily="34" charset="-122"/>
                <a:cs typeface="Calibri" pitchFamily="34" charset="-120"/>
              </a:rPr>
              <a:t>Durabilis</a:t>
            </a:r>
            <a:r>
              <a:rPr lang="en-US" sz="850">
                <a:solidFill>
                  <a:srgbClr val="1F2937"/>
                </a:solidFill>
                <a:latin typeface="Calibri" pitchFamily="34" charset="0"/>
                <a:ea typeface="Calibri" pitchFamily="34" charset="-122"/>
                <a:cs typeface="Calibri" pitchFamily="34" charset="-120"/>
              </a:rPr>
              <a:t>, dont le FEAMPA finance 80 % des dépenses éligibles (taux demandé). Le fonds ne supporte que la quote-part du temps consacré à son fonctionnement, la part non publique de l’association et ses frais propres</a:t>
            </a:r>
            <a:r>
              <a:rPr lang="en-US" sz="850" err="1">
                <a:solidFill>
                  <a:srgbClr val="1F2937"/>
                </a:solidFill>
                <a:latin typeface="Calibri" pitchFamily="34" charset="0"/>
                <a:ea typeface="Calibri" pitchFamily="34" charset="-122"/>
                <a:cs typeface="Calibri" pitchFamily="34" charset="-120"/>
              </a:rPr>
              <a:t/>
            </a:r>
            <a:r>
              <a:rPr lang="en-US" sz="850">
                <a:solidFill>
                  <a:srgbClr val="1F2937"/>
                </a:solidFill>
                <a:latin typeface="Calibri" pitchFamily="34" charset="0"/>
                <a:ea typeface="Calibri" pitchFamily="34" charset="-122"/>
                <a:cs typeface="Calibri" pitchFamily="34" charset="-120"/>
              </a:rPr>
              <a:t> : commissaire aux comptes, expertise comptable, conseil juridique.</a:t>
            </a:r>
            <a:endParaRPr lang="en-US" sz="850"/>
          </a:p>
        </p:txBody>
      </p:sp>
      <p:sp>
        <p:nvSpPr>
          <p:cNvPr id="18" name="Shape 15"/>
          <p:cNvSpPr/>
          <p:nvPr/>
        </p:nvSpPr>
        <p:spPr>
          <a:xfrm>
            <a:off x="4297680" y="4370832"/>
            <a:ext cx="4480560" cy="384048"/>
          </a:xfrm>
          <a:prstGeom prst="roundRect">
            <a:avLst>
              <a:gd name="adj" fmla="val 14286"/>
            </a:avLst>
          </a:prstGeom>
          <a:solidFill>
            <a:srgbClr val="E8F4F3"/>
          </a:solidFill>
          <a:ln w="12700">
            <a:solidFill>
              <a:srgbClr val="E8F4F3"/>
            </a:solidFill>
            <a:prstDash val="solid"/>
          </a:ln>
        </p:spPr>
        <p:txBody>
          <a:bodyPr/>
          <a:lstStyle/>
          <a:p>
            <a:endParaRPr/>
          </a:p>
        </p:txBody>
      </p:sp>
      <p:sp>
        <p:nvSpPr>
          <p:cNvPr id="19" name="Text 16"/>
          <p:cNvSpPr txBox="1"/>
          <p:nvPr/>
        </p:nvSpPr>
        <p:spPr>
          <a:xfrm>
            <a:off x="4434840" y="4389120"/>
            <a:ext cx="4206240" cy="347472"/>
          </a:xfrm>
          <a:prstGeom prst="rect">
            <a:avLst/>
          </a:prstGeom>
          <a:noFill/>
          <a:ln/>
        </p:spPr>
        <p:txBody>
          <a:bodyPr wrap="square" lIns="0" tIns="0" rIns="0" bIns="0" rtlCol="0" anchor="ctr"/>
          <a:lstStyle/>
          <a:p>
            <a:pPr marL="0" indent="0">
              <a:buNone/>
            </a:pPr>
            <a:r>
              <a:rPr lang="en-US" sz="800">
                <a:solidFill>
                  <a:srgbClr val="1F2937"/>
                </a:solidFill>
                <a:latin typeface="Calibri" pitchFamily="34" charset="0"/>
                <a:ea typeface="Calibri" pitchFamily="34" charset="-122"/>
                <a:cs typeface="Calibri" pitchFamily="34" charset="-120"/>
              </a:rPr>
              <a:t>Dotation non consomptible : 45 000 €, capital de fondateurs placé et jamais dépensé. La ressource des programmes vient des dons affectés.</a:t>
            </a:r>
            <a:endParaRPr lang="en-US" sz="800"/>
          </a:p>
        </p:txBody>
      </p:sp>
      <p:sp>
        <p:nvSpPr>
          <p:cNvPr id="20" name="Text 17"/>
          <p:cNvSpPr txBox="1"/>
          <p:nvPr/>
        </p:nvSpPr>
        <p:spPr>
          <a:xfrm>
            <a:off x="457200" y="4800600"/>
            <a:ext cx="7863840" cy="201168"/>
          </a:xfrm>
          <a:prstGeom prst="rect">
            <a:avLst/>
          </a:prstGeom>
          <a:noFill/>
          <a:ln/>
        </p:spPr>
        <p:txBody>
          <a:bodyPr wrap="square" lIns="0" tIns="0" rIns="0" bIns="0" rtlCol="0" anchor="ctr"/>
          <a:lstStyle/>
          <a:p>
            <a:r>
              <a:rPr lang="en-US" sz="750" i="1">
                <a:solidFill>
                  <a:srgbClr val="6B7280"/>
                </a:solidFill>
                <a:latin typeface="Calibri" pitchFamily="34" charset="0"/>
                <a:ea typeface="Calibri" pitchFamily="34" charset="-122"/>
                <a:cs typeface="Calibri" pitchFamily="34" charset="-120"/>
              </a:rPr>
              <a:t>Budget pluriannuel 2026-2029, mise à jour de fin septembre 2026, soumis au vote annuel du conseil </a:t>
            </a:r>
            <a:r>
              <a:rPr lang="en-US" sz="750" i="1" err="1">
                <a:solidFill>
                  <a:srgbClr val="6B7280"/>
                </a:solidFill>
                <a:latin typeface="Calibri" pitchFamily="34" charset="0"/>
                <a:ea typeface="Calibri" pitchFamily="34" charset="-122"/>
                <a:cs typeface="Calibri" pitchFamily="34" charset="-120"/>
              </a:rPr>
              <a:t>d’administration</a:t>
            </a:r>
            <a:r>
              <a:rPr lang="en-US" sz="750" i="1">
                <a:solidFill>
                  <a:srgbClr val="6B7280"/>
                </a:solidFill>
                <a:latin typeface="Calibri" pitchFamily="34" charset="0"/>
                <a:ea typeface="Calibri" pitchFamily="34" charset="-122"/>
                <a:cs typeface="Calibri" pitchFamily="34" charset="-120"/>
              </a:rPr>
              <a:t>. </a:t>
            </a:r>
            <a:r>
              <a:rPr lang="fr-FR" sz="750" i="1">
                <a:solidFill>
                  <a:srgbClr val="6B7280"/>
                </a:solidFill>
                <a:latin typeface="Calibri" pitchFamily="34" charset="0"/>
                <a:ea typeface="Calibri" pitchFamily="34" charset="-122"/>
                <a:cs typeface="Calibri" pitchFamily="34" charset="-120"/>
              </a:rPr>
              <a:t>Estimations à ce stade, l’association étant en cours de construction ; budgets établis sur la base des principaux postes de dépenses de la SATHOAN, à affiner selon les devis à venir.</a:t>
            </a:r>
            <a:endParaRPr lang="en-US" sz="750" i="1">
              <a:solidFill>
                <a:srgbClr val="6B7280"/>
              </a:solidFill>
              <a:latin typeface="Calibri" pitchFamily="34" charset="0"/>
              <a:ea typeface="Calibri" pitchFamily="34" charset="-122"/>
              <a:cs typeface="Calibri" pitchFamily="34" charset="-120"/>
            </a:endParaRPr>
          </a:p>
        </p:txBody>
      </p:sp>
      <p:sp>
        <p:nvSpPr>
          <p:cNvPr id="21" name="Text 18"/>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6B7280"/>
                </a:solidFill>
                <a:latin typeface="Calibri" pitchFamily="34" charset="0"/>
                <a:ea typeface="Calibri" pitchFamily="34" charset="-122"/>
                <a:cs typeface="Calibri" pitchFamily="34" charset="-120"/>
              </a:rPr>
              <a:t>12</a:t>
            </a:r>
            <a:endParaRPr lang="en-US" sz="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6256B">
              <a:alpha val="66000"/>
            </a:srgbClr>
          </a:solidFill>
          <a:ln w="12700">
            <a:solidFill>
              <a:srgbClr val="16256B">
                <a:alpha val="0"/>
              </a:srgbClr>
            </a:solidFill>
            <a:prstDash val="solid"/>
          </a:ln>
        </p:spPr>
        <p:txBody>
          <a:bodyPr/>
          <a:lstStyle/>
          <a:p>
            <a:endParaRPr lang="fr-FR"/>
          </a:p>
        </p:txBody>
      </p:sp>
      <p:sp>
        <p:nvSpPr>
          <p:cNvPr id="3" name="Text 1"/>
          <p:cNvSpPr txBox="1"/>
          <p:nvPr/>
        </p:nvSpPr>
        <p:spPr>
          <a:xfrm>
            <a:off x="457200" y="292608"/>
            <a:ext cx="8229600" cy="228600"/>
          </a:xfrm>
          <a:prstGeom prst="rect">
            <a:avLst/>
          </a:prstGeom>
          <a:noFill/>
          <a:ln/>
        </p:spPr>
        <p:txBody>
          <a:bodyPr wrap="square" lIns="0" tIns="0" rIns="0" bIns="0" rtlCol="0" anchor="ctr"/>
          <a:lstStyle/>
          <a:p>
            <a:pPr marL="0" indent="0">
              <a:buNone/>
            </a:pPr>
            <a:r>
              <a:rPr lang="en-US" sz="900" b="1" kern="0" spc="200">
                <a:solidFill>
                  <a:srgbClr val="7FD3D0"/>
                </a:solidFill>
                <a:latin typeface="Calibri" pitchFamily="34" charset="0"/>
                <a:ea typeface="Calibri" pitchFamily="34" charset="-122"/>
                <a:cs typeface="Calibri" pitchFamily="34" charset="-120"/>
              </a:rPr>
              <a:t>CONCRÈTEMENT, POUR CELUI QUI DONNE</a:t>
            </a:r>
            <a:endParaRPr lang="en-US" sz="900"/>
          </a:p>
        </p:txBody>
      </p:sp>
      <p:sp>
        <p:nvSpPr>
          <p:cNvPr id="4" name="Text 2"/>
          <p:cNvSpPr txBox="1"/>
          <p:nvPr/>
        </p:nvSpPr>
        <p:spPr>
          <a:xfrm>
            <a:off x="457200" y="512064"/>
            <a:ext cx="8229600" cy="457200"/>
          </a:xfrm>
          <a:prstGeom prst="rect">
            <a:avLst/>
          </a:prstGeom>
          <a:noFill/>
          <a:ln/>
        </p:spPr>
        <p:txBody>
          <a:bodyPr wrap="square" lIns="0" tIns="0" rIns="0" bIns="0" rtlCol="0" anchor="ctr"/>
          <a:lstStyle/>
          <a:p>
            <a:pPr marL="0" indent="0">
              <a:buNone/>
            </a:pPr>
            <a:r>
              <a:rPr lang="en-US" sz="2500" b="1">
                <a:solidFill>
                  <a:srgbClr val="FFFFFF"/>
                </a:solidFill>
                <a:latin typeface="Cambria" pitchFamily="34" charset="0"/>
                <a:ea typeface="Cambria" pitchFamily="34" charset="-122"/>
                <a:cs typeface="Cambria" pitchFamily="34" charset="-120"/>
              </a:rPr>
              <a:t>Deux voies, un même mécanisme</a:t>
            </a:r>
            <a:endParaRPr lang="en-US" sz="2500"/>
          </a:p>
        </p:txBody>
      </p:sp>
      <p:sp>
        <p:nvSpPr>
          <p:cNvPr id="5" name="Text 3"/>
          <p:cNvSpPr txBox="1"/>
          <p:nvPr/>
        </p:nvSpPr>
        <p:spPr>
          <a:xfrm>
            <a:off x="457200" y="969264"/>
            <a:ext cx="8229600" cy="256032"/>
          </a:xfrm>
          <a:prstGeom prst="rect">
            <a:avLst/>
          </a:prstGeom>
          <a:noFill/>
          <a:ln/>
        </p:spPr>
        <p:txBody>
          <a:bodyPr wrap="square" lIns="0" tIns="0" rIns="0" bIns="0" rtlCol="0" anchor="ctr"/>
          <a:lstStyle/>
          <a:p>
            <a:pPr marL="0" indent="0">
              <a:buNone/>
            </a:pPr>
            <a:r>
              <a:rPr lang="en-US" sz="1050">
                <a:solidFill>
                  <a:srgbClr val="CADCFC"/>
                </a:solidFill>
                <a:latin typeface="Calibri" pitchFamily="34" charset="0"/>
                <a:ea typeface="Calibri" pitchFamily="34" charset="-122"/>
                <a:cs typeface="Calibri" pitchFamily="34" charset="-120"/>
              </a:rPr>
              <a:t>Le don n’est pas une charge déductible : il ouvre droit à une réduction imputée sur l’impôt dû.</a:t>
            </a:r>
            <a:endParaRPr lang="en-US" sz="1050"/>
          </a:p>
        </p:txBody>
      </p:sp>
      <p:sp>
        <p:nvSpPr>
          <p:cNvPr id="6" name="Shape 4"/>
          <p:cNvSpPr/>
          <p:nvPr/>
        </p:nvSpPr>
        <p:spPr>
          <a:xfrm>
            <a:off x="457200" y="1280160"/>
            <a:ext cx="4023360" cy="3364992"/>
          </a:xfrm>
          <a:prstGeom prst="roundRect">
            <a:avLst>
              <a:gd name="adj" fmla="val 1630"/>
            </a:avLst>
          </a:prstGeom>
          <a:solidFill>
            <a:srgbClr val="FFFFFF"/>
          </a:solidFill>
          <a:ln w="12700">
            <a:solidFill>
              <a:srgbClr val="FFFFFF"/>
            </a:solidFill>
            <a:prstDash val="solid"/>
          </a:ln>
        </p:spPr>
        <p:txBody>
          <a:bodyPr/>
          <a:lstStyle/>
          <a:p>
            <a:endParaRPr lang="fr-FR"/>
          </a:p>
        </p:txBody>
      </p:sp>
      <p:sp>
        <p:nvSpPr>
          <p:cNvPr id="7" name="Text 5"/>
          <p:cNvSpPr txBox="1"/>
          <p:nvPr/>
        </p:nvSpPr>
        <p:spPr>
          <a:xfrm>
            <a:off x="713232" y="1408176"/>
            <a:ext cx="3511296" cy="201168"/>
          </a:xfrm>
          <a:prstGeom prst="rect">
            <a:avLst/>
          </a:prstGeom>
          <a:noFill/>
          <a:ln/>
        </p:spPr>
        <p:txBody>
          <a:bodyPr wrap="square" lIns="0" tIns="0" rIns="0" bIns="0" rtlCol="0" anchor="ctr"/>
          <a:lstStyle/>
          <a:p>
            <a:pPr marL="0" indent="0">
              <a:buNone/>
            </a:pPr>
            <a:r>
              <a:rPr lang="en-US" sz="850" b="1" kern="0" spc="150">
                <a:solidFill>
                  <a:srgbClr val="16256B"/>
                </a:solidFill>
                <a:latin typeface="Calibri" pitchFamily="34" charset="0"/>
                <a:ea typeface="Calibri" pitchFamily="34" charset="-122"/>
                <a:cs typeface="Calibri" pitchFamily="34" charset="-120"/>
              </a:rPr>
              <a:t>ENTREPRISE · ARTICLE 238 BIS DU CGI</a:t>
            </a:r>
            <a:endParaRPr lang="en-US" sz="850"/>
          </a:p>
        </p:txBody>
      </p:sp>
      <p:sp>
        <p:nvSpPr>
          <p:cNvPr id="8" name="Text 6"/>
          <p:cNvSpPr txBox="1"/>
          <p:nvPr/>
        </p:nvSpPr>
        <p:spPr>
          <a:xfrm>
            <a:off x="713232" y="1554480"/>
            <a:ext cx="1143000" cy="502920"/>
          </a:xfrm>
          <a:prstGeom prst="rect">
            <a:avLst/>
          </a:prstGeom>
          <a:noFill/>
          <a:ln/>
        </p:spPr>
        <p:txBody>
          <a:bodyPr wrap="square" lIns="0" tIns="0" rIns="0" bIns="0" rtlCol="0" anchor="ctr"/>
          <a:lstStyle/>
          <a:p>
            <a:pPr marL="0" indent="0">
              <a:buNone/>
            </a:pPr>
            <a:r>
              <a:rPr lang="en-US" sz="3100" b="1">
                <a:solidFill>
                  <a:srgbClr val="16256B"/>
                </a:solidFill>
                <a:latin typeface="Cambria" pitchFamily="34" charset="0"/>
                <a:ea typeface="Cambria" pitchFamily="34" charset="-122"/>
                <a:cs typeface="Cambria" pitchFamily="34" charset="-120"/>
              </a:rPr>
              <a:t>60 %</a:t>
            </a:r>
            <a:endParaRPr lang="en-US" sz="3100"/>
          </a:p>
        </p:txBody>
      </p:sp>
      <p:sp>
        <p:nvSpPr>
          <p:cNvPr id="9" name="Text 7"/>
          <p:cNvSpPr txBox="1"/>
          <p:nvPr/>
        </p:nvSpPr>
        <p:spPr>
          <a:xfrm>
            <a:off x="1783080" y="1673352"/>
            <a:ext cx="2377440" cy="274320"/>
          </a:xfrm>
          <a:prstGeom prst="rect">
            <a:avLst/>
          </a:prstGeom>
          <a:noFill/>
          <a:ln/>
        </p:spPr>
        <p:txBody>
          <a:bodyPr wrap="square" lIns="0" tIns="0" rIns="0" bIns="0" rtlCol="0" anchor="ctr"/>
          <a:lstStyle/>
          <a:p>
            <a:pPr marL="0" indent="0">
              <a:buNone/>
            </a:pPr>
            <a:r>
              <a:rPr lang="en-US" sz="950">
                <a:solidFill>
                  <a:srgbClr val="6B7280"/>
                </a:solidFill>
                <a:latin typeface="Calibri" pitchFamily="34" charset="0"/>
                <a:ea typeface="Calibri" pitchFamily="34" charset="-122"/>
                <a:cs typeface="Calibri" pitchFamily="34" charset="-120"/>
              </a:rPr>
              <a:t>du montant versé</a:t>
            </a:r>
            <a:endParaRPr lang="en-US" sz="950"/>
          </a:p>
        </p:txBody>
      </p:sp>
      <p:sp>
        <p:nvSpPr>
          <p:cNvPr id="10" name="Shape 8"/>
          <p:cNvSpPr/>
          <p:nvPr/>
        </p:nvSpPr>
        <p:spPr>
          <a:xfrm>
            <a:off x="713232" y="2121408"/>
            <a:ext cx="274320" cy="274320"/>
          </a:xfrm>
          <a:prstGeom prst="ellipse">
            <a:avLst/>
          </a:prstGeom>
          <a:solidFill>
            <a:srgbClr val="16256B"/>
          </a:solidFill>
          <a:ln w="12700">
            <a:solidFill>
              <a:srgbClr val="16256B"/>
            </a:solidFill>
            <a:prstDash val="solid"/>
          </a:ln>
        </p:spPr>
        <p:txBody>
          <a:bodyPr/>
          <a:lstStyle/>
          <a:p>
            <a:endParaRPr lang="fr-FR"/>
          </a:p>
        </p:txBody>
      </p:sp>
      <p:sp>
        <p:nvSpPr>
          <p:cNvPr id="11" name="Text 9"/>
          <p:cNvSpPr txBox="1"/>
          <p:nvPr/>
        </p:nvSpPr>
        <p:spPr>
          <a:xfrm>
            <a:off x="713232" y="2121408"/>
            <a:ext cx="274320" cy="27432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1</a:t>
            </a:r>
            <a:endParaRPr lang="en-US" sz="900"/>
          </a:p>
        </p:txBody>
      </p:sp>
      <p:sp>
        <p:nvSpPr>
          <p:cNvPr id="12" name="Text 10"/>
          <p:cNvSpPr txBox="1"/>
          <p:nvPr/>
        </p:nvSpPr>
        <p:spPr>
          <a:xfrm>
            <a:off x="1097280" y="2103120"/>
            <a:ext cx="3108960" cy="219456"/>
          </a:xfrm>
          <a:prstGeom prst="rect">
            <a:avLst/>
          </a:prstGeom>
          <a:noFill/>
          <a:ln/>
        </p:spPr>
        <p:txBody>
          <a:bodyPr wrap="square" lIns="0" tIns="0" rIns="0" bIns="0" rtlCol="0" anchor="ctr"/>
          <a:lstStyle/>
          <a:p>
            <a:pPr marL="0" indent="0">
              <a:buNone/>
            </a:pPr>
            <a:r>
              <a:rPr lang="en-US" sz="1150" b="1">
                <a:solidFill>
                  <a:srgbClr val="16256B"/>
                </a:solidFill>
                <a:latin typeface="Cambria" pitchFamily="34" charset="0"/>
                <a:ea typeface="Cambria" pitchFamily="34" charset="-122"/>
                <a:cs typeface="Cambria" pitchFamily="34" charset="-120"/>
              </a:rPr>
              <a:t>Au versement</a:t>
            </a:r>
            <a:endParaRPr lang="en-US" sz="1150"/>
          </a:p>
        </p:txBody>
      </p:sp>
      <p:sp>
        <p:nvSpPr>
          <p:cNvPr id="13" name="Text 11"/>
          <p:cNvSpPr txBox="1"/>
          <p:nvPr/>
        </p:nvSpPr>
        <p:spPr>
          <a:xfrm>
            <a:off x="1097280" y="2322576"/>
            <a:ext cx="3127248" cy="402336"/>
          </a:xfrm>
          <a:prstGeom prst="rect">
            <a:avLst/>
          </a:prstGeom>
          <a:noFill/>
          <a:ln/>
        </p:spPr>
        <p:txBody>
          <a:bodyPr wrap="square" lIns="0" tIns="0" rIns="0" bIns="0" rtlCol="0" anchor="t"/>
          <a:lstStyle/>
          <a:p>
            <a:pPr marL="0" indent="0">
              <a:lnSpc>
                <a:spcPct val="110000"/>
              </a:lnSpc>
              <a:buNone/>
            </a:pPr>
            <a:r>
              <a:rPr lang="en-US" sz="800">
                <a:solidFill>
                  <a:srgbClr val="1F2937"/>
                </a:solidFill>
                <a:latin typeface="Calibri" pitchFamily="34" charset="0"/>
                <a:ea typeface="Calibri" pitchFamily="34" charset="-122"/>
                <a:cs typeface="Calibri" pitchFamily="34" charset="-120"/>
              </a:rPr>
              <a:t>Le don est enregistré en charge. Le fonds émet le reçu fiscal dans le mois.</a:t>
            </a:r>
            <a:endParaRPr lang="en-US" sz="800"/>
          </a:p>
        </p:txBody>
      </p:sp>
      <p:sp>
        <p:nvSpPr>
          <p:cNvPr id="14" name="Shape 12"/>
          <p:cNvSpPr/>
          <p:nvPr/>
        </p:nvSpPr>
        <p:spPr>
          <a:xfrm>
            <a:off x="713232" y="2761488"/>
            <a:ext cx="274320" cy="274320"/>
          </a:xfrm>
          <a:prstGeom prst="ellipse">
            <a:avLst/>
          </a:prstGeom>
          <a:solidFill>
            <a:srgbClr val="16256B"/>
          </a:solidFill>
          <a:ln w="12700">
            <a:solidFill>
              <a:srgbClr val="16256B"/>
            </a:solidFill>
            <a:prstDash val="solid"/>
          </a:ln>
        </p:spPr>
        <p:txBody>
          <a:bodyPr/>
          <a:lstStyle/>
          <a:p>
            <a:endParaRPr lang="fr-FR"/>
          </a:p>
        </p:txBody>
      </p:sp>
      <p:sp>
        <p:nvSpPr>
          <p:cNvPr id="15" name="Text 13"/>
          <p:cNvSpPr txBox="1"/>
          <p:nvPr/>
        </p:nvSpPr>
        <p:spPr>
          <a:xfrm>
            <a:off x="713232" y="2761488"/>
            <a:ext cx="274320" cy="27432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2</a:t>
            </a:r>
            <a:endParaRPr lang="en-US" sz="900"/>
          </a:p>
        </p:txBody>
      </p:sp>
      <p:sp>
        <p:nvSpPr>
          <p:cNvPr id="16" name="Text 14"/>
          <p:cNvSpPr txBox="1"/>
          <p:nvPr/>
        </p:nvSpPr>
        <p:spPr>
          <a:xfrm>
            <a:off x="1097280" y="2743200"/>
            <a:ext cx="3108960" cy="219456"/>
          </a:xfrm>
          <a:prstGeom prst="rect">
            <a:avLst/>
          </a:prstGeom>
          <a:noFill/>
          <a:ln/>
        </p:spPr>
        <p:txBody>
          <a:bodyPr wrap="square" lIns="0" tIns="0" rIns="0" bIns="0" rtlCol="0" anchor="ctr"/>
          <a:lstStyle/>
          <a:p>
            <a:pPr marL="0" indent="0">
              <a:buNone/>
            </a:pPr>
            <a:r>
              <a:rPr lang="en-US" sz="1150" b="1">
                <a:solidFill>
                  <a:srgbClr val="16256B"/>
                </a:solidFill>
                <a:latin typeface="Cambria" pitchFamily="34" charset="0"/>
                <a:ea typeface="Cambria" pitchFamily="34" charset="-122"/>
                <a:cs typeface="Cambria" pitchFamily="34" charset="-120"/>
              </a:rPr>
              <a:t>À la clôture</a:t>
            </a:r>
            <a:endParaRPr lang="en-US" sz="1150"/>
          </a:p>
        </p:txBody>
      </p:sp>
      <p:sp>
        <p:nvSpPr>
          <p:cNvPr id="17" name="Text 15"/>
          <p:cNvSpPr txBox="1"/>
          <p:nvPr/>
        </p:nvSpPr>
        <p:spPr>
          <a:xfrm>
            <a:off x="1097280" y="2962656"/>
            <a:ext cx="3127248" cy="402336"/>
          </a:xfrm>
          <a:prstGeom prst="rect">
            <a:avLst/>
          </a:prstGeom>
          <a:noFill/>
          <a:ln/>
        </p:spPr>
        <p:txBody>
          <a:bodyPr wrap="square" lIns="0" tIns="0" rIns="0" bIns="0" rtlCol="0" anchor="t"/>
          <a:lstStyle/>
          <a:p>
            <a:pPr marL="0" indent="0">
              <a:lnSpc>
                <a:spcPct val="110000"/>
              </a:lnSpc>
              <a:buNone/>
            </a:pPr>
            <a:r>
              <a:rPr lang="en-US" sz="800">
                <a:solidFill>
                  <a:srgbClr val="1F2937"/>
                </a:solidFill>
                <a:latin typeface="Calibri" pitchFamily="34" charset="0"/>
                <a:ea typeface="Calibri" pitchFamily="34" charset="-122"/>
                <a:cs typeface="Calibri" pitchFamily="34" charset="-120"/>
              </a:rPr>
              <a:t>La charge est réintégrée au résultat fiscal : le don n’est pas déductible. En contrepartie, la réduction est acquise.</a:t>
            </a:r>
            <a:endParaRPr lang="en-US" sz="800"/>
          </a:p>
        </p:txBody>
      </p:sp>
      <p:sp>
        <p:nvSpPr>
          <p:cNvPr id="18" name="Shape 16"/>
          <p:cNvSpPr/>
          <p:nvPr/>
        </p:nvSpPr>
        <p:spPr>
          <a:xfrm>
            <a:off x="713232" y="3401568"/>
            <a:ext cx="274320" cy="274320"/>
          </a:xfrm>
          <a:prstGeom prst="ellipse">
            <a:avLst/>
          </a:prstGeom>
          <a:solidFill>
            <a:srgbClr val="16256B"/>
          </a:solidFill>
          <a:ln w="12700">
            <a:solidFill>
              <a:srgbClr val="16256B"/>
            </a:solidFill>
            <a:prstDash val="solid"/>
          </a:ln>
        </p:spPr>
        <p:txBody>
          <a:bodyPr/>
          <a:lstStyle/>
          <a:p>
            <a:endParaRPr lang="fr-FR"/>
          </a:p>
        </p:txBody>
      </p:sp>
      <p:sp>
        <p:nvSpPr>
          <p:cNvPr id="19" name="Text 17"/>
          <p:cNvSpPr txBox="1"/>
          <p:nvPr/>
        </p:nvSpPr>
        <p:spPr>
          <a:xfrm>
            <a:off x="713232" y="3401568"/>
            <a:ext cx="274320" cy="27432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3</a:t>
            </a:r>
            <a:endParaRPr lang="en-US" sz="900"/>
          </a:p>
        </p:txBody>
      </p:sp>
      <p:sp>
        <p:nvSpPr>
          <p:cNvPr id="20" name="Text 18"/>
          <p:cNvSpPr txBox="1"/>
          <p:nvPr/>
        </p:nvSpPr>
        <p:spPr>
          <a:xfrm>
            <a:off x="1097280" y="3383280"/>
            <a:ext cx="3108960" cy="219456"/>
          </a:xfrm>
          <a:prstGeom prst="rect">
            <a:avLst/>
          </a:prstGeom>
          <a:noFill/>
          <a:ln/>
        </p:spPr>
        <p:txBody>
          <a:bodyPr wrap="square" lIns="0" tIns="0" rIns="0" bIns="0" rtlCol="0" anchor="ctr"/>
          <a:lstStyle/>
          <a:p>
            <a:pPr marL="0" indent="0">
              <a:buNone/>
            </a:pPr>
            <a:r>
              <a:rPr lang="en-US" sz="1150" b="1">
                <a:solidFill>
                  <a:srgbClr val="16256B"/>
                </a:solidFill>
                <a:latin typeface="Cambria" pitchFamily="34" charset="0"/>
                <a:ea typeface="Cambria" pitchFamily="34" charset="-122"/>
                <a:cs typeface="Cambria" pitchFamily="34" charset="-120"/>
              </a:rPr>
              <a:t>Au paiement de l’IS</a:t>
            </a:r>
            <a:endParaRPr lang="en-US" sz="1150"/>
          </a:p>
        </p:txBody>
      </p:sp>
      <p:sp>
        <p:nvSpPr>
          <p:cNvPr id="21" name="Text 19"/>
          <p:cNvSpPr txBox="1"/>
          <p:nvPr/>
        </p:nvSpPr>
        <p:spPr>
          <a:xfrm>
            <a:off x="1097280" y="3602736"/>
            <a:ext cx="3127248" cy="402336"/>
          </a:xfrm>
          <a:prstGeom prst="rect">
            <a:avLst/>
          </a:prstGeom>
          <a:noFill/>
          <a:ln/>
        </p:spPr>
        <p:txBody>
          <a:bodyPr wrap="square" lIns="0" tIns="0" rIns="0" bIns="0" rtlCol="0" anchor="t"/>
          <a:lstStyle/>
          <a:p>
            <a:pPr marL="0" indent="0">
              <a:lnSpc>
                <a:spcPct val="110000"/>
              </a:lnSpc>
              <a:buNone/>
            </a:pPr>
            <a:r>
              <a:rPr lang="en-US" sz="800">
                <a:solidFill>
                  <a:srgbClr val="1F2937"/>
                </a:solidFill>
                <a:latin typeface="Calibri" pitchFamily="34" charset="0"/>
                <a:ea typeface="Calibri" pitchFamily="34" charset="-122"/>
                <a:cs typeface="Calibri" pitchFamily="34" charset="-120"/>
              </a:rPr>
              <a:t>Elle s’impute sur l’IS de l’exercice ; l’excédent est reportable sur cinq exercices.</a:t>
            </a:r>
            <a:endParaRPr lang="en-US" sz="800"/>
          </a:p>
        </p:txBody>
      </p:sp>
      <p:sp>
        <p:nvSpPr>
          <p:cNvPr id="22" name="Shape 20"/>
          <p:cNvSpPr/>
          <p:nvPr/>
        </p:nvSpPr>
        <p:spPr>
          <a:xfrm>
            <a:off x="713232" y="4005072"/>
            <a:ext cx="3511296" cy="0"/>
          </a:xfrm>
          <a:prstGeom prst="line">
            <a:avLst/>
          </a:prstGeom>
          <a:noFill/>
          <a:ln w="12700">
            <a:solidFill>
              <a:srgbClr val="E3E7F0"/>
            </a:solidFill>
            <a:prstDash val="solid"/>
          </a:ln>
        </p:spPr>
        <p:txBody>
          <a:bodyPr/>
          <a:lstStyle/>
          <a:p>
            <a:endParaRPr lang="fr-FR"/>
          </a:p>
        </p:txBody>
      </p:sp>
      <p:sp>
        <p:nvSpPr>
          <p:cNvPr id="23" name="Text 21"/>
          <p:cNvSpPr txBox="1"/>
          <p:nvPr/>
        </p:nvSpPr>
        <p:spPr>
          <a:xfrm>
            <a:off x="713232" y="4078224"/>
            <a:ext cx="1170432" cy="182880"/>
          </a:xfrm>
          <a:prstGeom prst="rect">
            <a:avLst/>
          </a:prstGeom>
          <a:noFill/>
          <a:ln/>
        </p:spPr>
        <p:txBody>
          <a:bodyPr wrap="square" lIns="0" tIns="0" rIns="0" bIns="0" rtlCol="0" anchor="ctr"/>
          <a:lstStyle/>
          <a:p>
            <a:pPr marL="0" indent="0">
              <a:buNone/>
            </a:pPr>
            <a:r>
              <a:rPr lang="en-US" sz="700">
                <a:solidFill>
                  <a:srgbClr val="6B7280"/>
                </a:solidFill>
                <a:latin typeface="Calibri" pitchFamily="34" charset="0"/>
                <a:ea typeface="Calibri" pitchFamily="34" charset="-122"/>
                <a:cs typeface="Calibri" pitchFamily="34" charset="-120"/>
              </a:rPr>
              <a:t>Don versé au fonds</a:t>
            </a:r>
            <a:endParaRPr lang="en-US" sz="700"/>
          </a:p>
        </p:txBody>
      </p:sp>
      <p:sp>
        <p:nvSpPr>
          <p:cNvPr id="24" name="Text 22"/>
          <p:cNvSpPr txBox="1"/>
          <p:nvPr/>
        </p:nvSpPr>
        <p:spPr>
          <a:xfrm>
            <a:off x="713232" y="4242816"/>
            <a:ext cx="1170432" cy="256032"/>
          </a:xfrm>
          <a:prstGeom prst="rect">
            <a:avLst/>
          </a:prstGeom>
          <a:noFill/>
          <a:ln/>
        </p:spPr>
        <p:txBody>
          <a:bodyPr wrap="square" lIns="0" tIns="0" rIns="0" bIns="0" rtlCol="0" anchor="ctr"/>
          <a:lstStyle/>
          <a:p>
            <a:pPr marL="0" indent="0">
              <a:buNone/>
            </a:pPr>
            <a:r>
              <a:rPr lang="en-US" sz="1150" b="1">
                <a:solidFill>
                  <a:srgbClr val="16256B"/>
                </a:solidFill>
                <a:latin typeface="Cambria" pitchFamily="34" charset="0"/>
                <a:ea typeface="Cambria" pitchFamily="34" charset="-122"/>
                <a:cs typeface="Cambria" pitchFamily="34" charset="-120"/>
              </a:rPr>
              <a:t>10 000 €</a:t>
            </a:r>
            <a:endParaRPr lang="en-US" sz="1150"/>
          </a:p>
        </p:txBody>
      </p:sp>
      <p:sp>
        <p:nvSpPr>
          <p:cNvPr id="25" name="Text 23"/>
          <p:cNvSpPr txBox="1"/>
          <p:nvPr/>
        </p:nvSpPr>
        <p:spPr>
          <a:xfrm>
            <a:off x="1883664" y="4078224"/>
            <a:ext cx="1170432" cy="182880"/>
          </a:xfrm>
          <a:prstGeom prst="rect">
            <a:avLst/>
          </a:prstGeom>
          <a:noFill/>
          <a:ln/>
        </p:spPr>
        <p:txBody>
          <a:bodyPr wrap="square" lIns="0" tIns="0" rIns="0" bIns="0" rtlCol="0" anchor="ctr"/>
          <a:lstStyle/>
          <a:p>
            <a:pPr marL="0" indent="0">
              <a:buNone/>
            </a:pPr>
            <a:r>
              <a:rPr lang="en-US" sz="700">
                <a:solidFill>
                  <a:srgbClr val="6B7280"/>
                </a:solidFill>
                <a:latin typeface="Calibri" pitchFamily="34" charset="0"/>
                <a:ea typeface="Calibri" pitchFamily="34" charset="-122"/>
                <a:cs typeface="Calibri" pitchFamily="34" charset="-120"/>
              </a:rPr>
              <a:t>Réduction d’impôt</a:t>
            </a:r>
            <a:endParaRPr lang="en-US" sz="700"/>
          </a:p>
        </p:txBody>
      </p:sp>
      <p:sp>
        <p:nvSpPr>
          <p:cNvPr id="26" name="Text 24"/>
          <p:cNvSpPr txBox="1"/>
          <p:nvPr/>
        </p:nvSpPr>
        <p:spPr>
          <a:xfrm>
            <a:off x="1883664" y="4242816"/>
            <a:ext cx="1170432" cy="256032"/>
          </a:xfrm>
          <a:prstGeom prst="rect">
            <a:avLst/>
          </a:prstGeom>
          <a:noFill/>
          <a:ln/>
        </p:spPr>
        <p:txBody>
          <a:bodyPr wrap="square" lIns="0" tIns="0" rIns="0" bIns="0" rtlCol="0" anchor="ctr"/>
          <a:lstStyle/>
          <a:p>
            <a:pPr marL="0" indent="0">
              <a:buNone/>
            </a:pPr>
            <a:r>
              <a:rPr lang="en-US" sz="1400" b="1">
                <a:solidFill>
                  <a:srgbClr val="16256B"/>
                </a:solidFill>
                <a:latin typeface="Cambria" pitchFamily="34" charset="0"/>
                <a:ea typeface="Cambria" pitchFamily="34" charset="-122"/>
                <a:cs typeface="Cambria" pitchFamily="34" charset="-120"/>
              </a:rPr>
              <a:t>6 000 €</a:t>
            </a:r>
            <a:endParaRPr lang="en-US" sz="1400"/>
          </a:p>
        </p:txBody>
      </p:sp>
      <p:sp>
        <p:nvSpPr>
          <p:cNvPr id="27" name="Text 25"/>
          <p:cNvSpPr txBox="1"/>
          <p:nvPr/>
        </p:nvSpPr>
        <p:spPr>
          <a:xfrm>
            <a:off x="3054096" y="4078224"/>
            <a:ext cx="1170432" cy="182880"/>
          </a:xfrm>
          <a:prstGeom prst="rect">
            <a:avLst/>
          </a:prstGeom>
          <a:noFill/>
          <a:ln/>
        </p:spPr>
        <p:txBody>
          <a:bodyPr wrap="square" lIns="0" tIns="0" rIns="0" bIns="0" rtlCol="0" anchor="ctr"/>
          <a:lstStyle/>
          <a:p>
            <a:pPr marL="0" indent="0">
              <a:buNone/>
            </a:pPr>
            <a:r>
              <a:rPr lang="en-US" sz="700">
                <a:solidFill>
                  <a:srgbClr val="6B7280"/>
                </a:solidFill>
                <a:latin typeface="Calibri" pitchFamily="34" charset="0"/>
                <a:ea typeface="Calibri" pitchFamily="34" charset="-122"/>
                <a:cs typeface="Calibri" pitchFamily="34" charset="-120"/>
              </a:rPr>
              <a:t>Effort réel</a:t>
            </a:r>
            <a:endParaRPr lang="en-US" sz="700"/>
          </a:p>
        </p:txBody>
      </p:sp>
      <p:sp>
        <p:nvSpPr>
          <p:cNvPr id="28" name="Text 26"/>
          <p:cNvSpPr txBox="1"/>
          <p:nvPr/>
        </p:nvSpPr>
        <p:spPr>
          <a:xfrm>
            <a:off x="3054096" y="4242816"/>
            <a:ext cx="1170432" cy="256032"/>
          </a:xfrm>
          <a:prstGeom prst="rect">
            <a:avLst/>
          </a:prstGeom>
          <a:noFill/>
          <a:ln/>
        </p:spPr>
        <p:txBody>
          <a:bodyPr wrap="square" lIns="0" tIns="0" rIns="0" bIns="0" rtlCol="0" anchor="ctr"/>
          <a:lstStyle/>
          <a:p>
            <a:pPr marL="0" indent="0">
              <a:buNone/>
            </a:pPr>
            <a:r>
              <a:rPr lang="en-US" sz="1150" b="1">
                <a:solidFill>
                  <a:srgbClr val="16256B"/>
                </a:solidFill>
                <a:latin typeface="Cambria" pitchFamily="34" charset="0"/>
                <a:ea typeface="Cambria" pitchFamily="34" charset="-122"/>
                <a:cs typeface="Cambria" pitchFamily="34" charset="-120"/>
              </a:rPr>
              <a:t>4 000 €</a:t>
            </a:r>
            <a:endParaRPr lang="en-US" sz="1150"/>
          </a:p>
        </p:txBody>
      </p:sp>
      <p:sp>
        <p:nvSpPr>
          <p:cNvPr id="29" name="Shape 27"/>
          <p:cNvSpPr/>
          <p:nvPr/>
        </p:nvSpPr>
        <p:spPr>
          <a:xfrm>
            <a:off x="4663440" y="1280160"/>
            <a:ext cx="4023360" cy="3364992"/>
          </a:xfrm>
          <a:prstGeom prst="roundRect">
            <a:avLst>
              <a:gd name="adj" fmla="val 1630"/>
            </a:avLst>
          </a:prstGeom>
          <a:solidFill>
            <a:srgbClr val="FFFFFF"/>
          </a:solidFill>
          <a:ln w="12700">
            <a:solidFill>
              <a:srgbClr val="FFFFFF"/>
            </a:solidFill>
            <a:prstDash val="solid"/>
          </a:ln>
        </p:spPr>
        <p:txBody>
          <a:bodyPr/>
          <a:lstStyle/>
          <a:p>
            <a:endParaRPr lang="fr-FR"/>
          </a:p>
        </p:txBody>
      </p:sp>
      <p:sp>
        <p:nvSpPr>
          <p:cNvPr id="30" name="Text 28"/>
          <p:cNvSpPr txBox="1"/>
          <p:nvPr/>
        </p:nvSpPr>
        <p:spPr>
          <a:xfrm>
            <a:off x="4919472" y="1408176"/>
            <a:ext cx="3511296" cy="201168"/>
          </a:xfrm>
          <a:prstGeom prst="rect">
            <a:avLst/>
          </a:prstGeom>
          <a:noFill/>
          <a:ln/>
        </p:spPr>
        <p:txBody>
          <a:bodyPr wrap="square" lIns="0" tIns="0" rIns="0" bIns="0" rtlCol="0" anchor="ctr"/>
          <a:lstStyle/>
          <a:p>
            <a:pPr marL="0" indent="0">
              <a:buNone/>
            </a:pPr>
            <a:r>
              <a:rPr lang="en-US" sz="850" b="1" kern="0" spc="150">
                <a:solidFill>
                  <a:srgbClr val="0E8A8A"/>
                </a:solidFill>
                <a:latin typeface="Calibri" pitchFamily="34" charset="0"/>
                <a:ea typeface="Calibri" pitchFamily="34" charset="-122"/>
                <a:cs typeface="Calibri" pitchFamily="34" charset="-120"/>
              </a:rPr>
              <a:t>PARTICULIER · ARTICLE 200 DU CGI</a:t>
            </a:r>
            <a:endParaRPr lang="en-US" sz="850"/>
          </a:p>
        </p:txBody>
      </p:sp>
      <p:sp>
        <p:nvSpPr>
          <p:cNvPr id="31" name="Text 29"/>
          <p:cNvSpPr txBox="1"/>
          <p:nvPr/>
        </p:nvSpPr>
        <p:spPr>
          <a:xfrm>
            <a:off x="4919472" y="1554480"/>
            <a:ext cx="1143000" cy="502920"/>
          </a:xfrm>
          <a:prstGeom prst="rect">
            <a:avLst/>
          </a:prstGeom>
          <a:noFill/>
          <a:ln/>
        </p:spPr>
        <p:txBody>
          <a:bodyPr wrap="square" lIns="0" tIns="0" rIns="0" bIns="0" rtlCol="0" anchor="ctr"/>
          <a:lstStyle/>
          <a:p>
            <a:pPr marL="0" indent="0">
              <a:buNone/>
            </a:pPr>
            <a:r>
              <a:rPr lang="en-US" sz="3100" b="1">
                <a:solidFill>
                  <a:srgbClr val="0E8A8A"/>
                </a:solidFill>
                <a:latin typeface="Cambria" pitchFamily="34" charset="0"/>
                <a:ea typeface="Cambria" pitchFamily="34" charset="-122"/>
                <a:cs typeface="Cambria" pitchFamily="34" charset="-120"/>
              </a:rPr>
              <a:t>66 %</a:t>
            </a:r>
            <a:endParaRPr lang="en-US" sz="3100"/>
          </a:p>
        </p:txBody>
      </p:sp>
      <p:sp>
        <p:nvSpPr>
          <p:cNvPr id="32" name="Text 30"/>
          <p:cNvSpPr txBox="1"/>
          <p:nvPr/>
        </p:nvSpPr>
        <p:spPr>
          <a:xfrm>
            <a:off x="5989320" y="1673352"/>
            <a:ext cx="2377440" cy="274320"/>
          </a:xfrm>
          <a:prstGeom prst="rect">
            <a:avLst/>
          </a:prstGeom>
          <a:noFill/>
          <a:ln/>
        </p:spPr>
        <p:txBody>
          <a:bodyPr wrap="square" lIns="0" tIns="0" rIns="0" bIns="0" rtlCol="0" anchor="ctr"/>
          <a:lstStyle/>
          <a:p>
            <a:pPr marL="0" indent="0">
              <a:buNone/>
            </a:pPr>
            <a:r>
              <a:rPr lang="en-US" sz="950">
                <a:solidFill>
                  <a:srgbClr val="6B7280"/>
                </a:solidFill>
                <a:latin typeface="Calibri" pitchFamily="34" charset="0"/>
                <a:ea typeface="Calibri" pitchFamily="34" charset="-122"/>
                <a:cs typeface="Calibri" pitchFamily="34" charset="-120"/>
              </a:rPr>
              <a:t>du montant versé</a:t>
            </a:r>
            <a:endParaRPr lang="en-US" sz="950"/>
          </a:p>
        </p:txBody>
      </p:sp>
      <p:sp>
        <p:nvSpPr>
          <p:cNvPr id="33" name="Shape 31"/>
          <p:cNvSpPr/>
          <p:nvPr/>
        </p:nvSpPr>
        <p:spPr>
          <a:xfrm>
            <a:off x="4919472" y="2121408"/>
            <a:ext cx="274320" cy="274320"/>
          </a:xfrm>
          <a:prstGeom prst="ellipse">
            <a:avLst/>
          </a:prstGeom>
          <a:solidFill>
            <a:srgbClr val="0E8A8A"/>
          </a:solidFill>
          <a:ln w="12700">
            <a:solidFill>
              <a:srgbClr val="0E8A8A"/>
            </a:solidFill>
            <a:prstDash val="solid"/>
          </a:ln>
        </p:spPr>
        <p:txBody>
          <a:bodyPr/>
          <a:lstStyle/>
          <a:p>
            <a:endParaRPr lang="fr-FR"/>
          </a:p>
        </p:txBody>
      </p:sp>
      <p:sp>
        <p:nvSpPr>
          <p:cNvPr id="34" name="Text 32"/>
          <p:cNvSpPr txBox="1"/>
          <p:nvPr/>
        </p:nvSpPr>
        <p:spPr>
          <a:xfrm>
            <a:off x="4919472" y="2121408"/>
            <a:ext cx="274320" cy="27432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1</a:t>
            </a:r>
            <a:endParaRPr lang="en-US" sz="900"/>
          </a:p>
        </p:txBody>
      </p:sp>
      <p:sp>
        <p:nvSpPr>
          <p:cNvPr id="35" name="Text 33"/>
          <p:cNvSpPr txBox="1"/>
          <p:nvPr/>
        </p:nvSpPr>
        <p:spPr>
          <a:xfrm>
            <a:off x="5303520" y="2103120"/>
            <a:ext cx="3108960" cy="219456"/>
          </a:xfrm>
          <a:prstGeom prst="rect">
            <a:avLst/>
          </a:prstGeom>
          <a:noFill/>
          <a:ln/>
        </p:spPr>
        <p:txBody>
          <a:bodyPr wrap="square" lIns="0" tIns="0" rIns="0" bIns="0" rtlCol="0" anchor="ctr"/>
          <a:lstStyle/>
          <a:p>
            <a:pPr marL="0" indent="0">
              <a:buNone/>
            </a:pPr>
            <a:r>
              <a:rPr lang="en-US" sz="1150" b="1">
                <a:solidFill>
                  <a:srgbClr val="16256B"/>
                </a:solidFill>
                <a:latin typeface="Cambria" pitchFamily="34" charset="0"/>
                <a:ea typeface="Cambria" pitchFamily="34" charset="-122"/>
                <a:cs typeface="Cambria" pitchFamily="34" charset="-120"/>
              </a:rPr>
              <a:t>Au versement</a:t>
            </a:r>
            <a:endParaRPr lang="en-US" sz="1150"/>
          </a:p>
        </p:txBody>
      </p:sp>
      <p:sp>
        <p:nvSpPr>
          <p:cNvPr id="36" name="Text 34"/>
          <p:cNvSpPr txBox="1"/>
          <p:nvPr/>
        </p:nvSpPr>
        <p:spPr>
          <a:xfrm>
            <a:off x="5303520" y="2322576"/>
            <a:ext cx="3127248" cy="402336"/>
          </a:xfrm>
          <a:prstGeom prst="rect">
            <a:avLst/>
          </a:prstGeom>
          <a:noFill/>
          <a:ln/>
        </p:spPr>
        <p:txBody>
          <a:bodyPr wrap="square" lIns="0" tIns="0" rIns="0" bIns="0" rtlCol="0" anchor="t"/>
          <a:lstStyle/>
          <a:p>
            <a:pPr marL="0" indent="0">
              <a:lnSpc>
                <a:spcPct val="110000"/>
              </a:lnSpc>
              <a:buNone/>
            </a:pPr>
            <a:r>
              <a:rPr lang="en-US" sz="800">
                <a:solidFill>
                  <a:srgbClr val="1F2937"/>
                </a:solidFill>
                <a:latin typeface="Calibri" pitchFamily="34" charset="0"/>
                <a:ea typeface="Calibri" pitchFamily="34" charset="-122"/>
                <a:cs typeface="Calibri" pitchFamily="34" charset="-120"/>
              </a:rPr>
              <a:t>Le don est versé au fonds, qui adresse le reçu fiscal. Aucune autre formalité.</a:t>
            </a:r>
            <a:endParaRPr lang="en-US" sz="800"/>
          </a:p>
        </p:txBody>
      </p:sp>
      <p:sp>
        <p:nvSpPr>
          <p:cNvPr id="37" name="Shape 35"/>
          <p:cNvSpPr/>
          <p:nvPr/>
        </p:nvSpPr>
        <p:spPr>
          <a:xfrm>
            <a:off x="4919472" y="2761488"/>
            <a:ext cx="274320" cy="274320"/>
          </a:xfrm>
          <a:prstGeom prst="ellipse">
            <a:avLst/>
          </a:prstGeom>
          <a:solidFill>
            <a:srgbClr val="0E8A8A"/>
          </a:solidFill>
          <a:ln w="12700">
            <a:solidFill>
              <a:srgbClr val="0E8A8A"/>
            </a:solidFill>
            <a:prstDash val="solid"/>
          </a:ln>
        </p:spPr>
        <p:txBody>
          <a:bodyPr/>
          <a:lstStyle/>
          <a:p>
            <a:endParaRPr lang="fr-FR"/>
          </a:p>
        </p:txBody>
      </p:sp>
      <p:sp>
        <p:nvSpPr>
          <p:cNvPr id="38" name="Text 36"/>
          <p:cNvSpPr txBox="1"/>
          <p:nvPr/>
        </p:nvSpPr>
        <p:spPr>
          <a:xfrm>
            <a:off x="4919472" y="2761488"/>
            <a:ext cx="274320" cy="27432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2</a:t>
            </a:r>
            <a:endParaRPr lang="en-US" sz="900"/>
          </a:p>
        </p:txBody>
      </p:sp>
      <p:sp>
        <p:nvSpPr>
          <p:cNvPr id="39" name="Text 37"/>
          <p:cNvSpPr txBox="1"/>
          <p:nvPr/>
        </p:nvSpPr>
        <p:spPr>
          <a:xfrm>
            <a:off x="5303520" y="2743200"/>
            <a:ext cx="3108960" cy="219456"/>
          </a:xfrm>
          <a:prstGeom prst="rect">
            <a:avLst/>
          </a:prstGeom>
          <a:noFill/>
          <a:ln/>
        </p:spPr>
        <p:txBody>
          <a:bodyPr wrap="square" lIns="0" tIns="0" rIns="0" bIns="0" rtlCol="0" anchor="ctr"/>
          <a:lstStyle/>
          <a:p>
            <a:pPr marL="0" indent="0">
              <a:buNone/>
            </a:pPr>
            <a:r>
              <a:rPr lang="en-US" sz="1150" b="1">
                <a:solidFill>
                  <a:srgbClr val="16256B"/>
                </a:solidFill>
                <a:latin typeface="Cambria" pitchFamily="34" charset="0"/>
                <a:ea typeface="Cambria" pitchFamily="34" charset="-122"/>
                <a:cs typeface="Cambria" pitchFamily="34" charset="-120"/>
              </a:rPr>
              <a:t>À la déclaration</a:t>
            </a:r>
            <a:endParaRPr lang="en-US" sz="1150"/>
          </a:p>
        </p:txBody>
      </p:sp>
      <p:sp>
        <p:nvSpPr>
          <p:cNvPr id="40" name="Text 38"/>
          <p:cNvSpPr txBox="1"/>
          <p:nvPr/>
        </p:nvSpPr>
        <p:spPr>
          <a:xfrm>
            <a:off x="5303520" y="2962656"/>
            <a:ext cx="3127248" cy="402336"/>
          </a:xfrm>
          <a:prstGeom prst="rect">
            <a:avLst/>
          </a:prstGeom>
          <a:noFill/>
          <a:ln/>
        </p:spPr>
        <p:txBody>
          <a:bodyPr wrap="square" lIns="0" tIns="0" rIns="0" bIns="0" rtlCol="0" anchor="t"/>
          <a:lstStyle/>
          <a:p>
            <a:pPr marL="0" indent="0">
              <a:lnSpc>
                <a:spcPct val="110000"/>
              </a:lnSpc>
              <a:buNone/>
            </a:pPr>
            <a:r>
              <a:rPr lang="en-US" sz="800">
                <a:solidFill>
                  <a:srgbClr val="1F2937"/>
                </a:solidFill>
                <a:latin typeface="Calibri" pitchFamily="34" charset="0"/>
                <a:ea typeface="Calibri" pitchFamily="34" charset="-122"/>
                <a:cs typeface="Calibri" pitchFamily="34" charset="-120"/>
              </a:rPr>
              <a:t>Le montant est porté case 7UF de la déclaration de revenus ; la réduction est calculée sur ce montant.</a:t>
            </a:r>
            <a:endParaRPr lang="en-US" sz="800"/>
          </a:p>
        </p:txBody>
      </p:sp>
      <p:sp>
        <p:nvSpPr>
          <p:cNvPr id="41" name="Shape 39"/>
          <p:cNvSpPr/>
          <p:nvPr/>
        </p:nvSpPr>
        <p:spPr>
          <a:xfrm>
            <a:off x="4919472" y="3401568"/>
            <a:ext cx="274320" cy="274320"/>
          </a:xfrm>
          <a:prstGeom prst="ellipse">
            <a:avLst/>
          </a:prstGeom>
          <a:solidFill>
            <a:srgbClr val="0E8A8A"/>
          </a:solidFill>
          <a:ln w="12700">
            <a:solidFill>
              <a:srgbClr val="0E8A8A"/>
            </a:solidFill>
            <a:prstDash val="solid"/>
          </a:ln>
        </p:spPr>
        <p:txBody>
          <a:bodyPr/>
          <a:lstStyle/>
          <a:p>
            <a:endParaRPr lang="fr-FR"/>
          </a:p>
        </p:txBody>
      </p:sp>
      <p:sp>
        <p:nvSpPr>
          <p:cNvPr id="42" name="Text 40"/>
          <p:cNvSpPr txBox="1"/>
          <p:nvPr/>
        </p:nvSpPr>
        <p:spPr>
          <a:xfrm>
            <a:off x="4919472" y="3401568"/>
            <a:ext cx="274320" cy="27432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3</a:t>
            </a:r>
            <a:endParaRPr lang="en-US" sz="900"/>
          </a:p>
        </p:txBody>
      </p:sp>
      <p:sp>
        <p:nvSpPr>
          <p:cNvPr id="43" name="Text 41"/>
          <p:cNvSpPr txBox="1"/>
          <p:nvPr/>
        </p:nvSpPr>
        <p:spPr>
          <a:xfrm>
            <a:off x="5303520" y="3383280"/>
            <a:ext cx="3108960" cy="219456"/>
          </a:xfrm>
          <a:prstGeom prst="rect">
            <a:avLst/>
          </a:prstGeom>
          <a:noFill/>
          <a:ln/>
        </p:spPr>
        <p:txBody>
          <a:bodyPr wrap="square" lIns="0" tIns="0" rIns="0" bIns="0" rtlCol="0" anchor="ctr"/>
          <a:lstStyle/>
          <a:p>
            <a:pPr marL="0" indent="0">
              <a:buNone/>
            </a:pPr>
            <a:r>
              <a:rPr lang="en-US" sz="1150" b="1">
                <a:solidFill>
                  <a:srgbClr val="16256B"/>
                </a:solidFill>
                <a:latin typeface="Cambria" pitchFamily="34" charset="0"/>
                <a:ea typeface="Cambria" pitchFamily="34" charset="-122"/>
                <a:cs typeface="Cambria" pitchFamily="34" charset="-120"/>
              </a:rPr>
              <a:t>Au règlement de l’impôt</a:t>
            </a:r>
            <a:endParaRPr lang="en-US" sz="1150"/>
          </a:p>
        </p:txBody>
      </p:sp>
      <p:sp>
        <p:nvSpPr>
          <p:cNvPr id="44" name="Text 42"/>
          <p:cNvSpPr txBox="1"/>
          <p:nvPr/>
        </p:nvSpPr>
        <p:spPr>
          <a:xfrm>
            <a:off x="5303520" y="3602736"/>
            <a:ext cx="3127248" cy="402336"/>
          </a:xfrm>
          <a:prstGeom prst="rect">
            <a:avLst/>
          </a:prstGeom>
          <a:noFill/>
          <a:ln/>
        </p:spPr>
        <p:txBody>
          <a:bodyPr wrap="square" lIns="0" tIns="0" rIns="0" bIns="0" rtlCol="0" anchor="t"/>
          <a:lstStyle/>
          <a:p>
            <a:pPr marL="0" indent="0">
              <a:lnSpc>
                <a:spcPct val="110000"/>
              </a:lnSpc>
              <a:buNone/>
            </a:pPr>
            <a:r>
              <a:rPr lang="en-US" sz="800">
                <a:solidFill>
                  <a:srgbClr val="1F2937"/>
                </a:solidFill>
                <a:latin typeface="Calibri" pitchFamily="34" charset="0"/>
                <a:ea typeface="Calibri" pitchFamily="34" charset="-122"/>
                <a:cs typeface="Calibri" pitchFamily="34" charset="-120"/>
              </a:rPr>
              <a:t>Elle vient en diminution de l’impôt dû, sans pouvoir l’excéder.</a:t>
            </a:r>
            <a:endParaRPr lang="en-US" sz="800"/>
          </a:p>
        </p:txBody>
      </p:sp>
      <p:sp>
        <p:nvSpPr>
          <p:cNvPr id="45" name="Shape 43"/>
          <p:cNvSpPr/>
          <p:nvPr/>
        </p:nvSpPr>
        <p:spPr>
          <a:xfrm>
            <a:off x="4919472" y="4005072"/>
            <a:ext cx="3511296" cy="0"/>
          </a:xfrm>
          <a:prstGeom prst="line">
            <a:avLst/>
          </a:prstGeom>
          <a:noFill/>
          <a:ln w="12700">
            <a:solidFill>
              <a:srgbClr val="E3E7F0"/>
            </a:solidFill>
            <a:prstDash val="solid"/>
          </a:ln>
        </p:spPr>
        <p:txBody>
          <a:bodyPr/>
          <a:lstStyle/>
          <a:p>
            <a:endParaRPr lang="fr-FR"/>
          </a:p>
        </p:txBody>
      </p:sp>
      <p:sp>
        <p:nvSpPr>
          <p:cNvPr id="46" name="Text 44"/>
          <p:cNvSpPr txBox="1"/>
          <p:nvPr/>
        </p:nvSpPr>
        <p:spPr>
          <a:xfrm>
            <a:off x="4919472" y="4078224"/>
            <a:ext cx="1170432" cy="182880"/>
          </a:xfrm>
          <a:prstGeom prst="rect">
            <a:avLst/>
          </a:prstGeom>
          <a:noFill/>
          <a:ln/>
        </p:spPr>
        <p:txBody>
          <a:bodyPr wrap="square" lIns="0" tIns="0" rIns="0" bIns="0" rtlCol="0" anchor="ctr"/>
          <a:lstStyle/>
          <a:p>
            <a:pPr marL="0" indent="0">
              <a:buNone/>
            </a:pPr>
            <a:r>
              <a:rPr lang="en-US" sz="700">
                <a:solidFill>
                  <a:srgbClr val="6B7280"/>
                </a:solidFill>
                <a:latin typeface="Calibri" pitchFamily="34" charset="0"/>
                <a:ea typeface="Calibri" pitchFamily="34" charset="-122"/>
                <a:cs typeface="Calibri" pitchFamily="34" charset="-120"/>
              </a:rPr>
              <a:t>Don versé au fonds</a:t>
            </a:r>
            <a:endParaRPr lang="en-US" sz="700"/>
          </a:p>
        </p:txBody>
      </p:sp>
      <p:sp>
        <p:nvSpPr>
          <p:cNvPr id="47" name="Text 45"/>
          <p:cNvSpPr txBox="1"/>
          <p:nvPr/>
        </p:nvSpPr>
        <p:spPr>
          <a:xfrm>
            <a:off x="4919472" y="4242816"/>
            <a:ext cx="1170432" cy="256032"/>
          </a:xfrm>
          <a:prstGeom prst="rect">
            <a:avLst/>
          </a:prstGeom>
          <a:noFill/>
          <a:ln/>
        </p:spPr>
        <p:txBody>
          <a:bodyPr wrap="square" lIns="0" tIns="0" rIns="0" bIns="0" rtlCol="0" anchor="ctr"/>
          <a:lstStyle/>
          <a:p>
            <a:pPr marL="0" indent="0">
              <a:buNone/>
            </a:pPr>
            <a:r>
              <a:rPr lang="en-US" sz="1150" b="1">
                <a:solidFill>
                  <a:srgbClr val="16256B"/>
                </a:solidFill>
                <a:latin typeface="Cambria" pitchFamily="34" charset="0"/>
                <a:ea typeface="Cambria" pitchFamily="34" charset="-122"/>
                <a:cs typeface="Cambria" pitchFamily="34" charset="-120"/>
              </a:rPr>
              <a:t>1 000 €</a:t>
            </a:r>
            <a:endParaRPr lang="en-US" sz="1150"/>
          </a:p>
        </p:txBody>
      </p:sp>
      <p:sp>
        <p:nvSpPr>
          <p:cNvPr id="48" name="Text 46"/>
          <p:cNvSpPr txBox="1"/>
          <p:nvPr/>
        </p:nvSpPr>
        <p:spPr>
          <a:xfrm>
            <a:off x="6089904" y="4078224"/>
            <a:ext cx="1170432" cy="182880"/>
          </a:xfrm>
          <a:prstGeom prst="rect">
            <a:avLst/>
          </a:prstGeom>
          <a:noFill/>
          <a:ln/>
        </p:spPr>
        <p:txBody>
          <a:bodyPr wrap="square" lIns="0" tIns="0" rIns="0" bIns="0" rtlCol="0" anchor="ctr"/>
          <a:lstStyle/>
          <a:p>
            <a:pPr marL="0" indent="0">
              <a:buNone/>
            </a:pPr>
            <a:r>
              <a:rPr lang="en-US" sz="700">
                <a:solidFill>
                  <a:srgbClr val="6B7280"/>
                </a:solidFill>
                <a:latin typeface="Calibri" pitchFamily="34" charset="0"/>
                <a:ea typeface="Calibri" pitchFamily="34" charset="-122"/>
                <a:cs typeface="Calibri" pitchFamily="34" charset="-120"/>
              </a:rPr>
              <a:t>Réduction d’impôt</a:t>
            </a:r>
            <a:endParaRPr lang="en-US" sz="700"/>
          </a:p>
        </p:txBody>
      </p:sp>
      <p:sp>
        <p:nvSpPr>
          <p:cNvPr id="49" name="Text 47"/>
          <p:cNvSpPr txBox="1"/>
          <p:nvPr/>
        </p:nvSpPr>
        <p:spPr>
          <a:xfrm>
            <a:off x="6089904" y="4242816"/>
            <a:ext cx="1170432" cy="256032"/>
          </a:xfrm>
          <a:prstGeom prst="rect">
            <a:avLst/>
          </a:prstGeom>
          <a:noFill/>
          <a:ln/>
        </p:spPr>
        <p:txBody>
          <a:bodyPr wrap="square" lIns="0" tIns="0" rIns="0" bIns="0" rtlCol="0" anchor="ctr"/>
          <a:lstStyle/>
          <a:p>
            <a:pPr marL="0" indent="0">
              <a:buNone/>
            </a:pPr>
            <a:r>
              <a:rPr lang="en-US" sz="1400" b="1">
                <a:solidFill>
                  <a:srgbClr val="0E8A8A"/>
                </a:solidFill>
                <a:latin typeface="Cambria" pitchFamily="34" charset="0"/>
                <a:ea typeface="Cambria" pitchFamily="34" charset="-122"/>
                <a:cs typeface="Cambria" pitchFamily="34" charset="-120"/>
              </a:rPr>
              <a:t>660 €</a:t>
            </a:r>
            <a:endParaRPr lang="en-US" sz="1400"/>
          </a:p>
        </p:txBody>
      </p:sp>
      <p:sp>
        <p:nvSpPr>
          <p:cNvPr id="50" name="Text 48"/>
          <p:cNvSpPr txBox="1"/>
          <p:nvPr/>
        </p:nvSpPr>
        <p:spPr>
          <a:xfrm>
            <a:off x="7260336" y="4078224"/>
            <a:ext cx="1170432" cy="182880"/>
          </a:xfrm>
          <a:prstGeom prst="rect">
            <a:avLst/>
          </a:prstGeom>
          <a:noFill/>
          <a:ln/>
        </p:spPr>
        <p:txBody>
          <a:bodyPr wrap="square" lIns="0" tIns="0" rIns="0" bIns="0" rtlCol="0" anchor="ctr"/>
          <a:lstStyle/>
          <a:p>
            <a:pPr marL="0" indent="0">
              <a:buNone/>
            </a:pPr>
            <a:r>
              <a:rPr lang="en-US" sz="700">
                <a:solidFill>
                  <a:srgbClr val="6B7280"/>
                </a:solidFill>
                <a:latin typeface="Calibri" pitchFamily="34" charset="0"/>
                <a:ea typeface="Calibri" pitchFamily="34" charset="-122"/>
                <a:cs typeface="Calibri" pitchFamily="34" charset="-120"/>
              </a:rPr>
              <a:t>Effort réel</a:t>
            </a:r>
            <a:endParaRPr lang="en-US" sz="700"/>
          </a:p>
        </p:txBody>
      </p:sp>
      <p:sp>
        <p:nvSpPr>
          <p:cNvPr id="51" name="Text 49"/>
          <p:cNvSpPr txBox="1"/>
          <p:nvPr/>
        </p:nvSpPr>
        <p:spPr>
          <a:xfrm>
            <a:off x="7260336" y="4242816"/>
            <a:ext cx="1170432" cy="256032"/>
          </a:xfrm>
          <a:prstGeom prst="rect">
            <a:avLst/>
          </a:prstGeom>
          <a:noFill/>
          <a:ln/>
        </p:spPr>
        <p:txBody>
          <a:bodyPr wrap="square" lIns="0" tIns="0" rIns="0" bIns="0" rtlCol="0" anchor="ctr"/>
          <a:lstStyle/>
          <a:p>
            <a:pPr marL="0" indent="0">
              <a:buNone/>
            </a:pPr>
            <a:r>
              <a:rPr lang="en-US" sz="1150" b="1">
                <a:solidFill>
                  <a:srgbClr val="16256B"/>
                </a:solidFill>
                <a:latin typeface="Cambria" pitchFamily="34" charset="0"/>
                <a:ea typeface="Cambria" pitchFamily="34" charset="-122"/>
                <a:cs typeface="Cambria" pitchFamily="34" charset="-120"/>
              </a:rPr>
              <a:t>340 €</a:t>
            </a:r>
            <a:endParaRPr lang="en-US" sz="1150"/>
          </a:p>
        </p:txBody>
      </p:sp>
      <p:sp>
        <p:nvSpPr>
          <p:cNvPr id="52" name="Text 50"/>
          <p:cNvSpPr txBox="1"/>
          <p:nvPr/>
        </p:nvSpPr>
        <p:spPr>
          <a:xfrm>
            <a:off x="457200" y="4709160"/>
            <a:ext cx="7863840" cy="292608"/>
          </a:xfrm>
          <a:prstGeom prst="rect">
            <a:avLst/>
          </a:prstGeom>
          <a:noFill/>
          <a:ln/>
        </p:spPr>
        <p:txBody>
          <a:bodyPr wrap="square" lIns="0" tIns="0" rIns="0" bIns="0" rtlCol="0" anchor="ctr"/>
          <a:lstStyle/>
          <a:p>
            <a:pPr marL="0" indent="0">
              <a:buNone/>
            </a:pPr>
            <a:r>
              <a:rPr lang="en-US" sz="700">
                <a:solidFill>
                  <a:srgbClr val="CADCFC"/>
                </a:solidFill>
                <a:latin typeface="Calibri" pitchFamily="34" charset="0"/>
                <a:ea typeface="Calibri" pitchFamily="34" charset="-122"/>
                <a:cs typeface="Calibri" pitchFamily="34" charset="-120"/>
              </a:rPr>
              <a:t>Plafonds — entreprise : 20 000 € ou 5 ‰ du chiffre d’affaires HT, le plus élevé ; taux ramené à 40 % au-delà de 2 M€ par exercice. Particulier : 20 % du revenu imposable ; excédent reportable cinq ans. Contreparties admises dans la limite de 25 % du don.</a:t>
            </a:r>
            <a:endParaRPr lang="en-US" sz="700"/>
          </a:p>
        </p:txBody>
      </p:sp>
      <p:sp>
        <p:nvSpPr>
          <p:cNvPr id="53" name="Text 51"/>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CADCFC"/>
                </a:solidFill>
                <a:latin typeface="Calibri" pitchFamily="34" charset="0"/>
                <a:ea typeface="Calibri" pitchFamily="34" charset="-122"/>
                <a:cs typeface="Calibri" pitchFamily="34" charset="-120"/>
              </a:rPr>
              <a:t>13</a:t>
            </a:r>
            <a:endParaRPr lang="en-US" sz="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home/claude/v8/img/band14.jpg"/>
          <p:cNvPicPr>
            <a:picLocks noChangeAspect="1"/>
          </p:cNvPicPr>
          <p:nvPr/>
        </p:nvPicPr>
        <p:blipFill>
          <a:blip r:embed="rId3"/>
          <a:stretch>
            <a:fillRect/>
          </a:stretch>
        </p:blipFill>
        <p:spPr>
          <a:xfrm>
            <a:off x="0" y="0"/>
            <a:ext cx="9144000" cy="1188720"/>
          </a:xfrm>
          <a:prstGeom prst="rect">
            <a:avLst/>
          </a:prstGeom>
        </p:spPr>
      </p:pic>
      <p:sp>
        <p:nvSpPr>
          <p:cNvPr id="3" name="Shape 0"/>
          <p:cNvSpPr/>
          <p:nvPr/>
        </p:nvSpPr>
        <p:spPr>
          <a:xfrm>
            <a:off x="0" y="0"/>
            <a:ext cx="9144000" cy="1188720"/>
          </a:xfrm>
          <a:prstGeom prst="rect">
            <a:avLst/>
          </a:prstGeom>
          <a:solidFill>
            <a:srgbClr val="16256B">
              <a:alpha val="65000"/>
            </a:srgbClr>
          </a:solidFill>
          <a:ln w="12700">
            <a:solidFill>
              <a:srgbClr val="16256B">
                <a:alpha val="0"/>
              </a:srgbClr>
            </a:solidFill>
            <a:prstDash val="solid"/>
          </a:ln>
        </p:spPr>
        <p:txBody>
          <a:bodyPr/>
          <a:lstStyle/>
          <a:p>
            <a:endParaRPr/>
          </a:p>
        </p:txBody>
      </p:sp>
      <p:sp>
        <p:nvSpPr>
          <p:cNvPr id="4" name="Text 1"/>
          <p:cNvSpPr txBox="1"/>
          <p:nvPr/>
        </p:nvSpPr>
        <p:spPr>
          <a:xfrm>
            <a:off x="457200" y="201168"/>
            <a:ext cx="8229600" cy="228600"/>
          </a:xfrm>
          <a:prstGeom prst="rect">
            <a:avLst/>
          </a:prstGeom>
          <a:noFill/>
          <a:ln/>
        </p:spPr>
        <p:txBody>
          <a:bodyPr wrap="square" lIns="0" tIns="0" rIns="0" bIns="0" rtlCol="0" anchor="ctr"/>
          <a:lstStyle/>
          <a:p>
            <a:pPr marL="0" indent="0">
              <a:buNone/>
            </a:pPr>
            <a:r>
              <a:rPr lang="en-US" sz="900" b="1" kern="0" spc="200">
                <a:solidFill>
                  <a:srgbClr val="7FD3D0"/>
                </a:solidFill>
                <a:latin typeface="Calibri" pitchFamily="34" charset="0"/>
                <a:ea typeface="Calibri" pitchFamily="34" charset="-122"/>
                <a:cs typeface="Calibri" pitchFamily="34" charset="-120"/>
              </a:rPr>
              <a:t>DONNER EN TANT QU’ENTREPRISE — ARTICLE 238 BIS DU CGI</a:t>
            </a:r>
            <a:endParaRPr lang="en-US" sz="900"/>
          </a:p>
        </p:txBody>
      </p:sp>
      <p:sp>
        <p:nvSpPr>
          <p:cNvPr id="5" name="Text 2"/>
          <p:cNvSpPr txBox="1"/>
          <p:nvPr/>
        </p:nvSpPr>
        <p:spPr>
          <a:xfrm>
            <a:off x="457200" y="411480"/>
            <a:ext cx="5486400" cy="457200"/>
          </a:xfrm>
          <a:prstGeom prst="rect">
            <a:avLst/>
          </a:prstGeom>
          <a:noFill/>
          <a:ln/>
        </p:spPr>
        <p:txBody>
          <a:bodyPr wrap="square" lIns="0" tIns="0" rIns="0" bIns="0" rtlCol="0" anchor="ctr"/>
          <a:lstStyle/>
          <a:p>
            <a:pPr marL="0" indent="0">
              <a:buNone/>
            </a:pPr>
            <a:r>
              <a:rPr lang="en-US" sz="2200" b="1">
                <a:solidFill>
                  <a:srgbClr val="FFFFFF"/>
                </a:solidFill>
                <a:latin typeface="Cambria" pitchFamily="34" charset="0"/>
                <a:ea typeface="Cambria" pitchFamily="34" charset="-122"/>
                <a:cs typeface="Cambria" pitchFamily="34" charset="-120"/>
              </a:rPr>
              <a:t>Le mécénat d’entreprise, cinq modalités</a:t>
            </a:r>
            <a:endParaRPr lang="en-US" sz="220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2318512"/>
        </p:xfrm>
        <a:graphic>
          <a:graphicData uri="http://schemas.openxmlformats.org/drawingml/2006/table">
            <a:tbl>
              <a:tblPr/>
              <a:tblGrid>
                <a:gridCol w="105156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256032">
                <a:tc>
                  <a:txBody>
                    <a:bodyPr/>
                    <a:lstStyle/>
                    <a:p>
                      <a:pPr marL="0" indent="0" algn="l">
                        <a:buNone/>
                      </a:pPr>
                      <a:r>
                        <a:rPr lang="en-US" sz="850" b="1">
                          <a:solidFill>
                            <a:srgbClr val="FFFFFF"/>
                          </a:solidFill>
                          <a:latin typeface="Calibri" pitchFamily="34" charset="0"/>
                          <a:ea typeface="Calibri" pitchFamily="34" charset="-122"/>
                          <a:cs typeface="Calibri" pitchFamily="34" charset="-120"/>
                        </a:rPr>
                        <a:t>Modalité</a:t>
                      </a:r>
                      <a:endParaRPr lang="en-US" sz="85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6256B"/>
                    </a:solidFill>
                  </a:tcPr>
                </a:tc>
                <a:tc>
                  <a:txBody>
                    <a:bodyPr/>
                    <a:lstStyle/>
                    <a:p>
                      <a:pPr marL="0" indent="0" algn="l">
                        <a:buNone/>
                      </a:pPr>
                      <a:r>
                        <a:rPr lang="en-US" sz="850" b="1">
                          <a:solidFill>
                            <a:srgbClr val="FFFFFF"/>
                          </a:solidFill>
                          <a:latin typeface="Calibri" pitchFamily="34" charset="0"/>
                          <a:ea typeface="Calibri" pitchFamily="34" charset="-122"/>
                          <a:cs typeface="Calibri" pitchFamily="34" charset="-120"/>
                        </a:rPr>
                        <a:t>Objet</a:t>
                      </a:r>
                      <a:endParaRPr lang="en-US" sz="85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6256B"/>
                    </a:solidFill>
                  </a:tcPr>
                </a:tc>
                <a:tc>
                  <a:txBody>
                    <a:bodyPr/>
                    <a:lstStyle/>
                    <a:p>
                      <a:pPr marL="0" indent="0" algn="l">
                        <a:buNone/>
                      </a:pPr>
                      <a:r>
                        <a:rPr lang="en-US" sz="850" b="1">
                          <a:solidFill>
                            <a:srgbClr val="FFFFFF"/>
                          </a:solidFill>
                          <a:latin typeface="Calibri" pitchFamily="34" charset="0"/>
                          <a:ea typeface="Calibri" pitchFamily="34" charset="-122"/>
                          <a:cs typeface="Calibri" pitchFamily="34" charset="-120"/>
                        </a:rPr>
                        <a:t>Valorisation du don</a:t>
                      </a:r>
                      <a:endParaRPr lang="en-US" sz="85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6256B"/>
                    </a:solidFill>
                  </a:tcPr>
                </a:tc>
                <a:tc>
                  <a:txBody>
                    <a:bodyPr/>
                    <a:lstStyle/>
                    <a:p>
                      <a:pPr marL="0" indent="0" algn="l">
                        <a:buNone/>
                      </a:pPr>
                      <a:r>
                        <a:rPr lang="en-US" sz="850" b="1">
                          <a:solidFill>
                            <a:srgbClr val="FFFFFF"/>
                          </a:solidFill>
                          <a:latin typeface="Calibri" pitchFamily="34" charset="0"/>
                          <a:ea typeface="Calibri" pitchFamily="34" charset="-122"/>
                          <a:cs typeface="Calibri" pitchFamily="34" charset="-120"/>
                        </a:rPr>
                        <a:t>Réduction d’impôt</a:t>
                      </a:r>
                      <a:endParaRPr lang="en-US" sz="85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6256B"/>
                    </a:solidFill>
                  </a:tcPr>
                </a:tc>
                <a:tc>
                  <a:txBody>
                    <a:bodyPr/>
                    <a:lstStyle/>
                    <a:p>
                      <a:pPr marL="0" indent="0" algn="l">
                        <a:buNone/>
                      </a:pPr>
                      <a:r>
                        <a:rPr lang="en-US" sz="850" b="1">
                          <a:solidFill>
                            <a:srgbClr val="FFFFFF"/>
                          </a:solidFill>
                          <a:latin typeface="Calibri" pitchFamily="34" charset="0"/>
                          <a:ea typeface="Calibri" pitchFamily="34" charset="-122"/>
                          <a:cs typeface="Calibri" pitchFamily="34" charset="-120"/>
                        </a:rPr>
                        <a:t>Formalités</a:t>
                      </a:r>
                      <a:endParaRPr lang="en-US" sz="85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6256B"/>
                    </a:solidFill>
                  </a:tcPr>
                </a:tc>
                <a:extLst>
                  <a:ext uri="{0D108BD9-81ED-4DB2-BD59-A6C34878D82A}">
                    <a16:rowId xmlns:a16="http://schemas.microsoft.com/office/drawing/2014/main" val="10000"/>
                  </a:ext>
                </a:extLst>
              </a:tr>
              <a:tr h="420624">
                <a:tc>
                  <a:txBody>
                    <a:bodyPr/>
                    <a:lstStyle/>
                    <a:p>
                      <a:pPr marL="0" indent="0">
                        <a:buNone/>
                      </a:pPr>
                      <a:r>
                        <a:rPr lang="en-US" sz="800" b="1">
                          <a:solidFill>
                            <a:srgbClr val="16256B"/>
                          </a:solidFill>
                          <a:latin typeface="Calibri" pitchFamily="34" charset="0"/>
                          <a:ea typeface="Calibri" pitchFamily="34" charset="-122"/>
                          <a:cs typeface="Calibri" pitchFamily="34" charset="-120"/>
                        </a:rPr>
                        <a:t>Numéraire</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5F7FB"/>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Virement, chèque</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5F7FB"/>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Montant versé</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5F7FB"/>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60 % du don, imputée sur l’IS ou l’IR de l’exercice ; don réintégré au résultat fiscal</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5F7FB"/>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Reçu fiscal ; déclaration 2069-RCI</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5F7FB"/>
                    </a:solidFill>
                  </a:tcPr>
                </a:tc>
                <a:extLst>
                  <a:ext uri="{0D108BD9-81ED-4DB2-BD59-A6C34878D82A}">
                    <a16:rowId xmlns:a16="http://schemas.microsoft.com/office/drawing/2014/main" val="10001"/>
                  </a:ext>
                </a:extLst>
              </a:tr>
              <a:tr h="384048">
                <a:tc>
                  <a:txBody>
                    <a:bodyPr/>
                    <a:lstStyle/>
                    <a:p>
                      <a:pPr marL="0" indent="0">
                        <a:buNone/>
                      </a:pPr>
                      <a:r>
                        <a:rPr lang="en-US" sz="800" b="1">
                          <a:solidFill>
                            <a:srgbClr val="16256B"/>
                          </a:solidFill>
                          <a:latin typeface="Calibri" pitchFamily="34" charset="0"/>
                          <a:ea typeface="Calibri" pitchFamily="34" charset="-122"/>
                          <a:cs typeface="Calibri" pitchFamily="34" charset="-120"/>
                        </a:rPr>
                        <a:t>En nature</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Biens en stock, immobilisations, titres</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Coût de revient pour les stocks ; valeur nette comptable pour les immobilisations</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60 % de la valeur retenue</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Convention ; attestation de valorisation</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800" b="1">
                          <a:solidFill>
                            <a:srgbClr val="16256B"/>
                          </a:solidFill>
                          <a:latin typeface="Calibri" pitchFamily="34" charset="0"/>
                          <a:ea typeface="Calibri" pitchFamily="34" charset="-122"/>
                          <a:cs typeface="Calibri" pitchFamily="34" charset="-120"/>
                        </a:rPr>
                        <a:t>Compétences</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5F7FB"/>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Mise à disposition de salariés</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5F7FB"/>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Coût de revient — salaires et charges — dans la limite de trois fois le plafond annuel de la sécurité sociale par salarié</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5F7FB"/>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60 % du coût de revient</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5F7FB"/>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Convention de mise à disposition ; relevé du temps</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5F7FB"/>
                    </a:solidFill>
                  </a:tcPr>
                </a:tc>
                <a:extLst>
                  <a:ext uri="{0D108BD9-81ED-4DB2-BD59-A6C34878D82A}">
                    <a16:rowId xmlns:a16="http://schemas.microsoft.com/office/drawing/2014/main" val="10003"/>
                  </a:ext>
                </a:extLst>
              </a:tr>
              <a:tr h="365760">
                <a:tc>
                  <a:txBody>
                    <a:bodyPr/>
                    <a:lstStyle/>
                    <a:p>
                      <a:pPr marL="0" indent="0">
                        <a:buNone/>
                      </a:pPr>
                      <a:r>
                        <a:rPr lang="en-US" sz="800" b="1">
                          <a:solidFill>
                            <a:srgbClr val="16256B"/>
                          </a:solidFill>
                          <a:latin typeface="Calibri" pitchFamily="34" charset="0"/>
                          <a:ea typeface="Calibri" pitchFamily="34" charset="-122"/>
                          <a:cs typeface="Calibri" pitchFamily="34" charset="-120"/>
                        </a:rPr>
                        <a:t>Affecté</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Don fléché sur un programme ou un projet</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Montant versé</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60 %</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Convention précisant l’affectation ; compte rendu d’emploi</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800" b="1">
                          <a:solidFill>
                            <a:srgbClr val="16256B"/>
                          </a:solidFill>
                          <a:latin typeface="Calibri" pitchFamily="34" charset="0"/>
                          <a:ea typeface="Calibri" pitchFamily="34" charset="-122"/>
                          <a:cs typeface="Calibri" pitchFamily="34" charset="-120"/>
                        </a:rPr>
                        <a:t>Récurrent</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5F7FB"/>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Engagement pluriannuel</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5F7FB"/>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Chaque versement au taux de l’exercice</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5F7FB"/>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60 % par exercice</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5F7FB"/>
                    </a:solidFill>
                  </a:tcPr>
                </a:tc>
                <a:tc>
                  <a:txBody>
                    <a:bodyPr/>
                    <a:lstStyle/>
                    <a:p>
                      <a:pPr marL="0" indent="0">
                        <a:buNone/>
                      </a:pPr>
                      <a:r>
                        <a:rPr lang="en-US" sz="800">
                          <a:solidFill>
                            <a:srgbClr val="1F2937"/>
                          </a:solidFill>
                          <a:latin typeface="Calibri" pitchFamily="34" charset="0"/>
                          <a:ea typeface="Calibri" pitchFamily="34" charset="-122"/>
                          <a:cs typeface="Calibri" pitchFamily="34" charset="-120"/>
                        </a:rPr>
                        <a:t>Convention pluriannuelle ; reçu fiscal annuel</a:t>
                      </a:r>
                      <a:endParaRPr lang="en-US" sz="800">
                        <a:latin typeface="Calibri" charset="0"/>
                        <a:ea typeface="Calibri" charset="0"/>
                        <a:cs typeface="Calibri" charset="0"/>
                      </a:endParaRPr>
                    </a:p>
                  </a:txBody>
                  <a:tcPr marL="63500" marR="635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5F7FB"/>
                    </a:solidFill>
                  </a:tcPr>
                </a:tc>
                <a:extLst>
                  <a:ext uri="{0D108BD9-81ED-4DB2-BD59-A6C34878D82A}">
                    <a16:rowId xmlns:a16="http://schemas.microsoft.com/office/drawing/2014/main" val="10005"/>
                  </a:ext>
                </a:extLst>
              </a:tr>
            </a:tbl>
          </a:graphicData>
        </a:graphic>
      </p:graphicFrame>
      <p:sp>
        <p:nvSpPr>
          <p:cNvPr id="8" name="Shape 4"/>
          <p:cNvSpPr/>
          <p:nvPr/>
        </p:nvSpPr>
        <p:spPr>
          <a:xfrm>
            <a:off x="457200" y="3794760"/>
            <a:ext cx="2651760" cy="822960"/>
          </a:xfrm>
          <a:prstGeom prst="roundRect">
            <a:avLst>
              <a:gd name="adj" fmla="val 6667"/>
            </a:avLst>
          </a:prstGeom>
          <a:solidFill>
            <a:srgbClr val="EEF1FB"/>
          </a:solidFill>
          <a:ln w="12700">
            <a:solidFill>
              <a:srgbClr val="EEF1FB"/>
            </a:solidFill>
            <a:prstDash val="solid"/>
          </a:ln>
        </p:spPr>
        <p:txBody>
          <a:bodyPr/>
          <a:lstStyle/>
          <a:p>
            <a:endParaRPr/>
          </a:p>
        </p:txBody>
      </p:sp>
      <p:sp>
        <p:nvSpPr>
          <p:cNvPr id="9" name="Text 5"/>
          <p:cNvSpPr txBox="1"/>
          <p:nvPr/>
        </p:nvSpPr>
        <p:spPr>
          <a:xfrm>
            <a:off x="594360" y="3840480"/>
            <a:ext cx="2377440" cy="731520"/>
          </a:xfrm>
          <a:prstGeom prst="rect">
            <a:avLst/>
          </a:prstGeom>
          <a:noFill/>
          <a:ln/>
        </p:spPr>
        <p:txBody>
          <a:bodyPr wrap="square" lIns="0" tIns="0" rIns="0" bIns="0" rtlCol="0" anchor="ctr"/>
          <a:lstStyle/>
          <a:p>
            <a:pPr marL="0" indent="0">
              <a:buNone/>
            </a:pPr>
            <a:r>
              <a:rPr lang="en-US" sz="850" b="1">
                <a:solidFill>
                  <a:srgbClr val="16256B"/>
                </a:solidFill>
                <a:latin typeface="Calibri" pitchFamily="34" charset="0"/>
                <a:ea typeface="Calibri" pitchFamily="34" charset="-122"/>
                <a:cs typeface="Calibri" pitchFamily="34" charset="-120"/>
              </a:rPr>
              <a:t>Plafond — </a:t>
            </a:r>
            <a:r>
              <a:rPr lang="en-US" sz="850">
                <a:solidFill>
                  <a:srgbClr val="1F2937"/>
                </a:solidFill>
                <a:latin typeface="Calibri" pitchFamily="34" charset="0"/>
                <a:ea typeface="Calibri" pitchFamily="34" charset="-122"/>
                <a:cs typeface="Calibri" pitchFamily="34" charset="-120"/>
              </a:rPr>
              <a:t>20 000 € ou 5 ‰ du chiffre d’affaires hors taxes, le plus élevé ; excédent reportable sur les cinq exercices suivants.</a:t>
            </a:r>
            <a:endParaRPr lang="en-US" sz="850"/>
          </a:p>
        </p:txBody>
      </p:sp>
      <p:sp>
        <p:nvSpPr>
          <p:cNvPr id="10" name="Shape 6"/>
          <p:cNvSpPr/>
          <p:nvPr/>
        </p:nvSpPr>
        <p:spPr>
          <a:xfrm>
            <a:off x="3246120" y="3794760"/>
            <a:ext cx="2651760" cy="822960"/>
          </a:xfrm>
          <a:prstGeom prst="roundRect">
            <a:avLst>
              <a:gd name="adj" fmla="val 6667"/>
            </a:avLst>
          </a:prstGeom>
          <a:solidFill>
            <a:srgbClr val="EEF1FB"/>
          </a:solidFill>
          <a:ln w="12700">
            <a:solidFill>
              <a:srgbClr val="EEF1FB"/>
            </a:solidFill>
            <a:prstDash val="solid"/>
          </a:ln>
        </p:spPr>
        <p:txBody>
          <a:bodyPr/>
          <a:lstStyle/>
          <a:p>
            <a:endParaRPr/>
          </a:p>
        </p:txBody>
      </p:sp>
      <p:sp>
        <p:nvSpPr>
          <p:cNvPr id="11" name="Text 7"/>
          <p:cNvSpPr txBox="1"/>
          <p:nvPr/>
        </p:nvSpPr>
        <p:spPr>
          <a:xfrm>
            <a:off x="3383280" y="3840480"/>
            <a:ext cx="2377440" cy="731520"/>
          </a:xfrm>
          <a:prstGeom prst="rect">
            <a:avLst/>
          </a:prstGeom>
          <a:noFill/>
          <a:ln/>
        </p:spPr>
        <p:txBody>
          <a:bodyPr wrap="square" lIns="0" tIns="0" rIns="0" bIns="0" rtlCol="0" anchor="ctr"/>
          <a:lstStyle/>
          <a:p>
            <a:pPr marL="0" indent="0">
              <a:buNone/>
            </a:pPr>
            <a:r>
              <a:rPr lang="en-US" sz="850" b="1">
                <a:solidFill>
                  <a:srgbClr val="16256B"/>
                </a:solidFill>
                <a:latin typeface="Calibri" pitchFamily="34" charset="0"/>
                <a:ea typeface="Calibri" pitchFamily="34" charset="-122"/>
                <a:cs typeface="Calibri" pitchFamily="34" charset="-120"/>
              </a:rPr>
              <a:t>Taux — </a:t>
            </a:r>
            <a:r>
              <a:rPr lang="en-US" sz="850">
                <a:solidFill>
                  <a:srgbClr val="1F2937"/>
                </a:solidFill>
                <a:latin typeface="Calibri" pitchFamily="34" charset="0"/>
                <a:ea typeface="Calibri" pitchFamily="34" charset="-122"/>
                <a:cs typeface="Calibri" pitchFamily="34" charset="-120"/>
              </a:rPr>
              <a:t>60 % ; 40 % pour la fraction des dons supérieure à 2 M€ par exercice.</a:t>
            </a:r>
            <a:endParaRPr lang="en-US" sz="850"/>
          </a:p>
        </p:txBody>
      </p:sp>
      <p:sp>
        <p:nvSpPr>
          <p:cNvPr id="12" name="Shape 8"/>
          <p:cNvSpPr/>
          <p:nvPr/>
        </p:nvSpPr>
        <p:spPr>
          <a:xfrm>
            <a:off x="6035040" y="3794760"/>
            <a:ext cx="2651760" cy="822960"/>
          </a:xfrm>
          <a:prstGeom prst="roundRect">
            <a:avLst>
              <a:gd name="adj" fmla="val 6667"/>
            </a:avLst>
          </a:prstGeom>
          <a:solidFill>
            <a:srgbClr val="EEF1FB"/>
          </a:solidFill>
          <a:ln w="12700">
            <a:solidFill>
              <a:srgbClr val="EEF1FB"/>
            </a:solidFill>
            <a:prstDash val="solid"/>
          </a:ln>
        </p:spPr>
        <p:txBody>
          <a:bodyPr/>
          <a:lstStyle/>
          <a:p>
            <a:endParaRPr/>
          </a:p>
        </p:txBody>
      </p:sp>
      <p:sp>
        <p:nvSpPr>
          <p:cNvPr id="13" name="Text 9"/>
          <p:cNvSpPr txBox="1"/>
          <p:nvPr/>
        </p:nvSpPr>
        <p:spPr>
          <a:xfrm>
            <a:off x="6172200" y="3840480"/>
            <a:ext cx="2377440" cy="731520"/>
          </a:xfrm>
          <a:prstGeom prst="rect">
            <a:avLst/>
          </a:prstGeom>
          <a:noFill/>
          <a:ln/>
        </p:spPr>
        <p:txBody>
          <a:bodyPr wrap="square" lIns="0" tIns="0" rIns="0" bIns="0" rtlCol="0" anchor="ctr"/>
          <a:lstStyle/>
          <a:p>
            <a:pPr marL="0" indent="0">
              <a:buNone/>
            </a:pPr>
            <a:r>
              <a:rPr lang="en-US" sz="850" b="1">
                <a:solidFill>
                  <a:srgbClr val="16256B"/>
                </a:solidFill>
                <a:latin typeface="Calibri" pitchFamily="34" charset="0"/>
                <a:ea typeface="Calibri" pitchFamily="34" charset="-122"/>
                <a:cs typeface="Calibri" pitchFamily="34" charset="-120"/>
              </a:rPr>
              <a:t>Contreparties — </a:t>
            </a:r>
            <a:r>
              <a:rPr lang="en-US" sz="850">
                <a:solidFill>
                  <a:srgbClr val="1F2937"/>
                </a:solidFill>
                <a:latin typeface="Calibri" pitchFamily="34" charset="0"/>
                <a:ea typeface="Calibri" pitchFamily="34" charset="-122"/>
                <a:cs typeface="Calibri" pitchFamily="34" charset="-120"/>
              </a:rPr>
              <a:t>Admises tant qu’elles restent en disproportion marquée avec le don — tolérance de 25 % : mention du nom, invitations, embarquements.</a:t>
            </a:r>
            <a:endParaRPr lang="en-US" sz="850"/>
          </a:p>
        </p:txBody>
      </p:sp>
      <p:sp>
        <p:nvSpPr>
          <p:cNvPr id="14" name="Text 10"/>
          <p:cNvSpPr txBox="1"/>
          <p:nvPr/>
        </p:nvSpPr>
        <p:spPr>
          <a:xfrm>
            <a:off x="457200" y="4773168"/>
            <a:ext cx="7863840" cy="228600"/>
          </a:xfrm>
          <a:prstGeom prst="rect">
            <a:avLst/>
          </a:prstGeom>
          <a:noFill/>
          <a:ln/>
        </p:spPr>
        <p:txBody>
          <a:bodyPr wrap="square" lIns="0" tIns="0" rIns="0" bIns="0" rtlCol="0" anchor="ctr"/>
          <a:lstStyle/>
          <a:p>
            <a:pPr marL="0" indent="0">
              <a:buNone/>
            </a:pPr>
            <a:r>
              <a:rPr lang="en-US" sz="750" i="1">
                <a:solidFill>
                  <a:srgbClr val="6B7280"/>
                </a:solidFill>
                <a:latin typeface="Calibri" pitchFamily="34" charset="0"/>
                <a:ea typeface="Calibri" pitchFamily="34" charset="-122"/>
                <a:cs typeface="Calibri" pitchFamily="34" charset="-120"/>
              </a:rPr>
              <a:t>Art. 238 bis CGI. Reçu fiscal obligatoire pour les entreprises depuis 2022 (art. 238 bis, 5 bis). Le mécénat d’entreprise est la ressource principale du plan de financement 2026-2029.</a:t>
            </a:r>
            <a:endParaRPr lang="en-US" sz="750"/>
          </a:p>
        </p:txBody>
      </p:sp>
      <p:sp>
        <p:nvSpPr>
          <p:cNvPr id="15" name="Text 11"/>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6B7280"/>
                </a:solidFill>
                <a:latin typeface="Calibri" pitchFamily="34" charset="0"/>
                <a:ea typeface="Calibri" pitchFamily="34" charset="-122"/>
                <a:cs typeface="Calibri" pitchFamily="34" charset="-120"/>
              </a:rPr>
              <a:t>14</a:t>
            </a:r>
            <a:endParaRPr lang="en-US" sz="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ome/claude/v11/band_part.jpg"/>
          <p:cNvPicPr>
            <a:picLocks noChangeAspect="1"/>
          </p:cNvPicPr>
          <p:nvPr/>
        </p:nvPicPr>
        <p:blipFill>
          <a:blip r:embed="rId2"/>
          <a:stretch>
            <a:fillRect/>
          </a:stretch>
        </p:blipFill>
        <p:spPr>
          <a:xfrm>
            <a:off x="0" y="0"/>
            <a:ext cx="9144000" cy="1188720"/>
          </a:xfrm>
          <a:prstGeom prst="rect">
            <a:avLst/>
          </a:prstGeom>
        </p:spPr>
      </p:pic>
      <p:sp>
        <p:nvSpPr>
          <p:cNvPr id="3" name="Shape 0"/>
          <p:cNvSpPr/>
          <p:nvPr/>
        </p:nvSpPr>
        <p:spPr>
          <a:xfrm>
            <a:off x="0" y="0"/>
            <a:ext cx="9144000" cy="1188720"/>
          </a:xfrm>
          <a:prstGeom prst="rect">
            <a:avLst/>
          </a:prstGeom>
          <a:solidFill>
            <a:srgbClr val="16256B">
              <a:alpha val="65000"/>
            </a:srgbClr>
          </a:solidFill>
          <a:ln w="12700">
            <a:solidFill>
              <a:srgbClr val="16256B">
                <a:alpha val="0"/>
              </a:srgbClr>
            </a:solidFill>
            <a:prstDash val="solid"/>
          </a:ln>
        </p:spPr>
        <p:txBody>
          <a:bodyPr/>
          <a:lstStyle/>
          <a:p>
            <a:endParaRPr/>
          </a:p>
        </p:txBody>
      </p:sp>
      <p:sp>
        <p:nvSpPr>
          <p:cNvPr id="4" name="Text 1"/>
          <p:cNvSpPr txBox="1"/>
          <p:nvPr/>
        </p:nvSpPr>
        <p:spPr>
          <a:xfrm>
            <a:off x="457200" y="201168"/>
            <a:ext cx="8229600" cy="228600"/>
          </a:xfrm>
          <a:prstGeom prst="rect">
            <a:avLst/>
          </a:prstGeom>
          <a:noFill/>
          <a:ln/>
        </p:spPr>
        <p:txBody>
          <a:bodyPr wrap="square" lIns="0" tIns="0" rIns="0" bIns="0" rtlCol="0" anchor="ctr"/>
          <a:lstStyle/>
          <a:p>
            <a:pPr marL="0" indent="0">
              <a:buNone/>
            </a:pPr>
            <a:r>
              <a:rPr lang="en-US" sz="900" b="1" kern="0" spc="200">
                <a:solidFill>
                  <a:srgbClr val="7FD3D0"/>
                </a:solidFill>
                <a:latin typeface="Calibri" pitchFamily="34" charset="0"/>
                <a:ea typeface="Calibri" pitchFamily="34" charset="-122"/>
                <a:cs typeface="Calibri" pitchFamily="34" charset="-120"/>
              </a:rPr>
              <a:t>DONNER EN TANT QUE PARTICULIER — ARTICLE 200 DU CGI</a:t>
            </a:r>
            <a:endParaRPr lang="en-US" sz="900"/>
          </a:p>
        </p:txBody>
      </p:sp>
      <p:sp>
        <p:nvSpPr>
          <p:cNvPr id="5" name="Text 2"/>
          <p:cNvSpPr txBox="1"/>
          <p:nvPr/>
        </p:nvSpPr>
        <p:spPr>
          <a:xfrm>
            <a:off x="457200" y="411480"/>
            <a:ext cx="5760720" cy="640080"/>
          </a:xfrm>
          <a:prstGeom prst="rect">
            <a:avLst/>
          </a:prstGeom>
          <a:noFill/>
          <a:ln/>
        </p:spPr>
        <p:txBody>
          <a:bodyPr wrap="square" lIns="0" tIns="0" rIns="0" bIns="0" rtlCol="0" anchor="t"/>
          <a:lstStyle/>
          <a:p>
            <a:pPr marL="0" indent="0">
              <a:buNone/>
            </a:pPr>
            <a:r>
              <a:rPr lang="en-US" sz="2000" b="1">
                <a:solidFill>
                  <a:srgbClr val="FFFFFF"/>
                </a:solidFill>
                <a:latin typeface="Cambria" pitchFamily="34" charset="0"/>
                <a:ea typeface="Cambria" pitchFamily="34" charset="-122"/>
                <a:cs typeface="Cambria" pitchFamily="34" charset="-120"/>
              </a:rPr>
              <a:t>Le don des particuliers : sept modes de libéralité</a:t>
            </a:r>
            <a:endParaRPr lang="en-US" sz="200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20040" y="1298448"/>
          <a:ext cx="8503920" cy="2716276"/>
        </p:xfrm>
        <a:graphic>
          <a:graphicData uri="http://schemas.openxmlformats.org/drawingml/2006/table">
            <a:tbl>
              <a:tblPr/>
              <a:tblGrid>
                <a:gridCol w="10515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2560320">
                  <a:extLst>
                    <a:ext uri="{9D8B030D-6E8A-4147-A177-3AD203B41FA5}">
                      <a16:colId xmlns:a16="http://schemas.microsoft.com/office/drawing/2014/main" val="20004"/>
                    </a:ext>
                  </a:extLst>
                </a:gridCol>
                <a:gridCol w="1965960">
                  <a:extLst>
                    <a:ext uri="{9D8B030D-6E8A-4147-A177-3AD203B41FA5}">
                      <a16:colId xmlns:a16="http://schemas.microsoft.com/office/drawing/2014/main" val="20005"/>
                    </a:ext>
                  </a:extLst>
                </a:gridCol>
              </a:tblGrid>
              <a:tr h="237744">
                <a:tc>
                  <a:txBody>
                    <a:bodyPr/>
                    <a:lstStyle/>
                    <a:p>
                      <a:pPr marL="0" indent="0" algn="l">
                        <a:buNone/>
                      </a:pPr>
                      <a:r>
                        <a:rPr lang="en-US" sz="800" b="1">
                          <a:solidFill>
                            <a:srgbClr val="FFFFFF"/>
                          </a:solidFill>
                          <a:latin typeface="Calibri" pitchFamily="34" charset="0"/>
                          <a:ea typeface="Calibri" pitchFamily="34" charset="-122"/>
                          <a:cs typeface="Calibri" pitchFamily="34" charset="-120"/>
                        </a:rPr>
                        <a:t>Mode</a:t>
                      </a:r>
                      <a:endParaRPr lang="en-US" sz="80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0E8A8A"/>
                    </a:solidFill>
                  </a:tcPr>
                </a:tc>
                <a:tc>
                  <a:txBody>
                    <a:bodyPr/>
                    <a:lstStyle/>
                    <a:p>
                      <a:pPr marL="0" indent="0" algn="l">
                        <a:buNone/>
                      </a:pPr>
                      <a:r>
                        <a:rPr lang="en-US" sz="800" b="1">
                          <a:solidFill>
                            <a:srgbClr val="FFFFFF"/>
                          </a:solidFill>
                          <a:latin typeface="Calibri" pitchFamily="34" charset="0"/>
                          <a:ea typeface="Calibri" pitchFamily="34" charset="-122"/>
                          <a:cs typeface="Calibri" pitchFamily="34" charset="-120"/>
                        </a:rPr>
                        <a:t>Acte</a:t>
                      </a:r>
                      <a:endParaRPr lang="en-US" sz="80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0E8A8A"/>
                    </a:solidFill>
                  </a:tcPr>
                </a:tc>
                <a:tc>
                  <a:txBody>
                    <a:bodyPr/>
                    <a:lstStyle/>
                    <a:p>
                      <a:pPr marL="0" indent="0" algn="l">
                        <a:buNone/>
                      </a:pPr>
                      <a:r>
                        <a:rPr lang="en-US" sz="800" b="1">
                          <a:solidFill>
                            <a:srgbClr val="FFFFFF"/>
                          </a:solidFill>
                          <a:latin typeface="Calibri" pitchFamily="34" charset="0"/>
                          <a:ea typeface="Calibri" pitchFamily="34" charset="-122"/>
                          <a:cs typeface="Calibri" pitchFamily="34" charset="-120"/>
                        </a:rPr>
                        <a:t>Effet</a:t>
                      </a:r>
                      <a:endParaRPr lang="en-US" sz="80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0E8A8A"/>
                    </a:solidFill>
                  </a:tcPr>
                </a:tc>
                <a:tc>
                  <a:txBody>
                    <a:bodyPr/>
                    <a:lstStyle/>
                    <a:p>
                      <a:pPr marL="0" indent="0" algn="l">
                        <a:buNone/>
                      </a:pPr>
                      <a:r>
                        <a:rPr lang="en-US" sz="800" b="1">
                          <a:solidFill>
                            <a:srgbClr val="FFFFFF"/>
                          </a:solidFill>
                          <a:latin typeface="Calibri" pitchFamily="34" charset="0"/>
                          <a:ea typeface="Calibri" pitchFamily="34" charset="-122"/>
                          <a:cs typeface="Calibri" pitchFamily="34" charset="-120"/>
                        </a:rPr>
                        <a:t>Assiette</a:t>
                      </a:r>
                      <a:endParaRPr lang="en-US" sz="80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0E8A8A"/>
                    </a:solidFill>
                  </a:tcPr>
                </a:tc>
                <a:tc>
                  <a:txBody>
                    <a:bodyPr/>
                    <a:lstStyle/>
                    <a:p>
                      <a:pPr marL="0" indent="0" algn="l">
                        <a:buNone/>
                      </a:pPr>
                      <a:r>
                        <a:rPr lang="en-US" sz="800" b="1">
                          <a:solidFill>
                            <a:srgbClr val="FFFFFF"/>
                          </a:solidFill>
                          <a:latin typeface="Calibri" pitchFamily="34" charset="0"/>
                          <a:ea typeface="Calibri" pitchFamily="34" charset="-122"/>
                          <a:cs typeface="Calibri" pitchFamily="34" charset="-120"/>
                        </a:rPr>
                        <a:t>Régime fiscal du donateur</a:t>
                      </a:r>
                      <a:endParaRPr lang="en-US" sz="80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0E8A8A"/>
                    </a:solidFill>
                  </a:tcPr>
                </a:tc>
                <a:tc>
                  <a:txBody>
                    <a:bodyPr/>
                    <a:lstStyle/>
                    <a:p>
                      <a:pPr marL="0" indent="0" algn="l">
                        <a:buNone/>
                      </a:pPr>
                      <a:r>
                        <a:rPr lang="en-US" sz="800" b="1">
                          <a:solidFill>
                            <a:srgbClr val="FFFFFF"/>
                          </a:solidFill>
                          <a:latin typeface="Calibri" pitchFamily="34" charset="0"/>
                          <a:ea typeface="Calibri" pitchFamily="34" charset="-122"/>
                          <a:cs typeface="Calibri" pitchFamily="34" charset="-120"/>
                        </a:rPr>
                        <a:t>Régime du fonds</a:t>
                      </a:r>
                      <a:endParaRPr lang="en-US" sz="80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0E8A8A"/>
                    </a:solidFill>
                  </a:tcPr>
                </a:tc>
                <a:extLst>
                  <a:ext uri="{0D108BD9-81ED-4DB2-BD59-A6C34878D82A}">
                    <a16:rowId xmlns:a16="http://schemas.microsoft.com/office/drawing/2014/main" val="10000"/>
                  </a:ext>
                </a:extLst>
              </a:tr>
              <a:tr h="347472">
                <a:tc>
                  <a:txBody>
                    <a:bodyPr/>
                    <a:lstStyle/>
                    <a:p>
                      <a:pPr marL="0" indent="0">
                        <a:buNone/>
                      </a:pPr>
                      <a:r>
                        <a:rPr lang="en-US" sz="750" b="1">
                          <a:solidFill>
                            <a:srgbClr val="0E8A8A"/>
                          </a:solidFill>
                          <a:latin typeface="Calibri" pitchFamily="34" charset="0"/>
                          <a:ea typeface="Calibri" pitchFamily="34" charset="-122"/>
                          <a:cs typeface="Calibri" pitchFamily="34" charset="-120"/>
                        </a:rPr>
                        <a:t>Don manuel</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Virement, chèque, prélèvement</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Immédiat</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Numéraire</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Réduction d’IR de 66 % du don, dans la limite de 20 % du revenu imposable ; excédent reportable sur cinq ans</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Reçu fiscal (Cerfa 11580) émis par le fonds</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extLst>
                  <a:ext uri="{0D108BD9-81ED-4DB2-BD59-A6C34878D82A}">
                    <a16:rowId xmlns:a16="http://schemas.microsoft.com/office/drawing/2014/main" val="10001"/>
                  </a:ext>
                </a:extLst>
              </a:tr>
              <a:tr h="347472">
                <a:tc>
                  <a:txBody>
                    <a:bodyPr/>
                    <a:lstStyle/>
                    <a:p>
                      <a:pPr marL="0" indent="0">
                        <a:buNone/>
                      </a:pPr>
                      <a:r>
                        <a:rPr lang="en-US" sz="750" b="1">
                          <a:solidFill>
                            <a:srgbClr val="0E8A8A"/>
                          </a:solidFill>
                          <a:latin typeface="Calibri" pitchFamily="34" charset="0"/>
                          <a:ea typeface="Calibri" pitchFamily="34" charset="-122"/>
                          <a:cs typeface="Calibri" pitchFamily="34" charset="-120"/>
                        </a:rPr>
                        <a:t>Don en nature</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Convention de don recommandée</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Immédiat</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Titres, matériel, œuvres</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Réduction d’IR de 66 % de la valeur vénale du bien au jour du don, même limite de 20 %</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Exonération de droits de mutation à titre gratuit — art. 795-14° CGI</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buNone/>
                      </a:pPr>
                      <a:r>
                        <a:rPr lang="en-US" sz="750" b="1">
                          <a:solidFill>
                            <a:srgbClr val="0E8A8A"/>
                          </a:solidFill>
                          <a:latin typeface="Calibri" pitchFamily="34" charset="0"/>
                          <a:ea typeface="Calibri" pitchFamily="34" charset="-122"/>
                          <a:cs typeface="Calibri" pitchFamily="34" charset="-120"/>
                        </a:rPr>
                        <a:t>Donation notariée</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Acte authentique</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Immédiat</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Numéraire, titres, immobilier</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Réduction d’IR de 66 %, même limite ; imputation sur la quotité disponible</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Exonération de droits de mutation à titre gratuit — art. 795-14°</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extLst>
                  <a:ext uri="{0D108BD9-81ED-4DB2-BD59-A6C34878D82A}">
                    <a16:rowId xmlns:a16="http://schemas.microsoft.com/office/drawing/2014/main" val="10003"/>
                  </a:ext>
                </a:extLst>
              </a:tr>
              <a:tr h="347472">
                <a:tc>
                  <a:txBody>
                    <a:bodyPr/>
                    <a:lstStyle/>
                    <a:p>
                      <a:pPr marL="0" indent="0">
                        <a:buNone/>
                      </a:pPr>
                      <a:r>
                        <a:rPr lang="en-US" sz="750" b="1">
                          <a:solidFill>
                            <a:srgbClr val="0E8A8A"/>
                          </a:solidFill>
                          <a:latin typeface="Calibri" pitchFamily="34" charset="0"/>
                          <a:ea typeface="Calibri" pitchFamily="34" charset="-122"/>
                          <a:cs typeface="Calibri" pitchFamily="34" charset="-120"/>
                        </a:rPr>
                        <a:t>Legs</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Testament olographe ou authentique</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Au décès</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Tous biens — legs universel, à titre universel ou particulier</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Réserve héréditaire à respecter ; aucun impôt pour le testateur</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Exonération totale de droits de succession (art. 795-14°) : 100 % du legs va au fonds</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buNone/>
                      </a:pPr>
                      <a:r>
                        <a:rPr lang="en-US" sz="750" b="1">
                          <a:solidFill>
                            <a:srgbClr val="0E8A8A"/>
                          </a:solidFill>
                          <a:latin typeface="Calibri" pitchFamily="34" charset="0"/>
                          <a:ea typeface="Calibri" pitchFamily="34" charset="-122"/>
                          <a:cs typeface="Calibri" pitchFamily="34" charset="-120"/>
                        </a:rPr>
                        <a:t>Assurance-vie</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Clause bénéficiaire désignant le fonds</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Au décès</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Capital décès</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Transmission hors succession</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Exonération du prélèvement de l’art. 990 I et des droits de l’art. 757 B, par renvoi à l’art. 795</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extLst>
                  <a:ext uri="{0D108BD9-81ED-4DB2-BD59-A6C34878D82A}">
                    <a16:rowId xmlns:a16="http://schemas.microsoft.com/office/drawing/2014/main" val="10005"/>
                  </a:ext>
                </a:extLst>
              </a:tr>
              <a:tr h="347472">
                <a:tc>
                  <a:txBody>
                    <a:bodyPr/>
                    <a:lstStyle/>
                    <a:p>
                      <a:pPr marL="0" indent="0">
                        <a:buNone/>
                      </a:pPr>
                      <a:r>
                        <a:rPr lang="en-US" sz="750" b="1">
                          <a:solidFill>
                            <a:srgbClr val="0E8A8A"/>
                          </a:solidFill>
                          <a:latin typeface="Calibri" pitchFamily="34" charset="0"/>
                          <a:ea typeface="Calibri" pitchFamily="34" charset="-122"/>
                          <a:cs typeface="Calibri" pitchFamily="34" charset="-120"/>
                        </a:rPr>
                        <a:t>Donation temporaire d’usufruit *</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Acte authentique, trois ans minimum</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Pendant la durée</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Bien productif de revenus — immeuble, portefeuille</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Bien sorti de l’assiette IFI ; revenus non imposés chez le donateur pendant la durée ; pas de réduction d’IR</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Le fonds perçoit les fruits du bien</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7472">
                <a:tc>
                  <a:txBody>
                    <a:bodyPr/>
                    <a:lstStyle/>
                    <a:p>
                      <a:pPr marL="0" indent="0">
                        <a:buNone/>
                      </a:pPr>
                      <a:r>
                        <a:rPr lang="en-US" sz="750" b="1">
                          <a:solidFill>
                            <a:srgbClr val="0E8A8A"/>
                          </a:solidFill>
                          <a:latin typeface="Calibri" pitchFamily="34" charset="0"/>
                          <a:ea typeface="Calibri" pitchFamily="34" charset="-122"/>
                          <a:cs typeface="Calibri" pitchFamily="34" charset="-120"/>
                        </a:rPr>
                        <a:t>Renonciation à des revenus *</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Convention écrite</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Immédiat</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Loyers, dividendes, droits d’auteur</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Revenu déclaré par le donateur, qui bénéficie de la réduction d’IR de 66 % sur le montant abandonné</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tc>
                  <a:txBody>
                    <a:bodyPr/>
                    <a:lstStyle/>
                    <a:p>
                      <a:pPr marL="0" indent="0">
                        <a:buNone/>
                      </a:pPr>
                      <a:r>
                        <a:rPr lang="en-US" sz="750">
                          <a:solidFill>
                            <a:srgbClr val="1F2937"/>
                          </a:solidFill>
                          <a:latin typeface="Calibri" pitchFamily="34" charset="0"/>
                          <a:ea typeface="Calibri" pitchFamily="34" charset="-122"/>
                          <a:cs typeface="Calibri" pitchFamily="34" charset="-120"/>
                        </a:rPr>
                        <a:t>Le fonds encaisse le revenu</a:t>
                      </a:r>
                      <a:endParaRPr lang="en-US" sz="750">
                        <a:latin typeface="Calibri" charset="0"/>
                        <a:ea typeface="Calibri" charset="0"/>
                        <a:cs typeface="Calibri" charset="0"/>
                      </a:endParaRPr>
                    </a:p>
                  </a:txBody>
                  <a:tcPr marL="50800" marR="50800" marT="25400" marB="25400" anchor="ctr">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E8F4F3"/>
                    </a:solidFill>
                  </a:tcPr>
                </a:tc>
                <a:extLst>
                  <a:ext uri="{0D108BD9-81ED-4DB2-BD59-A6C34878D82A}">
                    <a16:rowId xmlns:a16="http://schemas.microsoft.com/office/drawing/2014/main" val="10007"/>
                  </a:ext>
                </a:extLst>
              </a:tr>
            </a:tbl>
          </a:graphicData>
        </a:graphic>
      </p:graphicFrame>
      <p:sp>
        <p:nvSpPr>
          <p:cNvPr id="8" name="Text 4"/>
          <p:cNvSpPr txBox="1"/>
          <p:nvPr/>
        </p:nvSpPr>
        <p:spPr>
          <a:xfrm>
            <a:off x="320040" y="4315968"/>
            <a:ext cx="8503920" cy="365760"/>
          </a:xfrm>
          <a:prstGeom prst="rect">
            <a:avLst/>
          </a:prstGeom>
          <a:noFill/>
          <a:ln/>
        </p:spPr>
        <p:txBody>
          <a:bodyPr wrap="square" lIns="0" tIns="0" rIns="0" bIns="0" rtlCol="0" anchor="t"/>
          <a:lstStyle/>
          <a:p>
            <a:pPr marL="0" indent="0">
              <a:buNone/>
            </a:pPr>
            <a:r>
              <a:rPr lang="en-US" sz="750" b="1">
                <a:solidFill>
                  <a:srgbClr val="E05A1E"/>
                </a:solidFill>
                <a:latin typeface="Calibri" pitchFamily="34" charset="0"/>
                <a:ea typeface="Calibri" pitchFamily="34" charset="-122"/>
                <a:cs typeface="Calibri" pitchFamily="34" charset="-120"/>
              </a:rPr>
              <a:t>Non applicable au fonds de dotation : </a:t>
            </a:r>
            <a:r>
              <a:rPr lang="en-US" sz="750">
                <a:solidFill>
                  <a:srgbClr val="1F2937"/>
                </a:solidFill>
                <a:latin typeface="Calibri" pitchFamily="34" charset="0"/>
                <a:ea typeface="Calibri" pitchFamily="34" charset="-122"/>
                <a:cs typeface="Calibri" pitchFamily="34" charset="-120"/>
              </a:rPr>
              <a:t>la réduction d’IFI de 75 % (art. 978 CGI), réservée aux fondations reconnues d’utilité publique et aux organismes limitativement listés.  </a:t>
            </a:r>
            <a:endParaRPr lang="en-US" sz="750"/>
          </a:p>
        </p:txBody>
      </p:sp>
      <p:sp>
        <p:nvSpPr>
          <p:cNvPr id="9" name="Text 5"/>
          <p:cNvSpPr txBox="1"/>
          <p:nvPr/>
        </p:nvSpPr>
        <p:spPr>
          <a:xfrm>
            <a:off x="457200" y="4773168"/>
            <a:ext cx="7863840" cy="228600"/>
          </a:xfrm>
          <a:prstGeom prst="rect">
            <a:avLst/>
          </a:prstGeom>
          <a:noFill/>
          <a:ln/>
        </p:spPr>
        <p:txBody>
          <a:bodyPr wrap="square" lIns="0" tIns="0" rIns="0" bIns="0" rtlCol="0" anchor="ctr"/>
          <a:lstStyle/>
          <a:p>
            <a:pPr marL="0" indent="0">
              <a:buNone/>
            </a:pPr>
            <a:r>
              <a:rPr lang="en-US" sz="750" i="1">
                <a:solidFill>
                  <a:srgbClr val="6B7280"/>
                </a:solidFill>
                <a:latin typeface="Calibri" pitchFamily="34" charset="0"/>
                <a:ea typeface="Calibri" pitchFamily="34" charset="-122"/>
                <a:cs typeface="Calibri" pitchFamily="34" charset="-120"/>
              </a:rPr>
              <a:t>Fonds de dotation d’intérêt général au sens des art. 200-1-b et 238 bis-1-a du CGI. Reçu fiscal émis pour chaque libéralité.</a:t>
            </a:r>
            <a:endParaRPr lang="en-US" sz="750"/>
          </a:p>
        </p:txBody>
      </p:sp>
      <p:sp>
        <p:nvSpPr>
          <p:cNvPr id="10" name="Text 6"/>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6B7280"/>
                </a:solidFill>
                <a:latin typeface="Calibri" pitchFamily="34" charset="0"/>
                <a:ea typeface="Calibri" pitchFamily="34" charset="-122"/>
                <a:cs typeface="Calibri" pitchFamily="34" charset="-120"/>
              </a:rPr>
              <a:t>15</a:t>
            </a:r>
            <a:endParaRPr lang="en-US" sz="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6256B"/>
        </a:solidFill>
        <a:effectLst/>
      </p:bgPr>
    </p:bg>
    <p:spTree>
      <p:nvGrpSpPr>
        <p:cNvPr id="1" name=""/>
        <p:cNvGrpSpPr/>
        <p:nvPr/>
      </p:nvGrpSpPr>
      <p:grpSpPr>
        <a:xfrm>
          <a:off x="0" y="0"/>
          <a:ext cx="0" cy="0"/>
          <a:chOff x="0" y="0"/>
          <a:chExt cx="0" cy="0"/>
        </a:xfrm>
      </p:grpSpPr>
      <p:sp>
        <p:nvSpPr>
          <p:cNvPr id="2" name="Text 0"/>
          <p:cNvSpPr txBox="1"/>
          <p:nvPr/>
        </p:nvSpPr>
        <p:spPr>
          <a:xfrm>
            <a:off x="457200" y="329184"/>
            <a:ext cx="8229600" cy="228600"/>
          </a:xfrm>
          <a:prstGeom prst="rect">
            <a:avLst/>
          </a:prstGeom>
          <a:noFill/>
          <a:ln/>
        </p:spPr>
        <p:txBody>
          <a:bodyPr wrap="square" lIns="0" tIns="0" rIns="0" bIns="0" rtlCol="0" anchor="ctr"/>
          <a:lstStyle/>
          <a:p>
            <a:pPr marL="0" indent="0">
              <a:buNone/>
            </a:pPr>
            <a:r>
              <a:rPr lang="en-US" sz="900" b="1" kern="0" spc="200">
                <a:solidFill>
                  <a:srgbClr val="7FD3D0"/>
                </a:solidFill>
                <a:latin typeface="Calibri" pitchFamily="34" charset="0"/>
                <a:ea typeface="Calibri" pitchFamily="34" charset="-122"/>
                <a:cs typeface="Calibri" pitchFamily="34" charset="-120"/>
              </a:rPr>
              <a:t>POURQUOI NOUS SOUTENIR</a:t>
            </a:r>
            <a:endParaRPr lang="en-US" sz="900"/>
          </a:p>
        </p:txBody>
      </p:sp>
      <p:sp>
        <p:nvSpPr>
          <p:cNvPr id="3" name="Text 1"/>
          <p:cNvSpPr txBox="1"/>
          <p:nvPr/>
        </p:nvSpPr>
        <p:spPr>
          <a:xfrm>
            <a:off x="457200" y="548640"/>
            <a:ext cx="8229600" cy="457200"/>
          </a:xfrm>
          <a:prstGeom prst="rect">
            <a:avLst/>
          </a:prstGeom>
          <a:noFill/>
          <a:ln/>
        </p:spPr>
        <p:txBody>
          <a:bodyPr wrap="square" lIns="0" tIns="0" rIns="0" bIns="0" rtlCol="0" anchor="ctr"/>
          <a:lstStyle/>
          <a:p>
            <a:pPr marL="0" indent="0">
              <a:buNone/>
            </a:pPr>
            <a:r>
              <a:rPr lang="en-US" sz="2500" b="1">
                <a:solidFill>
                  <a:srgbClr val="FFFFFF"/>
                </a:solidFill>
                <a:latin typeface="Cambria" pitchFamily="34" charset="0"/>
                <a:ea typeface="Cambria" pitchFamily="34" charset="-122"/>
                <a:cs typeface="Cambria" pitchFamily="34" charset="-120"/>
              </a:rPr>
              <a:t>Quatre raisons de s’engager</a:t>
            </a:r>
            <a:endParaRPr lang="en-US" sz="2500"/>
          </a:p>
        </p:txBody>
      </p:sp>
      <p:sp>
        <p:nvSpPr>
          <p:cNvPr id="4" name="Text 2"/>
          <p:cNvSpPr txBox="1"/>
          <p:nvPr/>
        </p:nvSpPr>
        <p:spPr>
          <a:xfrm>
            <a:off x="457200" y="1005840"/>
            <a:ext cx="8229600" cy="256032"/>
          </a:xfrm>
          <a:prstGeom prst="rect">
            <a:avLst/>
          </a:prstGeom>
          <a:noFill/>
          <a:ln/>
        </p:spPr>
        <p:txBody>
          <a:bodyPr wrap="square" lIns="0" tIns="0" rIns="0" bIns="0" rtlCol="0" anchor="ctr"/>
          <a:lstStyle/>
          <a:p>
            <a:pPr marL="0" indent="0">
              <a:buNone/>
            </a:pPr>
            <a:r>
              <a:rPr lang="fr-FR" sz="1050">
                <a:solidFill>
                  <a:srgbClr val="CADCFC"/>
                </a:solidFill>
                <a:latin typeface="Calibri" pitchFamily="34" charset="0"/>
                <a:ea typeface="Calibri" pitchFamily="34" charset="-122"/>
                <a:cs typeface="Calibri" pitchFamily="34" charset="-120"/>
              </a:rPr>
              <a:t>Donner du sens à son soutien tout en créant de la valeur pour son entreprise et son territoire.</a:t>
            </a:r>
          </a:p>
        </p:txBody>
      </p:sp>
      <p:sp>
        <p:nvSpPr>
          <p:cNvPr id="5" name="Shape 3"/>
          <p:cNvSpPr/>
          <p:nvPr/>
        </p:nvSpPr>
        <p:spPr>
          <a:xfrm>
            <a:off x="457200" y="1389888"/>
            <a:ext cx="3931920" cy="1426464"/>
          </a:xfrm>
          <a:prstGeom prst="roundRect">
            <a:avLst>
              <a:gd name="adj" fmla="val 3846"/>
            </a:avLst>
          </a:prstGeom>
          <a:solidFill>
            <a:srgbClr val="FFFFFF"/>
          </a:solidFill>
          <a:ln w="12700">
            <a:solidFill>
              <a:srgbClr val="FFFFFF"/>
            </a:solidFill>
            <a:prstDash val="solid"/>
          </a:ln>
        </p:spPr>
        <p:txBody>
          <a:bodyPr/>
          <a:lstStyle/>
          <a:p>
            <a:endParaRPr lang="fr-FR"/>
          </a:p>
        </p:txBody>
      </p:sp>
      <p:pic>
        <p:nvPicPr>
          <p:cNvPr id="6" name="Image 0" descr="/home/claude/v30/sq_p1.jpg"/>
          <p:cNvPicPr>
            <a:picLocks noChangeAspect="1"/>
          </p:cNvPicPr>
          <p:nvPr/>
        </p:nvPicPr>
        <p:blipFill>
          <a:blip r:embed="rId2"/>
          <a:stretch>
            <a:fillRect/>
          </a:stretch>
        </p:blipFill>
        <p:spPr>
          <a:xfrm>
            <a:off x="621792" y="1554480"/>
            <a:ext cx="1097280" cy="1097280"/>
          </a:xfrm>
          <a:prstGeom prst="rect">
            <a:avLst/>
          </a:prstGeom>
        </p:spPr>
      </p:pic>
      <p:sp>
        <p:nvSpPr>
          <p:cNvPr id="7" name="Text 4"/>
          <p:cNvSpPr txBox="1"/>
          <p:nvPr/>
        </p:nvSpPr>
        <p:spPr>
          <a:xfrm>
            <a:off x="1883664" y="1572768"/>
            <a:ext cx="457200" cy="201168"/>
          </a:xfrm>
          <a:prstGeom prst="rect">
            <a:avLst/>
          </a:prstGeom>
          <a:noFill/>
          <a:ln/>
        </p:spPr>
        <p:txBody>
          <a:bodyPr wrap="square" lIns="0" tIns="0" rIns="0" bIns="0" rtlCol="0" anchor="ctr"/>
          <a:lstStyle/>
          <a:p>
            <a:pPr marL="0" indent="0">
              <a:buNone/>
            </a:pPr>
            <a:r>
              <a:rPr lang="en-US" sz="900" b="1" kern="0" spc="150">
                <a:solidFill>
                  <a:srgbClr val="0E8A8A"/>
                </a:solidFill>
                <a:latin typeface="Calibri" pitchFamily="34" charset="0"/>
                <a:ea typeface="Calibri" pitchFamily="34" charset="-122"/>
                <a:cs typeface="Calibri" pitchFamily="34" charset="-120"/>
              </a:rPr>
              <a:t>01</a:t>
            </a:r>
            <a:endParaRPr lang="en-US" sz="900"/>
          </a:p>
        </p:txBody>
      </p:sp>
      <p:sp>
        <p:nvSpPr>
          <p:cNvPr id="8" name="Text 5"/>
          <p:cNvSpPr txBox="1"/>
          <p:nvPr/>
        </p:nvSpPr>
        <p:spPr>
          <a:xfrm>
            <a:off x="1883664" y="1737360"/>
            <a:ext cx="2340864" cy="384048"/>
          </a:xfrm>
          <a:prstGeom prst="rect">
            <a:avLst/>
          </a:prstGeom>
          <a:noFill/>
          <a:ln/>
        </p:spPr>
        <p:txBody>
          <a:bodyPr wrap="square" lIns="0" tIns="0" rIns="0" bIns="0" rtlCol="0" anchor="t"/>
          <a:lstStyle/>
          <a:p>
            <a:pPr marL="0" indent="0">
              <a:lnSpc>
                <a:spcPct val="100000"/>
              </a:lnSpc>
              <a:buNone/>
            </a:pPr>
            <a:r>
              <a:rPr lang="en-US" sz="1250" b="1">
                <a:solidFill>
                  <a:srgbClr val="16256B"/>
                </a:solidFill>
                <a:latin typeface="Cambria" pitchFamily="34" charset="0"/>
                <a:ea typeface="Cambria" pitchFamily="34" charset="-122"/>
                <a:cs typeface="Cambria" pitchFamily="34" charset="-120"/>
              </a:rPr>
              <a:t>Contribuer à la réussite d’un projet</a:t>
            </a:r>
            <a:endParaRPr lang="en-US" sz="1250"/>
          </a:p>
        </p:txBody>
      </p:sp>
      <p:sp>
        <p:nvSpPr>
          <p:cNvPr id="9" name="Text 6"/>
          <p:cNvSpPr txBox="1"/>
          <p:nvPr/>
        </p:nvSpPr>
        <p:spPr>
          <a:xfrm>
            <a:off x="1883664" y="2157984"/>
            <a:ext cx="2322576" cy="548640"/>
          </a:xfrm>
          <a:prstGeom prst="rect">
            <a:avLst/>
          </a:prstGeom>
          <a:noFill/>
          <a:ln/>
        </p:spPr>
        <p:txBody>
          <a:bodyPr wrap="square" lIns="0" tIns="0" rIns="0" bIns="0" rtlCol="0" anchor="t"/>
          <a:lstStyle/>
          <a:p>
            <a:pPr marL="0" indent="0">
              <a:lnSpc>
                <a:spcPct val="115000"/>
              </a:lnSpc>
              <a:buNone/>
            </a:pPr>
            <a:r>
              <a:rPr lang="en-US" sz="850">
                <a:solidFill>
                  <a:srgbClr val="1F2937"/>
                </a:solidFill>
                <a:latin typeface="Calibri" pitchFamily="34" charset="0"/>
                <a:ea typeface="Calibri" pitchFamily="34" charset="-122"/>
                <a:cs typeface="Calibri" pitchFamily="34" charset="-120"/>
              </a:rPr>
              <a:t>Votre don finance un programme identifié — chalutier bas carbone, collecte du plastique, connaissance des milieux — dont vous suivez les résultats.</a:t>
            </a:r>
            <a:endParaRPr lang="en-US" sz="850"/>
          </a:p>
        </p:txBody>
      </p:sp>
      <p:sp>
        <p:nvSpPr>
          <p:cNvPr id="10" name="Shape 7"/>
          <p:cNvSpPr/>
          <p:nvPr/>
        </p:nvSpPr>
        <p:spPr>
          <a:xfrm>
            <a:off x="4754880" y="1389888"/>
            <a:ext cx="3931920" cy="1426464"/>
          </a:xfrm>
          <a:prstGeom prst="roundRect">
            <a:avLst>
              <a:gd name="adj" fmla="val 3846"/>
            </a:avLst>
          </a:prstGeom>
          <a:solidFill>
            <a:srgbClr val="FFFFFF"/>
          </a:solidFill>
          <a:ln w="12700">
            <a:solidFill>
              <a:srgbClr val="FFFFFF"/>
            </a:solidFill>
            <a:prstDash val="solid"/>
          </a:ln>
        </p:spPr>
        <p:txBody>
          <a:bodyPr/>
          <a:lstStyle/>
          <a:p>
            <a:endParaRPr lang="fr-FR"/>
          </a:p>
        </p:txBody>
      </p:sp>
      <p:pic>
        <p:nvPicPr>
          <p:cNvPr id="11" name="Image 1" descr="/home/claude/v30/sq_p2.jpg"/>
          <p:cNvPicPr>
            <a:picLocks noChangeAspect="1"/>
          </p:cNvPicPr>
          <p:nvPr/>
        </p:nvPicPr>
        <p:blipFill>
          <a:blip r:embed="rId3"/>
          <a:stretch>
            <a:fillRect/>
          </a:stretch>
        </p:blipFill>
        <p:spPr>
          <a:xfrm>
            <a:off x="4919472" y="1554480"/>
            <a:ext cx="1097280" cy="1097280"/>
          </a:xfrm>
          <a:prstGeom prst="rect">
            <a:avLst/>
          </a:prstGeom>
        </p:spPr>
      </p:pic>
      <p:sp>
        <p:nvSpPr>
          <p:cNvPr id="12" name="Text 8"/>
          <p:cNvSpPr txBox="1"/>
          <p:nvPr/>
        </p:nvSpPr>
        <p:spPr>
          <a:xfrm>
            <a:off x="6181344" y="1572768"/>
            <a:ext cx="457200" cy="201168"/>
          </a:xfrm>
          <a:prstGeom prst="rect">
            <a:avLst/>
          </a:prstGeom>
          <a:noFill/>
          <a:ln/>
        </p:spPr>
        <p:txBody>
          <a:bodyPr wrap="square" lIns="0" tIns="0" rIns="0" bIns="0" rtlCol="0" anchor="ctr"/>
          <a:lstStyle/>
          <a:p>
            <a:pPr marL="0" indent="0">
              <a:buNone/>
            </a:pPr>
            <a:r>
              <a:rPr lang="en-US" sz="900" b="1" kern="0" spc="150">
                <a:solidFill>
                  <a:srgbClr val="0E8A8A"/>
                </a:solidFill>
                <a:latin typeface="Calibri" pitchFamily="34" charset="0"/>
                <a:ea typeface="Calibri" pitchFamily="34" charset="-122"/>
                <a:cs typeface="Calibri" pitchFamily="34" charset="-120"/>
              </a:rPr>
              <a:t>02</a:t>
            </a:r>
            <a:endParaRPr lang="en-US" sz="900"/>
          </a:p>
        </p:txBody>
      </p:sp>
      <p:sp>
        <p:nvSpPr>
          <p:cNvPr id="13" name="Text 9"/>
          <p:cNvSpPr txBox="1"/>
          <p:nvPr/>
        </p:nvSpPr>
        <p:spPr>
          <a:xfrm>
            <a:off x="6181344" y="1737360"/>
            <a:ext cx="2340864" cy="384048"/>
          </a:xfrm>
          <a:prstGeom prst="rect">
            <a:avLst/>
          </a:prstGeom>
          <a:noFill/>
          <a:ln/>
        </p:spPr>
        <p:txBody>
          <a:bodyPr wrap="square" lIns="0" tIns="0" rIns="0" bIns="0" rtlCol="0" anchor="t"/>
          <a:lstStyle/>
          <a:p>
            <a:pPr marL="0" indent="0">
              <a:lnSpc>
                <a:spcPct val="100000"/>
              </a:lnSpc>
              <a:buNone/>
            </a:pPr>
            <a:r>
              <a:rPr lang="en-US" sz="1250" b="1">
                <a:solidFill>
                  <a:srgbClr val="16256B"/>
                </a:solidFill>
                <a:latin typeface="Cambria" pitchFamily="34" charset="0"/>
                <a:ea typeface="Cambria" pitchFamily="34" charset="-122"/>
                <a:cs typeface="Cambria" pitchFamily="34" charset="-120"/>
              </a:rPr>
              <a:t>Alimenter votre stratégie RSE</a:t>
            </a:r>
            <a:endParaRPr lang="en-US" sz="1250"/>
          </a:p>
        </p:txBody>
      </p:sp>
      <p:sp>
        <p:nvSpPr>
          <p:cNvPr id="14" name="Text 10"/>
          <p:cNvSpPr txBox="1"/>
          <p:nvPr/>
        </p:nvSpPr>
        <p:spPr>
          <a:xfrm>
            <a:off x="6181344" y="2157984"/>
            <a:ext cx="2322576" cy="548640"/>
          </a:xfrm>
          <a:prstGeom prst="rect">
            <a:avLst/>
          </a:prstGeom>
          <a:noFill/>
          <a:ln/>
        </p:spPr>
        <p:txBody>
          <a:bodyPr wrap="square" lIns="0" tIns="0" rIns="0" bIns="0" rtlCol="0" anchor="t"/>
          <a:lstStyle/>
          <a:p>
            <a:pPr marL="0" indent="0">
              <a:lnSpc>
                <a:spcPct val="115000"/>
              </a:lnSpc>
              <a:buNone/>
            </a:pPr>
            <a:r>
              <a:rPr lang="en-US" sz="850">
                <a:solidFill>
                  <a:srgbClr val="1F2937"/>
                </a:solidFill>
                <a:latin typeface="Calibri" pitchFamily="34" charset="0"/>
                <a:ea typeface="Calibri" pitchFamily="34" charset="-122"/>
                <a:cs typeface="Calibri" pitchFamily="34" charset="-120"/>
              </a:rPr>
              <a:t>Un rapport annuel par programme, avec des indicateurs financiers, extra-financiers et écologiques mobilisables dans votre reporting.</a:t>
            </a:r>
            <a:endParaRPr lang="en-US" sz="850"/>
          </a:p>
        </p:txBody>
      </p:sp>
      <p:sp>
        <p:nvSpPr>
          <p:cNvPr id="15" name="Shape 11"/>
          <p:cNvSpPr/>
          <p:nvPr/>
        </p:nvSpPr>
        <p:spPr>
          <a:xfrm>
            <a:off x="457200" y="3035808"/>
            <a:ext cx="3931920" cy="1426464"/>
          </a:xfrm>
          <a:prstGeom prst="roundRect">
            <a:avLst>
              <a:gd name="adj" fmla="val 3846"/>
            </a:avLst>
          </a:prstGeom>
          <a:solidFill>
            <a:srgbClr val="FFFFFF"/>
          </a:solidFill>
          <a:ln w="12700">
            <a:solidFill>
              <a:srgbClr val="FFFFFF"/>
            </a:solidFill>
            <a:prstDash val="solid"/>
          </a:ln>
        </p:spPr>
        <p:txBody>
          <a:bodyPr/>
          <a:lstStyle/>
          <a:p>
            <a:endParaRPr lang="fr-FR"/>
          </a:p>
        </p:txBody>
      </p:sp>
      <p:pic>
        <p:nvPicPr>
          <p:cNvPr id="16" name="Image 2" descr="/home/claude/v30/sq_p3.jpg"/>
          <p:cNvPicPr>
            <a:picLocks noChangeAspect="1"/>
          </p:cNvPicPr>
          <p:nvPr/>
        </p:nvPicPr>
        <p:blipFill>
          <a:blip r:embed="rId4"/>
          <a:stretch>
            <a:fillRect/>
          </a:stretch>
        </p:blipFill>
        <p:spPr>
          <a:xfrm>
            <a:off x="621792" y="3200400"/>
            <a:ext cx="1097280" cy="1097280"/>
          </a:xfrm>
          <a:prstGeom prst="rect">
            <a:avLst/>
          </a:prstGeom>
        </p:spPr>
      </p:pic>
      <p:sp>
        <p:nvSpPr>
          <p:cNvPr id="17" name="Text 12"/>
          <p:cNvSpPr txBox="1"/>
          <p:nvPr/>
        </p:nvSpPr>
        <p:spPr>
          <a:xfrm>
            <a:off x="1883664" y="3218688"/>
            <a:ext cx="457200" cy="201168"/>
          </a:xfrm>
          <a:prstGeom prst="rect">
            <a:avLst/>
          </a:prstGeom>
          <a:noFill/>
          <a:ln/>
        </p:spPr>
        <p:txBody>
          <a:bodyPr wrap="square" lIns="0" tIns="0" rIns="0" bIns="0" rtlCol="0" anchor="ctr"/>
          <a:lstStyle/>
          <a:p>
            <a:pPr marL="0" indent="0">
              <a:buNone/>
            </a:pPr>
            <a:r>
              <a:rPr lang="en-US" sz="900" b="1" kern="0" spc="150">
                <a:solidFill>
                  <a:srgbClr val="0E8A8A"/>
                </a:solidFill>
                <a:latin typeface="Calibri" pitchFamily="34" charset="0"/>
                <a:ea typeface="Calibri" pitchFamily="34" charset="-122"/>
                <a:cs typeface="Calibri" pitchFamily="34" charset="-120"/>
              </a:rPr>
              <a:t>03</a:t>
            </a:r>
            <a:endParaRPr lang="en-US" sz="900"/>
          </a:p>
        </p:txBody>
      </p:sp>
      <p:sp>
        <p:nvSpPr>
          <p:cNvPr id="18" name="Text 13"/>
          <p:cNvSpPr txBox="1"/>
          <p:nvPr/>
        </p:nvSpPr>
        <p:spPr>
          <a:xfrm>
            <a:off x="1883664" y="3383280"/>
            <a:ext cx="2340864" cy="384048"/>
          </a:xfrm>
          <a:prstGeom prst="rect">
            <a:avLst/>
          </a:prstGeom>
          <a:noFill/>
          <a:ln/>
        </p:spPr>
        <p:txBody>
          <a:bodyPr wrap="square" lIns="0" tIns="0" rIns="0" bIns="0" rtlCol="0" anchor="t"/>
          <a:lstStyle/>
          <a:p>
            <a:pPr marL="0" indent="0">
              <a:lnSpc>
                <a:spcPct val="100000"/>
              </a:lnSpc>
              <a:buNone/>
            </a:pPr>
            <a:r>
              <a:rPr lang="en-US" sz="1250" b="1">
                <a:solidFill>
                  <a:srgbClr val="16256B"/>
                </a:solidFill>
                <a:latin typeface="Cambria" pitchFamily="34" charset="0"/>
                <a:ea typeface="Cambria" pitchFamily="34" charset="-122"/>
                <a:cs typeface="Cambria" pitchFamily="34" charset="-120"/>
              </a:rPr>
              <a:t>Bénéficier d’un avantage fiscal</a:t>
            </a:r>
            <a:endParaRPr lang="en-US" sz="1250"/>
          </a:p>
        </p:txBody>
      </p:sp>
      <p:sp>
        <p:nvSpPr>
          <p:cNvPr id="19" name="Text 14"/>
          <p:cNvSpPr txBox="1"/>
          <p:nvPr/>
        </p:nvSpPr>
        <p:spPr>
          <a:xfrm>
            <a:off x="1883664" y="3803904"/>
            <a:ext cx="2322576" cy="548640"/>
          </a:xfrm>
          <a:prstGeom prst="rect">
            <a:avLst/>
          </a:prstGeom>
          <a:noFill/>
          <a:ln/>
        </p:spPr>
        <p:txBody>
          <a:bodyPr wrap="square" lIns="0" tIns="0" rIns="0" bIns="0" rtlCol="0" anchor="t"/>
          <a:lstStyle/>
          <a:p>
            <a:pPr marL="0" indent="0">
              <a:lnSpc>
                <a:spcPct val="115000"/>
              </a:lnSpc>
              <a:buNone/>
            </a:pPr>
            <a:r>
              <a:rPr lang="en-US" sz="850">
                <a:solidFill>
                  <a:srgbClr val="1F2937"/>
                </a:solidFill>
                <a:latin typeface="Calibri" pitchFamily="34" charset="0"/>
                <a:ea typeface="Calibri" pitchFamily="34" charset="-122"/>
                <a:cs typeface="Calibri" pitchFamily="34" charset="-120"/>
              </a:rPr>
              <a:t>60 % du montant versé pour une entreprise, 66 % pour un particulier, imputés sur l’impôt dû. Un reçu fiscal est émis pour chaque don.</a:t>
            </a:r>
            <a:endParaRPr lang="en-US" sz="850"/>
          </a:p>
        </p:txBody>
      </p:sp>
      <p:sp>
        <p:nvSpPr>
          <p:cNvPr id="20" name="Shape 15"/>
          <p:cNvSpPr/>
          <p:nvPr/>
        </p:nvSpPr>
        <p:spPr>
          <a:xfrm>
            <a:off x="4754880" y="3035808"/>
            <a:ext cx="3931920" cy="1426464"/>
          </a:xfrm>
          <a:prstGeom prst="roundRect">
            <a:avLst>
              <a:gd name="adj" fmla="val 3846"/>
            </a:avLst>
          </a:prstGeom>
          <a:solidFill>
            <a:srgbClr val="FFFFFF"/>
          </a:solidFill>
          <a:ln w="12700">
            <a:solidFill>
              <a:srgbClr val="FFFFFF"/>
            </a:solidFill>
            <a:prstDash val="solid"/>
          </a:ln>
        </p:spPr>
        <p:txBody>
          <a:bodyPr/>
          <a:lstStyle/>
          <a:p>
            <a:endParaRPr lang="fr-FR"/>
          </a:p>
        </p:txBody>
      </p:sp>
      <p:pic>
        <p:nvPicPr>
          <p:cNvPr id="21" name="Image 3" descr="Cote rocheuse mediterraneenne"/>
          <p:cNvPicPr>
            <a:picLocks noChangeAspect="1"/>
          </p:cNvPicPr>
          <p:nvPr/>
        </p:nvPicPr>
        <p:blipFill>
          <a:blip r:embed="rId5"/>
          <a:stretch>
            <a:fillRect/>
          </a:stretch>
        </p:blipFill>
        <p:spPr>
          <a:xfrm>
            <a:off x="4919472" y="3200400"/>
            <a:ext cx="1097280" cy="1097280"/>
          </a:xfrm>
          <a:prstGeom prst="rect">
            <a:avLst/>
          </a:prstGeom>
        </p:spPr>
      </p:pic>
      <p:sp>
        <p:nvSpPr>
          <p:cNvPr id="22" name="Text 16"/>
          <p:cNvSpPr txBox="1"/>
          <p:nvPr/>
        </p:nvSpPr>
        <p:spPr>
          <a:xfrm>
            <a:off x="6181344" y="3218688"/>
            <a:ext cx="457200" cy="201168"/>
          </a:xfrm>
          <a:prstGeom prst="rect">
            <a:avLst/>
          </a:prstGeom>
          <a:noFill/>
          <a:ln/>
        </p:spPr>
        <p:txBody>
          <a:bodyPr wrap="square" lIns="0" tIns="0" rIns="0" bIns="0" rtlCol="0" anchor="ctr"/>
          <a:lstStyle/>
          <a:p>
            <a:pPr marL="0" indent="0">
              <a:buNone/>
            </a:pPr>
            <a:r>
              <a:rPr lang="en-US" sz="900" b="1" kern="0" spc="150">
                <a:solidFill>
                  <a:srgbClr val="0E8A8A"/>
                </a:solidFill>
                <a:latin typeface="Calibri" pitchFamily="34" charset="0"/>
                <a:ea typeface="Calibri" pitchFamily="34" charset="-122"/>
                <a:cs typeface="Calibri" pitchFamily="34" charset="-120"/>
              </a:rPr>
              <a:t>04</a:t>
            </a:r>
            <a:endParaRPr lang="en-US" sz="900"/>
          </a:p>
        </p:txBody>
      </p:sp>
      <p:sp>
        <p:nvSpPr>
          <p:cNvPr id="23" name="Text 17"/>
          <p:cNvSpPr txBox="1"/>
          <p:nvPr/>
        </p:nvSpPr>
        <p:spPr>
          <a:xfrm>
            <a:off x="6181344" y="3383280"/>
            <a:ext cx="2340864" cy="384048"/>
          </a:xfrm>
          <a:prstGeom prst="rect">
            <a:avLst/>
          </a:prstGeom>
          <a:noFill/>
          <a:ln/>
        </p:spPr>
        <p:txBody>
          <a:bodyPr wrap="square" lIns="0" tIns="0" rIns="0" bIns="0" rtlCol="0" anchor="t"/>
          <a:lstStyle/>
          <a:p>
            <a:pPr marL="0" indent="0">
              <a:lnSpc>
                <a:spcPct val="100000"/>
              </a:lnSpc>
              <a:buNone/>
            </a:pPr>
            <a:r>
              <a:rPr lang="en-US" sz="1250" b="1">
                <a:solidFill>
                  <a:srgbClr val="16256B"/>
                </a:solidFill>
                <a:latin typeface="Cambria" pitchFamily="34" charset="0"/>
                <a:ea typeface="Cambria" pitchFamily="34" charset="-122"/>
                <a:cs typeface="Cambria" pitchFamily="34" charset="-120"/>
              </a:rPr>
              <a:t>Soutenir votre écosystème d’activité</a:t>
            </a:r>
            <a:endParaRPr lang="en-US" sz="1250"/>
          </a:p>
        </p:txBody>
      </p:sp>
      <p:sp>
        <p:nvSpPr>
          <p:cNvPr id="24" name="Text 18"/>
          <p:cNvSpPr txBox="1"/>
          <p:nvPr/>
        </p:nvSpPr>
        <p:spPr>
          <a:xfrm>
            <a:off x="6181344" y="3803904"/>
            <a:ext cx="2322576" cy="548640"/>
          </a:xfrm>
          <a:prstGeom prst="rect">
            <a:avLst/>
          </a:prstGeom>
          <a:noFill/>
          <a:ln/>
        </p:spPr>
        <p:txBody>
          <a:bodyPr wrap="square" lIns="0" tIns="0" rIns="0" bIns="0" rtlCol="0" anchor="t"/>
          <a:lstStyle/>
          <a:p>
            <a:r>
              <a:rPr lang="fr-FR" sz="850">
                <a:solidFill>
                  <a:srgbClr val="1F2937"/>
                </a:solidFill>
                <a:latin typeface="Calibri" pitchFamily="34" charset="0"/>
                <a:ea typeface="Calibri" pitchFamily="34" charset="-122"/>
                <a:cs typeface="Calibri" pitchFamily="34" charset="-120"/>
              </a:rPr>
              <a:t>Pour une entreprise régionale, s’engager pour la Méditerranée, c’est contribuer à préserver un écosystème essentiel à l’avenir de son territoire.</a:t>
            </a:r>
            <a:endParaRPr lang="en-US" sz="850">
              <a:solidFill>
                <a:srgbClr val="1F2937"/>
              </a:solidFill>
              <a:latin typeface="Calibri" pitchFamily="34" charset="0"/>
              <a:ea typeface="Calibri" pitchFamily="34" charset="-122"/>
              <a:cs typeface="Calibri" pitchFamily="34" charset="-120"/>
            </a:endParaRPr>
          </a:p>
        </p:txBody>
      </p:sp>
      <p:sp>
        <p:nvSpPr>
          <p:cNvPr id="26" name="Text 20"/>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CADCFC"/>
                </a:solidFill>
                <a:latin typeface="Calibri" pitchFamily="34" charset="0"/>
                <a:ea typeface="Calibri" pitchFamily="34" charset="-122"/>
                <a:cs typeface="Calibri" pitchFamily="34" charset="-120"/>
              </a:rPr>
              <a:t>16</a:t>
            </a:r>
            <a:endParaRPr lang="en-US" sz="8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256B">
              <a:alpha val="55000"/>
            </a:srgbClr>
          </a:solidFill>
          <a:ln w="12700">
            <a:solidFill>
              <a:srgbClr val="16256B">
                <a:alpha val="0"/>
              </a:srgbClr>
            </a:solidFill>
            <a:prstDash val="solid"/>
          </a:ln>
        </p:spPr>
        <p:txBody>
          <a:bodyPr/>
          <a:lstStyle/>
          <a:p>
            <a:endParaRPr/>
          </a:p>
        </p:txBody>
      </p:sp>
      <p:sp>
        <p:nvSpPr>
          <p:cNvPr id="3" name="Shape 1"/>
          <p:cNvSpPr/>
          <p:nvPr/>
        </p:nvSpPr>
        <p:spPr>
          <a:xfrm>
            <a:off x="457200" y="1874520"/>
            <a:ext cx="109728" cy="1371600"/>
          </a:xfrm>
          <a:prstGeom prst="rect">
            <a:avLst/>
          </a:prstGeom>
          <a:solidFill>
            <a:srgbClr val="7FD3D0"/>
          </a:solidFill>
          <a:ln w="12700">
            <a:solidFill>
              <a:srgbClr val="7FD3D0"/>
            </a:solidFill>
            <a:prstDash val="solid"/>
          </a:ln>
        </p:spPr>
        <p:txBody>
          <a:bodyPr/>
          <a:lstStyle/>
          <a:p>
            <a:endParaRPr/>
          </a:p>
        </p:txBody>
      </p:sp>
      <p:sp>
        <p:nvSpPr>
          <p:cNvPr id="4" name="Text 2"/>
          <p:cNvSpPr txBox="1"/>
          <p:nvPr/>
        </p:nvSpPr>
        <p:spPr>
          <a:xfrm>
            <a:off x="777240" y="1828800"/>
            <a:ext cx="7315200" cy="274320"/>
          </a:xfrm>
          <a:prstGeom prst="rect">
            <a:avLst/>
          </a:prstGeom>
          <a:noFill/>
          <a:ln/>
        </p:spPr>
        <p:txBody>
          <a:bodyPr wrap="square" lIns="0" tIns="0" rIns="0" bIns="0" rtlCol="0" anchor="ctr"/>
          <a:lstStyle/>
          <a:p>
            <a:pPr marL="0" indent="0">
              <a:buNone/>
            </a:pPr>
            <a:r>
              <a:rPr lang="en-US" sz="1000" b="1" kern="0" spc="400">
                <a:solidFill>
                  <a:srgbClr val="7FD3D0"/>
                </a:solidFill>
                <a:latin typeface="Calibri" pitchFamily="34" charset="0"/>
                <a:ea typeface="Calibri" pitchFamily="34" charset="-122"/>
                <a:cs typeface="Calibri" pitchFamily="34" charset="-120"/>
              </a:rPr>
              <a:t>TROISIÈME PARTIE</a:t>
            </a:r>
            <a:endParaRPr lang="en-US" sz="1000"/>
          </a:p>
        </p:txBody>
      </p:sp>
      <p:sp>
        <p:nvSpPr>
          <p:cNvPr id="5" name="Text 3"/>
          <p:cNvSpPr txBox="1"/>
          <p:nvPr/>
        </p:nvSpPr>
        <p:spPr>
          <a:xfrm>
            <a:off x="777240" y="2103120"/>
            <a:ext cx="7315200" cy="914400"/>
          </a:xfrm>
          <a:prstGeom prst="rect">
            <a:avLst/>
          </a:prstGeom>
          <a:noFill/>
          <a:ln/>
        </p:spPr>
        <p:txBody>
          <a:bodyPr wrap="square" lIns="0" tIns="0" rIns="0" bIns="0" rtlCol="0" anchor="t"/>
          <a:lstStyle/>
          <a:p>
            <a:pPr marL="0" indent="0">
              <a:buNone/>
            </a:pPr>
            <a:r>
              <a:rPr lang="en-US" sz="5400" b="1">
                <a:solidFill>
                  <a:srgbClr val="FFFFFF"/>
                </a:solidFill>
                <a:latin typeface="Cambria" pitchFamily="34" charset="0"/>
                <a:ea typeface="Cambria" pitchFamily="34" charset="-122"/>
                <a:cs typeface="Cambria" pitchFamily="34" charset="-120"/>
              </a:rPr>
              <a:t>Notre gouvernance</a:t>
            </a:r>
            <a:endParaRPr lang="en-US" sz="5400"/>
          </a:p>
        </p:txBody>
      </p:sp>
      <p:sp>
        <p:nvSpPr>
          <p:cNvPr id="6" name="Text 4"/>
          <p:cNvSpPr txBox="1"/>
          <p:nvPr/>
        </p:nvSpPr>
        <p:spPr>
          <a:xfrm>
            <a:off x="777240" y="3017520"/>
            <a:ext cx="7315200" cy="320040"/>
          </a:xfrm>
          <a:prstGeom prst="rect">
            <a:avLst/>
          </a:prstGeom>
          <a:noFill/>
          <a:ln/>
        </p:spPr>
        <p:txBody>
          <a:bodyPr wrap="square" lIns="0" tIns="0" rIns="0" bIns="0" rtlCol="0" anchor="ctr"/>
          <a:lstStyle/>
          <a:p>
            <a:pPr marL="0" indent="0">
              <a:buNone/>
            </a:pPr>
            <a:r>
              <a:rPr lang="en-US" sz="1400">
                <a:solidFill>
                  <a:srgbClr val="E6EAF5"/>
                </a:solidFill>
                <a:latin typeface="Calibri" pitchFamily="34" charset="0"/>
                <a:ea typeface="Calibri" pitchFamily="34" charset="-122"/>
                <a:cs typeface="Calibri" pitchFamily="34" charset="-120"/>
              </a:rPr>
              <a:t>Le comité de pilotage, le conseil d’administration, l’équipe.</a:t>
            </a:r>
            <a:endParaRPr lang="en-US" sz="1400"/>
          </a:p>
        </p:txBody>
      </p:sp>
      <p:pic>
        <p:nvPicPr>
          <p:cNvPr id="7" name="Image 0" descr="/home/claude/v8/img/logo_white.png"/>
          <p:cNvPicPr>
            <a:picLocks noChangeAspect="1"/>
          </p:cNvPicPr>
          <p:nvPr/>
        </p:nvPicPr>
        <p:blipFill>
          <a:blip r:embed="rId3"/>
          <a:stretch>
            <a:fillRect/>
          </a:stretch>
        </p:blipFill>
        <p:spPr>
          <a:xfrm>
            <a:off x="6949440" y="320040"/>
            <a:ext cx="1621380" cy="548640"/>
          </a:xfrm>
          <a:prstGeom prst="rect">
            <a:avLst/>
          </a:prstGeom>
        </p:spPr>
      </p:pic>
      <p:sp>
        <p:nvSpPr>
          <p:cNvPr id="8" name="Text 5"/>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CADCFC"/>
                </a:solidFill>
                <a:latin typeface="Calibri" pitchFamily="34" charset="0"/>
                <a:ea typeface="Calibri" pitchFamily="34" charset="-122"/>
                <a:cs typeface="Calibri" pitchFamily="34" charset="-120"/>
              </a:rPr>
              <a:t>17</a:t>
            </a:r>
            <a:endParaRPr lang="en-US" sz="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ctr"/>
          <a:lstStyle/>
          <a:p>
            <a:r>
              <a:rPr lang="en-US" sz="900" b="1" kern="0" spc="200">
                <a:solidFill>
                  <a:srgbClr val="0E8A8A"/>
                </a:solidFill>
                <a:latin typeface="Calibri" pitchFamily="34" charset="0"/>
                <a:ea typeface="Calibri" pitchFamily="34" charset="-122"/>
                <a:cs typeface="Calibri" pitchFamily="34" charset="-120"/>
              </a:rPr>
              <a:t>NOTRE GOUVERNANCE · CONSEIL D’ADMINISTRATION · 2026-2027</a:t>
            </a:r>
            <a:endParaRPr lang="en-US" sz="900"/>
          </a:p>
        </p:txBody>
      </p:sp>
      <p:sp>
        <p:nvSpPr>
          <p:cNvPr id="3" name="Text 1"/>
          <p:cNvSpPr txBox="1"/>
          <p:nvPr/>
        </p:nvSpPr>
        <p:spPr>
          <a:xfrm>
            <a:off x="457200" y="502920"/>
            <a:ext cx="8229600" cy="411480"/>
          </a:xfrm>
          <a:prstGeom prst="rect">
            <a:avLst/>
          </a:prstGeom>
          <a:noFill/>
          <a:ln/>
        </p:spPr>
        <p:txBody>
          <a:bodyPr wrap="square" lIns="0" tIns="0" rIns="0" bIns="0" rtlCol="0" anchor="ctr"/>
          <a:lstStyle/>
          <a:p>
            <a:pPr marL="0" indent="0">
              <a:buNone/>
            </a:pPr>
            <a:r>
              <a:rPr lang="en-US" sz="2200" b="1">
                <a:solidFill>
                  <a:srgbClr val="16256B"/>
                </a:solidFill>
                <a:latin typeface="Cambria" pitchFamily="34" charset="0"/>
                <a:ea typeface="Cambria" pitchFamily="34" charset="-122"/>
                <a:cs typeface="Cambria" pitchFamily="34" charset="-120"/>
              </a:rPr>
              <a:t>Un conseil resserré pour démarrer, élargi ensuite</a:t>
            </a:r>
            <a:endParaRPr lang="en-US" sz="2200"/>
          </a:p>
        </p:txBody>
      </p:sp>
      <p:sp>
        <p:nvSpPr>
          <p:cNvPr id="4" name="Shape 2"/>
          <p:cNvSpPr/>
          <p:nvPr/>
        </p:nvSpPr>
        <p:spPr>
          <a:xfrm>
            <a:off x="457200" y="1051560"/>
            <a:ext cx="5394960" cy="2651760"/>
          </a:xfrm>
          <a:prstGeom prst="roundRect">
            <a:avLst>
              <a:gd name="adj" fmla="val 2069"/>
            </a:avLst>
          </a:prstGeom>
          <a:solidFill>
            <a:srgbClr val="EEF1FB"/>
          </a:solidFill>
          <a:ln w="12700">
            <a:solidFill>
              <a:srgbClr val="EEF1FB"/>
            </a:solidFill>
            <a:prstDash val="solid"/>
          </a:ln>
        </p:spPr>
        <p:txBody>
          <a:bodyPr/>
          <a:lstStyle/>
          <a:p>
            <a:endParaRPr/>
          </a:p>
        </p:txBody>
      </p:sp>
      <p:sp>
        <p:nvSpPr>
          <p:cNvPr id="5" name="Text 3"/>
          <p:cNvSpPr txBox="1"/>
          <p:nvPr/>
        </p:nvSpPr>
        <p:spPr>
          <a:xfrm>
            <a:off x="640080" y="1161288"/>
            <a:ext cx="5029200" cy="182880"/>
          </a:xfrm>
          <a:prstGeom prst="rect">
            <a:avLst/>
          </a:prstGeom>
          <a:noFill/>
          <a:ln/>
        </p:spPr>
        <p:txBody>
          <a:bodyPr wrap="square" lIns="0" tIns="0" rIns="0" bIns="0" rtlCol="0" anchor="ctr"/>
          <a:lstStyle/>
          <a:p>
            <a:pPr marL="0" indent="0">
              <a:buNone/>
            </a:pPr>
            <a:r>
              <a:rPr lang="en-US" sz="800" b="1" kern="0" spc="150">
                <a:solidFill>
                  <a:srgbClr val="0E8A8A"/>
                </a:solidFill>
                <a:latin typeface="Calibri" pitchFamily="34" charset="0"/>
                <a:ea typeface="Calibri" pitchFamily="34" charset="-122"/>
                <a:cs typeface="Calibri" pitchFamily="34" charset="-120"/>
              </a:rPr>
              <a:t>PHASE 1 · LES DOUZE PREMIERS MOIS · TROIS ADMINISTRATEURS</a:t>
            </a:r>
            <a:endParaRPr lang="en-US" sz="800"/>
          </a:p>
        </p:txBody>
      </p:sp>
      <p:pic>
        <p:nvPicPr>
          <p:cNvPr id="6" name="Image 0" descr="/home/claude/v10/por/gaubert.png"/>
          <p:cNvPicPr>
            <a:picLocks noChangeAspect="1"/>
          </p:cNvPicPr>
          <p:nvPr/>
        </p:nvPicPr>
        <p:blipFill>
          <a:blip r:embed="rId3"/>
          <a:stretch>
            <a:fillRect/>
          </a:stretch>
        </p:blipFill>
        <p:spPr>
          <a:xfrm>
            <a:off x="914400" y="1417320"/>
            <a:ext cx="1051560" cy="1051560"/>
          </a:xfrm>
          <a:prstGeom prst="rect">
            <a:avLst/>
          </a:prstGeom>
        </p:spPr>
      </p:pic>
      <p:sp>
        <p:nvSpPr>
          <p:cNvPr id="7" name="Text 4"/>
          <p:cNvSpPr txBox="1"/>
          <p:nvPr/>
        </p:nvSpPr>
        <p:spPr>
          <a:xfrm>
            <a:off x="640080" y="2523744"/>
            <a:ext cx="1600200" cy="219456"/>
          </a:xfrm>
          <a:prstGeom prst="rect">
            <a:avLst/>
          </a:prstGeom>
          <a:noFill/>
          <a:ln/>
        </p:spPr>
        <p:txBody>
          <a:bodyPr wrap="square" lIns="0" tIns="0" rIns="0" bIns="0" rtlCol="0" anchor="ctr"/>
          <a:lstStyle/>
          <a:p>
            <a:pPr marL="0" indent="0" algn="ctr">
              <a:buNone/>
            </a:pPr>
            <a:r>
              <a:rPr lang="en-US" sz="1100" b="1">
                <a:solidFill>
                  <a:srgbClr val="16256B"/>
                </a:solidFill>
                <a:latin typeface="Cambria" pitchFamily="34" charset="0"/>
                <a:ea typeface="Cambria" pitchFamily="34" charset="-122"/>
                <a:cs typeface="Cambria" pitchFamily="34" charset="-120"/>
              </a:rPr>
              <a:t>Jean-Baptiste Gaubert</a:t>
            </a:r>
            <a:endParaRPr lang="en-US" sz="1100"/>
          </a:p>
        </p:txBody>
      </p:sp>
      <p:sp>
        <p:nvSpPr>
          <p:cNvPr id="8" name="Text 5"/>
          <p:cNvSpPr txBox="1"/>
          <p:nvPr/>
        </p:nvSpPr>
        <p:spPr>
          <a:xfrm>
            <a:off x="640080" y="2743200"/>
            <a:ext cx="1600200" cy="182880"/>
          </a:xfrm>
          <a:prstGeom prst="rect">
            <a:avLst/>
          </a:prstGeom>
          <a:noFill/>
          <a:ln/>
        </p:spPr>
        <p:txBody>
          <a:bodyPr wrap="square" lIns="0" tIns="0" rIns="0" bIns="0" rtlCol="0" anchor="ctr"/>
          <a:lstStyle/>
          <a:p>
            <a:pPr marL="0" indent="0" algn="ctr">
              <a:buNone/>
            </a:pPr>
            <a:r>
              <a:rPr lang="en-US" sz="900" b="1">
                <a:solidFill>
                  <a:srgbClr val="0E8A8A"/>
                </a:solidFill>
                <a:latin typeface="Calibri" pitchFamily="34" charset="0"/>
                <a:ea typeface="Calibri" pitchFamily="34" charset="-122"/>
                <a:cs typeface="Calibri" pitchFamily="34" charset="-120"/>
              </a:rPr>
              <a:t>Président</a:t>
            </a:r>
            <a:endParaRPr lang="en-US" sz="900"/>
          </a:p>
        </p:txBody>
      </p:sp>
      <p:sp>
        <p:nvSpPr>
          <p:cNvPr id="9" name="Text 6"/>
          <p:cNvSpPr txBox="1"/>
          <p:nvPr/>
        </p:nvSpPr>
        <p:spPr>
          <a:xfrm>
            <a:off x="640080" y="2926080"/>
            <a:ext cx="1600200" cy="457200"/>
          </a:xfrm>
          <a:prstGeom prst="rect">
            <a:avLst/>
          </a:prstGeom>
          <a:noFill/>
          <a:ln/>
        </p:spPr>
        <p:txBody>
          <a:bodyPr wrap="square" lIns="0" tIns="0" rIns="0" bIns="0" rtlCol="0" anchor="t"/>
          <a:lstStyle/>
          <a:p>
            <a:pPr marL="0" indent="0" algn="ctr">
              <a:buNone/>
            </a:pPr>
            <a:r>
              <a:rPr lang="en-US" sz="800">
                <a:solidFill>
                  <a:srgbClr val="1F2937"/>
                </a:solidFill>
                <a:latin typeface="Calibri" pitchFamily="34" charset="0"/>
                <a:ea typeface="Calibri" pitchFamily="34" charset="-122"/>
                <a:cs typeface="Calibri" pitchFamily="34" charset="-120"/>
              </a:rPr>
              <a:t>Patron pêcheur, vice-président du CRPMEM Occitanie</a:t>
            </a:r>
            <a:endParaRPr lang="en-US" sz="800"/>
          </a:p>
        </p:txBody>
      </p:sp>
      <p:pic>
        <p:nvPicPr>
          <p:cNvPr id="10" name="Image 1" descr="/home/claude/v10/por/wendling.png"/>
          <p:cNvPicPr>
            <a:picLocks noChangeAspect="1"/>
          </p:cNvPicPr>
          <p:nvPr/>
        </p:nvPicPr>
        <p:blipFill>
          <a:blip r:embed="rId4"/>
          <a:stretch>
            <a:fillRect/>
          </a:stretch>
        </p:blipFill>
        <p:spPr>
          <a:xfrm>
            <a:off x="2651760" y="1417320"/>
            <a:ext cx="1051560" cy="1051560"/>
          </a:xfrm>
          <a:prstGeom prst="rect">
            <a:avLst/>
          </a:prstGeom>
        </p:spPr>
      </p:pic>
      <p:sp>
        <p:nvSpPr>
          <p:cNvPr id="11" name="Text 7"/>
          <p:cNvSpPr txBox="1"/>
          <p:nvPr/>
        </p:nvSpPr>
        <p:spPr>
          <a:xfrm>
            <a:off x="2377440" y="2523744"/>
            <a:ext cx="1600200" cy="219456"/>
          </a:xfrm>
          <a:prstGeom prst="rect">
            <a:avLst/>
          </a:prstGeom>
          <a:noFill/>
          <a:ln/>
        </p:spPr>
        <p:txBody>
          <a:bodyPr wrap="square" lIns="0" tIns="0" rIns="0" bIns="0" rtlCol="0" anchor="ctr"/>
          <a:lstStyle/>
          <a:p>
            <a:pPr marL="0" indent="0" algn="ctr">
              <a:buNone/>
            </a:pPr>
            <a:r>
              <a:rPr lang="en-US" sz="1100" b="1">
                <a:solidFill>
                  <a:srgbClr val="16256B"/>
                </a:solidFill>
                <a:latin typeface="Cambria" pitchFamily="34" charset="0"/>
                <a:ea typeface="Cambria" pitchFamily="34" charset="-122"/>
                <a:cs typeface="Cambria" pitchFamily="34" charset="-120"/>
              </a:rPr>
              <a:t>Bertrand Wendling</a:t>
            </a:r>
            <a:endParaRPr lang="en-US" sz="1100"/>
          </a:p>
        </p:txBody>
      </p:sp>
      <p:sp>
        <p:nvSpPr>
          <p:cNvPr id="12" name="Text 8"/>
          <p:cNvSpPr txBox="1"/>
          <p:nvPr/>
        </p:nvSpPr>
        <p:spPr>
          <a:xfrm>
            <a:off x="2377440" y="2743200"/>
            <a:ext cx="1600200" cy="182880"/>
          </a:xfrm>
          <a:prstGeom prst="rect">
            <a:avLst/>
          </a:prstGeom>
          <a:noFill/>
          <a:ln/>
        </p:spPr>
        <p:txBody>
          <a:bodyPr wrap="square" lIns="0" tIns="0" rIns="0" bIns="0" rtlCol="0" anchor="ctr"/>
          <a:lstStyle/>
          <a:p>
            <a:pPr marL="0" indent="0" algn="ctr">
              <a:buNone/>
            </a:pPr>
            <a:r>
              <a:rPr lang="en-US" sz="900" b="1">
                <a:solidFill>
                  <a:srgbClr val="0E8A8A"/>
                </a:solidFill>
                <a:latin typeface="Calibri" pitchFamily="34" charset="0"/>
                <a:ea typeface="Calibri" pitchFamily="34" charset="-122"/>
                <a:cs typeface="Calibri" pitchFamily="34" charset="-120"/>
              </a:rPr>
              <a:t>Trésorier</a:t>
            </a:r>
            <a:endParaRPr lang="en-US" sz="900"/>
          </a:p>
        </p:txBody>
      </p:sp>
      <p:sp>
        <p:nvSpPr>
          <p:cNvPr id="13" name="Text 9"/>
          <p:cNvSpPr txBox="1"/>
          <p:nvPr/>
        </p:nvSpPr>
        <p:spPr>
          <a:xfrm>
            <a:off x="2377440" y="2926080"/>
            <a:ext cx="1600200" cy="457200"/>
          </a:xfrm>
          <a:prstGeom prst="rect">
            <a:avLst/>
          </a:prstGeom>
          <a:noFill/>
          <a:ln/>
        </p:spPr>
        <p:txBody>
          <a:bodyPr wrap="square" lIns="0" tIns="0" rIns="0" bIns="0" rtlCol="0" anchor="t"/>
          <a:lstStyle/>
          <a:p>
            <a:pPr marL="0" indent="0" algn="ctr">
              <a:buNone/>
            </a:pPr>
            <a:r>
              <a:rPr lang="en-US" sz="800">
                <a:solidFill>
                  <a:srgbClr val="1F2937"/>
                </a:solidFill>
                <a:latin typeface="Calibri" pitchFamily="34" charset="0"/>
                <a:ea typeface="Calibri" pitchFamily="34" charset="-122"/>
                <a:cs typeface="Calibri" pitchFamily="34" charset="-120"/>
              </a:rPr>
              <a:t>Directeur général de la SATHOAN, vice-président du conseil consultatif européen des pêches</a:t>
            </a:r>
            <a:endParaRPr lang="en-US" sz="800"/>
          </a:p>
        </p:txBody>
      </p:sp>
      <p:pic>
        <p:nvPicPr>
          <p:cNvPr id="14" name="Image 2" descr="/home/claude/v10/por/ruyssen.png"/>
          <p:cNvPicPr>
            <a:picLocks noChangeAspect="1"/>
          </p:cNvPicPr>
          <p:nvPr/>
        </p:nvPicPr>
        <p:blipFill>
          <a:blip r:embed="rId5"/>
          <a:stretch>
            <a:fillRect/>
          </a:stretch>
        </p:blipFill>
        <p:spPr>
          <a:xfrm>
            <a:off x="4389120" y="1417320"/>
            <a:ext cx="1051560" cy="1051560"/>
          </a:xfrm>
          <a:prstGeom prst="rect">
            <a:avLst/>
          </a:prstGeom>
        </p:spPr>
      </p:pic>
      <p:sp>
        <p:nvSpPr>
          <p:cNvPr id="15" name="Text 10"/>
          <p:cNvSpPr txBox="1"/>
          <p:nvPr/>
        </p:nvSpPr>
        <p:spPr>
          <a:xfrm>
            <a:off x="4114800" y="2523744"/>
            <a:ext cx="1600200" cy="219456"/>
          </a:xfrm>
          <a:prstGeom prst="rect">
            <a:avLst/>
          </a:prstGeom>
          <a:noFill/>
          <a:ln/>
        </p:spPr>
        <p:txBody>
          <a:bodyPr wrap="square" lIns="0" tIns="0" rIns="0" bIns="0" rtlCol="0" anchor="ctr"/>
          <a:lstStyle/>
          <a:p>
            <a:pPr marL="0" indent="0" algn="ctr">
              <a:buNone/>
            </a:pPr>
            <a:r>
              <a:rPr lang="en-US" sz="1100" b="1" err="1">
                <a:solidFill>
                  <a:srgbClr val="16256B"/>
                </a:solidFill>
                <a:latin typeface="Cambria" pitchFamily="34" charset="0"/>
                <a:ea typeface="Cambria" pitchFamily="34" charset="-122"/>
                <a:cs typeface="Cambria" pitchFamily="34" charset="-120"/>
              </a:rPr>
              <a:t>Ifremer</a:t>
            </a:r>
            <a:r>
              <a:rPr lang="en-US" sz="1100" b="1">
                <a:solidFill>
                  <a:srgbClr val="16256B"/>
                </a:solidFill>
                <a:latin typeface="Cambria" pitchFamily="34" charset="0"/>
                <a:ea typeface="Cambria" pitchFamily="34" charset="-122"/>
                <a:cs typeface="Cambria" pitchFamily="34" charset="-120"/>
              </a:rPr>
              <a:t>, </a:t>
            </a:r>
            <a:r>
              <a:rPr lang="en-US" sz="1100" b="1" err="1">
                <a:solidFill>
                  <a:srgbClr val="16256B"/>
                </a:solidFill>
                <a:latin typeface="Cambria" pitchFamily="34" charset="0"/>
                <a:ea typeface="Cambria" pitchFamily="34" charset="-122"/>
                <a:cs typeface="Cambria" pitchFamily="34" charset="-120"/>
              </a:rPr>
              <a:t>représenté</a:t>
            </a:r>
            <a:r>
              <a:rPr lang="en-US" sz="1100" b="1">
                <a:solidFill>
                  <a:srgbClr val="16256B"/>
                </a:solidFill>
                <a:latin typeface="Cambria" pitchFamily="34" charset="0"/>
                <a:ea typeface="Cambria" pitchFamily="34" charset="-122"/>
                <a:cs typeface="Cambria" pitchFamily="34" charset="-120"/>
              </a:rPr>
              <a:t> par Maria Ruyssen</a:t>
            </a:r>
            <a:endParaRPr lang="en-US" sz="1100"/>
          </a:p>
        </p:txBody>
      </p:sp>
      <p:sp>
        <p:nvSpPr>
          <p:cNvPr id="16" name="Text 11"/>
          <p:cNvSpPr txBox="1"/>
          <p:nvPr/>
        </p:nvSpPr>
        <p:spPr>
          <a:xfrm>
            <a:off x="4114800" y="2743200"/>
            <a:ext cx="1600200" cy="182880"/>
          </a:xfrm>
          <a:prstGeom prst="rect">
            <a:avLst/>
          </a:prstGeom>
          <a:noFill/>
          <a:ln/>
        </p:spPr>
        <p:txBody>
          <a:bodyPr wrap="square" lIns="0" tIns="0" rIns="0" bIns="0" rtlCol="0" anchor="ctr"/>
          <a:lstStyle/>
          <a:p>
            <a:pPr marL="0" indent="0" algn="ctr">
              <a:buNone/>
            </a:pPr>
            <a:r>
              <a:rPr lang="en-US" sz="900" b="1">
                <a:solidFill>
                  <a:srgbClr val="0E8A8A"/>
                </a:solidFill>
                <a:latin typeface="Calibri" pitchFamily="34" charset="0"/>
                <a:ea typeface="Calibri" pitchFamily="34" charset="-122"/>
                <a:cs typeface="Calibri" pitchFamily="34" charset="-120"/>
              </a:rPr>
              <a:t>Secrétaire</a:t>
            </a:r>
            <a:endParaRPr lang="en-US" sz="900"/>
          </a:p>
        </p:txBody>
      </p:sp>
      <p:sp>
        <p:nvSpPr>
          <p:cNvPr id="17" name="Text 12"/>
          <p:cNvSpPr txBox="1"/>
          <p:nvPr/>
        </p:nvSpPr>
        <p:spPr>
          <a:xfrm>
            <a:off x="4114800" y="2926080"/>
            <a:ext cx="1600200" cy="457200"/>
          </a:xfrm>
          <a:prstGeom prst="rect">
            <a:avLst/>
          </a:prstGeom>
          <a:noFill/>
          <a:ln/>
        </p:spPr>
        <p:txBody>
          <a:bodyPr wrap="square" lIns="0" tIns="0" rIns="0" bIns="0" rtlCol="0" anchor="t"/>
          <a:lstStyle/>
          <a:p>
            <a:pPr marL="0" indent="0" algn="ctr">
              <a:buNone/>
            </a:pPr>
            <a:r>
              <a:rPr lang="en-US" sz="800">
                <a:solidFill>
                  <a:srgbClr val="1F2937"/>
                </a:solidFill>
                <a:latin typeface="Calibri" pitchFamily="34" charset="0"/>
                <a:ea typeface="Calibri" pitchFamily="34" charset="-122"/>
                <a:cs typeface="Calibri" pitchFamily="34" charset="-120"/>
              </a:rPr>
              <a:t>Directrice de la station Ifremer de Sète</a:t>
            </a:r>
            <a:endParaRPr lang="en-US" sz="800"/>
          </a:p>
        </p:txBody>
      </p:sp>
      <p:sp>
        <p:nvSpPr>
          <p:cNvPr id="18" name="Text 13"/>
          <p:cNvSpPr txBox="1"/>
          <p:nvPr/>
        </p:nvSpPr>
        <p:spPr>
          <a:xfrm>
            <a:off x="640080" y="3364992"/>
            <a:ext cx="5029200" cy="274320"/>
          </a:xfrm>
          <a:prstGeom prst="rect">
            <a:avLst/>
          </a:prstGeom>
          <a:noFill/>
          <a:ln/>
        </p:spPr>
        <p:txBody>
          <a:bodyPr wrap="square" lIns="0" tIns="0" rIns="0" bIns="0" rtlCol="0" anchor="ctr"/>
          <a:lstStyle/>
          <a:p>
            <a:pPr marL="0" indent="0">
              <a:buNone/>
            </a:pPr>
            <a:r>
              <a:rPr lang="en-US" sz="850" i="1">
                <a:solidFill>
                  <a:srgbClr val="6B7280"/>
                </a:solidFill>
                <a:latin typeface="Calibri" pitchFamily="34" charset="0"/>
                <a:ea typeface="Calibri" pitchFamily="34" charset="-122"/>
                <a:cs typeface="Calibri" pitchFamily="34" charset="-120"/>
              </a:rPr>
              <a:t>Un pêcheur, la structure fondatrice, l’Ifremer en tant que personne morale : représentatif du futur CA élargi à douze membres.</a:t>
            </a:r>
            <a:endParaRPr lang="en-US" sz="850"/>
          </a:p>
        </p:txBody>
      </p:sp>
      <p:sp>
        <p:nvSpPr>
          <p:cNvPr id="19" name="Shape 14"/>
          <p:cNvSpPr/>
          <p:nvPr/>
        </p:nvSpPr>
        <p:spPr>
          <a:xfrm>
            <a:off x="6035040" y="1051560"/>
            <a:ext cx="2651760" cy="1234440"/>
          </a:xfrm>
          <a:prstGeom prst="roundRect">
            <a:avLst>
              <a:gd name="adj" fmla="val 4444"/>
            </a:avLst>
          </a:prstGeom>
          <a:solidFill>
            <a:srgbClr val="16256B"/>
          </a:solidFill>
          <a:ln w="12700">
            <a:solidFill>
              <a:srgbClr val="16256B"/>
            </a:solidFill>
            <a:prstDash val="solid"/>
          </a:ln>
        </p:spPr>
        <p:txBody>
          <a:bodyPr/>
          <a:lstStyle/>
          <a:p>
            <a:endParaRPr/>
          </a:p>
        </p:txBody>
      </p:sp>
      <p:sp>
        <p:nvSpPr>
          <p:cNvPr id="20" name="Text 15"/>
          <p:cNvSpPr txBox="1"/>
          <p:nvPr/>
        </p:nvSpPr>
        <p:spPr>
          <a:xfrm>
            <a:off x="6217920" y="1161288"/>
            <a:ext cx="2286000" cy="182880"/>
          </a:xfrm>
          <a:prstGeom prst="rect">
            <a:avLst/>
          </a:prstGeom>
          <a:noFill/>
          <a:ln/>
        </p:spPr>
        <p:txBody>
          <a:bodyPr wrap="square" lIns="0" tIns="0" rIns="0" bIns="0" rtlCol="0" anchor="ctr"/>
          <a:lstStyle/>
          <a:p>
            <a:pPr marL="0" indent="0">
              <a:buNone/>
            </a:pPr>
            <a:r>
              <a:rPr lang="en-US" sz="800" b="1" kern="0" spc="150">
                <a:solidFill>
                  <a:srgbClr val="7FD3D0"/>
                </a:solidFill>
                <a:latin typeface="Calibri" pitchFamily="34" charset="0"/>
                <a:ea typeface="Calibri" pitchFamily="34" charset="-122"/>
                <a:cs typeface="Calibri" pitchFamily="34" charset="-120"/>
              </a:rPr>
              <a:t>PHASE 2</a:t>
            </a:r>
            <a:endParaRPr lang="en-US" sz="800"/>
          </a:p>
        </p:txBody>
      </p:sp>
      <p:sp>
        <p:nvSpPr>
          <p:cNvPr id="21" name="Text 16"/>
          <p:cNvSpPr txBox="1"/>
          <p:nvPr/>
        </p:nvSpPr>
        <p:spPr>
          <a:xfrm>
            <a:off x="6217920" y="1353312"/>
            <a:ext cx="2331720" cy="868680"/>
          </a:xfrm>
          <a:prstGeom prst="rect">
            <a:avLst/>
          </a:prstGeom>
          <a:noFill/>
          <a:ln/>
        </p:spPr>
        <p:txBody>
          <a:bodyPr wrap="square" lIns="0" tIns="0" rIns="0" bIns="0" rtlCol="0" anchor="t"/>
          <a:lstStyle/>
          <a:p>
            <a:pPr marL="0" indent="0">
              <a:buNone/>
            </a:pPr>
            <a:r>
              <a:rPr lang="en-US" sz="2000" b="1">
                <a:solidFill>
                  <a:srgbClr val="FFFFFF"/>
                </a:solidFill>
                <a:latin typeface="Calibri" pitchFamily="34" charset="0"/>
                <a:ea typeface="Calibri" pitchFamily="34" charset="-122"/>
                <a:cs typeface="Calibri" pitchFamily="34" charset="-120"/>
              </a:rPr>
              <a:t>12 membres</a:t>
            </a:r>
            <a:endParaRPr lang="en-US" sz="2000"/>
          </a:p>
          <a:p>
            <a:pPr marL="0" indent="0">
              <a:buNone/>
            </a:pPr>
            <a:r>
              <a:rPr lang="en-US" sz="850">
                <a:solidFill>
                  <a:srgbClr val="E6EAF5"/>
                </a:solidFill>
                <a:latin typeface="Calibri" pitchFamily="34" charset="0"/>
                <a:ea typeface="Calibri" pitchFamily="34" charset="-122"/>
                <a:cs typeface="Calibri" pitchFamily="34" charset="-120"/>
              </a:rPr>
              <a:t>Élargissement aux collèges de parties prenantes : pêcheurs, scientifiques, partenaires économiques et institutionnels.</a:t>
            </a:r>
            <a:endParaRPr lang="en-US" sz="2000"/>
          </a:p>
        </p:txBody>
      </p:sp>
      <p:sp>
        <p:nvSpPr>
          <p:cNvPr id="22" name="Shape 17"/>
          <p:cNvSpPr/>
          <p:nvPr/>
        </p:nvSpPr>
        <p:spPr>
          <a:xfrm>
            <a:off x="6035040" y="2377440"/>
            <a:ext cx="2651760" cy="1325880"/>
          </a:xfrm>
          <a:prstGeom prst="roundRect">
            <a:avLst>
              <a:gd name="adj" fmla="val 4138"/>
            </a:avLst>
          </a:prstGeom>
          <a:solidFill>
            <a:srgbClr val="E8F4F3"/>
          </a:solidFill>
          <a:ln w="12700">
            <a:solidFill>
              <a:srgbClr val="E8F4F3"/>
            </a:solidFill>
            <a:prstDash val="solid"/>
          </a:ln>
        </p:spPr>
        <p:txBody>
          <a:bodyPr/>
          <a:lstStyle/>
          <a:p>
            <a:endParaRPr/>
          </a:p>
        </p:txBody>
      </p:sp>
      <p:sp>
        <p:nvSpPr>
          <p:cNvPr id="23" name="Text 18"/>
          <p:cNvSpPr txBox="1"/>
          <p:nvPr/>
        </p:nvSpPr>
        <p:spPr>
          <a:xfrm>
            <a:off x="6217920" y="2487168"/>
            <a:ext cx="2286000" cy="182880"/>
          </a:xfrm>
          <a:prstGeom prst="rect">
            <a:avLst/>
          </a:prstGeom>
          <a:noFill/>
          <a:ln/>
        </p:spPr>
        <p:txBody>
          <a:bodyPr wrap="square" lIns="0" tIns="0" rIns="0" bIns="0" rtlCol="0" anchor="ctr"/>
          <a:lstStyle/>
          <a:p>
            <a:pPr marL="0" indent="0">
              <a:buNone/>
            </a:pPr>
            <a:r>
              <a:rPr lang="en-US" sz="800" b="1" kern="0" spc="150">
                <a:solidFill>
                  <a:srgbClr val="0E8A8A"/>
                </a:solidFill>
                <a:latin typeface="Calibri" pitchFamily="34" charset="0"/>
                <a:ea typeface="Calibri" pitchFamily="34" charset="-122"/>
                <a:cs typeface="Calibri" pitchFamily="34" charset="-120"/>
              </a:rPr>
              <a:t>TROIS COMITÉS CONSULTATIFS</a:t>
            </a:r>
            <a:endParaRPr lang="en-US" sz="800"/>
          </a:p>
        </p:txBody>
      </p:sp>
      <p:sp>
        <p:nvSpPr>
          <p:cNvPr id="24" name="Text 19"/>
          <p:cNvSpPr txBox="1"/>
          <p:nvPr/>
        </p:nvSpPr>
        <p:spPr>
          <a:xfrm>
            <a:off x="6217920" y="2697480"/>
            <a:ext cx="2468880" cy="960120"/>
          </a:xfrm>
          <a:prstGeom prst="rect">
            <a:avLst/>
          </a:prstGeom>
          <a:noFill/>
          <a:ln/>
        </p:spPr>
        <p:txBody>
          <a:bodyPr wrap="square" lIns="0" tIns="0" rIns="0" bIns="0" rtlCol="0" anchor="t"/>
          <a:lstStyle/>
          <a:p>
            <a:pPr marL="0" indent="0">
              <a:spcAft>
                <a:spcPts val="200"/>
              </a:spcAft>
              <a:buNone/>
            </a:pPr>
            <a:r>
              <a:rPr lang="en-US" sz="850" b="1">
                <a:solidFill>
                  <a:srgbClr val="16256B"/>
                </a:solidFill>
                <a:latin typeface="Calibri" pitchFamily="34" charset="0"/>
                <a:ea typeface="Calibri" pitchFamily="34" charset="-122"/>
                <a:cs typeface="Calibri" pitchFamily="34" charset="-120"/>
              </a:rPr>
              <a:t>Comité des pêcheurs</a:t>
            </a:r>
            <a:endParaRPr lang="en-US" sz="850"/>
          </a:p>
          <a:p>
            <a:pPr marL="0" indent="0">
              <a:spcAft>
                <a:spcPts val="200"/>
              </a:spcAft>
              <a:buNone/>
            </a:pPr>
            <a:r>
              <a:rPr lang="en-US" sz="850" b="1">
                <a:solidFill>
                  <a:srgbClr val="16256B"/>
                </a:solidFill>
                <a:latin typeface="Calibri" pitchFamily="34" charset="0"/>
                <a:ea typeface="Calibri" pitchFamily="34" charset="-122"/>
                <a:cs typeface="Calibri" pitchFamily="34" charset="-120"/>
              </a:rPr>
              <a:t>Comité scientifique</a:t>
            </a:r>
            <a:endParaRPr lang="en-US" sz="850"/>
          </a:p>
          <a:p>
            <a:pPr marL="0" indent="0">
              <a:spcAft>
                <a:spcPts val="200"/>
              </a:spcAft>
              <a:buNone/>
            </a:pPr>
            <a:r>
              <a:rPr lang="en-US" sz="850" b="1">
                <a:solidFill>
                  <a:srgbClr val="16256B"/>
                </a:solidFill>
                <a:latin typeface="Calibri" pitchFamily="34" charset="0"/>
                <a:ea typeface="Calibri" pitchFamily="34" charset="-122"/>
                <a:cs typeface="Calibri" pitchFamily="34" charset="-120"/>
              </a:rPr>
              <a:t>Comité des partenaires </a:t>
            </a:r>
            <a:r>
              <a:rPr lang="en-US" sz="850" b="1" err="1">
                <a:solidFill>
                  <a:srgbClr val="16256B"/>
                </a:solidFill>
                <a:latin typeface="Calibri" pitchFamily="34" charset="0"/>
                <a:ea typeface="Calibri" pitchFamily="34" charset="-122"/>
                <a:cs typeface="Calibri" pitchFamily="34" charset="-120"/>
              </a:rPr>
              <a:t>économiques</a:t>
            </a:r>
            <a:r>
              <a:rPr lang="en-US" sz="850" b="1">
                <a:solidFill>
                  <a:srgbClr val="16256B"/>
                </a:solidFill>
                <a:latin typeface="Calibri" pitchFamily="34" charset="0"/>
                <a:ea typeface="Calibri" pitchFamily="34" charset="-122"/>
                <a:cs typeface="Calibri" pitchFamily="34" charset="-120"/>
              </a:rPr>
              <a:t> </a:t>
            </a:r>
          </a:p>
          <a:p>
            <a:pPr marL="0" indent="0">
              <a:spcAft>
                <a:spcPts val="200"/>
              </a:spcAft>
              <a:buNone/>
            </a:pPr>
            <a:r>
              <a:rPr lang="en-US" sz="850" b="1">
                <a:solidFill>
                  <a:srgbClr val="16256B"/>
                </a:solidFill>
                <a:latin typeface="Calibri" pitchFamily="34" charset="0"/>
                <a:ea typeface="Calibri" pitchFamily="34" charset="-122"/>
                <a:cs typeface="Calibri" pitchFamily="34" charset="-120"/>
              </a:rPr>
              <a:t>et institutionnels</a:t>
            </a:r>
            <a:endParaRPr lang="en-US" sz="850"/>
          </a:p>
          <a:p>
            <a:pPr>
              <a:spcAft>
                <a:spcPts val="200"/>
              </a:spcAft>
            </a:pPr>
            <a:r>
              <a:rPr lang="fr-FR" sz="850" i="1">
                <a:solidFill>
                  <a:srgbClr val="1F2937"/>
                </a:solidFill>
                <a:latin typeface="Calibri" pitchFamily="34" charset="0"/>
                <a:ea typeface="Calibri" pitchFamily="34" charset="-122"/>
                <a:cs typeface="Calibri" pitchFamily="34" charset="-120"/>
              </a:rPr>
              <a:t>En phase 2, chaque comité élira en son sein trois membres appelés à siéger au conseil d’administration</a:t>
            </a:r>
            <a:endParaRPr lang="en-US" sz="850"/>
          </a:p>
        </p:txBody>
      </p:sp>
      <p:sp>
        <p:nvSpPr>
          <p:cNvPr id="25" name="Shape 20"/>
          <p:cNvSpPr/>
          <p:nvPr/>
        </p:nvSpPr>
        <p:spPr>
          <a:xfrm>
            <a:off x="457200" y="3840480"/>
            <a:ext cx="8229600" cy="822960"/>
          </a:xfrm>
          <a:prstGeom prst="roundRect">
            <a:avLst>
              <a:gd name="adj" fmla="val 6667"/>
            </a:avLst>
          </a:prstGeom>
          <a:solidFill>
            <a:srgbClr val="F5F7FB"/>
          </a:solidFill>
          <a:ln w="12700">
            <a:solidFill>
              <a:srgbClr val="E3E7F0"/>
            </a:solidFill>
            <a:prstDash val="solid"/>
          </a:ln>
        </p:spPr>
        <p:txBody>
          <a:bodyPr/>
          <a:lstStyle/>
          <a:p>
            <a:endParaRPr/>
          </a:p>
        </p:txBody>
      </p:sp>
      <p:pic>
        <p:nvPicPr>
          <p:cNvPr id="26" name="Image 3" descr="/home/claude/v10/por/chardon.png"/>
          <p:cNvPicPr>
            <a:picLocks noChangeAspect="1"/>
          </p:cNvPicPr>
          <p:nvPr/>
        </p:nvPicPr>
        <p:blipFill>
          <a:blip r:embed="rId6"/>
          <a:stretch>
            <a:fillRect/>
          </a:stretch>
        </p:blipFill>
        <p:spPr>
          <a:xfrm>
            <a:off x="640080" y="3931920"/>
            <a:ext cx="640080" cy="640080"/>
          </a:xfrm>
          <a:prstGeom prst="rect">
            <a:avLst/>
          </a:prstGeom>
        </p:spPr>
      </p:pic>
      <p:sp>
        <p:nvSpPr>
          <p:cNvPr id="27" name="Text 21"/>
          <p:cNvSpPr txBox="1"/>
          <p:nvPr/>
        </p:nvSpPr>
        <p:spPr>
          <a:xfrm>
            <a:off x="1417320" y="3904488"/>
            <a:ext cx="7132320" cy="713232"/>
          </a:xfrm>
          <a:prstGeom prst="rect">
            <a:avLst/>
          </a:prstGeom>
          <a:noFill/>
          <a:ln/>
        </p:spPr>
        <p:txBody>
          <a:bodyPr wrap="square" lIns="0" tIns="0" rIns="0" bIns="0" rtlCol="0" anchor="ctr"/>
          <a:lstStyle/>
          <a:p>
            <a:pPr marL="0" indent="0">
              <a:buNone/>
            </a:pPr>
            <a:r>
              <a:rPr lang="en-US" sz="1100" b="1">
                <a:solidFill>
                  <a:srgbClr val="16256B"/>
                </a:solidFill>
                <a:latin typeface="Calibri" pitchFamily="34" charset="0"/>
                <a:ea typeface="Calibri" pitchFamily="34" charset="-122"/>
                <a:cs typeface="Calibri" pitchFamily="34" charset="-120"/>
              </a:rPr>
              <a:t>Clément Chardon</a:t>
            </a:r>
            <a:endParaRPr lang="en-US" sz="1100"/>
          </a:p>
          <a:p>
            <a:r>
              <a:rPr lang="en-US" sz="850">
                <a:solidFill>
                  <a:srgbClr val="1F2937"/>
                </a:solidFill>
                <a:latin typeface="Calibri" pitchFamily="34" charset="0"/>
                <a:ea typeface="Calibri" pitchFamily="34" charset="-122"/>
                <a:cs typeface="Calibri" pitchFamily="34" charset="-120"/>
              </a:rPr>
              <a:t>Chef de projet — Coordination de l’écosystème, concertation avec les partenaires, définition et déploiement des programmes, identification, mise en œuvre et financement des projets. Poste salarié envisagé au sein de l’association Mare Durabilis, avec mise à disposition du fonds à hauteur de la quote-part de temps consacrée à son fonctionnement.</a:t>
            </a:r>
            <a:endParaRPr lang="en-US" sz="1100"/>
          </a:p>
        </p:txBody>
      </p:sp>
      <p:sp>
        <p:nvSpPr>
          <p:cNvPr id="28" name="Text 22"/>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6B7280"/>
                </a:solidFill>
                <a:latin typeface="Calibri" pitchFamily="34" charset="0"/>
                <a:ea typeface="Calibri" pitchFamily="34" charset="-122"/>
                <a:cs typeface="Calibri" pitchFamily="34" charset="-120"/>
              </a:rPr>
              <a:t>18</a:t>
            </a:r>
            <a:endParaRPr lang="en-US" sz="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182880"/>
          </a:xfrm>
          <a:prstGeom prst="rect">
            <a:avLst/>
          </a:prstGeom>
          <a:noFill/>
          <a:ln/>
        </p:spPr>
        <p:txBody>
          <a:bodyPr wrap="square" lIns="0" tIns="0" rIns="0" bIns="0" rtlCol="0" anchor="ctr"/>
          <a:lstStyle/>
          <a:p>
            <a:r>
              <a:rPr lang="en-US" sz="900" b="1" kern="0" spc="200">
                <a:solidFill>
                  <a:srgbClr val="0E8A8A"/>
                </a:solidFill>
                <a:latin typeface="Calibri" pitchFamily="34" charset="0"/>
                <a:ea typeface="Calibri" pitchFamily="34" charset="-122"/>
                <a:cs typeface="Calibri" pitchFamily="34" charset="-120"/>
              </a:rPr>
              <a:t>NOTRE COMITÉ DE PILOTAGE · 2023-2026</a:t>
            </a:r>
            <a:endParaRPr lang="en-US" sz="900"/>
          </a:p>
        </p:txBody>
      </p:sp>
      <p:sp>
        <p:nvSpPr>
          <p:cNvPr id="3" name="Text 1"/>
          <p:cNvSpPr txBox="1"/>
          <p:nvPr/>
        </p:nvSpPr>
        <p:spPr>
          <a:xfrm>
            <a:off x="457200" y="475488"/>
            <a:ext cx="8229600" cy="419100"/>
          </a:xfrm>
          <a:prstGeom prst="rect">
            <a:avLst/>
          </a:prstGeom>
          <a:noFill/>
          <a:ln/>
        </p:spPr>
        <p:txBody>
          <a:bodyPr wrap="square" lIns="0" tIns="0" rIns="0" bIns="0" rtlCol="0" anchor="ctr"/>
          <a:lstStyle/>
          <a:p>
            <a:pPr marL="0" indent="0">
              <a:buNone/>
            </a:pPr>
            <a:r>
              <a:rPr lang="en-US" sz="2600" b="1">
                <a:solidFill>
                  <a:srgbClr val="16256B"/>
                </a:solidFill>
                <a:latin typeface="Cambria" pitchFamily="34" charset="0"/>
                <a:ea typeface="Cambria" pitchFamily="34" charset="-122"/>
                <a:cs typeface="Cambria" pitchFamily="34" charset="-120"/>
              </a:rPr>
              <a:t>Quinze structures ont nourri la réflexion</a:t>
            </a:r>
            <a:endParaRPr lang="en-US" sz="2600"/>
          </a:p>
        </p:txBody>
      </p:sp>
      <p:sp>
        <p:nvSpPr>
          <p:cNvPr id="4" name="Shape 2"/>
          <p:cNvSpPr/>
          <p:nvPr/>
        </p:nvSpPr>
        <p:spPr>
          <a:xfrm>
            <a:off x="457200" y="1150000"/>
            <a:ext cx="1627632" cy="548640"/>
          </a:xfrm>
          <a:prstGeom prst="roundRect">
            <a:avLst>
              <a:gd name="adj" fmla="val 7143"/>
            </a:avLst>
          </a:prstGeom>
          <a:solidFill>
            <a:srgbClr val="FFFFFF"/>
          </a:solidFill>
          <a:ln w="12700">
            <a:solidFill>
              <a:srgbClr val="E4E9F2"/>
            </a:solidFill>
            <a:prstDash val="solid"/>
          </a:ln>
        </p:spPr>
        <p:txBody>
          <a:bodyPr/>
          <a:lstStyle/>
          <a:p>
            <a:endParaRPr lang="fr-FR"/>
          </a:p>
        </p:txBody>
      </p:sp>
      <p:sp>
        <p:nvSpPr>
          <p:cNvPr id="6" name="Shape 3"/>
          <p:cNvSpPr/>
          <p:nvPr/>
        </p:nvSpPr>
        <p:spPr>
          <a:xfrm>
            <a:off x="2167128" y="1150000"/>
            <a:ext cx="1627632" cy="548640"/>
          </a:xfrm>
          <a:prstGeom prst="roundRect">
            <a:avLst>
              <a:gd name="adj" fmla="val 7143"/>
            </a:avLst>
          </a:prstGeom>
          <a:solidFill>
            <a:srgbClr val="FFFFFF"/>
          </a:solidFill>
          <a:ln w="12700">
            <a:solidFill>
              <a:srgbClr val="E4E9F2"/>
            </a:solidFill>
            <a:prstDash val="solid"/>
          </a:ln>
        </p:spPr>
        <p:txBody>
          <a:bodyPr/>
          <a:lstStyle/>
          <a:p>
            <a:endParaRPr lang="fr-FR"/>
          </a:p>
        </p:txBody>
      </p:sp>
      <p:pic>
        <p:nvPicPr>
          <p:cNvPr id="7" name="Image 1" descr="/home/claude/v24/logos/cm.png"/>
          <p:cNvPicPr>
            <a:picLocks noChangeAspect="1"/>
          </p:cNvPicPr>
          <p:nvPr/>
        </p:nvPicPr>
        <p:blipFill>
          <a:blip r:embed="rId3"/>
          <a:stretch>
            <a:fillRect/>
          </a:stretch>
        </p:blipFill>
        <p:spPr>
          <a:xfrm>
            <a:off x="2756916" y="1192062"/>
            <a:ext cx="490685" cy="490685"/>
          </a:xfrm>
          <a:prstGeom prst="rect">
            <a:avLst/>
          </a:prstGeom>
        </p:spPr>
      </p:pic>
      <p:sp>
        <p:nvSpPr>
          <p:cNvPr id="8" name="Shape 4"/>
          <p:cNvSpPr/>
          <p:nvPr/>
        </p:nvSpPr>
        <p:spPr>
          <a:xfrm>
            <a:off x="3877056" y="1150000"/>
            <a:ext cx="1627632" cy="548640"/>
          </a:xfrm>
          <a:prstGeom prst="roundRect">
            <a:avLst>
              <a:gd name="adj" fmla="val 7143"/>
            </a:avLst>
          </a:prstGeom>
          <a:solidFill>
            <a:srgbClr val="FFFFFF"/>
          </a:solidFill>
          <a:ln w="12700">
            <a:solidFill>
              <a:srgbClr val="E4E9F2"/>
            </a:solidFill>
            <a:prstDash val="solid"/>
          </a:ln>
        </p:spPr>
        <p:txBody>
          <a:bodyPr/>
          <a:lstStyle/>
          <a:p>
            <a:endParaRPr lang="fr-FR"/>
          </a:p>
        </p:txBody>
      </p:sp>
      <p:pic>
        <p:nvPicPr>
          <p:cNvPr id="9" name="Image 2" descr="/home/claude/v24/logos/bp.png"/>
          <p:cNvPicPr>
            <a:picLocks noChangeAspect="1"/>
          </p:cNvPicPr>
          <p:nvPr/>
        </p:nvPicPr>
        <p:blipFill>
          <a:blip r:embed="rId4"/>
          <a:stretch>
            <a:fillRect/>
          </a:stretch>
        </p:blipFill>
        <p:spPr>
          <a:xfrm>
            <a:off x="4069080" y="1243361"/>
            <a:ext cx="1243584" cy="361918"/>
          </a:xfrm>
          <a:prstGeom prst="rect">
            <a:avLst/>
          </a:prstGeom>
        </p:spPr>
      </p:pic>
      <p:sp>
        <p:nvSpPr>
          <p:cNvPr id="10" name="Shape 5"/>
          <p:cNvSpPr/>
          <p:nvPr/>
        </p:nvSpPr>
        <p:spPr>
          <a:xfrm>
            <a:off x="5586984" y="1150000"/>
            <a:ext cx="1627632" cy="548640"/>
          </a:xfrm>
          <a:prstGeom prst="roundRect">
            <a:avLst>
              <a:gd name="adj" fmla="val 7143"/>
            </a:avLst>
          </a:prstGeom>
          <a:solidFill>
            <a:srgbClr val="FFFFFF"/>
          </a:solidFill>
          <a:ln w="12700">
            <a:solidFill>
              <a:srgbClr val="E4E9F2"/>
            </a:solidFill>
            <a:prstDash val="solid"/>
          </a:ln>
        </p:spPr>
        <p:txBody>
          <a:bodyPr/>
          <a:lstStyle/>
          <a:p>
            <a:endParaRPr lang="fr-FR"/>
          </a:p>
        </p:txBody>
      </p:sp>
      <p:sp>
        <p:nvSpPr>
          <p:cNvPr id="12" name="Shape 6"/>
          <p:cNvSpPr/>
          <p:nvPr/>
        </p:nvSpPr>
        <p:spPr>
          <a:xfrm>
            <a:off x="7296912" y="1150000"/>
            <a:ext cx="1627632" cy="548640"/>
          </a:xfrm>
          <a:prstGeom prst="roundRect">
            <a:avLst>
              <a:gd name="adj" fmla="val 7143"/>
            </a:avLst>
          </a:prstGeom>
          <a:solidFill>
            <a:srgbClr val="FFFFFF"/>
          </a:solidFill>
          <a:ln w="12700">
            <a:solidFill>
              <a:srgbClr val="E4E9F2"/>
            </a:solidFill>
            <a:prstDash val="solid"/>
          </a:ln>
        </p:spPr>
        <p:txBody>
          <a:bodyPr/>
          <a:lstStyle/>
          <a:p>
            <a:endParaRPr lang="fr-FR"/>
          </a:p>
        </p:txBody>
      </p:sp>
      <p:pic>
        <p:nvPicPr>
          <p:cNvPr id="13" name="Image 4" descr="/home/claude/v24/logos/opdusud.png"/>
          <p:cNvPicPr>
            <a:picLocks noChangeAspect="1"/>
          </p:cNvPicPr>
          <p:nvPr/>
        </p:nvPicPr>
        <p:blipFill>
          <a:blip r:embed="rId5"/>
          <a:stretch>
            <a:fillRect/>
          </a:stretch>
        </p:blipFill>
        <p:spPr>
          <a:xfrm>
            <a:off x="7845428" y="1192062"/>
            <a:ext cx="530597" cy="525238"/>
          </a:xfrm>
          <a:prstGeom prst="rect">
            <a:avLst/>
          </a:prstGeom>
        </p:spPr>
      </p:pic>
      <p:sp>
        <p:nvSpPr>
          <p:cNvPr id="14" name="Shape 7"/>
          <p:cNvSpPr/>
          <p:nvPr/>
        </p:nvSpPr>
        <p:spPr>
          <a:xfrm>
            <a:off x="457200" y="1744360"/>
            <a:ext cx="1627632" cy="548640"/>
          </a:xfrm>
          <a:prstGeom prst="roundRect">
            <a:avLst>
              <a:gd name="adj" fmla="val 7143"/>
            </a:avLst>
          </a:prstGeom>
          <a:solidFill>
            <a:srgbClr val="FFFFFF"/>
          </a:solidFill>
          <a:ln w="12700">
            <a:solidFill>
              <a:srgbClr val="E4E9F2"/>
            </a:solidFill>
            <a:prstDash val="solid"/>
          </a:ln>
        </p:spPr>
        <p:txBody>
          <a:bodyPr/>
          <a:lstStyle/>
          <a:p>
            <a:endParaRPr lang="fr-FR"/>
          </a:p>
        </p:txBody>
      </p:sp>
      <p:sp>
        <p:nvSpPr>
          <p:cNvPr id="16" name="Shape 8"/>
          <p:cNvSpPr/>
          <p:nvPr/>
        </p:nvSpPr>
        <p:spPr>
          <a:xfrm>
            <a:off x="2167128" y="1744360"/>
            <a:ext cx="1627632" cy="548640"/>
          </a:xfrm>
          <a:prstGeom prst="roundRect">
            <a:avLst>
              <a:gd name="adj" fmla="val 7143"/>
            </a:avLst>
          </a:prstGeom>
          <a:solidFill>
            <a:srgbClr val="FFFFFF"/>
          </a:solidFill>
          <a:ln w="12700">
            <a:solidFill>
              <a:srgbClr val="E4E9F2"/>
            </a:solidFill>
            <a:prstDash val="solid"/>
          </a:ln>
        </p:spPr>
        <p:txBody>
          <a:bodyPr/>
          <a:lstStyle/>
          <a:p>
            <a:endParaRPr lang="fr-FR"/>
          </a:p>
        </p:txBody>
      </p:sp>
      <p:pic>
        <p:nvPicPr>
          <p:cNvPr id="17" name="Image 6" descr="/home/claude/v24/logos/inp.png"/>
          <p:cNvPicPr>
            <a:picLocks noChangeAspect="1"/>
          </p:cNvPicPr>
          <p:nvPr/>
        </p:nvPicPr>
        <p:blipFill>
          <a:blip r:embed="rId6"/>
          <a:stretch>
            <a:fillRect/>
          </a:stretch>
        </p:blipFill>
        <p:spPr>
          <a:xfrm>
            <a:off x="2673139" y="1835800"/>
            <a:ext cx="615610" cy="365760"/>
          </a:xfrm>
          <a:prstGeom prst="rect">
            <a:avLst/>
          </a:prstGeom>
        </p:spPr>
      </p:pic>
      <p:sp>
        <p:nvSpPr>
          <p:cNvPr id="18" name="Shape 9"/>
          <p:cNvSpPr/>
          <p:nvPr/>
        </p:nvSpPr>
        <p:spPr>
          <a:xfrm>
            <a:off x="3877056" y="1744360"/>
            <a:ext cx="1627632" cy="548640"/>
          </a:xfrm>
          <a:prstGeom prst="roundRect">
            <a:avLst>
              <a:gd name="adj" fmla="val 7143"/>
            </a:avLst>
          </a:prstGeom>
          <a:solidFill>
            <a:srgbClr val="FFFFFF"/>
          </a:solidFill>
          <a:ln w="12700">
            <a:solidFill>
              <a:srgbClr val="E4E9F2"/>
            </a:solidFill>
            <a:prstDash val="solid"/>
          </a:ln>
        </p:spPr>
        <p:txBody>
          <a:bodyPr/>
          <a:lstStyle/>
          <a:p>
            <a:endParaRPr lang="fr-FR"/>
          </a:p>
        </p:txBody>
      </p:sp>
      <p:pic>
        <p:nvPicPr>
          <p:cNvPr id="19" name="Image 7" descr="/home/claude/v24/logos/region.png"/>
          <p:cNvPicPr>
            <a:picLocks noChangeAspect="1"/>
          </p:cNvPicPr>
          <p:nvPr/>
        </p:nvPicPr>
        <p:blipFill>
          <a:blip r:embed="rId7"/>
          <a:stretch>
            <a:fillRect/>
          </a:stretch>
        </p:blipFill>
        <p:spPr>
          <a:xfrm>
            <a:off x="4506886" y="1779107"/>
            <a:ext cx="462878" cy="460095"/>
          </a:xfrm>
          <a:prstGeom prst="rect">
            <a:avLst/>
          </a:prstGeom>
        </p:spPr>
      </p:pic>
      <p:sp>
        <p:nvSpPr>
          <p:cNvPr id="20" name="Shape 10"/>
          <p:cNvSpPr/>
          <p:nvPr/>
        </p:nvSpPr>
        <p:spPr>
          <a:xfrm>
            <a:off x="5586984" y="1744360"/>
            <a:ext cx="1627632" cy="548640"/>
          </a:xfrm>
          <a:prstGeom prst="roundRect">
            <a:avLst>
              <a:gd name="adj" fmla="val 7143"/>
            </a:avLst>
          </a:prstGeom>
          <a:solidFill>
            <a:srgbClr val="FFFFFF"/>
          </a:solidFill>
          <a:ln w="12700">
            <a:solidFill>
              <a:srgbClr val="E4E9F2"/>
            </a:solidFill>
            <a:prstDash val="solid"/>
          </a:ln>
        </p:spPr>
        <p:txBody>
          <a:bodyPr/>
          <a:lstStyle/>
          <a:p>
            <a:endParaRPr lang="fr-FR"/>
          </a:p>
        </p:txBody>
      </p:sp>
      <p:pic>
        <p:nvPicPr>
          <p:cNvPr id="21" name="Image 8" descr="/home/claude/v24/logos/rf.png"/>
          <p:cNvPicPr>
            <a:picLocks noChangeAspect="1"/>
          </p:cNvPicPr>
          <p:nvPr/>
        </p:nvPicPr>
        <p:blipFill>
          <a:blip r:embed="rId8"/>
          <a:stretch>
            <a:fillRect/>
          </a:stretch>
        </p:blipFill>
        <p:spPr>
          <a:xfrm>
            <a:off x="6147243" y="1786422"/>
            <a:ext cx="534956" cy="479065"/>
          </a:xfrm>
          <a:prstGeom prst="rect">
            <a:avLst/>
          </a:prstGeom>
        </p:spPr>
      </p:pic>
      <p:sp>
        <p:nvSpPr>
          <p:cNvPr id="22" name="Shape 11"/>
          <p:cNvSpPr/>
          <p:nvPr/>
        </p:nvSpPr>
        <p:spPr>
          <a:xfrm>
            <a:off x="7296912" y="1744360"/>
            <a:ext cx="1627632" cy="548640"/>
          </a:xfrm>
          <a:prstGeom prst="roundRect">
            <a:avLst>
              <a:gd name="adj" fmla="val 7143"/>
            </a:avLst>
          </a:prstGeom>
          <a:solidFill>
            <a:srgbClr val="FFFFFF"/>
          </a:solidFill>
          <a:ln w="12700">
            <a:solidFill>
              <a:srgbClr val="E4E9F2"/>
            </a:solidFill>
            <a:prstDash val="solid"/>
          </a:ln>
        </p:spPr>
        <p:txBody>
          <a:bodyPr/>
          <a:lstStyle/>
          <a:p>
            <a:endParaRPr lang="fr-FR"/>
          </a:p>
        </p:txBody>
      </p:sp>
      <p:pic>
        <p:nvPicPr>
          <p:cNvPr id="23" name="Image 9" descr="/home/claude/v24/logos/ue_feampa.png"/>
          <p:cNvPicPr>
            <a:picLocks noChangeAspect="1"/>
          </p:cNvPicPr>
          <p:nvPr/>
        </p:nvPicPr>
        <p:blipFill>
          <a:blip r:embed="rId9"/>
          <a:stretch>
            <a:fillRect/>
          </a:stretch>
        </p:blipFill>
        <p:spPr>
          <a:xfrm>
            <a:off x="7751121" y="1753205"/>
            <a:ext cx="619859" cy="569353"/>
          </a:xfrm>
          <a:prstGeom prst="rect">
            <a:avLst/>
          </a:prstGeom>
        </p:spPr>
      </p:pic>
      <p:sp>
        <p:nvSpPr>
          <p:cNvPr id="24" name="Shape 12"/>
          <p:cNvSpPr/>
          <p:nvPr/>
        </p:nvSpPr>
        <p:spPr>
          <a:xfrm>
            <a:off x="457200" y="2338720"/>
            <a:ext cx="1627632" cy="548640"/>
          </a:xfrm>
          <a:prstGeom prst="roundRect">
            <a:avLst>
              <a:gd name="adj" fmla="val 7143"/>
            </a:avLst>
          </a:prstGeom>
          <a:solidFill>
            <a:srgbClr val="FFFFFF"/>
          </a:solidFill>
          <a:ln w="12700">
            <a:solidFill>
              <a:srgbClr val="E4E9F2"/>
            </a:solidFill>
            <a:prstDash val="solid"/>
          </a:ln>
        </p:spPr>
        <p:txBody>
          <a:bodyPr/>
          <a:lstStyle/>
          <a:p>
            <a:endParaRPr lang="fr-FR"/>
          </a:p>
        </p:txBody>
      </p:sp>
      <p:pic>
        <p:nvPicPr>
          <p:cNvPr id="25" name="Image 10" descr="/home/claude/v24/logos/cepralmar.png"/>
          <p:cNvPicPr>
            <a:picLocks noChangeAspect="1"/>
          </p:cNvPicPr>
          <p:nvPr/>
        </p:nvPicPr>
        <p:blipFill>
          <a:blip r:embed="rId10"/>
          <a:stretch>
            <a:fillRect/>
          </a:stretch>
        </p:blipFill>
        <p:spPr>
          <a:xfrm>
            <a:off x="653796" y="2430159"/>
            <a:ext cx="1146265" cy="424543"/>
          </a:xfrm>
          <a:prstGeom prst="rect">
            <a:avLst/>
          </a:prstGeom>
        </p:spPr>
      </p:pic>
      <p:sp>
        <p:nvSpPr>
          <p:cNvPr id="26" name="Shape 13"/>
          <p:cNvSpPr/>
          <p:nvPr/>
        </p:nvSpPr>
        <p:spPr>
          <a:xfrm>
            <a:off x="2167128" y="2338720"/>
            <a:ext cx="1627632" cy="548640"/>
          </a:xfrm>
          <a:prstGeom prst="roundRect">
            <a:avLst>
              <a:gd name="adj" fmla="val 7143"/>
            </a:avLst>
          </a:prstGeom>
          <a:solidFill>
            <a:srgbClr val="FFFFFF"/>
          </a:solidFill>
          <a:ln w="12700">
            <a:solidFill>
              <a:srgbClr val="E4E9F2"/>
            </a:solidFill>
            <a:prstDash val="solid"/>
          </a:ln>
        </p:spPr>
        <p:txBody>
          <a:bodyPr/>
          <a:lstStyle/>
          <a:p>
            <a:endParaRPr lang="fr-FR"/>
          </a:p>
        </p:txBody>
      </p:sp>
      <p:pic>
        <p:nvPicPr>
          <p:cNvPr id="27" name="Image 11" descr="/home/claude/v24/logos/fidal.png"/>
          <p:cNvPicPr>
            <a:picLocks noChangeAspect="1"/>
          </p:cNvPicPr>
          <p:nvPr/>
        </p:nvPicPr>
        <p:blipFill>
          <a:blip r:embed="rId11"/>
          <a:stretch>
            <a:fillRect/>
          </a:stretch>
        </p:blipFill>
        <p:spPr>
          <a:xfrm>
            <a:off x="2497489" y="2430160"/>
            <a:ext cx="966910" cy="365760"/>
          </a:xfrm>
          <a:prstGeom prst="rect">
            <a:avLst/>
          </a:prstGeom>
        </p:spPr>
      </p:pic>
      <p:sp>
        <p:nvSpPr>
          <p:cNvPr id="28" name="Shape 14"/>
          <p:cNvSpPr/>
          <p:nvPr/>
        </p:nvSpPr>
        <p:spPr>
          <a:xfrm>
            <a:off x="3877056" y="2338720"/>
            <a:ext cx="1627632" cy="548640"/>
          </a:xfrm>
          <a:prstGeom prst="roundRect">
            <a:avLst>
              <a:gd name="adj" fmla="val 7143"/>
            </a:avLst>
          </a:prstGeom>
          <a:solidFill>
            <a:srgbClr val="FFFFFF"/>
          </a:solidFill>
          <a:ln w="12700">
            <a:solidFill>
              <a:srgbClr val="E4E9F2"/>
            </a:solidFill>
            <a:prstDash val="solid"/>
          </a:ln>
        </p:spPr>
        <p:txBody>
          <a:bodyPr/>
          <a:lstStyle/>
          <a:p>
            <a:endParaRPr lang="fr-FR"/>
          </a:p>
        </p:txBody>
      </p:sp>
      <p:sp>
        <p:nvSpPr>
          <p:cNvPr id="30" name="Shape 15"/>
          <p:cNvSpPr/>
          <p:nvPr/>
        </p:nvSpPr>
        <p:spPr>
          <a:xfrm>
            <a:off x="5586984" y="2338720"/>
            <a:ext cx="1627632" cy="548640"/>
          </a:xfrm>
          <a:prstGeom prst="roundRect">
            <a:avLst>
              <a:gd name="adj" fmla="val 7143"/>
            </a:avLst>
          </a:prstGeom>
          <a:solidFill>
            <a:srgbClr val="FFFFFF"/>
          </a:solidFill>
          <a:ln w="12700">
            <a:solidFill>
              <a:srgbClr val="E4E9F2"/>
            </a:solidFill>
            <a:prstDash val="solid"/>
          </a:ln>
        </p:spPr>
        <p:txBody>
          <a:bodyPr/>
          <a:lstStyle/>
          <a:p>
            <a:endParaRPr lang="fr-FR"/>
          </a:p>
        </p:txBody>
      </p:sp>
      <p:pic>
        <p:nvPicPr>
          <p:cNvPr id="31" name="Image 13" descr="/home/claude/v24/logos/wwf.png"/>
          <p:cNvPicPr>
            <a:picLocks noChangeAspect="1"/>
          </p:cNvPicPr>
          <p:nvPr/>
        </p:nvPicPr>
        <p:blipFill>
          <a:blip r:embed="rId12"/>
          <a:stretch>
            <a:fillRect/>
          </a:stretch>
        </p:blipFill>
        <p:spPr>
          <a:xfrm>
            <a:off x="6197097" y="2397308"/>
            <a:ext cx="306068" cy="489709"/>
          </a:xfrm>
          <a:prstGeom prst="rect">
            <a:avLst/>
          </a:prstGeom>
        </p:spPr>
      </p:pic>
      <p:sp>
        <p:nvSpPr>
          <p:cNvPr id="32" name="Shape 16"/>
          <p:cNvSpPr/>
          <p:nvPr/>
        </p:nvSpPr>
        <p:spPr>
          <a:xfrm>
            <a:off x="7296912" y="2338720"/>
            <a:ext cx="1627632" cy="548640"/>
          </a:xfrm>
          <a:prstGeom prst="roundRect">
            <a:avLst>
              <a:gd name="adj" fmla="val 7143"/>
            </a:avLst>
          </a:prstGeom>
          <a:solidFill>
            <a:srgbClr val="FFFFFF"/>
          </a:solidFill>
          <a:ln w="12700">
            <a:solidFill>
              <a:srgbClr val="E4E9F2"/>
            </a:solidFill>
            <a:prstDash val="solid"/>
          </a:ln>
        </p:spPr>
        <p:txBody>
          <a:bodyPr/>
          <a:lstStyle/>
          <a:p>
            <a:endParaRPr lang="fr-FR"/>
          </a:p>
        </p:txBody>
      </p:sp>
      <p:pic>
        <p:nvPicPr>
          <p:cNvPr id="33" name="Image 14" descr="/home/claude/v24/logos/planetemer.png"/>
          <p:cNvPicPr>
            <a:picLocks noChangeAspect="1"/>
          </p:cNvPicPr>
          <p:nvPr/>
        </p:nvPicPr>
        <p:blipFill>
          <a:blip r:embed="rId13"/>
          <a:stretch>
            <a:fillRect/>
          </a:stretch>
        </p:blipFill>
        <p:spPr>
          <a:xfrm>
            <a:off x="7695982" y="2430160"/>
            <a:ext cx="829491" cy="365760"/>
          </a:xfrm>
          <a:prstGeom prst="rect">
            <a:avLst/>
          </a:prstGeom>
        </p:spPr>
      </p:pic>
      <p:sp>
        <p:nvSpPr>
          <p:cNvPr id="34" name="Shape 17"/>
          <p:cNvSpPr/>
          <p:nvPr/>
        </p:nvSpPr>
        <p:spPr>
          <a:xfrm>
            <a:off x="457200" y="3127248"/>
            <a:ext cx="8229600" cy="0"/>
          </a:xfrm>
          <a:prstGeom prst="line">
            <a:avLst/>
          </a:prstGeom>
          <a:noFill/>
          <a:ln w="12700">
            <a:solidFill>
              <a:srgbClr val="E4E9F2"/>
            </a:solidFill>
            <a:prstDash val="solid"/>
          </a:ln>
        </p:spPr>
        <p:txBody>
          <a:bodyPr/>
          <a:lstStyle/>
          <a:p>
            <a:endParaRPr lang="fr-FR"/>
          </a:p>
        </p:txBody>
      </p:sp>
      <p:sp>
        <p:nvSpPr>
          <p:cNvPr id="35" name="Text 18"/>
          <p:cNvSpPr txBox="1"/>
          <p:nvPr/>
        </p:nvSpPr>
        <p:spPr>
          <a:xfrm>
            <a:off x="457200" y="2918560"/>
            <a:ext cx="8229600" cy="182880"/>
          </a:xfrm>
          <a:prstGeom prst="rect">
            <a:avLst/>
          </a:prstGeom>
          <a:noFill/>
          <a:ln/>
        </p:spPr>
        <p:txBody>
          <a:bodyPr wrap="square" lIns="0" tIns="0" rIns="0" bIns="0" rtlCol="0" anchor="ctr"/>
          <a:lstStyle/>
          <a:p>
            <a:pPr marL="0" indent="0">
              <a:buNone/>
            </a:pPr>
            <a:r>
              <a:rPr lang="en-US" sz="750" b="1" kern="0" spc="150">
                <a:solidFill>
                  <a:srgbClr val="0E8A8A"/>
                </a:solidFill>
                <a:latin typeface="Calibri" pitchFamily="34" charset="0"/>
                <a:ea typeface="Calibri" pitchFamily="34" charset="-122"/>
                <a:cs typeface="Calibri" pitchFamily="34" charset="-120"/>
              </a:rPr>
              <a:t>ILS ONT PRIS PART À LA RÉFLEXION</a:t>
            </a:r>
            <a:endParaRPr lang="en-US" sz="750"/>
          </a:p>
        </p:txBody>
      </p:sp>
      <p:pic>
        <p:nvPicPr>
          <p:cNvPr id="36" name="Image 15" descr="/home/claude/v10/por/wendling.png"/>
          <p:cNvPicPr>
            <a:picLocks noChangeAspect="1"/>
          </p:cNvPicPr>
          <p:nvPr/>
        </p:nvPicPr>
        <p:blipFill>
          <a:blip r:embed="rId14"/>
          <a:stretch>
            <a:fillRect/>
          </a:stretch>
        </p:blipFill>
        <p:spPr>
          <a:xfrm>
            <a:off x="457200" y="3219572"/>
            <a:ext cx="141732" cy="141732"/>
          </a:xfrm>
          <a:prstGeom prst="rect">
            <a:avLst/>
          </a:prstGeom>
        </p:spPr>
      </p:pic>
      <p:sp>
        <p:nvSpPr>
          <p:cNvPr id="37" name="Text 19"/>
          <p:cNvSpPr txBox="1"/>
          <p:nvPr/>
        </p:nvSpPr>
        <p:spPr>
          <a:xfrm>
            <a:off x="653796" y="3215000"/>
            <a:ext cx="1815084" cy="149047"/>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Bertrand Wendling</a:t>
            </a:r>
            <a:r>
              <a:rPr lang="en-US" sz="600">
                <a:solidFill>
                  <a:srgbClr val="6B7280"/>
                </a:solidFill>
                <a:latin typeface="Calibri" pitchFamily="34" charset="0"/>
                <a:ea typeface="Calibri" pitchFamily="34" charset="-122"/>
                <a:cs typeface="Calibri" pitchFamily="34" charset="-120"/>
              </a:rPr>
              <a:t>  —  SATHOAN, directeur général</a:t>
            </a:r>
            <a:endParaRPr lang="en-US" sz="650"/>
          </a:p>
        </p:txBody>
      </p:sp>
      <p:sp>
        <p:nvSpPr>
          <p:cNvPr id="38" name="Text 20"/>
          <p:cNvSpPr txBox="1"/>
          <p:nvPr/>
        </p:nvSpPr>
        <p:spPr>
          <a:xfrm>
            <a:off x="708660" y="3372047"/>
            <a:ext cx="1760220" cy="105156"/>
          </a:xfrm>
          <a:prstGeom prst="rect">
            <a:avLst/>
          </a:prstGeom>
          <a:noFill/>
          <a:ln/>
        </p:spPr>
        <p:txBody>
          <a:bodyPr wrap="square" lIns="0" tIns="0" rIns="0" bIns="0" rtlCol="0" anchor="t"/>
          <a:lstStyle/>
          <a:p>
            <a:r>
              <a:rPr lang="en-US" sz="550" i="1">
                <a:solidFill>
                  <a:srgbClr val="6B7280"/>
                </a:solidFill>
                <a:latin typeface="Calibri" pitchFamily="34" charset="0"/>
                <a:ea typeface="Calibri" pitchFamily="34" charset="-122"/>
                <a:cs typeface="Calibri" pitchFamily="34" charset="-120"/>
              </a:rPr>
              <a:t>Vice-président du conseil consultatif européen des pêches</a:t>
            </a:r>
            <a:endParaRPr lang="en-US" sz="550"/>
          </a:p>
          <a:p>
            <a:pPr marL="0" indent="0">
              <a:lnSpc>
                <a:spcPct val="100000"/>
              </a:lnSpc>
              <a:buNone/>
            </a:pPr>
            <a:endParaRPr lang="en-US" sz="550"/>
          </a:p>
        </p:txBody>
      </p:sp>
      <p:sp>
        <p:nvSpPr>
          <p:cNvPr id="39" name="Text 21"/>
          <p:cNvSpPr txBox="1"/>
          <p:nvPr/>
        </p:nvSpPr>
        <p:spPr>
          <a:xfrm>
            <a:off x="708660" y="3485203"/>
            <a:ext cx="1760220" cy="210312"/>
          </a:xfrm>
          <a:prstGeom prst="rect">
            <a:avLst/>
          </a:prstGeom>
          <a:noFill/>
          <a:ln/>
        </p:spPr>
        <p:txBody>
          <a:bodyPr wrap="square" lIns="0" tIns="0" rIns="0" bIns="0" rtlCol="0" anchor="t"/>
          <a:lstStyle/>
          <a:p>
            <a:r>
              <a:rPr lang="en-US" sz="550" i="1" err="1">
                <a:solidFill>
                  <a:srgbClr val="6B7280"/>
                </a:solidFill>
                <a:latin typeface="Calibri" pitchFamily="34" charset="0"/>
                <a:ea typeface="Calibri" pitchFamily="34" charset="-122"/>
                <a:cs typeface="Calibri" pitchFamily="34" charset="-120"/>
              </a:rPr>
              <a:t>Président de la commission environnement et usages maritimes du comité régional des pêches</a:t>
            </a:r>
            <a:endParaRPr lang="en-US" sz="550"/>
          </a:p>
        </p:txBody>
      </p:sp>
      <p:pic>
        <p:nvPicPr>
          <p:cNvPr id="40" name="Image 16" descr="/home/claude/v10/por/scotto.png"/>
          <p:cNvPicPr>
            <a:picLocks noChangeAspect="1"/>
          </p:cNvPicPr>
          <p:nvPr/>
        </p:nvPicPr>
        <p:blipFill>
          <a:blip r:embed="rId15"/>
          <a:stretch>
            <a:fillRect/>
          </a:stretch>
        </p:blipFill>
        <p:spPr>
          <a:xfrm>
            <a:off x="457200" y="3738087"/>
            <a:ext cx="141732" cy="141732"/>
          </a:xfrm>
          <a:prstGeom prst="rect">
            <a:avLst/>
          </a:prstGeom>
        </p:spPr>
      </p:pic>
      <p:sp>
        <p:nvSpPr>
          <p:cNvPr id="41" name="Text 22"/>
          <p:cNvSpPr txBox="1"/>
          <p:nvPr/>
        </p:nvSpPr>
        <p:spPr>
          <a:xfrm>
            <a:off x="653796" y="3733515"/>
            <a:ext cx="1815084" cy="149047"/>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Vincent Scotto</a:t>
            </a:r>
            <a:r>
              <a:rPr lang="en-US" sz="600">
                <a:solidFill>
                  <a:srgbClr val="6B7280"/>
                </a:solidFill>
                <a:latin typeface="Calibri" pitchFamily="34" charset="0"/>
                <a:ea typeface="Calibri" pitchFamily="34" charset="-122"/>
                <a:cs typeface="Calibri" pitchFamily="34" charset="-120"/>
              </a:rPr>
              <a:t>  —  SATHOAN, président</a:t>
            </a:r>
            <a:endParaRPr lang="en-US" sz="650"/>
          </a:p>
        </p:txBody>
      </p:sp>
      <p:pic>
        <p:nvPicPr>
          <p:cNvPr id="42" name="Image 17" descr="/home/claude/v10/por/cosnard.png"/>
          <p:cNvPicPr>
            <a:picLocks noChangeAspect="1"/>
          </p:cNvPicPr>
          <p:nvPr/>
        </p:nvPicPr>
        <p:blipFill>
          <a:blip r:embed="rId16"/>
          <a:stretch>
            <a:fillRect/>
          </a:stretch>
        </p:blipFill>
        <p:spPr>
          <a:xfrm>
            <a:off x="457200" y="3925134"/>
            <a:ext cx="141732" cy="141732"/>
          </a:xfrm>
          <a:prstGeom prst="rect">
            <a:avLst/>
          </a:prstGeom>
        </p:spPr>
      </p:pic>
      <p:sp>
        <p:nvSpPr>
          <p:cNvPr id="43" name="Text 23"/>
          <p:cNvSpPr txBox="1"/>
          <p:nvPr/>
        </p:nvSpPr>
        <p:spPr>
          <a:xfrm>
            <a:off x="653796" y="3920562"/>
            <a:ext cx="1815084" cy="149047"/>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Nolwenn Cosnard</a:t>
            </a:r>
            <a:r>
              <a:rPr lang="en-US" sz="600">
                <a:solidFill>
                  <a:srgbClr val="6B7280"/>
                </a:solidFill>
                <a:latin typeface="Calibri" pitchFamily="34" charset="0"/>
                <a:ea typeface="Calibri" pitchFamily="34" charset="-122"/>
                <a:cs typeface="Calibri" pitchFamily="34" charset="-120"/>
              </a:rPr>
              <a:t>  —  SATHOAN, chargée de missions</a:t>
            </a:r>
            <a:endParaRPr lang="en-US" sz="650"/>
          </a:p>
        </p:txBody>
      </p:sp>
      <p:pic>
        <p:nvPicPr>
          <p:cNvPr id="44" name="Image 18" descr="/home/claude/v10/por/chardon.png"/>
          <p:cNvPicPr>
            <a:picLocks noChangeAspect="1"/>
          </p:cNvPicPr>
          <p:nvPr/>
        </p:nvPicPr>
        <p:blipFill>
          <a:blip r:embed="rId17"/>
          <a:stretch>
            <a:fillRect/>
          </a:stretch>
        </p:blipFill>
        <p:spPr>
          <a:xfrm>
            <a:off x="457200" y="4112181"/>
            <a:ext cx="141732" cy="141732"/>
          </a:xfrm>
          <a:prstGeom prst="rect">
            <a:avLst/>
          </a:prstGeom>
        </p:spPr>
      </p:pic>
      <p:sp>
        <p:nvSpPr>
          <p:cNvPr id="45" name="Text 24"/>
          <p:cNvSpPr txBox="1"/>
          <p:nvPr/>
        </p:nvSpPr>
        <p:spPr>
          <a:xfrm>
            <a:off x="653796" y="4107609"/>
            <a:ext cx="1815084" cy="298094"/>
          </a:xfrm>
          <a:prstGeom prst="rect">
            <a:avLst/>
          </a:prstGeom>
          <a:noFill/>
          <a:ln/>
        </p:spPr>
        <p:txBody>
          <a:bodyPr wrap="square" lIns="0" tIns="0" rIns="0" bIns="0" rtlCol="0" anchor="t"/>
          <a:lstStyle/>
          <a:p>
            <a:pPr marL="0" indent="0">
              <a:lnSpc>
                <a:spcPct val="105000"/>
              </a:lnSpc>
              <a:buNone/>
            </a:pPr>
            <a:r>
              <a:rPr lang="en-US" sz="650" b="1" dirty="0">
                <a:solidFill>
                  <a:srgbClr val="16256B"/>
                </a:solidFill>
                <a:latin typeface="Calibri" pitchFamily="34" charset="0"/>
                <a:ea typeface="Calibri" pitchFamily="34" charset="-122"/>
                <a:cs typeface="Calibri" pitchFamily="34" charset="-120"/>
              </a:rPr>
              <a:t>Clément Chardon</a:t>
            </a:r>
            <a:r>
              <a:rPr lang="en-US" sz="600" dirty="0">
                <a:solidFill>
                  <a:srgbClr val="6B7280"/>
                </a:solidFill>
                <a:latin typeface="Calibri" pitchFamily="34" charset="0"/>
                <a:ea typeface="Calibri" pitchFamily="34" charset="-122"/>
                <a:cs typeface="Calibri" pitchFamily="34" charset="-120"/>
              </a:rPr>
              <a:t>  —  SATHOAN, chef de </a:t>
            </a:r>
            <a:r>
              <a:rPr lang="en-US" sz="600" dirty="0" err="1">
                <a:solidFill>
                  <a:srgbClr val="6B7280"/>
                </a:solidFill>
                <a:latin typeface="Calibri" pitchFamily="34" charset="0"/>
                <a:ea typeface="Calibri" pitchFamily="34" charset="-122"/>
                <a:cs typeface="Calibri" pitchFamily="34" charset="-120"/>
              </a:rPr>
              <a:t>projet</a:t>
            </a:r>
            <a:r>
              <a:rPr lang="en-US" sz="600" dirty="0">
                <a:solidFill>
                  <a:srgbClr val="6B7280"/>
                </a:solidFill>
                <a:latin typeface="Calibri" pitchFamily="34" charset="0"/>
                <a:ea typeface="Calibri" pitchFamily="34" charset="-122"/>
                <a:cs typeface="Calibri" pitchFamily="34" charset="-120"/>
              </a:rPr>
              <a:t> Mare </a:t>
            </a:r>
            <a:r>
              <a:rPr lang="en-US" sz="600" dirty="0" err="1">
                <a:solidFill>
                  <a:srgbClr val="6B7280"/>
                </a:solidFill>
                <a:latin typeface="Calibri" pitchFamily="34" charset="0"/>
                <a:ea typeface="Calibri" pitchFamily="34" charset="-122"/>
                <a:cs typeface="Calibri" pitchFamily="34" charset="-120"/>
              </a:rPr>
              <a:t>Durabilis</a:t>
            </a:r>
            <a:endParaRPr lang="en-US" sz="650" dirty="0"/>
          </a:p>
        </p:txBody>
      </p:sp>
      <p:pic>
        <p:nvPicPr>
          <p:cNvPr id="46" name="Image 19" descr="/home/claude/v24/segorb.png"/>
          <p:cNvPicPr>
            <a:picLocks noChangeAspect="1"/>
          </p:cNvPicPr>
          <p:nvPr/>
        </p:nvPicPr>
        <p:blipFill>
          <a:blip r:embed="rId18"/>
          <a:stretch>
            <a:fillRect/>
          </a:stretch>
        </p:blipFill>
        <p:spPr>
          <a:xfrm>
            <a:off x="457200" y="4448275"/>
            <a:ext cx="141732" cy="141732"/>
          </a:xfrm>
          <a:prstGeom prst="rect">
            <a:avLst/>
          </a:prstGeom>
        </p:spPr>
      </p:pic>
      <p:sp>
        <p:nvSpPr>
          <p:cNvPr id="47" name="Text 25"/>
          <p:cNvSpPr txBox="1"/>
          <p:nvPr/>
        </p:nvSpPr>
        <p:spPr>
          <a:xfrm>
            <a:off x="653796" y="4443703"/>
            <a:ext cx="1815084" cy="298094"/>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Christine Segorb</a:t>
            </a:r>
            <a:r>
              <a:rPr lang="en-US" sz="600">
                <a:solidFill>
                  <a:srgbClr val="6B7280"/>
                </a:solidFill>
                <a:latin typeface="Calibri" pitchFamily="34" charset="0"/>
                <a:ea typeface="Calibri" pitchFamily="34" charset="-122"/>
                <a:cs typeface="Calibri" pitchFamily="34" charset="-120"/>
              </a:rPr>
              <a:t>  —  SATHOAN, adjointe au directeur général</a:t>
            </a:r>
            <a:endParaRPr lang="en-US" sz="650"/>
          </a:p>
        </p:txBody>
      </p:sp>
      <p:pic>
        <p:nvPicPr>
          <p:cNvPr id="48" name="Image 20" descr="/home/claude/v10/por/liguori.png"/>
          <p:cNvPicPr>
            <a:picLocks noChangeAspect="1"/>
          </p:cNvPicPr>
          <p:nvPr/>
        </p:nvPicPr>
        <p:blipFill>
          <a:blip r:embed="rId19"/>
          <a:stretch>
            <a:fillRect/>
          </a:stretch>
        </p:blipFill>
        <p:spPr>
          <a:xfrm>
            <a:off x="457200" y="4784369"/>
            <a:ext cx="141732" cy="141732"/>
          </a:xfrm>
          <a:prstGeom prst="rect">
            <a:avLst/>
          </a:prstGeom>
        </p:spPr>
      </p:pic>
      <p:sp>
        <p:nvSpPr>
          <p:cNvPr id="49" name="Text 26"/>
          <p:cNvSpPr txBox="1"/>
          <p:nvPr/>
        </p:nvSpPr>
        <p:spPr>
          <a:xfrm>
            <a:off x="653796" y="4779797"/>
            <a:ext cx="1815084" cy="149047"/>
          </a:xfrm>
          <a:prstGeom prst="rect">
            <a:avLst/>
          </a:prstGeom>
          <a:noFill/>
          <a:ln/>
        </p:spPr>
        <p:txBody>
          <a:bodyPr wrap="square" lIns="0" tIns="0" rIns="0" bIns="0" rtlCol="0" anchor="t"/>
          <a:lstStyle/>
          <a:p>
            <a:pPr>
              <a:lnSpc>
                <a:spcPct val="105000"/>
              </a:lnSpc>
            </a:pPr>
            <a:r>
              <a:rPr lang="en-US" sz="650" b="1" dirty="0">
                <a:solidFill>
                  <a:srgbClr val="16256B"/>
                </a:solidFill>
                <a:latin typeface="Calibri" pitchFamily="34" charset="0"/>
                <a:ea typeface="Calibri" pitchFamily="34" charset="-122"/>
                <a:cs typeface="Calibri" pitchFamily="34" charset="-120"/>
              </a:rPr>
              <a:t>Bruno Liguori</a:t>
            </a:r>
            <a:r>
              <a:rPr lang="en-US" sz="600" dirty="0">
                <a:solidFill>
                  <a:srgbClr val="6B7280"/>
                </a:solidFill>
                <a:latin typeface="Calibri" pitchFamily="34" charset="0"/>
                <a:ea typeface="Calibri" pitchFamily="34" charset="-122"/>
                <a:cs typeface="Calibri" pitchFamily="34" charset="-120"/>
              </a:rPr>
              <a:t>  —  Crédit Maritime </a:t>
            </a:r>
            <a:r>
              <a:rPr lang="en-US" sz="600" dirty="0" err="1">
                <a:solidFill>
                  <a:srgbClr val="6B7280"/>
                </a:solidFill>
                <a:latin typeface="Calibri" pitchFamily="34" charset="0"/>
                <a:ea typeface="Calibri" pitchFamily="34" charset="-122"/>
                <a:cs typeface="Calibri" pitchFamily="34" charset="-120"/>
              </a:rPr>
              <a:t>Méditerranée</a:t>
            </a:r>
            <a:r>
              <a:rPr lang="en-US" sz="600" dirty="0">
                <a:solidFill>
                  <a:srgbClr val="6B7280"/>
                </a:solidFill>
                <a:latin typeface="Calibri" pitchFamily="34" charset="0"/>
                <a:ea typeface="Calibri" pitchFamily="34" charset="-122"/>
                <a:cs typeface="Calibri" pitchFamily="34" charset="-120"/>
              </a:rPr>
              <a:t>, president — </a:t>
            </a:r>
            <a:r>
              <a:rPr lang="en-US" sz="600" dirty="0" err="1">
                <a:solidFill>
                  <a:srgbClr val="6B7280"/>
                </a:solidFill>
                <a:latin typeface="Calibri" pitchFamily="34" charset="0"/>
                <a:ea typeface="Calibri" pitchFamily="34" charset="-122"/>
                <a:cs typeface="Calibri" pitchFamily="34" charset="-120"/>
              </a:rPr>
              <a:t>Ancien</a:t>
            </a:r>
            <a:r>
              <a:rPr lang="en-US" sz="600" dirty="0">
                <a:solidFill>
                  <a:srgbClr val="6B7280"/>
                </a:solidFill>
                <a:latin typeface="Calibri" pitchFamily="34" charset="0"/>
                <a:ea typeface="Calibri" pitchFamily="34" charset="-122"/>
                <a:cs typeface="Calibri" pitchFamily="34" charset="-120"/>
              </a:rPr>
              <a:t> patron </a:t>
            </a:r>
            <a:r>
              <a:rPr lang="en-US" sz="600" dirty="0" err="1">
                <a:solidFill>
                  <a:srgbClr val="6B7280"/>
                </a:solidFill>
                <a:latin typeface="Calibri" pitchFamily="34" charset="0"/>
                <a:ea typeface="Calibri" pitchFamily="34" charset="-122"/>
                <a:cs typeface="Calibri" pitchFamily="34" charset="-120"/>
              </a:rPr>
              <a:t>pêcheur</a:t>
            </a:r>
            <a:endParaRPr lang="en-US" sz="600" dirty="0">
              <a:solidFill>
                <a:srgbClr val="6B7280"/>
              </a:solidFill>
              <a:latin typeface="Calibri" pitchFamily="34" charset="0"/>
              <a:ea typeface="Calibri" pitchFamily="34" charset="-122"/>
              <a:cs typeface="Calibri" pitchFamily="34" charset="-120"/>
            </a:endParaRPr>
          </a:p>
          <a:p>
            <a:pPr marL="0" indent="0">
              <a:lnSpc>
                <a:spcPct val="105000"/>
              </a:lnSpc>
              <a:buNone/>
            </a:pPr>
            <a:endParaRPr lang="en-US" sz="650" dirty="0"/>
          </a:p>
        </p:txBody>
      </p:sp>
      <p:pic>
        <p:nvPicPr>
          <p:cNvPr id="51" name="Image 21" descr="/home/claude/v10/por/munier.png"/>
          <p:cNvPicPr>
            <a:picLocks noChangeAspect="1"/>
          </p:cNvPicPr>
          <p:nvPr/>
        </p:nvPicPr>
        <p:blipFill>
          <a:blip r:embed="rId20"/>
          <a:stretch>
            <a:fillRect/>
          </a:stretch>
        </p:blipFill>
        <p:spPr>
          <a:xfrm>
            <a:off x="2615184" y="3219572"/>
            <a:ext cx="141732" cy="141732"/>
          </a:xfrm>
          <a:prstGeom prst="rect">
            <a:avLst/>
          </a:prstGeom>
        </p:spPr>
      </p:pic>
      <p:sp>
        <p:nvSpPr>
          <p:cNvPr id="52" name="Text 28"/>
          <p:cNvSpPr txBox="1"/>
          <p:nvPr/>
        </p:nvSpPr>
        <p:spPr>
          <a:xfrm>
            <a:off x="2811780" y="3215000"/>
            <a:ext cx="1815084" cy="298094"/>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Isabelle Munier-Espeisse</a:t>
            </a:r>
            <a:r>
              <a:rPr lang="en-US" sz="600">
                <a:solidFill>
                  <a:srgbClr val="6B7280"/>
                </a:solidFill>
                <a:latin typeface="Calibri" pitchFamily="34" charset="0"/>
                <a:ea typeface="Calibri" pitchFamily="34" charset="-122"/>
                <a:cs typeface="Calibri" pitchFamily="34" charset="-120"/>
              </a:rPr>
              <a:t>  —  Banque Populaire du Sud, directrice de région</a:t>
            </a:r>
            <a:endParaRPr lang="en-US" sz="650"/>
          </a:p>
        </p:txBody>
      </p:sp>
      <p:pic>
        <p:nvPicPr>
          <p:cNvPr id="53" name="Image 22" descr="/home/claude/v10/por/gaubert.png"/>
          <p:cNvPicPr>
            <a:picLocks noChangeAspect="1"/>
          </p:cNvPicPr>
          <p:nvPr/>
        </p:nvPicPr>
        <p:blipFill>
          <a:blip r:embed="rId21"/>
          <a:stretch>
            <a:fillRect/>
          </a:stretch>
        </p:blipFill>
        <p:spPr>
          <a:xfrm>
            <a:off x="2615184" y="3555666"/>
            <a:ext cx="141732" cy="141732"/>
          </a:xfrm>
          <a:prstGeom prst="rect">
            <a:avLst/>
          </a:prstGeom>
        </p:spPr>
      </p:pic>
      <p:sp>
        <p:nvSpPr>
          <p:cNvPr id="54" name="Text 29"/>
          <p:cNvSpPr txBox="1"/>
          <p:nvPr/>
        </p:nvSpPr>
        <p:spPr>
          <a:xfrm>
            <a:off x="2811780" y="3551094"/>
            <a:ext cx="1815084" cy="298094"/>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Jean-Baptiste Gaubert</a:t>
            </a:r>
            <a:r>
              <a:rPr lang="en-US" sz="600">
                <a:solidFill>
                  <a:srgbClr val="6B7280"/>
                </a:solidFill>
                <a:latin typeface="Calibri" pitchFamily="34" charset="0"/>
                <a:ea typeface="Calibri" pitchFamily="34" charset="-122"/>
                <a:cs typeface="Calibri" pitchFamily="34" charset="-120"/>
              </a:rPr>
              <a:t>  —  CRPMEM Occitanie, vice-président</a:t>
            </a:r>
            <a:endParaRPr lang="en-US" sz="650"/>
          </a:p>
        </p:txBody>
      </p:sp>
      <p:sp>
        <p:nvSpPr>
          <p:cNvPr id="55" name="Text 30"/>
          <p:cNvSpPr txBox="1"/>
          <p:nvPr/>
        </p:nvSpPr>
        <p:spPr>
          <a:xfrm>
            <a:off x="2866644" y="3857188"/>
            <a:ext cx="1760220" cy="105156"/>
          </a:xfrm>
          <a:prstGeom prst="rect">
            <a:avLst/>
          </a:prstGeom>
          <a:noFill/>
          <a:ln/>
        </p:spPr>
        <p:txBody>
          <a:bodyPr wrap="square" lIns="0" tIns="0" rIns="0" bIns="0" rtlCol="0" anchor="t"/>
          <a:lstStyle/>
          <a:p>
            <a:pPr marL="0" indent="0">
              <a:lnSpc>
                <a:spcPct val="100000"/>
              </a:lnSpc>
              <a:buNone/>
            </a:pPr>
            <a:r>
              <a:rPr lang="en-US" sz="550" i="1">
                <a:solidFill>
                  <a:srgbClr val="6B7280"/>
                </a:solidFill>
                <a:latin typeface="Calibri" pitchFamily="34" charset="0"/>
                <a:ea typeface="Calibri" pitchFamily="34" charset="-122"/>
                <a:cs typeface="Calibri" pitchFamily="34" charset="-120"/>
              </a:rPr>
              <a:t>Patron pêcheur · président du fonds Mare Durabilis</a:t>
            </a:r>
            <a:endParaRPr lang="en-US" sz="550"/>
          </a:p>
        </p:txBody>
      </p:sp>
      <p:pic>
        <p:nvPicPr>
          <p:cNvPr id="56" name="Image 23" descr="/home/claude/v10/por/bassinet.png"/>
          <p:cNvPicPr>
            <a:picLocks noChangeAspect="1"/>
          </p:cNvPicPr>
          <p:nvPr/>
        </p:nvPicPr>
        <p:blipFill>
          <a:blip r:embed="rId22"/>
          <a:stretch>
            <a:fillRect/>
          </a:stretch>
        </p:blipFill>
        <p:spPr>
          <a:xfrm>
            <a:off x="2615184" y="4004916"/>
            <a:ext cx="141732" cy="141732"/>
          </a:xfrm>
          <a:prstGeom prst="rect">
            <a:avLst/>
          </a:prstGeom>
        </p:spPr>
      </p:pic>
      <p:sp>
        <p:nvSpPr>
          <p:cNvPr id="57" name="Text 31"/>
          <p:cNvSpPr txBox="1"/>
          <p:nvPr/>
        </p:nvSpPr>
        <p:spPr>
          <a:xfrm>
            <a:off x="2811780" y="4000344"/>
            <a:ext cx="1815084" cy="298094"/>
          </a:xfrm>
          <a:prstGeom prst="rect">
            <a:avLst/>
          </a:prstGeom>
          <a:noFill/>
          <a:ln/>
        </p:spPr>
        <p:txBody>
          <a:bodyPr wrap="square" lIns="0" tIns="0" rIns="0" bIns="0" rtlCol="0" anchor="t"/>
          <a:lstStyle/>
          <a:p>
            <a:pPr marL="0" indent="0">
              <a:lnSpc>
                <a:spcPct val="105000"/>
              </a:lnSpc>
              <a:buNone/>
            </a:pPr>
            <a:r>
              <a:rPr lang="en-US" sz="650" b="1" dirty="0">
                <a:solidFill>
                  <a:srgbClr val="16256B"/>
                </a:solidFill>
                <a:latin typeface="Calibri" pitchFamily="34" charset="0"/>
                <a:ea typeface="Calibri" pitchFamily="34" charset="-122"/>
                <a:cs typeface="Calibri" pitchFamily="34" charset="-120"/>
              </a:rPr>
              <a:t>Emmanuel Bassinet</a:t>
            </a:r>
            <a:r>
              <a:rPr lang="en-US" sz="600" dirty="0">
                <a:solidFill>
                  <a:srgbClr val="6B7280"/>
                </a:solidFill>
                <a:latin typeface="Calibri" pitchFamily="34" charset="0"/>
                <a:ea typeface="Calibri" pitchFamily="34" charset="-122"/>
                <a:cs typeface="Calibri" pitchFamily="34" charset="-120"/>
              </a:rPr>
              <a:t>  —  CRPMEM Occitanie, </a:t>
            </a:r>
            <a:r>
              <a:rPr lang="en-US" sz="600" dirty="0" err="1">
                <a:solidFill>
                  <a:srgbClr val="6B7280"/>
                </a:solidFill>
                <a:latin typeface="Calibri" pitchFamily="34" charset="0"/>
                <a:ea typeface="Calibri" pitchFamily="34" charset="-122"/>
                <a:cs typeface="Calibri" pitchFamily="34" charset="-120"/>
              </a:rPr>
              <a:t>secrétaire</a:t>
            </a:r>
            <a:r>
              <a:rPr lang="en-US" sz="600" dirty="0">
                <a:solidFill>
                  <a:srgbClr val="6B7280"/>
                </a:solidFill>
                <a:latin typeface="Calibri" pitchFamily="34" charset="0"/>
                <a:ea typeface="Calibri" pitchFamily="34" charset="-122"/>
                <a:cs typeface="Calibri" pitchFamily="34" charset="-120"/>
              </a:rPr>
              <a:t> </a:t>
            </a:r>
            <a:r>
              <a:rPr lang="en-US" sz="600" dirty="0" err="1">
                <a:solidFill>
                  <a:srgbClr val="6B7280"/>
                </a:solidFill>
                <a:latin typeface="Calibri" pitchFamily="34" charset="0"/>
                <a:ea typeface="Calibri" pitchFamily="34" charset="-122"/>
                <a:cs typeface="Calibri" pitchFamily="34" charset="-120"/>
              </a:rPr>
              <a:t>général</a:t>
            </a:r>
            <a:endParaRPr lang="en-US" sz="650" dirty="0"/>
          </a:p>
        </p:txBody>
      </p:sp>
      <p:pic>
        <p:nvPicPr>
          <p:cNvPr id="58" name="Image 24" descr="/home/claude/v10/por/perez.png"/>
          <p:cNvPicPr>
            <a:picLocks noChangeAspect="1"/>
          </p:cNvPicPr>
          <p:nvPr/>
        </p:nvPicPr>
        <p:blipFill>
          <a:blip r:embed="rId23"/>
          <a:stretch>
            <a:fillRect/>
          </a:stretch>
        </p:blipFill>
        <p:spPr>
          <a:xfrm>
            <a:off x="2615184" y="4341010"/>
            <a:ext cx="141732" cy="141732"/>
          </a:xfrm>
          <a:prstGeom prst="rect">
            <a:avLst/>
          </a:prstGeom>
        </p:spPr>
      </p:pic>
      <p:sp>
        <p:nvSpPr>
          <p:cNvPr id="59" name="Text 32"/>
          <p:cNvSpPr txBox="1"/>
          <p:nvPr/>
        </p:nvSpPr>
        <p:spPr>
          <a:xfrm>
            <a:off x="2811780" y="4336438"/>
            <a:ext cx="1815084" cy="149047"/>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Bernard Perez</a:t>
            </a:r>
            <a:r>
              <a:rPr lang="en-US" sz="600">
                <a:solidFill>
                  <a:srgbClr val="6B7280"/>
                </a:solidFill>
                <a:latin typeface="Calibri" pitchFamily="34" charset="0"/>
                <a:ea typeface="Calibri" pitchFamily="34" charset="-122"/>
                <a:cs typeface="Calibri" pitchFamily="34" charset="-120"/>
              </a:rPr>
              <a:t>  —  CRPMEM Occitanie, président</a:t>
            </a:r>
            <a:endParaRPr lang="en-US" sz="650"/>
          </a:p>
        </p:txBody>
      </p:sp>
      <p:pic>
        <p:nvPicPr>
          <p:cNvPr id="60" name="Image 25" descr="/home/claude/v10/por/cuvillier.png"/>
          <p:cNvPicPr>
            <a:picLocks noChangeAspect="1"/>
          </p:cNvPicPr>
          <p:nvPr/>
        </p:nvPicPr>
        <p:blipFill>
          <a:blip r:embed="rId24"/>
          <a:stretch>
            <a:fillRect/>
          </a:stretch>
        </p:blipFill>
        <p:spPr>
          <a:xfrm>
            <a:off x="2615184" y="4528057"/>
            <a:ext cx="141732" cy="141732"/>
          </a:xfrm>
          <a:prstGeom prst="rect">
            <a:avLst/>
          </a:prstGeom>
        </p:spPr>
      </p:pic>
      <p:sp>
        <p:nvSpPr>
          <p:cNvPr id="61" name="Text 33"/>
          <p:cNvSpPr txBox="1"/>
          <p:nvPr/>
        </p:nvSpPr>
        <p:spPr>
          <a:xfrm>
            <a:off x="2811780" y="4523485"/>
            <a:ext cx="1815084" cy="149047"/>
          </a:xfrm>
          <a:prstGeom prst="rect">
            <a:avLst/>
          </a:prstGeom>
          <a:noFill/>
          <a:ln/>
        </p:spPr>
        <p:txBody>
          <a:bodyPr wrap="square" lIns="0" tIns="0" rIns="0" bIns="0" rtlCol="0" anchor="t"/>
          <a:lstStyle/>
          <a:p>
            <a:pPr marL="0" indent="0">
              <a:lnSpc>
                <a:spcPct val="105000"/>
              </a:lnSpc>
              <a:buNone/>
            </a:pPr>
            <a:r>
              <a:rPr lang="en-US" sz="650" b="1" dirty="0">
                <a:solidFill>
                  <a:srgbClr val="16256B"/>
                </a:solidFill>
                <a:latin typeface="Calibri" pitchFamily="34" charset="0"/>
                <a:ea typeface="Calibri" pitchFamily="34" charset="-122"/>
                <a:cs typeface="Calibri" pitchFamily="34" charset="-120"/>
              </a:rPr>
              <a:t>Perrine Cuvillier</a:t>
            </a:r>
            <a:r>
              <a:rPr lang="en-US" sz="600" dirty="0">
                <a:solidFill>
                  <a:srgbClr val="6B7280"/>
                </a:solidFill>
                <a:latin typeface="Calibri" pitchFamily="34" charset="0"/>
                <a:ea typeface="Calibri" pitchFamily="34" charset="-122"/>
                <a:cs typeface="Calibri" pitchFamily="34" charset="-120"/>
              </a:rPr>
              <a:t>  —  OP du Sud, secretaire </a:t>
            </a:r>
            <a:r>
              <a:rPr lang="en-US" sz="600" dirty="0" err="1">
                <a:solidFill>
                  <a:srgbClr val="6B7280"/>
                </a:solidFill>
                <a:latin typeface="Calibri" pitchFamily="34" charset="0"/>
                <a:ea typeface="Calibri" pitchFamily="34" charset="-122"/>
                <a:cs typeface="Calibri" pitchFamily="34" charset="-120"/>
              </a:rPr>
              <a:t>générale</a:t>
            </a:r>
            <a:endParaRPr lang="en-US" sz="650" dirty="0"/>
          </a:p>
        </p:txBody>
      </p:sp>
      <p:pic>
        <p:nvPicPr>
          <p:cNvPr id="62" name="Image 26" descr="/home/claude/v10/por/mirete.png"/>
          <p:cNvPicPr>
            <a:picLocks noChangeAspect="1"/>
          </p:cNvPicPr>
          <p:nvPr/>
        </p:nvPicPr>
        <p:blipFill>
          <a:blip r:embed="rId25"/>
          <a:stretch>
            <a:fillRect/>
          </a:stretch>
        </p:blipFill>
        <p:spPr>
          <a:xfrm>
            <a:off x="2615184" y="4715104"/>
            <a:ext cx="141732" cy="141732"/>
          </a:xfrm>
          <a:prstGeom prst="rect">
            <a:avLst/>
          </a:prstGeom>
        </p:spPr>
      </p:pic>
      <p:sp>
        <p:nvSpPr>
          <p:cNvPr id="63" name="Text 34"/>
          <p:cNvSpPr txBox="1"/>
          <p:nvPr/>
        </p:nvSpPr>
        <p:spPr>
          <a:xfrm>
            <a:off x="2811780" y="4710532"/>
            <a:ext cx="1815084" cy="149047"/>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Guy Mirete</a:t>
            </a:r>
            <a:r>
              <a:rPr lang="en-US" sz="600">
                <a:solidFill>
                  <a:srgbClr val="6B7280"/>
                </a:solidFill>
                <a:latin typeface="Calibri" pitchFamily="34" charset="0"/>
                <a:ea typeface="Calibri" pitchFamily="34" charset="-122"/>
                <a:cs typeface="Calibri" pitchFamily="34" charset="-120"/>
              </a:rPr>
              <a:t>  —  OP du Sud, président</a:t>
            </a:r>
            <a:endParaRPr lang="en-US" sz="650"/>
          </a:p>
        </p:txBody>
      </p:sp>
      <p:pic>
        <p:nvPicPr>
          <p:cNvPr id="64" name="Image 27" descr="/home/claude/v10/por/ruyssen.png"/>
          <p:cNvPicPr>
            <a:picLocks noChangeAspect="1"/>
          </p:cNvPicPr>
          <p:nvPr/>
        </p:nvPicPr>
        <p:blipFill>
          <a:blip r:embed="rId26"/>
          <a:stretch>
            <a:fillRect/>
          </a:stretch>
        </p:blipFill>
        <p:spPr>
          <a:xfrm>
            <a:off x="4773168" y="3219572"/>
            <a:ext cx="141732" cy="141732"/>
          </a:xfrm>
          <a:prstGeom prst="rect">
            <a:avLst/>
          </a:prstGeom>
        </p:spPr>
      </p:pic>
      <p:sp>
        <p:nvSpPr>
          <p:cNvPr id="65" name="Text 35"/>
          <p:cNvSpPr txBox="1"/>
          <p:nvPr/>
        </p:nvSpPr>
        <p:spPr>
          <a:xfrm>
            <a:off x="4969764" y="3215000"/>
            <a:ext cx="1815084" cy="298094"/>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Maria Ruyssen</a:t>
            </a:r>
            <a:r>
              <a:rPr lang="en-US" sz="600">
                <a:solidFill>
                  <a:srgbClr val="6B7280"/>
                </a:solidFill>
                <a:latin typeface="Calibri" pitchFamily="34" charset="0"/>
                <a:ea typeface="Calibri" pitchFamily="34" charset="-122"/>
                <a:cs typeface="Calibri" pitchFamily="34" charset="-120"/>
              </a:rPr>
              <a:t>  —  Ifremer, directrice de la station de Sète</a:t>
            </a:r>
            <a:endParaRPr lang="en-US" sz="650"/>
          </a:p>
        </p:txBody>
      </p:sp>
      <p:pic>
        <p:nvPicPr>
          <p:cNvPr id="66" name="Image 28" descr="/home/claude/v10/por/colleter.png"/>
          <p:cNvPicPr>
            <a:picLocks noChangeAspect="1"/>
          </p:cNvPicPr>
          <p:nvPr/>
        </p:nvPicPr>
        <p:blipFill>
          <a:blip r:embed="rId27"/>
          <a:stretch>
            <a:fillRect/>
          </a:stretch>
        </p:blipFill>
        <p:spPr>
          <a:xfrm>
            <a:off x="4773168" y="3429516"/>
            <a:ext cx="141732" cy="141732"/>
          </a:xfrm>
          <a:prstGeom prst="rect">
            <a:avLst/>
          </a:prstGeom>
        </p:spPr>
      </p:pic>
      <p:sp>
        <p:nvSpPr>
          <p:cNvPr id="67" name="Text 36"/>
          <p:cNvSpPr txBox="1"/>
          <p:nvPr/>
        </p:nvSpPr>
        <p:spPr>
          <a:xfrm>
            <a:off x="4969764" y="3451798"/>
            <a:ext cx="1961388" cy="149047"/>
          </a:xfrm>
          <a:prstGeom prst="rect">
            <a:avLst/>
          </a:prstGeom>
          <a:noFill/>
          <a:ln/>
        </p:spPr>
        <p:txBody>
          <a:bodyPr wrap="square" lIns="0" tIns="0" rIns="0" bIns="0" rtlCol="0" anchor="t"/>
          <a:lstStyle/>
          <a:p>
            <a:pPr marL="0" indent="0">
              <a:lnSpc>
                <a:spcPct val="105000"/>
              </a:lnSpc>
              <a:buNone/>
            </a:pPr>
            <a:r>
              <a:rPr lang="en-US" sz="650" b="1" dirty="0">
                <a:solidFill>
                  <a:srgbClr val="16256B"/>
                </a:solidFill>
                <a:latin typeface="Calibri" pitchFamily="34" charset="0"/>
                <a:ea typeface="Calibri" pitchFamily="34" charset="-122"/>
                <a:cs typeface="Calibri" pitchFamily="34" charset="-120"/>
              </a:rPr>
              <a:t>Mathieu </a:t>
            </a:r>
            <a:r>
              <a:rPr lang="en-US" sz="650" b="1" dirty="0" err="1">
                <a:solidFill>
                  <a:srgbClr val="16256B"/>
                </a:solidFill>
                <a:latin typeface="Calibri" pitchFamily="34" charset="0"/>
                <a:ea typeface="Calibri" pitchFamily="34" charset="-122"/>
                <a:cs typeface="Calibri" pitchFamily="34" charset="-120"/>
              </a:rPr>
              <a:t>Colleter</a:t>
            </a:r>
            <a:r>
              <a:rPr lang="en-US" sz="600" dirty="0">
                <a:solidFill>
                  <a:srgbClr val="6B7280"/>
                </a:solidFill>
                <a:latin typeface="Calibri" pitchFamily="34" charset="0"/>
                <a:ea typeface="Calibri" pitchFamily="34" charset="-122"/>
                <a:cs typeface="Calibri" pitchFamily="34" charset="-120"/>
              </a:rPr>
              <a:t>  —  INP Toulouse, </a:t>
            </a:r>
            <a:r>
              <a:rPr lang="en-US" sz="600" dirty="0" err="1">
                <a:solidFill>
                  <a:srgbClr val="6B7280"/>
                </a:solidFill>
                <a:latin typeface="Calibri" pitchFamily="34" charset="0"/>
                <a:ea typeface="Calibri" pitchFamily="34" charset="-122"/>
                <a:cs typeface="Calibri" pitchFamily="34" charset="-120"/>
              </a:rPr>
              <a:t>professeur-chercheur</a:t>
            </a:r>
            <a:endParaRPr lang="en-US" sz="650" dirty="0"/>
          </a:p>
        </p:txBody>
      </p:sp>
      <p:pic>
        <p:nvPicPr>
          <p:cNvPr id="68" name="Image 29" descr="/home/claude/v10/por/manas.png"/>
          <p:cNvPicPr>
            <a:picLocks noChangeAspect="1"/>
          </p:cNvPicPr>
          <p:nvPr/>
        </p:nvPicPr>
        <p:blipFill>
          <a:blip r:embed="rId28"/>
          <a:stretch>
            <a:fillRect/>
          </a:stretch>
        </p:blipFill>
        <p:spPr>
          <a:xfrm>
            <a:off x="4773168" y="3635168"/>
            <a:ext cx="141732" cy="141732"/>
          </a:xfrm>
          <a:prstGeom prst="rect">
            <a:avLst/>
          </a:prstGeom>
        </p:spPr>
      </p:pic>
      <p:sp>
        <p:nvSpPr>
          <p:cNvPr id="69" name="Text 37"/>
          <p:cNvSpPr txBox="1"/>
          <p:nvPr/>
        </p:nvSpPr>
        <p:spPr>
          <a:xfrm>
            <a:off x="4969764" y="3600845"/>
            <a:ext cx="1996186" cy="149047"/>
          </a:xfrm>
          <a:prstGeom prst="rect">
            <a:avLst/>
          </a:prstGeom>
          <a:noFill/>
          <a:ln/>
        </p:spPr>
        <p:txBody>
          <a:bodyPr wrap="square" lIns="0" tIns="0" rIns="0" bIns="0" rtlCol="0" anchor="t"/>
          <a:lstStyle/>
          <a:p>
            <a:pPr marL="0" indent="0">
              <a:lnSpc>
                <a:spcPct val="105000"/>
              </a:lnSpc>
              <a:buNone/>
            </a:pPr>
            <a:r>
              <a:rPr lang="en-US" sz="650" b="1" dirty="0">
                <a:solidFill>
                  <a:srgbClr val="16256B"/>
                </a:solidFill>
                <a:latin typeface="Calibri" pitchFamily="34" charset="0"/>
                <a:ea typeface="Calibri" pitchFamily="34" charset="-122"/>
                <a:cs typeface="Calibri" pitchFamily="34" charset="-120"/>
              </a:rPr>
              <a:t>Christophe Manas</a:t>
            </a:r>
            <a:r>
              <a:rPr lang="en-US" sz="600" dirty="0">
                <a:solidFill>
                  <a:srgbClr val="6B7280"/>
                </a:solidFill>
                <a:latin typeface="Calibri" pitchFamily="34" charset="0"/>
                <a:ea typeface="Calibri" pitchFamily="34" charset="-122"/>
                <a:cs typeface="Calibri" pitchFamily="34" charset="-120"/>
              </a:rPr>
              <a:t>  — </a:t>
            </a:r>
            <a:r>
              <a:rPr lang="en-US" sz="600" dirty="0" err="1">
                <a:solidFill>
                  <a:srgbClr val="6B7280"/>
                </a:solidFill>
                <a:latin typeface="Calibri" pitchFamily="34" charset="0"/>
                <a:ea typeface="Calibri" pitchFamily="34" charset="-122"/>
                <a:cs typeface="Calibri" pitchFamily="34" charset="-120"/>
              </a:rPr>
              <a:t>Région</a:t>
            </a:r>
            <a:r>
              <a:rPr lang="en-US" sz="600" dirty="0">
                <a:solidFill>
                  <a:srgbClr val="6B7280"/>
                </a:solidFill>
                <a:latin typeface="Calibri" pitchFamily="34" charset="0"/>
                <a:ea typeface="Calibri" pitchFamily="34" charset="-122"/>
                <a:cs typeface="Calibri" pitchFamily="34" charset="-120"/>
              </a:rPr>
              <a:t> Occitanie </a:t>
            </a:r>
            <a:r>
              <a:rPr lang="fr-FR" sz="600" dirty="0">
                <a:solidFill>
                  <a:srgbClr val="6B7280"/>
                </a:solidFill>
                <a:latin typeface="Calibri" pitchFamily="34" charset="0"/>
                <a:ea typeface="Calibri" pitchFamily="34" charset="-122"/>
                <a:cs typeface="Calibri" pitchFamily="34" charset="-120"/>
              </a:rPr>
              <a:t>— Conseiller régional d’Occitanie, Président de la Commission Méditerranée.</a:t>
            </a:r>
            <a:endParaRPr lang="en-US" sz="650" dirty="0"/>
          </a:p>
        </p:txBody>
      </p:sp>
      <p:sp>
        <p:nvSpPr>
          <p:cNvPr id="70" name="Shape 38"/>
          <p:cNvSpPr/>
          <p:nvPr/>
        </p:nvSpPr>
        <p:spPr>
          <a:xfrm>
            <a:off x="4773168" y="3886884"/>
            <a:ext cx="141732" cy="141732"/>
          </a:xfrm>
          <a:prstGeom prst="ellipse">
            <a:avLst/>
          </a:prstGeom>
          <a:solidFill>
            <a:srgbClr val="DDE3F5"/>
          </a:solidFill>
          <a:ln w="12700">
            <a:solidFill>
              <a:srgbClr val="DDE3F5"/>
            </a:solidFill>
            <a:prstDash val="solid"/>
          </a:ln>
        </p:spPr>
        <p:txBody>
          <a:bodyPr/>
          <a:lstStyle/>
          <a:p>
            <a:endParaRPr lang="fr-FR"/>
          </a:p>
        </p:txBody>
      </p:sp>
      <p:sp>
        <p:nvSpPr>
          <p:cNvPr id="71" name="Text 39"/>
          <p:cNvSpPr txBox="1"/>
          <p:nvPr/>
        </p:nvSpPr>
        <p:spPr>
          <a:xfrm>
            <a:off x="4773168" y="3879819"/>
            <a:ext cx="141732" cy="141732"/>
          </a:xfrm>
          <a:prstGeom prst="rect">
            <a:avLst/>
          </a:prstGeom>
          <a:noFill/>
          <a:ln/>
        </p:spPr>
        <p:txBody>
          <a:bodyPr wrap="square" lIns="0" tIns="0" rIns="0" bIns="0" rtlCol="0" anchor="ctr"/>
          <a:lstStyle/>
          <a:p>
            <a:pPr marL="0" indent="0" algn="ctr">
              <a:buNone/>
            </a:pPr>
            <a:r>
              <a:rPr lang="en-US" sz="450" b="1" dirty="0">
                <a:solidFill>
                  <a:srgbClr val="16256B"/>
                </a:solidFill>
                <a:latin typeface="Calibri" pitchFamily="34" charset="0"/>
                <a:ea typeface="Calibri" pitchFamily="34" charset="-122"/>
                <a:cs typeface="Calibri" pitchFamily="34" charset="-120"/>
              </a:rPr>
              <a:t>MB</a:t>
            </a:r>
            <a:endParaRPr lang="en-US" sz="450" dirty="0"/>
          </a:p>
        </p:txBody>
      </p:sp>
      <p:sp>
        <p:nvSpPr>
          <p:cNvPr id="72" name="Text 40"/>
          <p:cNvSpPr txBox="1"/>
          <p:nvPr/>
        </p:nvSpPr>
        <p:spPr>
          <a:xfrm>
            <a:off x="4969764" y="3851297"/>
            <a:ext cx="1815084" cy="149047"/>
          </a:xfrm>
          <a:prstGeom prst="rect">
            <a:avLst/>
          </a:prstGeom>
          <a:noFill/>
          <a:ln/>
        </p:spPr>
        <p:txBody>
          <a:bodyPr wrap="square" lIns="0" tIns="0" rIns="0" bIns="0" rtlCol="0" anchor="t"/>
          <a:lstStyle/>
          <a:p>
            <a:pPr marL="0" indent="0">
              <a:lnSpc>
                <a:spcPct val="100000"/>
              </a:lnSpc>
              <a:buNone/>
            </a:pPr>
            <a:r>
              <a:rPr lang="en-US" sz="650" b="1" dirty="0">
                <a:solidFill>
                  <a:srgbClr val="16256B"/>
                </a:solidFill>
                <a:latin typeface="Calibri" pitchFamily="34" charset="0"/>
                <a:ea typeface="Calibri" pitchFamily="34" charset="-122"/>
                <a:cs typeface="Calibri" pitchFamily="34" charset="-120"/>
              </a:rPr>
              <a:t>Marc Barral</a:t>
            </a:r>
            <a:r>
              <a:rPr lang="en-US" sz="600" dirty="0">
                <a:solidFill>
                  <a:srgbClr val="6B7280"/>
                </a:solidFill>
                <a:latin typeface="Calibri" pitchFamily="34" charset="0"/>
                <a:ea typeface="Calibri" pitchFamily="34" charset="-122"/>
                <a:cs typeface="Calibri" pitchFamily="34" charset="-120"/>
              </a:rPr>
              <a:t>  —  </a:t>
            </a:r>
            <a:r>
              <a:rPr lang="en-US" sz="600" dirty="0" err="1">
                <a:solidFill>
                  <a:srgbClr val="6B7280"/>
                </a:solidFill>
                <a:latin typeface="Calibri" pitchFamily="34" charset="0"/>
                <a:ea typeface="Calibri" pitchFamily="34" charset="-122"/>
                <a:cs typeface="Calibri" pitchFamily="34" charset="-120"/>
              </a:rPr>
              <a:t>Région</a:t>
            </a:r>
            <a:r>
              <a:rPr lang="en-US" sz="600" dirty="0">
                <a:solidFill>
                  <a:srgbClr val="6B7280"/>
                </a:solidFill>
                <a:latin typeface="Calibri" pitchFamily="34" charset="0"/>
                <a:ea typeface="Calibri" pitchFamily="34" charset="-122"/>
                <a:cs typeface="Calibri" pitchFamily="34" charset="-120"/>
              </a:rPr>
              <a:t> Occitanie</a:t>
            </a:r>
            <a:r>
              <a:rPr lang="fr-FR" sz="600" dirty="0">
                <a:solidFill>
                  <a:srgbClr val="6B7280"/>
                </a:solidFill>
                <a:latin typeface="Calibri" pitchFamily="34" charset="0"/>
                <a:ea typeface="Calibri" pitchFamily="34" charset="-122"/>
                <a:cs typeface="Calibri" pitchFamily="34" charset="-120"/>
              </a:rPr>
              <a:t>Directeur de la Mer par intérim, Région Occitanie / Pyrénées-Méditerranée.</a:t>
            </a:r>
            <a:r>
              <a:rPr lang="en-US" sz="600" dirty="0">
                <a:solidFill>
                  <a:srgbClr val="6B7280"/>
                </a:solidFill>
                <a:latin typeface="Calibri" pitchFamily="34" charset="0"/>
                <a:ea typeface="Calibri" pitchFamily="34" charset="-122"/>
                <a:cs typeface="Calibri" pitchFamily="34" charset="-120"/>
              </a:rPr>
              <a:t>  </a:t>
            </a:r>
            <a:endParaRPr lang="en-US" sz="650" dirty="0"/>
          </a:p>
        </p:txBody>
      </p:sp>
      <p:sp>
        <p:nvSpPr>
          <p:cNvPr id="73" name="Shape 41"/>
          <p:cNvSpPr/>
          <p:nvPr/>
        </p:nvSpPr>
        <p:spPr>
          <a:xfrm>
            <a:off x="4773168" y="4116807"/>
            <a:ext cx="141732" cy="141732"/>
          </a:xfrm>
          <a:prstGeom prst="ellipse">
            <a:avLst/>
          </a:prstGeom>
          <a:solidFill>
            <a:srgbClr val="DDE3F5"/>
          </a:solidFill>
          <a:ln w="12700">
            <a:solidFill>
              <a:srgbClr val="DDE3F5"/>
            </a:solidFill>
            <a:prstDash val="solid"/>
          </a:ln>
        </p:spPr>
        <p:txBody>
          <a:bodyPr/>
          <a:lstStyle/>
          <a:p>
            <a:endParaRPr lang="fr-FR"/>
          </a:p>
        </p:txBody>
      </p:sp>
      <p:sp>
        <p:nvSpPr>
          <p:cNvPr id="74" name="Text 42"/>
          <p:cNvSpPr txBox="1"/>
          <p:nvPr/>
        </p:nvSpPr>
        <p:spPr>
          <a:xfrm>
            <a:off x="4773168" y="4116807"/>
            <a:ext cx="141732" cy="141732"/>
          </a:xfrm>
          <a:prstGeom prst="rect">
            <a:avLst/>
          </a:prstGeom>
          <a:noFill/>
          <a:ln/>
        </p:spPr>
        <p:txBody>
          <a:bodyPr wrap="square" lIns="0" tIns="0" rIns="0" bIns="0" rtlCol="0" anchor="ctr"/>
          <a:lstStyle/>
          <a:p>
            <a:pPr marL="0" indent="0" algn="ctr">
              <a:buNone/>
            </a:pPr>
            <a:r>
              <a:rPr lang="en-US" sz="450" b="1">
                <a:solidFill>
                  <a:srgbClr val="16256B"/>
                </a:solidFill>
                <a:latin typeface="Calibri" pitchFamily="34" charset="0"/>
                <a:ea typeface="Calibri" pitchFamily="34" charset="-122"/>
                <a:cs typeface="Calibri" pitchFamily="34" charset="-120"/>
              </a:rPr>
              <a:t>LR</a:t>
            </a:r>
            <a:endParaRPr lang="en-US" sz="450"/>
          </a:p>
        </p:txBody>
      </p:sp>
      <p:sp>
        <p:nvSpPr>
          <p:cNvPr id="75" name="Text 43"/>
          <p:cNvSpPr txBox="1"/>
          <p:nvPr/>
        </p:nvSpPr>
        <p:spPr>
          <a:xfrm>
            <a:off x="4969764" y="4112235"/>
            <a:ext cx="1815084" cy="149047"/>
          </a:xfrm>
          <a:prstGeom prst="rect">
            <a:avLst/>
          </a:prstGeom>
          <a:noFill/>
          <a:ln/>
        </p:spPr>
        <p:txBody>
          <a:bodyPr wrap="square" lIns="0" tIns="0" rIns="0" bIns="0" rtlCol="0" anchor="t"/>
          <a:lstStyle/>
          <a:p>
            <a:pPr marL="0" indent="0">
              <a:lnSpc>
                <a:spcPct val="105000"/>
              </a:lnSpc>
              <a:buNone/>
            </a:pPr>
            <a:r>
              <a:rPr lang="en-US" sz="650" b="1" dirty="0">
                <a:solidFill>
                  <a:srgbClr val="16256B"/>
                </a:solidFill>
                <a:latin typeface="Calibri" pitchFamily="34" charset="0"/>
                <a:ea typeface="Calibri" pitchFamily="34" charset="-122"/>
                <a:cs typeface="Calibri" pitchFamily="34" charset="-120"/>
              </a:rPr>
              <a:t>Laura </a:t>
            </a:r>
            <a:r>
              <a:rPr lang="en-US" sz="650" b="1" dirty="0" err="1">
                <a:solidFill>
                  <a:srgbClr val="16256B"/>
                </a:solidFill>
                <a:latin typeface="Calibri" pitchFamily="34" charset="0"/>
                <a:ea typeface="Calibri" pitchFamily="34" charset="-122"/>
                <a:cs typeface="Calibri" pitchFamily="34" charset="-120"/>
              </a:rPr>
              <a:t>Ramade</a:t>
            </a:r>
            <a:r>
              <a:rPr lang="en-US" sz="600" dirty="0">
                <a:solidFill>
                  <a:srgbClr val="6B7280"/>
                </a:solidFill>
                <a:latin typeface="Calibri" pitchFamily="34" charset="0"/>
                <a:ea typeface="Calibri" pitchFamily="34" charset="-122"/>
                <a:cs typeface="Calibri" pitchFamily="34" charset="-120"/>
              </a:rPr>
              <a:t>  —  </a:t>
            </a:r>
            <a:r>
              <a:rPr lang="en-US" sz="600" dirty="0" err="1">
                <a:solidFill>
                  <a:srgbClr val="6B7280"/>
                </a:solidFill>
                <a:latin typeface="Calibri" pitchFamily="34" charset="0"/>
                <a:ea typeface="Calibri" pitchFamily="34" charset="-122"/>
                <a:cs typeface="Calibri" pitchFamily="34" charset="-120"/>
              </a:rPr>
              <a:t>Région</a:t>
            </a:r>
            <a:r>
              <a:rPr lang="en-US" sz="600" dirty="0">
                <a:solidFill>
                  <a:srgbClr val="6B7280"/>
                </a:solidFill>
                <a:latin typeface="Calibri" pitchFamily="34" charset="0"/>
                <a:ea typeface="Calibri" pitchFamily="34" charset="-122"/>
                <a:cs typeface="Calibri" pitchFamily="34" charset="-120"/>
              </a:rPr>
              <a:t> Occitanie</a:t>
            </a:r>
            <a:endParaRPr lang="en-US" sz="650" dirty="0"/>
          </a:p>
        </p:txBody>
      </p:sp>
      <p:sp>
        <p:nvSpPr>
          <p:cNvPr id="76" name="Shape 44"/>
          <p:cNvSpPr/>
          <p:nvPr/>
        </p:nvSpPr>
        <p:spPr>
          <a:xfrm>
            <a:off x="4773168" y="4303854"/>
            <a:ext cx="141732" cy="141732"/>
          </a:xfrm>
          <a:prstGeom prst="ellipse">
            <a:avLst/>
          </a:prstGeom>
          <a:solidFill>
            <a:srgbClr val="DDE3F5"/>
          </a:solidFill>
          <a:ln w="12700">
            <a:solidFill>
              <a:srgbClr val="DDE3F5"/>
            </a:solidFill>
            <a:prstDash val="solid"/>
          </a:ln>
        </p:spPr>
        <p:txBody>
          <a:bodyPr/>
          <a:lstStyle/>
          <a:p>
            <a:endParaRPr lang="fr-FR"/>
          </a:p>
        </p:txBody>
      </p:sp>
      <p:sp>
        <p:nvSpPr>
          <p:cNvPr id="77" name="Text 45"/>
          <p:cNvSpPr txBox="1"/>
          <p:nvPr/>
        </p:nvSpPr>
        <p:spPr>
          <a:xfrm>
            <a:off x="4773168" y="4303854"/>
            <a:ext cx="141732" cy="141732"/>
          </a:xfrm>
          <a:prstGeom prst="rect">
            <a:avLst/>
          </a:prstGeom>
          <a:noFill/>
          <a:ln/>
        </p:spPr>
        <p:txBody>
          <a:bodyPr wrap="square" lIns="0" tIns="0" rIns="0" bIns="0" rtlCol="0" anchor="ctr"/>
          <a:lstStyle/>
          <a:p>
            <a:pPr marL="0" indent="0" algn="ctr">
              <a:buNone/>
            </a:pPr>
            <a:r>
              <a:rPr lang="en-US" sz="450" b="1">
                <a:solidFill>
                  <a:srgbClr val="16256B"/>
                </a:solidFill>
                <a:latin typeface="Calibri" pitchFamily="34" charset="0"/>
                <a:ea typeface="Calibri" pitchFamily="34" charset="-122"/>
                <a:cs typeface="Calibri" pitchFamily="34" charset="-120"/>
              </a:rPr>
              <a:t>CQ</a:t>
            </a:r>
            <a:endParaRPr lang="en-US" sz="450"/>
          </a:p>
        </p:txBody>
      </p:sp>
      <p:sp>
        <p:nvSpPr>
          <p:cNvPr id="78" name="Text 46"/>
          <p:cNvSpPr txBox="1"/>
          <p:nvPr/>
        </p:nvSpPr>
        <p:spPr>
          <a:xfrm>
            <a:off x="4969764" y="4299282"/>
            <a:ext cx="1815084" cy="149047"/>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Christian Quidet</a:t>
            </a:r>
            <a:r>
              <a:rPr lang="en-US" sz="600">
                <a:solidFill>
                  <a:srgbClr val="6B7280"/>
                </a:solidFill>
                <a:latin typeface="Calibri" pitchFamily="34" charset="0"/>
                <a:ea typeface="Calibri" pitchFamily="34" charset="-122"/>
                <a:cs typeface="Calibri" pitchFamily="34" charset="-120"/>
              </a:rPr>
              <a:t>  —  Région Occitanie</a:t>
            </a:r>
            <a:endParaRPr lang="en-US" sz="650"/>
          </a:p>
        </p:txBody>
      </p:sp>
      <p:pic>
        <p:nvPicPr>
          <p:cNvPr id="79" name="Image 30" descr="/home/claude/v10/por/jannot.png"/>
          <p:cNvPicPr>
            <a:picLocks noChangeAspect="1"/>
          </p:cNvPicPr>
          <p:nvPr/>
        </p:nvPicPr>
        <p:blipFill>
          <a:blip r:embed="rId29"/>
          <a:stretch>
            <a:fillRect/>
          </a:stretch>
        </p:blipFill>
        <p:spPr>
          <a:xfrm>
            <a:off x="4773168" y="4490901"/>
            <a:ext cx="141732" cy="141732"/>
          </a:xfrm>
          <a:prstGeom prst="rect">
            <a:avLst/>
          </a:prstGeom>
        </p:spPr>
      </p:pic>
      <p:sp>
        <p:nvSpPr>
          <p:cNvPr id="80" name="Text 47"/>
          <p:cNvSpPr txBox="1"/>
          <p:nvPr/>
        </p:nvSpPr>
        <p:spPr>
          <a:xfrm>
            <a:off x="4969764" y="4486329"/>
            <a:ext cx="1815084" cy="149047"/>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Adélaïde </a:t>
            </a:r>
            <a:r>
              <a:rPr lang="en-US" sz="650" b="1" dirty="0" err="1">
                <a:solidFill>
                  <a:srgbClr val="16256B"/>
                </a:solidFill>
                <a:latin typeface="Calibri" pitchFamily="34" charset="0"/>
                <a:ea typeface="Calibri" pitchFamily="34" charset="-122"/>
                <a:cs typeface="Calibri" pitchFamily="34" charset="-120"/>
              </a:rPr>
              <a:t>Jannot</a:t>
            </a:r>
            <a:r>
              <a:rPr lang="en-US" sz="600" dirty="0">
                <a:solidFill>
                  <a:srgbClr val="6B7280"/>
                </a:solidFill>
                <a:latin typeface="Calibri" pitchFamily="34" charset="0"/>
                <a:ea typeface="Calibri" pitchFamily="34" charset="-122"/>
                <a:cs typeface="Calibri" pitchFamily="34" charset="-120"/>
              </a:rPr>
              <a:t>  —  DIRM </a:t>
            </a:r>
            <a:r>
              <a:rPr lang="en-US" sz="600" dirty="0" err="1">
                <a:solidFill>
                  <a:srgbClr val="6B7280"/>
                </a:solidFill>
                <a:latin typeface="Calibri" pitchFamily="34" charset="0"/>
                <a:ea typeface="Calibri" pitchFamily="34" charset="-122"/>
                <a:cs typeface="Calibri" pitchFamily="34" charset="-120"/>
              </a:rPr>
              <a:t>Méditerranée</a:t>
            </a:r>
            <a:endParaRPr lang="en-US" sz="650" dirty="0"/>
          </a:p>
        </p:txBody>
      </p:sp>
      <p:sp>
        <p:nvSpPr>
          <p:cNvPr id="81" name="Shape 48"/>
          <p:cNvSpPr/>
          <p:nvPr/>
        </p:nvSpPr>
        <p:spPr>
          <a:xfrm>
            <a:off x="4773168" y="4677948"/>
            <a:ext cx="141732" cy="141732"/>
          </a:xfrm>
          <a:prstGeom prst="ellipse">
            <a:avLst/>
          </a:prstGeom>
          <a:solidFill>
            <a:srgbClr val="DDE3F5"/>
          </a:solidFill>
          <a:ln w="12700">
            <a:solidFill>
              <a:srgbClr val="DDE3F5"/>
            </a:solidFill>
            <a:prstDash val="solid"/>
          </a:ln>
        </p:spPr>
        <p:txBody>
          <a:bodyPr/>
          <a:lstStyle/>
          <a:p>
            <a:endParaRPr lang="fr-FR"/>
          </a:p>
        </p:txBody>
      </p:sp>
      <p:sp>
        <p:nvSpPr>
          <p:cNvPr id="82" name="Text 49"/>
          <p:cNvSpPr txBox="1"/>
          <p:nvPr/>
        </p:nvSpPr>
        <p:spPr>
          <a:xfrm>
            <a:off x="4773168" y="4677948"/>
            <a:ext cx="141732" cy="141732"/>
          </a:xfrm>
          <a:prstGeom prst="rect">
            <a:avLst/>
          </a:prstGeom>
          <a:noFill/>
          <a:ln/>
        </p:spPr>
        <p:txBody>
          <a:bodyPr wrap="square" lIns="0" tIns="0" rIns="0" bIns="0" rtlCol="0" anchor="ctr"/>
          <a:lstStyle/>
          <a:p>
            <a:pPr marL="0" indent="0" algn="ctr">
              <a:buNone/>
            </a:pPr>
            <a:r>
              <a:rPr lang="en-US" sz="450" b="1">
                <a:solidFill>
                  <a:srgbClr val="16256B"/>
                </a:solidFill>
                <a:latin typeface="Calibri" pitchFamily="34" charset="0"/>
                <a:ea typeface="Calibri" pitchFamily="34" charset="-122"/>
                <a:cs typeface="Calibri" pitchFamily="34" charset="-120"/>
              </a:rPr>
              <a:t>JD</a:t>
            </a:r>
            <a:endParaRPr lang="en-US" sz="450"/>
          </a:p>
        </p:txBody>
      </p:sp>
      <p:sp>
        <p:nvSpPr>
          <p:cNvPr id="83" name="Text 50"/>
          <p:cNvSpPr txBox="1"/>
          <p:nvPr/>
        </p:nvSpPr>
        <p:spPr>
          <a:xfrm>
            <a:off x="4969764" y="4673376"/>
            <a:ext cx="1815084" cy="149047"/>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Jean-Luc Desforges</a:t>
            </a:r>
            <a:r>
              <a:rPr lang="en-US" sz="600">
                <a:solidFill>
                  <a:srgbClr val="6B7280"/>
                </a:solidFill>
                <a:latin typeface="Calibri" pitchFamily="34" charset="0"/>
                <a:ea typeface="Calibri" pitchFamily="34" charset="-122"/>
                <a:cs typeface="Calibri" pitchFamily="34" charset="-120"/>
              </a:rPr>
              <a:t>  —  DIRM Méditerranée</a:t>
            </a:r>
            <a:endParaRPr lang="en-US" sz="650"/>
          </a:p>
        </p:txBody>
      </p:sp>
      <p:pic>
        <p:nvPicPr>
          <p:cNvPr id="84" name="Image 31" descr="/home/claude/v10/por/holley.png"/>
          <p:cNvPicPr>
            <a:picLocks noChangeAspect="1"/>
          </p:cNvPicPr>
          <p:nvPr/>
        </p:nvPicPr>
        <p:blipFill>
          <a:blip r:embed="rId30"/>
          <a:stretch>
            <a:fillRect/>
          </a:stretch>
        </p:blipFill>
        <p:spPr>
          <a:xfrm>
            <a:off x="4773168" y="4864995"/>
            <a:ext cx="141732" cy="141732"/>
          </a:xfrm>
          <a:prstGeom prst="rect">
            <a:avLst/>
          </a:prstGeom>
        </p:spPr>
      </p:pic>
      <p:sp>
        <p:nvSpPr>
          <p:cNvPr id="85" name="Text 51"/>
          <p:cNvSpPr txBox="1"/>
          <p:nvPr/>
        </p:nvSpPr>
        <p:spPr>
          <a:xfrm>
            <a:off x="4969764" y="4860423"/>
            <a:ext cx="1815084" cy="149047"/>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Jean-François Holley</a:t>
            </a:r>
            <a:r>
              <a:rPr lang="en-US" sz="600">
                <a:solidFill>
                  <a:srgbClr val="6B7280"/>
                </a:solidFill>
                <a:latin typeface="Calibri" pitchFamily="34" charset="0"/>
                <a:ea typeface="Calibri" pitchFamily="34" charset="-122"/>
                <a:cs typeface="Calibri" pitchFamily="34" charset="-120"/>
              </a:rPr>
              <a:t>  —  Cépralmar, directeur</a:t>
            </a:r>
            <a:endParaRPr lang="en-US" sz="650"/>
          </a:p>
        </p:txBody>
      </p:sp>
      <p:pic>
        <p:nvPicPr>
          <p:cNvPr id="86" name="Image 32" descr="/home/claude/v10/por/balazuc.png"/>
          <p:cNvPicPr>
            <a:picLocks noChangeAspect="1"/>
          </p:cNvPicPr>
          <p:nvPr/>
        </p:nvPicPr>
        <p:blipFill>
          <a:blip r:embed="rId31"/>
          <a:stretch>
            <a:fillRect/>
          </a:stretch>
        </p:blipFill>
        <p:spPr>
          <a:xfrm>
            <a:off x="6931152" y="3219572"/>
            <a:ext cx="141732" cy="141732"/>
          </a:xfrm>
          <a:prstGeom prst="rect">
            <a:avLst/>
          </a:prstGeom>
        </p:spPr>
      </p:pic>
      <p:sp>
        <p:nvSpPr>
          <p:cNvPr id="87" name="Text 52"/>
          <p:cNvSpPr txBox="1"/>
          <p:nvPr/>
        </p:nvSpPr>
        <p:spPr>
          <a:xfrm>
            <a:off x="7127748" y="3215000"/>
            <a:ext cx="1815084" cy="149047"/>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Antoine Balazuc</a:t>
            </a:r>
            <a:r>
              <a:rPr lang="en-US" sz="600">
                <a:solidFill>
                  <a:srgbClr val="6B7280"/>
                </a:solidFill>
                <a:latin typeface="Calibri" pitchFamily="34" charset="0"/>
                <a:ea typeface="Calibri" pitchFamily="34" charset="-122"/>
                <a:cs typeface="Calibri" pitchFamily="34" charset="-120"/>
              </a:rPr>
              <a:t>  —  Cépralmar</a:t>
            </a:r>
            <a:endParaRPr lang="en-US" sz="650"/>
          </a:p>
        </p:txBody>
      </p:sp>
      <p:pic>
        <p:nvPicPr>
          <p:cNvPr id="88" name="Image 33" descr="/home/claude/v10/por/couchoux.png"/>
          <p:cNvPicPr>
            <a:picLocks noChangeAspect="1"/>
          </p:cNvPicPr>
          <p:nvPr/>
        </p:nvPicPr>
        <p:blipFill>
          <a:blip r:embed="rId32"/>
          <a:stretch>
            <a:fillRect/>
          </a:stretch>
        </p:blipFill>
        <p:spPr>
          <a:xfrm>
            <a:off x="6931152" y="3406619"/>
            <a:ext cx="141732" cy="141732"/>
          </a:xfrm>
          <a:prstGeom prst="rect">
            <a:avLst/>
          </a:prstGeom>
        </p:spPr>
      </p:pic>
      <p:sp>
        <p:nvSpPr>
          <p:cNvPr id="89" name="Text 53"/>
          <p:cNvSpPr txBox="1"/>
          <p:nvPr/>
        </p:nvSpPr>
        <p:spPr>
          <a:xfrm>
            <a:off x="7127748" y="3402047"/>
            <a:ext cx="1815084" cy="149047"/>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Stéphane Couchoux</a:t>
            </a:r>
            <a:r>
              <a:rPr lang="en-US" sz="600">
                <a:solidFill>
                  <a:srgbClr val="6B7280"/>
                </a:solidFill>
                <a:latin typeface="Calibri" pitchFamily="34" charset="0"/>
                <a:ea typeface="Calibri" pitchFamily="34" charset="-122"/>
                <a:cs typeface="Calibri" pitchFamily="34" charset="-120"/>
              </a:rPr>
              <a:t>  —  Fidal, avocat associé</a:t>
            </a:r>
            <a:endParaRPr lang="en-US" sz="650"/>
          </a:p>
        </p:txBody>
      </p:sp>
      <p:sp>
        <p:nvSpPr>
          <p:cNvPr id="90" name="Shape 54"/>
          <p:cNvSpPr/>
          <p:nvPr/>
        </p:nvSpPr>
        <p:spPr>
          <a:xfrm>
            <a:off x="6931152" y="3593666"/>
            <a:ext cx="141732" cy="141732"/>
          </a:xfrm>
          <a:prstGeom prst="ellipse">
            <a:avLst/>
          </a:prstGeom>
          <a:solidFill>
            <a:srgbClr val="DDE3F5"/>
          </a:solidFill>
          <a:ln w="12700">
            <a:solidFill>
              <a:srgbClr val="DDE3F5"/>
            </a:solidFill>
            <a:prstDash val="solid"/>
          </a:ln>
        </p:spPr>
        <p:txBody>
          <a:bodyPr/>
          <a:lstStyle/>
          <a:p>
            <a:endParaRPr lang="fr-FR"/>
          </a:p>
        </p:txBody>
      </p:sp>
      <p:sp>
        <p:nvSpPr>
          <p:cNvPr id="91" name="Text 55"/>
          <p:cNvSpPr txBox="1"/>
          <p:nvPr/>
        </p:nvSpPr>
        <p:spPr>
          <a:xfrm>
            <a:off x="6931152" y="3593666"/>
            <a:ext cx="141732" cy="141732"/>
          </a:xfrm>
          <a:prstGeom prst="rect">
            <a:avLst/>
          </a:prstGeom>
          <a:noFill/>
          <a:ln/>
        </p:spPr>
        <p:txBody>
          <a:bodyPr wrap="square" lIns="0" tIns="0" rIns="0" bIns="0" rtlCol="0" anchor="ctr"/>
          <a:lstStyle/>
          <a:p>
            <a:pPr marL="0" indent="0" algn="ctr">
              <a:buNone/>
            </a:pPr>
            <a:r>
              <a:rPr lang="en-US" sz="450" b="1">
                <a:solidFill>
                  <a:srgbClr val="16256B"/>
                </a:solidFill>
                <a:latin typeface="Calibri" pitchFamily="34" charset="0"/>
                <a:ea typeface="Calibri" pitchFamily="34" charset="-122"/>
                <a:cs typeface="Calibri" pitchFamily="34" charset="-120"/>
              </a:rPr>
              <a:t>CD</a:t>
            </a:r>
            <a:endParaRPr lang="en-US" sz="450"/>
          </a:p>
        </p:txBody>
      </p:sp>
      <p:sp>
        <p:nvSpPr>
          <p:cNvPr id="92" name="Text 56"/>
          <p:cNvSpPr txBox="1"/>
          <p:nvPr/>
        </p:nvSpPr>
        <p:spPr>
          <a:xfrm>
            <a:off x="7127748" y="3589094"/>
            <a:ext cx="1815084" cy="149047"/>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Christian Davy</a:t>
            </a:r>
            <a:r>
              <a:rPr lang="en-US" sz="600">
                <a:solidFill>
                  <a:srgbClr val="6B7280"/>
                </a:solidFill>
                <a:latin typeface="Calibri" pitchFamily="34" charset="0"/>
                <a:ea typeface="Calibri" pitchFamily="34" charset="-122"/>
                <a:cs typeface="Calibri" pitchFamily="34" charset="-120"/>
              </a:rPr>
              <a:t>  —  Fidal, avocat</a:t>
            </a:r>
            <a:endParaRPr lang="en-US" sz="650"/>
          </a:p>
        </p:txBody>
      </p:sp>
      <p:pic>
        <p:nvPicPr>
          <p:cNvPr id="93" name="Image 34" descr="/home/claude/v10/por/moreau.png"/>
          <p:cNvPicPr>
            <a:picLocks noChangeAspect="1"/>
          </p:cNvPicPr>
          <p:nvPr/>
        </p:nvPicPr>
        <p:blipFill>
          <a:blip r:embed="rId33"/>
          <a:stretch>
            <a:fillRect/>
          </a:stretch>
        </p:blipFill>
        <p:spPr>
          <a:xfrm>
            <a:off x="6931152" y="3780713"/>
            <a:ext cx="141732" cy="141732"/>
          </a:xfrm>
          <a:prstGeom prst="rect">
            <a:avLst/>
          </a:prstGeom>
        </p:spPr>
      </p:pic>
      <p:sp>
        <p:nvSpPr>
          <p:cNvPr id="94" name="Text 57"/>
          <p:cNvSpPr txBox="1"/>
          <p:nvPr/>
        </p:nvSpPr>
        <p:spPr>
          <a:xfrm>
            <a:off x="7127748" y="3776141"/>
            <a:ext cx="1815084" cy="149047"/>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Didier Moreau</a:t>
            </a:r>
            <a:r>
              <a:rPr lang="en-US" sz="600">
                <a:solidFill>
                  <a:srgbClr val="6B7280"/>
                </a:solidFill>
                <a:latin typeface="Calibri" pitchFamily="34" charset="0"/>
                <a:ea typeface="Calibri" pitchFamily="34" charset="-122"/>
                <a:cs typeface="Calibri" pitchFamily="34" charset="-120"/>
              </a:rPr>
              <a:t>  —  Equalogy</a:t>
            </a:r>
            <a:endParaRPr lang="en-US" sz="650"/>
          </a:p>
        </p:txBody>
      </p:sp>
      <p:pic>
        <p:nvPicPr>
          <p:cNvPr id="95" name="Image 35" descr="/home/claude/v10/por/mangalo.png"/>
          <p:cNvPicPr>
            <a:picLocks noChangeAspect="1"/>
          </p:cNvPicPr>
          <p:nvPr/>
        </p:nvPicPr>
        <p:blipFill>
          <a:blip r:embed="rId34"/>
          <a:stretch>
            <a:fillRect/>
          </a:stretch>
        </p:blipFill>
        <p:spPr>
          <a:xfrm>
            <a:off x="6931152" y="3967760"/>
            <a:ext cx="141732" cy="141732"/>
          </a:xfrm>
          <a:prstGeom prst="rect">
            <a:avLst/>
          </a:prstGeom>
        </p:spPr>
      </p:pic>
      <p:sp>
        <p:nvSpPr>
          <p:cNvPr id="96" name="Text 58"/>
          <p:cNvSpPr txBox="1"/>
          <p:nvPr/>
        </p:nvSpPr>
        <p:spPr>
          <a:xfrm>
            <a:off x="7127748" y="3963188"/>
            <a:ext cx="1815084" cy="149047"/>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Caroline Mangalo</a:t>
            </a:r>
            <a:r>
              <a:rPr lang="en-US" sz="600">
                <a:solidFill>
                  <a:srgbClr val="6B7280"/>
                </a:solidFill>
                <a:latin typeface="Calibri" pitchFamily="34" charset="0"/>
                <a:ea typeface="Calibri" pitchFamily="34" charset="-122"/>
                <a:cs typeface="Calibri" pitchFamily="34" charset="-120"/>
              </a:rPr>
              <a:t>  —  Equalogy</a:t>
            </a:r>
            <a:endParaRPr lang="en-US" sz="650"/>
          </a:p>
        </p:txBody>
      </p:sp>
      <p:pic>
        <p:nvPicPr>
          <p:cNvPr id="97" name="Image 36" descr="/home/claude/v10/por/marcellier.png"/>
          <p:cNvPicPr>
            <a:picLocks noChangeAspect="1"/>
          </p:cNvPicPr>
          <p:nvPr/>
        </p:nvPicPr>
        <p:blipFill>
          <a:blip r:embed="rId35"/>
          <a:stretch>
            <a:fillRect/>
          </a:stretch>
        </p:blipFill>
        <p:spPr>
          <a:xfrm>
            <a:off x="6931152" y="4154807"/>
            <a:ext cx="141732" cy="141732"/>
          </a:xfrm>
          <a:prstGeom prst="rect">
            <a:avLst/>
          </a:prstGeom>
        </p:spPr>
      </p:pic>
      <p:sp>
        <p:nvSpPr>
          <p:cNvPr id="98" name="Text 59"/>
          <p:cNvSpPr txBox="1"/>
          <p:nvPr/>
        </p:nvSpPr>
        <p:spPr>
          <a:xfrm>
            <a:off x="7127748" y="4150235"/>
            <a:ext cx="1815084" cy="149047"/>
          </a:xfrm>
          <a:prstGeom prst="rect">
            <a:avLst/>
          </a:prstGeom>
          <a:noFill/>
          <a:ln/>
        </p:spPr>
        <p:txBody>
          <a:bodyPr wrap="square" lIns="0" tIns="0" rIns="0" bIns="0" rtlCol="0" anchor="t"/>
          <a:lstStyle/>
          <a:p>
            <a:pPr marL="0" indent="0">
              <a:lnSpc>
                <a:spcPct val="105000"/>
              </a:lnSpc>
              <a:buNone/>
            </a:pPr>
            <a:r>
              <a:rPr lang="en-US" sz="650" b="1">
                <a:solidFill>
                  <a:srgbClr val="16256B"/>
                </a:solidFill>
                <a:latin typeface="Calibri" pitchFamily="34" charset="0"/>
                <a:ea typeface="Calibri" pitchFamily="34" charset="-122"/>
                <a:cs typeface="Calibri" pitchFamily="34" charset="-120"/>
              </a:rPr>
              <a:t>Marc Marcellier</a:t>
            </a:r>
            <a:r>
              <a:rPr lang="en-US" sz="600">
                <a:solidFill>
                  <a:srgbClr val="6B7280"/>
                </a:solidFill>
                <a:latin typeface="Calibri" pitchFamily="34" charset="0"/>
                <a:ea typeface="Calibri" pitchFamily="34" charset="-122"/>
                <a:cs typeface="Calibri" pitchFamily="34" charset="-120"/>
              </a:rPr>
              <a:t>  —  Equalogy</a:t>
            </a:r>
            <a:endParaRPr lang="en-US" sz="650"/>
          </a:p>
        </p:txBody>
      </p:sp>
      <p:pic>
        <p:nvPicPr>
          <p:cNvPr id="99" name="Image 37" descr="/home/claude/v10/por/magnin.png"/>
          <p:cNvPicPr>
            <a:picLocks noChangeAspect="1"/>
          </p:cNvPicPr>
          <p:nvPr/>
        </p:nvPicPr>
        <p:blipFill>
          <a:blip r:embed="rId36"/>
          <a:stretch>
            <a:fillRect/>
          </a:stretch>
        </p:blipFill>
        <p:spPr>
          <a:xfrm>
            <a:off x="6931152" y="4341854"/>
            <a:ext cx="141732" cy="141732"/>
          </a:xfrm>
          <a:prstGeom prst="rect">
            <a:avLst/>
          </a:prstGeom>
        </p:spPr>
      </p:pic>
      <p:sp>
        <p:nvSpPr>
          <p:cNvPr id="100" name="Text 60"/>
          <p:cNvSpPr txBox="1"/>
          <p:nvPr/>
        </p:nvSpPr>
        <p:spPr>
          <a:xfrm>
            <a:off x="7127748" y="4337282"/>
            <a:ext cx="1815084" cy="149047"/>
          </a:xfrm>
          <a:prstGeom prst="rect">
            <a:avLst/>
          </a:prstGeom>
          <a:noFill/>
          <a:ln/>
        </p:spPr>
        <p:txBody>
          <a:bodyPr wrap="square" lIns="0" tIns="0" rIns="0" bIns="0" rtlCol="0" anchor="t"/>
          <a:lstStyle/>
          <a:p>
            <a:pPr>
              <a:lnSpc>
                <a:spcPct val="105000"/>
              </a:lnSpc>
            </a:pPr>
            <a:r>
              <a:rPr lang="en-US" sz="650" b="1" dirty="0">
                <a:solidFill>
                  <a:srgbClr val="16256B"/>
                </a:solidFill>
                <a:latin typeface="Calibri" pitchFamily="34" charset="0"/>
                <a:ea typeface="Calibri" pitchFamily="34" charset="-122"/>
                <a:cs typeface="Calibri" pitchFamily="34" charset="-120"/>
              </a:rPr>
              <a:t>Hervé Magnin</a:t>
            </a:r>
            <a:r>
              <a:rPr lang="en-US" sz="600" dirty="0">
                <a:solidFill>
                  <a:srgbClr val="6B7280"/>
                </a:solidFill>
                <a:latin typeface="Calibri" pitchFamily="34" charset="0"/>
                <a:ea typeface="Calibri" pitchFamily="34" charset="-122"/>
                <a:cs typeface="Calibri" pitchFamily="34" charset="-120"/>
              </a:rPr>
              <a:t>  —  Office français de la </a:t>
            </a:r>
            <a:r>
              <a:rPr lang="en-US" sz="600" dirty="0" err="1">
                <a:solidFill>
                  <a:srgbClr val="6B7280"/>
                </a:solidFill>
                <a:latin typeface="Calibri" pitchFamily="34" charset="0"/>
                <a:ea typeface="Calibri" pitchFamily="34" charset="-122"/>
                <a:cs typeface="Calibri" pitchFamily="34" charset="-120"/>
              </a:rPr>
              <a:t>biodiversité</a:t>
            </a:r>
            <a:r>
              <a:rPr lang="en-US" sz="600" dirty="0">
                <a:solidFill>
                  <a:srgbClr val="6B7280"/>
                </a:solidFill>
                <a:latin typeface="Calibri" pitchFamily="34" charset="0"/>
                <a:ea typeface="Calibri" pitchFamily="34" charset="-122"/>
                <a:cs typeface="Calibri" pitchFamily="34" charset="-120"/>
              </a:rPr>
              <a:t> — Directeur du parc naturel </a:t>
            </a:r>
            <a:r>
              <a:rPr lang="en-US" sz="600" dirty="0" err="1">
                <a:solidFill>
                  <a:srgbClr val="6B7280"/>
                </a:solidFill>
                <a:latin typeface="Calibri" pitchFamily="34" charset="0"/>
                <a:ea typeface="Calibri" pitchFamily="34" charset="-122"/>
                <a:cs typeface="Calibri" pitchFamily="34" charset="-120"/>
              </a:rPr>
              <a:t>marin</a:t>
            </a:r>
            <a:r>
              <a:rPr lang="en-US" sz="600" dirty="0">
                <a:solidFill>
                  <a:srgbClr val="6B7280"/>
                </a:solidFill>
                <a:latin typeface="Calibri" pitchFamily="34" charset="0"/>
                <a:ea typeface="Calibri" pitchFamily="34" charset="-122"/>
                <a:cs typeface="Calibri" pitchFamily="34" charset="-120"/>
              </a:rPr>
              <a:t> du </a:t>
            </a:r>
            <a:r>
              <a:rPr lang="en-US" sz="600" dirty="0" err="1">
                <a:solidFill>
                  <a:srgbClr val="6B7280"/>
                </a:solidFill>
                <a:latin typeface="Calibri" pitchFamily="34" charset="0"/>
                <a:ea typeface="Calibri" pitchFamily="34" charset="-122"/>
                <a:cs typeface="Calibri" pitchFamily="34" charset="-120"/>
              </a:rPr>
              <a:t>golfe</a:t>
            </a:r>
            <a:r>
              <a:rPr lang="en-US" sz="600" dirty="0">
                <a:solidFill>
                  <a:srgbClr val="6B7280"/>
                </a:solidFill>
                <a:latin typeface="Calibri" pitchFamily="34" charset="0"/>
                <a:ea typeface="Calibri" pitchFamily="34" charset="-122"/>
                <a:cs typeface="Calibri" pitchFamily="34" charset="-120"/>
              </a:rPr>
              <a:t> du Lion </a:t>
            </a:r>
          </a:p>
        </p:txBody>
      </p:sp>
      <p:pic>
        <p:nvPicPr>
          <p:cNvPr id="101" name="Image 38" descr="/home/claude/v10/por/jacob.png"/>
          <p:cNvPicPr>
            <a:picLocks noChangeAspect="1"/>
          </p:cNvPicPr>
          <p:nvPr/>
        </p:nvPicPr>
        <p:blipFill>
          <a:blip r:embed="rId37"/>
          <a:stretch>
            <a:fillRect/>
          </a:stretch>
        </p:blipFill>
        <p:spPr>
          <a:xfrm>
            <a:off x="6931152" y="4587503"/>
            <a:ext cx="141732" cy="141732"/>
          </a:xfrm>
          <a:prstGeom prst="rect">
            <a:avLst/>
          </a:prstGeom>
        </p:spPr>
      </p:pic>
      <p:sp>
        <p:nvSpPr>
          <p:cNvPr id="102" name="Text 61"/>
          <p:cNvSpPr txBox="1"/>
          <p:nvPr/>
        </p:nvSpPr>
        <p:spPr>
          <a:xfrm>
            <a:off x="7127748" y="4592750"/>
            <a:ext cx="1815084" cy="149047"/>
          </a:xfrm>
          <a:prstGeom prst="rect">
            <a:avLst/>
          </a:prstGeom>
          <a:noFill/>
          <a:ln/>
        </p:spPr>
        <p:txBody>
          <a:bodyPr wrap="square" lIns="0" tIns="0" rIns="0" bIns="0" rtlCol="0" anchor="t"/>
          <a:lstStyle/>
          <a:p>
            <a:pPr marL="0" indent="0">
              <a:lnSpc>
                <a:spcPct val="105000"/>
              </a:lnSpc>
              <a:buNone/>
            </a:pPr>
            <a:r>
              <a:rPr lang="en-US" sz="650" b="1" dirty="0">
                <a:solidFill>
                  <a:srgbClr val="16256B"/>
                </a:solidFill>
                <a:latin typeface="Calibri" pitchFamily="34" charset="0"/>
                <a:ea typeface="Calibri" pitchFamily="34" charset="-122"/>
                <a:cs typeface="Calibri" pitchFamily="34" charset="-120"/>
              </a:rPr>
              <a:t>Théa Jacob</a:t>
            </a:r>
            <a:r>
              <a:rPr lang="en-US" sz="600" dirty="0">
                <a:solidFill>
                  <a:srgbClr val="6B7280"/>
                </a:solidFill>
                <a:latin typeface="Calibri" pitchFamily="34" charset="0"/>
                <a:ea typeface="Calibri" pitchFamily="34" charset="-122"/>
                <a:cs typeface="Calibri" pitchFamily="34" charset="-120"/>
              </a:rPr>
              <a:t>  —  WWF France</a:t>
            </a:r>
            <a:endParaRPr lang="en-US" sz="650" dirty="0"/>
          </a:p>
        </p:txBody>
      </p:sp>
      <p:pic>
        <p:nvPicPr>
          <p:cNvPr id="103" name="Image 39" descr="/home/claude/v10/por/debas.png"/>
          <p:cNvPicPr>
            <a:picLocks noChangeAspect="1"/>
          </p:cNvPicPr>
          <p:nvPr/>
        </p:nvPicPr>
        <p:blipFill>
          <a:blip r:embed="rId38"/>
          <a:stretch>
            <a:fillRect/>
          </a:stretch>
        </p:blipFill>
        <p:spPr>
          <a:xfrm>
            <a:off x="6931152" y="4748814"/>
            <a:ext cx="141732" cy="141732"/>
          </a:xfrm>
          <a:prstGeom prst="rect">
            <a:avLst/>
          </a:prstGeom>
        </p:spPr>
      </p:pic>
      <p:sp>
        <p:nvSpPr>
          <p:cNvPr id="104" name="Text 62"/>
          <p:cNvSpPr txBox="1"/>
          <p:nvPr/>
        </p:nvSpPr>
        <p:spPr>
          <a:xfrm>
            <a:off x="7127748" y="4776368"/>
            <a:ext cx="1815084" cy="149047"/>
          </a:xfrm>
          <a:prstGeom prst="rect">
            <a:avLst/>
          </a:prstGeom>
          <a:noFill/>
          <a:ln/>
        </p:spPr>
        <p:txBody>
          <a:bodyPr wrap="square" lIns="0" tIns="0" rIns="0" bIns="0" rtlCol="0" anchor="t"/>
          <a:lstStyle/>
          <a:p>
            <a:pPr marL="0" indent="0">
              <a:lnSpc>
                <a:spcPct val="105000"/>
              </a:lnSpc>
              <a:buNone/>
            </a:pPr>
            <a:r>
              <a:rPr lang="en-US" sz="650" b="1" dirty="0">
                <a:solidFill>
                  <a:srgbClr val="16256B"/>
                </a:solidFill>
                <a:latin typeface="Calibri" pitchFamily="34" charset="0"/>
                <a:ea typeface="Calibri" pitchFamily="34" charset="-122"/>
                <a:cs typeface="Calibri" pitchFamily="34" charset="-120"/>
              </a:rPr>
              <a:t>Laurent </a:t>
            </a:r>
            <a:r>
              <a:rPr lang="en-US" sz="650" b="1" dirty="0" err="1">
                <a:solidFill>
                  <a:srgbClr val="16256B"/>
                </a:solidFill>
                <a:latin typeface="Calibri" pitchFamily="34" charset="0"/>
                <a:ea typeface="Calibri" pitchFamily="34" charset="-122"/>
                <a:cs typeface="Calibri" pitchFamily="34" charset="-120"/>
              </a:rPr>
              <a:t>Debas</a:t>
            </a:r>
            <a:r>
              <a:rPr lang="en-US" sz="600" dirty="0">
                <a:solidFill>
                  <a:srgbClr val="6B7280"/>
                </a:solidFill>
                <a:latin typeface="Calibri" pitchFamily="34" charset="0"/>
                <a:ea typeface="Calibri" pitchFamily="34" charset="-122"/>
                <a:cs typeface="Calibri" pitchFamily="34" charset="-120"/>
              </a:rPr>
              <a:t>  —  </a:t>
            </a:r>
            <a:r>
              <a:rPr lang="en-US" sz="600" dirty="0" err="1">
                <a:solidFill>
                  <a:srgbClr val="6B7280"/>
                </a:solidFill>
                <a:latin typeface="Calibri" pitchFamily="34" charset="0"/>
                <a:ea typeface="Calibri" pitchFamily="34" charset="-122"/>
                <a:cs typeface="Calibri" pitchFamily="34" charset="-120"/>
              </a:rPr>
              <a:t>Planète</a:t>
            </a:r>
            <a:r>
              <a:rPr lang="en-US" sz="600" dirty="0">
                <a:solidFill>
                  <a:srgbClr val="6B7280"/>
                </a:solidFill>
                <a:latin typeface="Calibri" pitchFamily="34" charset="0"/>
                <a:ea typeface="Calibri" pitchFamily="34" charset="-122"/>
                <a:cs typeface="Calibri" pitchFamily="34" charset="-120"/>
              </a:rPr>
              <a:t> Mer</a:t>
            </a:r>
            <a:endParaRPr lang="en-US" sz="650" dirty="0"/>
          </a:p>
        </p:txBody>
      </p:sp>
      <p:sp>
        <p:nvSpPr>
          <p:cNvPr id="105" name="Text 63"/>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6B7280"/>
                </a:solidFill>
                <a:latin typeface="Calibri" pitchFamily="34" charset="0"/>
                <a:ea typeface="Calibri" pitchFamily="34" charset="-122"/>
                <a:cs typeface="Calibri" pitchFamily="34" charset="-120"/>
              </a:rPr>
              <a:t>19</a:t>
            </a:r>
            <a:endParaRPr lang="en-US" sz="800"/>
          </a:p>
        </p:txBody>
      </p:sp>
      <p:pic>
        <p:nvPicPr>
          <p:cNvPr id="107" name="Image 106">
            <a:extLst>
              <a:ext uri="{FF2B5EF4-FFF2-40B4-BE49-F238E27FC236}">
                <a16:creationId xmlns:a16="http://schemas.microsoft.com/office/drawing/2014/main" id="{417211B9-B98F-FBFB-835E-E8B1BF650284}"/>
              </a:ext>
            </a:extLst>
          </p:cNvPr>
          <p:cNvPicPr>
            <a:picLocks noChangeAspect="1"/>
          </p:cNvPicPr>
          <p:nvPr/>
        </p:nvPicPr>
        <p:blipFill>
          <a:blip r:embed="rId39"/>
          <a:stretch>
            <a:fillRect/>
          </a:stretch>
        </p:blipFill>
        <p:spPr>
          <a:xfrm>
            <a:off x="653796" y="1241161"/>
            <a:ext cx="1204969" cy="386433"/>
          </a:xfrm>
          <a:prstGeom prst="rect">
            <a:avLst/>
          </a:prstGeom>
        </p:spPr>
      </p:pic>
      <p:pic>
        <p:nvPicPr>
          <p:cNvPr id="111" name="Image 110">
            <a:extLst>
              <a:ext uri="{FF2B5EF4-FFF2-40B4-BE49-F238E27FC236}">
                <a16:creationId xmlns:a16="http://schemas.microsoft.com/office/drawing/2014/main" id="{9EB4B94B-77C0-5DAE-9ECF-29B6DE683B13}"/>
              </a:ext>
            </a:extLst>
          </p:cNvPr>
          <p:cNvPicPr>
            <a:picLocks noChangeAspect="1"/>
          </p:cNvPicPr>
          <p:nvPr/>
        </p:nvPicPr>
        <p:blipFill>
          <a:blip r:embed="rId40"/>
          <a:stretch>
            <a:fillRect/>
          </a:stretch>
        </p:blipFill>
        <p:spPr>
          <a:xfrm>
            <a:off x="4221003" y="2425275"/>
            <a:ext cx="966910" cy="380246"/>
          </a:xfrm>
          <a:prstGeom prst="rect">
            <a:avLst/>
          </a:prstGeom>
        </p:spPr>
      </p:pic>
      <p:pic>
        <p:nvPicPr>
          <p:cNvPr id="113" name="Image 112">
            <a:extLst>
              <a:ext uri="{FF2B5EF4-FFF2-40B4-BE49-F238E27FC236}">
                <a16:creationId xmlns:a16="http://schemas.microsoft.com/office/drawing/2014/main" id="{4657F6EF-B861-7171-811D-7E42850B1DA7}"/>
              </a:ext>
            </a:extLst>
          </p:cNvPr>
          <p:cNvPicPr>
            <a:picLocks noChangeAspect="1"/>
          </p:cNvPicPr>
          <p:nvPr/>
        </p:nvPicPr>
        <p:blipFill>
          <a:blip r:embed="rId41"/>
          <a:stretch>
            <a:fillRect/>
          </a:stretch>
        </p:blipFill>
        <p:spPr>
          <a:xfrm>
            <a:off x="6147243" y="1188602"/>
            <a:ext cx="459951" cy="533812"/>
          </a:xfrm>
          <a:prstGeom prst="rect">
            <a:avLst/>
          </a:prstGeom>
        </p:spPr>
      </p:pic>
      <p:pic>
        <p:nvPicPr>
          <p:cNvPr id="115" name="Image 114">
            <a:extLst>
              <a:ext uri="{FF2B5EF4-FFF2-40B4-BE49-F238E27FC236}">
                <a16:creationId xmlns:a16="http://schemas.microsoft.com/office/drawing/2014/main" id="{A765CFCA-E935-1218-E5DF-9028D5E4B06D}"/>
              </a:ext>
            </a:extLst>
          </p:cNvPr>
          <p:cNvPicPr>
            <a:picLocks noChangeAspect="1"/>
          </p:cNvPicPr>
          <p:nvPr/>
        </p:nvPicPr>
        <p:blipFill>
          <a:blip r:embed="rId42"/>
          <a:stretch>
            <a:fillRect/>
          </a:stretch>
        </p:blipFill>
        <p:spPr>
          <a:xfrm>
            <a:off x="653796" y="1801053"/>
            <a:ext cx="1150105" cy="420953"/>
          </a:xfrm>
          <a:prstGeom prst="rect">
            <a:avLst/>
          </a:prstGeom>
        </p:spPr>
      </p:pic>
      <p:sp>
        <p:nvSpPr>
          <p:cNvPr id="990" name="Text Note"/>
          <p:cNvSpPr txBox="1"/>
          <p:nvPr/>
        </p:nvSpPr>
        <p:spPr>
          <a:xfrm>
            <a:off x="457200" y="901700"/>
            <a:ext cx="8229600" cy="228600"/>
          </a:xfrm>
          <a:prstGeom prst="rect">
            <a:avLst/>
          </a:prstGeom>
          <a:noFill/>
          <a:ln/>
        </p:spPr>
        <p:txBody>
          <a:bodyPr wrap="square" lIns="0" tIns="0" rIns="0" bIns="0" rtlCol="0" anchor="t"/>
          <a:lstStyle/>
          <a:p>
            <a:r>
              <a:rPr lang="en-US" sz="750" i="1" kern="0" dirty="0" err="1">
                <a:latin typeface="Calibri" pitchFamily="34" charset="0"/>
                <a:ea typeface="Calibri" pitchFamily="34" charset="-122"/>
                <a:cs typeface="Calibri" pitchFamily="34" charset="-120"/>
              </a:rPr>
              <a:t>Liste</a:t>
            </a:r>
            <a:r>
              <a:rPr lang="en-US" sz="750" i="1" kern="0" dirty="0">
                <a:latin typeface="Calibri" pitchFamily="34" charset="0"/>
                <a:ea typeface="Calibri" pitchFamily="34" charset="-122"/>
                <a:cs typeface="Calibri" pitchFamily="34" charset="-120"/>
              </a:rPr>
              <a:t> indicative et non exhaustive, </a:t>
            </a:r>
            <a:r>
              <a:rPr lang="en-US" sz="750" i="1" kern="0" dirty="0" err="1">
                <a:latin typeface="Calibri" pitchFamily="34" charset="0"/>
                <a:ea typeface="Calibri" pitchFamily="34" charset="-122"/>
                <a:cs typeface="Calibri" pitchFamily="34" charset="-120"/>
              </a:rPr>
              <a:t>présentée</a:t>
            </a:r>
            <a:r>
              <a:rPr lang="en-US" sz="750" i="1" kern="0" dirty="0">
                <a:latin typeface="Calibri" pitchFamily="34" charset="0"/>
                <a:ea typeface="Calibri" pitchFamily="34" charset="-122"/>
                <a:cs typeface="Calibri" pitchFamily="34" charset="-120"/>
              </a:rPr>
              <a:t> sans </a:t>
            </a:r>
            <a:r>
              <a:rPr lang="en-US" sz="750" i="1" kern="0" dirty="0" err="1">
                <a:latin typeface="Calibri" pitchFamily="34" charset="0"/>
                <a:ea typeface="Calibri" pitchFamily="34" charset="-122"/>
                <a:cs typeface="Calibri" pitchFamily="34" charset="-120"/>
              </a:rPr>
              <a:t>ordre</a:t>
            </a:r>
            <a:r>
              <a:rPr lang="en-US" sz="750" i="1" kern="0" dirty="0">
                <a:latin typeface="Calibri" pitchFamily="34" charset="0"/>
                <a:ea typeface="Calibri" pitchFamily="34" charset="-122"/>
                <a:cs typeface="Calibri" pitchFamily="34" charset="-120"/>
              </a:rPr>
              <a:t> </a:t>
            </a:r>
            <a:r>
              <a:rPr lang="en-US" sz="750" i="1" kern="0" dirty="0" err="1">
                <a:latin typeface="Calibri" pitchFamily="34" charset="0"/>
                <a:ea typeface="Calibri" pitchFamily="34" charset="-122"/>
                <a:cs typeface="Calibri" pitchFamily="34" charset="-120"/>
              </a:rPr>
              <a:t>protocolaire</a:t>
            </a:r>
            <a:r>
              <a:rPr lang="en-US" sz="750" i="1" kern="0" dirty="0">
                <a:latin typeface="Calibri" pitchFamily="34" charset="0"/>
                <a:ea typeface="Calibri" pitchFamily="34" charset="-122"/>
                <a:cs typeface="Calibri" pitchFamily="34" charset="-120"/>
              </a:rPr>
              <a:t> : </a:t>
            </a:r>
            <a:r>
              <a:rPr lang="en-US" sz="750" i="1" kern="0" dirty="0" err="1">
                <a:latin typeface="Calibri" pitchFamily="34" charset="0"/>
                <a:ea typeface="Calibri" pitchFamily="34" charset="-122"/>
                <a:cs typeface="Calibri" pitchFamily="34" charset="-120"/>
              </a:rPr>
              <a:t>l’ensemble</a:t>
            </a:r>
            <a:r>
              <a:rPr lang="en-US" sz="750" i="1" kern="0" dirty="0">
                <a:latin typeface="Calibri" pitchFamily="34" charset="0"/>
                <a:ea typeface="Calibri" pitchFamily="34" charset="-122"/>
                <a:cs typeface="Calibri" pitchFamily="34" charset="-120"/>
              </a:rPr>
              <a:t> des </a:t>
            </a:r>
            <a:r>
              <a:rPr lang="en-US" sz="750" i="1" kern="0" dirty="0" err="1">
                <a:latin typeface="Calibri" pitchFamily="34" charset="0"/>
                <a:ea typeface="Calibri" pitchFamily="34" charset="-122"/>
                <a:cs typeface="Calibri" pitchFamily="34" charset="-120"/>
              </a:rPr>
              <a:t>personnes</a:t>
            </a:r>
            <a:r>
              <a:rPr lang="en-US" sz="750" i="1" kern="0" dirty="0">
                <a:latin typeface="Calibri" pitchFamily="34" charset="0"/>
                <a:ea typeface="Calibri" pitchFamily="34" charset="-122"/>
                <a:cs typeface="Calibri" pitchFamily="34" charset="-120"/>
              </a:rPr>
              <a:t> </a:t>
            </a:r>
            <a:r>
              <a:rPr lang="en-US" sz="750" i="1" kern="0" dirty="0" err="1">
                <a:latin typeface="Calibri" pitchFamily="34" charset="0"/>
                <a:ea typeface="Calibri" pitchFamily="34" charset="-122"/>
                <a:cs typeface="Calibri" pitchFamily="34" charset="-120"/>
              </a:rPr>
              <a:t>ayant</a:t>
            </a:r>
            <a:r>
              <a:rPr lang="en-US" sz="750" i="1" kern="0" dirty="0">
                <a:latin typeface="Calibri" pitchFamily="34" charset="0"/>
                <a:ea typeface="Calibri" pitchFamily="34" charset="-122"/>
                <a:cs typeface="Calibri" pitchFamily="34" charset="-120"/>
              </a:rPr>
              <a:t> </a:t>
            </a:r>
            <a:r>
              <a:rPr lang="en-US" sz="750" i="1" kern="0" dirty="0" err="1">
                <a:latin typeface="Calibri" pitchFamily="34" charset="0"/>
                <a:ea typeface="Calibri" pitchFamily="34" charset="-122"/>
                <a:cs typeface="Calibri" pitchFamily="34" charset="-120"/>
              </a:rPr>
              <a:t>contribué</a:t>
            </a:r>
            <a:r>
              <a:rPr lang="en-US" sz="750" i="1" kern="0" dirty="0">
                <a:latin typeface="Calibri" pitchFamily="34" charset="0"/>
                <a:ea typeface="Calibri" pitchFamily="34" charset="-122"/>
                <a:cs typeface="Calibri" pitchFamily="34" charset="-120"/>
              </a:rPr>
              <a:t>, à un moment </a:t>
            </a:r>
            <a:r>
              <a:rPr lang="en-US" sz="750" i="1" kern="0" dirty="0" err="1">
                <a:latin typeface="Calibri" pitchFamily="34" charset="0"/>
                <a:ea typeface="Calibri" pitchFamily="34" charset="-122"/>
                <a:cs typeface="Calibri" pitchFamily="34" charset="-120"/>
              </a:rPr>
              <a:t>ou</a:t>
            </a:r>
            <a:r>
              <a:rPr lang="en-US" sz="750" i="1" kern="0" dirty="0">
                <a:latin typeface="Calibri" pitchFamily="34" charset="0"/>
                <a:ea typeface="Calibri" pitchFamily="34" charset="-122"/>
                <a:cs typeface="Calibri" pitchFamily="34" charset="-120"/>
              </a:rPr>
              <a:t> à un </a:t>
            </a:r>
            <a:r>
              <a:rPr lang="en-US" sz="750" i="1" kern="0" dirty="0" err="1">
                <a:latin typeface="Calibri" pitchFamily="34" charset="0"/>
                <a:ea typeface="Calibri" pitchFamily="34" charset="-122"/>
                <a:cs typeface="Calibri" pitchFamily="34" charset="-120"/>
              </a:rPr>
              <a:t>autre</a:t>
            </a:r>
            <a:r>
              <a:rPr lang="en-US" sz="750" i="1" kern="0" dirty="0">
                <a:latin typeface="Calibri" pitchFamily="34" charset="0"/>
                <a:ea typeface="Calibri" pitchFamily="34" charset="-122"/>
                <a:cs typeface="Calibri" pitchFamily="34" charset="-120"/>
              </a:rPr>
              <a:t>, à la </a:t>
            </a:r>
            <a:r>
              <a:rPr lang="en-US" sz="750" i="1" kern="0" dirty="0" err="1">
                <a:latin typeface="Calibri" pitchFamily="34" charset="0"/>
                <a:ea typeface="Calibri" pitchFamily="34" charset="-122"/>
                <a:cs typeface="Calibri" pitchFamily="34" charset="-120"/>
              </a:rPr>
              <a:t>réflexion</a:t>
            </a:r>
            <a:r>
              <a:rPr lang="en-US" sz="750" i="1" kern="0" dirty="0">
                <a:latin typeface="Calibri" pitchFamily="34" charset="0"/>
                <a:ea typeface="Calibri" pitchFamily="34" charset="-122"/>
                <a:cs typeface="Calibri" pitchFamily="34" charset="-120"/>
              </a:rPr>
              <a:t> </a:t>
            </a:r>
            <a:r>
              <a:rPr lang="en-US" sz="750" i="1" kern="0" dirty="0" err="1">
                <a:latin typeface="Calibri" pitchFamily="34" charset="0"/>
                <a:ea typeface="Calibri" pitchFamily="34" charset="-122"/>
                <a:cs typeface="Calibri" pitchFamily="34" charset="-120"/>
              </a:rPr>
              <a:t>ayant</a:t>
            </a:r>
            <a:r>
              <a:rPr lang="en-US" sz="750" i="1" kern="0" dirty="0">
                <a:latin typeface="Calibri" pitchFamily="34" charset="0"/>
                <a:ea typeface="Calibri" pitchFamily="34" charset="-122"/>
                <a:cs typeface="Calibri" pitchFamily="34" charset="-120"/>
              </a:rPr>
              <a:t> conduit à la </a:t>
            </a:r>
            <a:r>
              <a:rPr lang="en-US" sz="750" i="1" kern="0" dirty="0" err="1">
                <a:latin typeface="Calibri" pitchFamily="34" charset="0"/>
                <a:ea typeface="Calibri" pitchFamily="34" charset="-122"/>
                <a:cs typeface="Calibri" pitchFamily="34" charset="-120"/>
              </a:rPr>
              <a:t>création</a:t>
            </a:r>
            <a:r>
              <a:rPr lang="en-US" sz="750" i="1" kern="0" dirty="0">
                <a:latin typeface="Calibri" pitchFamily="34" charset="0"/>
                <a:ea typeface="Calibri" pitchFamily="34" charset="-122"/>
                <a:cs typeface="Calibri" pitchFamily="34" charset="-120"/>
              </a:rPr>
              <a:t> du fonds. Concertation </a:t>
            </a:r>
            <a:r>
              <a:rPr lang="en-US" sz="750" i="1" kern="0" dirty="0" err="1">
                <a:latin typeface="Calibri" pitchFamily="34" charset="0"/>
                <a:ea typeface="Calibri" pitchFamily="34" charset="-122"/>
                <a:cs typeface="Calibri" pitchFamily="34" charset="-120"/>
              </a:rPr>
              <a:t>menée</a:t>
            </a:r>
            <a:r>
              <a:rPr lang="en-US" sz="750" i="1" kern="0" dirty="0">
                <a:latin typeface="Calibri" pitchFamily="34" charset="0"/>
                <a:ea typeface="Calibri" pitchFamily="34" charset="-122"/>
                <a:cs typeface="Calibri" pitchFamily="34" charset="-120"/>
              </a:rPr>
              <a:t> dans le cadre d’un </a:t>
            </a:r>
            <a:r>
              <a:rPr lang="en-US" sz="750" i="1" kern="0" dirty="0" err="1">
                <a:latin typeface="Calibri" pitchFamily="34" charset="0"/>
                <a:ea typeface="Calibri" pitchFamily="34" charset="-122"/>
                <a:cs typeface="Calibri" pitchFamily="34" charset="-120"/>
              </a:rPr>
              <a:t>projet</a:t>
            </a:r>
            <a:r>
              <a:rPr lang="en-US" sz="750" i="1" kern="0" dirty="0">
                <a:latin typeface="Calibri" pitchFamily="34" charset="0"/>
                <a:ea typeface="Calibri" pitchFamily="34" charset="-122"/>
                <a:cs typeface="Calibri" pitchFamily="34" charset="-120"/>
              </a:rPr>
              <a:t> </a:t>
            </a:r>
            <a:r>
              <a:rPr lang="en-US" sz="750" i="1" kern="0" dirty="0" err="1">
                <a:latin typeface="Calibri" pitchFamily="34" charset="0"/>
                <a:ea typeface="Calibri" pitchFamily="34" charset="-122"/>
                <a:cs typeface="Calibri" pitchFamily="34" charset="-120"/>
              </a:rPr>
              <a:t>financé</a:t>
            </a:r>
            <a:r>
              <a:rPr lang="en-US" sz="750" i="1" kern="0" dirty="0">
                <a:latin typeface="Calibri" pitchFamily="34" charset="0"/>
                <a:ea typeface="Calibri" pitchFamily="34" charset="-122"/>
                <a:cs typeface="Calibri" pitchFamily="34" charset="-120"/>
              </a:rPr>
              <a:t> par le Fonds </a:t>
            </a:r>
            <a:r>
              <a:rPr lang="en-US" sz="750" i="1" kern="0" dirty="0" err="1">
                <a:latin typeface="Calibri" pitchFamily="34" charset="0"/>
                <a:ea typeface="Calibri" pitchFamily="34" charset="-122"/>
                <a:cs typeface="Calibri" pitchFamily="34" charset="-120"/>
              </a:rPr>
              <a:t>européen</a:t>
            </a:r>
            <a:r>
              <a:rPr lang="en-US" sz="750" i="1" kern="0" dirty="0">
                <a:latin typeface="Calibri" pitchFamily="34" charset="0"/>
                <a:ea typeface="Calibri" pitchFamily="34" charset="-122"/>
                <a:cs typeface="Calibri" pitchFamily="34" charset="-120"/>
              </a:rPr>
              <a:t> pour les affaires </a:t>
            </a:r>
            <a:r>
              <a:rPr lang="en-US" sz="750" i="1" kern="0" dirty="0" err="1">
                <a:latin typeface="Calibri" pitchFamily="34" charset="0"/>
                <a:ea typeface="Calibri" pitchFamily="34" charset="-122"/>
                <a:cs typeface="Calibri" pitchFamily="34" charset="-120"/>
              </a:rPr>
              <a:t>maritimes</a:t>
            </a:r>
            <a:r>
              <a:rPr lang="en-US" sz="750" i="1" kern="0" dirty="0">
                <a:latin typeface="Calibri" pitchFamily="34" charset="0"/>
                <a:ea typeface="Calibri" pitchFamily="34" charset="-122"/>
                <a:cs typeface="Calibri" pitchFamily="34" charset="-120"/>
              </a:rPr>
              <a:t>, la </a:t>
            </a:r>
            <a:r>
              <a:rPr lang="en-US" sz="750" i="1" kern="0" dirty="0" err="1">
                <a:latin typeface="Calibri" pitchFamily="34" charset="0"/>
                <a:ea typeface="Calibri" pitchFamily="34" charset="-122"/>
                <a:cs typeface="Calibri" pitchFamily="34" charset="-120"/>
              </a:rPr>
              <a:t>pêche</a:t>
            </a:r>
            <a:r>
              <a:rPr lang="en-US" sz="750" i="1" kern="0" dirty="0">
                <a:latin typeface="Calibri" pitchFamily="34" charset="0"/>
                <a:ea typeface="Calibri" pitchFamily="34" charset="-122"/>
                <a:cs typeface="Calibri" pitchFamily="34" charset="-120"/>
              </a:rPr>
              <a:t> et </a:t>
            </a:r>
            <a:r>
              <a:rPr lang="en-US" sz="750" i="1" kern="0" dirty="0" err="1">
                <a:latin typeface="Calibri" pitchFamily="34" charset="0"/>
                <a:ea typeface="Calibri" pitchFamily="34" charset="-122"/>
                <a:cs typeface="Calibri" pitchFamily="34" charset="-120"/>
              </a:rPr>
              <a:t>l’aquaculture</a:t>
            </a:r>
            <a:r>
              <a:rPr lang="en-US" sz="750" i="1" kern="0" dirty="0">
                <a:latin typeface="Calibri" pitchFamily="34" charset="0"/>
                <a:ea typeface="Calibri" pitchFamily="34" charset="-122"/>
                <a:cs typeface="Calibri" pitchFamily="34" charset="-120"/>
              </a:rPr>
              <a:t> (FEAMPA), 2023-2026.</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256B">
              <a:alpha val="70000"/>
            </a:srgbClr>
          </a:solidFill>
          <a:ln w="12700">
            <a:solidFill>
              <a:srgbClr val="16256B">
                <a:alpha val="0"/>
              </a:srgbClr>
            </a:solidFill>
            <a:prstDash val="solid"/>
          </a:ln>
        </p:spPr>
        <p:txBody>
          <a:bodyPr/>
          <a:lstStyle/>
          <a:p>
            <a:endParaRPr/>
          </a:p>
        </p:txBody>
      </p:sp>
      <p:sp>
        <p:nvSpPr>
          <p:cNvPr id="3" name="Text 1"/>
          <p:cNvSpPr txBox="1"/>
          <p:nvPr/>
        </p:nvSpPr>
        <p:spPr>
          <a:xfrm>
            <a:off x="457200" y="292608"/>
            <a:ext cx="8229600" cy="228600"/>
          </a:xfrm>
          <a:prstGeom prst="rect">
            <a:avLst/>
          </a:prstGeom>
          <a:noFill/>
          <a:ln/>
        </p:spPr>
        <p:txBody>
          <a:bodyPr wrap="square" lIns="0" tIns="0" rIns="0" bIns="0" rtlCol="0" anchor="ctr"/>
          <a:lstStyle/>
          <a:p>
            <a:pPr marL="0" indent="0">
              <a:buNone/>
            </a:pPr>
            <a:r>
              <a:rPr lang="en-US" sz="900" b="1" kern="0" spc="200">
                <a:solidFill>
                  <a:srgbClr val="7FD3D0"/>
                </a:solidFill>
                <a:latin typeface="Calibri" pitchFamily="34" charset="0"/>
                <a:ea typeface="Calibri" pitchFamily="34" charset="-122"/>
                <a:cs typeface="Calibri" pitchFamily="34" charset="-120"/>
              </a:rPr>
              <a:t>CE QUE LE DONATEUR REÇOIT</a:t>
            </a:r>
            <a:endParaRPr lang="en-US" sz="900"/>
          </a:p>
        </p:txBody>
      </p:sp>
      <p:sp>
        <p:nvSpPr>
          <p:cNvPr id="4" name="Text 2"/>
          <p:cNvSpPr txBox="1"/>
          <p:nvPr/>
        </p:nvSpPr>
        <p:spPr>
          <a:xfrm>
            <a:off x="457200" y="502920"/>
            <a:ext cx="5486400" cy="548640"/>
          </a:xfrm>
          <a:prstGeom prst="rect">
            <a:avLst/>
          </a:prstGeom>
          <a:noFill/>
          <a:ln/>
        </p:spPr>
        <p:txBody>
          <a:bodyPr wrap="square" lIns="0" tIns="0" rIns="0" bIns="0" rtlCol="0" anchor="t"/>
          <a:lstStyle/>
          <a:p>
            <a:pPr marL="0" indent="0">
              <a:buNone/>
            </a:pPr>
            <a:r>
              <a:rPr lang="en-US" sz="2600" b="1">
                <a:solidFill>
                  <a:srgbClr val="FFFFFF"/>
                </a:solidFill>
                <a:latin typeface="Cambria" pitchFamily="34" charset="0"/>
                <a:ea typeface="Cambria" pitchFamily="34" charset="-122"/>
                <a:cs typeface="Cambria" pitchFamily="34" charset="-120"/>
              </a:rPr>
              <a:t>Un engagement suivi</a:t>
            </a:r>
            <a:endParaRPr lang="en-US" sz="2600"/>
          </a:p>
        </p:txBody>
      </p:sp>
      <p:sp>
        <p:nvSpPr>
          <p:cNvPr id="5" name="Shape 3"/>
          <p:cNvSpPr/>
          <p:nvPr/>
        </p:nvSpPr>
        <p:spPr>
          <a:xfrm>
            <a:off x="566928" y="1353312"/>
            <a:ext cx="0" cy="3017520"/>
          </a:xfrm>
          <a:prstGeom prst="line">
            <a:avLst/>
          </a:prstGeom>
          <a:noFill/>
          <a:ln w="12700">
            <a:solidFill>
              <a:srgbClr val="7FD3D0">
                <a:alpha val="45000"/>
              </a:srgbClr>
            </a:solidFill>
            <a:prstDash val="solid"/>
          </a:ln>
        </p:spPr>
        <p:txBody>
          <a:bodyPr/>
          <a:lstStyle/>
          <a:p>
            <a:endParaRPr/>
          </a:p>
        </p:txBody>
      </p:sp>
      <p:sp>
        <p:nvSpPr>
          <p:cNvPr id="6" name="Shape 5"/>
          <p:cNvSpPr/>
          <p:nvPr/>
        </p:nvSpPr>
        <p:spPr>
          <a:xfrm>
            <a:off x="457200" y="1316736"/>
            <a:ext cx="219456" cy="219456"/>
          </a:xfrm>
          <a:prstGeom prst="ellipse">
            <a:avLst/>
          </a:prstGeom>
          <a:solidFill>
            <a:srgbClr val="7FD3D0"/>
          </a:solidFill>
          <a:ln w="12700">
            <a:solidFill>
              <a:srgbClr val="7FD3D0"/>
            </a:solidFill>
            <a:prstDash val="solid"/>
          </a:ln>
        </p:spPr>
        <p:txBody>
          <a:bodyPr/>
          <a:lstStyle/>
          <a:p>
            <a:endParaRPr/>
          </a:p>
        </p:txBody>
      </p:sp>
      <p:sp>
        <p:nvSpPr>
          <p:cNvPr id="7" name="Text 5"/>
          <p:cNvSpPr txBox="1"/>
          <p:nvPr/>
        </p:nvSpPr>
        <p:spPr>
          <a:xfrm>
            <a:off x="822960" y="1261872"/>
            <a:ext cx="548640" cy="219456"/>
          </a:xfrm>
          <a:prstGeom prst="rect">
            <a:avLst/>
          </a:prstGeom>
          <a:noFill/>
          <a:ln/>
        </p:spPr>
        <p:txBody>
          <a:bodyPr wrap="square" lIns="0" tIns="0" rIns="0" bIns="0" rtlCol="0" anchor="ctr"/>
          <a:lstStyle/>
          <a:p>
            <a:pPr marL="0" indent="0">
              <a:buNone/>
            </a:pPr>
            <a:r>
              <a:rPr lang="fr-FR" sz="900" b="1" kern="0" spc="150">
                <a:solidFill>
                  <a:srgbClr val="7FD3D0"/>
                </a:solidFill>
                <a:latin typeface="Calibri" pitchFamily="34" charset="0"/>
                <a:ea typeface="Calibri" pitchFamily="34" charset="-122"/>
                <a:cs typeface="Calibri" pitchFamily="34" charset="-120"/>
              </a:rPr>
              <a:t>01</a:t>
            </a:r>
            <a:endParaRPr lang="fr-FR" sz="900"/>
          </a:p>
        </p:txBody>
      </p:sp>
      <p:sp>
        <p:nvSpPr>
          <p:cNvPr id="8" name="Text 6"/>
          <p:cNvSpPr txBox="1"/>
          <p:nvPr/>
        </p:nvSpPr>
        <p:spPr>
          <a:xfrm>
            <a:off x="822960" y="1444752"/>
            <a:ext cx="4754880" cy="274320"/>
          </a:xfrm>
          <a:prstGeom prst="rect">
            <a:avLst/>
          </a:prstGeom>
          <a:noFill/>
          <a:ln/>
        </p:spPr>
        <p:txBody>
          <a:bodyPr wrap="square" lIns="0" tIns="0" rIns="0" bIns="0" rtlCol="0" anchor="ctr"/>
          <a:lstStyle/>
          <a:p>
            <a:pPr marL="0" indent="0">
              <a:buNone/>
            </a:pPr>
            <a:r>
              <a:rPr lang="fr-FR" sz="1400" b="1">
                <a:solidFill>
                  <a:srgbClr val="FFFFFF"/>
                </a:solidFill>
                <a:latin typeface="Cambria" pitchFamily="34" charset="0"/>
                <a:ea typeface="Cambria" pitchFamily="34" charset="-122"/>
                <a:cs typeface="Cambria" pitchFamily="34" charset="-120"/>
              </a:rPr>
              <a:t>Un compte rendu d’emploi des fonds</a:t>
            </a:r>
            <a:endParaRPr lang="fr-FR" sz="1400"/>
          </a:p>
        </p:txBody>
      </p:sp>
      <p:sp>
        <p:nvSpPr>
          <p:cNvPr id="9" name="Text 7"/>
          <p:cNvSpPr txBox="1"/>
          <p:nvPr/>
        </p:nvSpPr>
        <p:spPr>
          <a:xfrm>
            <a:off x="822960" y="1737360"/>
            <a:ext cx="4663440" cy="658368"/>
          </a:xfrm>
          <a:prstGeom prst="rect">
            <a:avLst/>
          </a:prstGeom>
          <a:noFill/>
          <a:ln/>
        </p:spPr>
        <p:txBody>
          <a:bodyPr wrap="square" lIns="0" tIns="0" rIns="0" bIns="0" rtlCol="0" anchor="t"/>
          <a:lstStyle/>
          <a:p>
            <a:pPr marL="0" indent="0">
              <a:lnSpc>
                <a:spcPct val="115000"/>
              </a:lnSpc>
              <a:buNone/>
            </a:pPr>
            <a:r>
              <a:rPr lang="fr-FR" sz="900">
                <a:solidFill>
                  <a:srgbClr val="CADCFC"/>
                </a:solidFill>
                <a:latin typeface="Calibri" pitchFamily="34" charset="0"/>
                <a:ea typeface="Calibri" pitchFamily="34" charset="-122"/>
                <a:cs typeface="Calibri" pitchFamily="34" charset="-120"/>
              </a:rPr>
              <a:t>Le fonds rend compte chaque année de l’emploi des sommes reçues et des résultats obtenus sur le terrain.</a:t>
            </a:r>
            <a:endParaRPr lang="fr-FR" sz="900"/>
          </a:p>
        </p:txBody>
      </p:sp>
      <p:sp>
        <p:nvSpPr>
          <p:cNvPr id="10" name="Shape 9"/>
          <p:cNvSpPr/>
          <p:nvPr/>
        </p:nvSpPr>
        <p:spPr>
          <a:xfrm>
            <a:off x="457200" y="2450592"/>
            <a:ext cx="219456" cy="219456"/>
          </a:xfrm>
          <a:prstGeom prst="ellipse">
            <a:avLst/>
          </a:prstGeom>
          <a:solidFill>
            <a:srgbClr val="7FD3D0"/>
          </a:solidFill>
          <a:ln w="12700">
            <a:solidFill>
              <a:srgbClr val="7FD3D0"/>
            </a:solidFill>
            <a:prstDash val="solid"/>
          </a:ln>
        </p:spPr>
        <p:txBody>
          <a:bodyPr/>
          <a:lstStyle/>
          <a:p>
            <a:endParaRPr/>
          </a:p>
        </p:txBody>
      </p:sp>
      <p:sp>
        <p:nvSpPr>
          <p:cNvPr id="11" name="Text 9"/>
          <p:cNvSpPr txBox="1"/>
          <p:nvPr/>
        </p:nvSpPr>
        <p:spPr>
          <a:xfrm>
            <a:off x="822960" y="2395728"/>
            <a:ext cx="548640" cy="219456"/>
          </a:xfrm>
          <a:prstGeom prst="rect">
            <a:avLst/>
          </a:prstGeom>
          <a:noFill/>
          <a:ln/>
        </p:spPr>
        <p:txBody>
          <a:bodyPr wrap="square" lIns="0" tIns="0" rIns="0" bIns="0" rtlCol="0" anchor="ctr"/>
          <a:lstStyle/>
          <a:p>
            <a:pPr marL="0" indent="0">
              <a:buNone/>
            </a:pPr>
            <a:r>
              <a:rPr lang="fr-FR" sz="900" b="1" kern="0" spc="150">
                <a:solidFill>
                  <a:srgbClr val="7FD3D0"/>
                </a:solidFill>
                <a:latin typeface="Calibri" pitchFamily="34" charset="0"/>
                <a:ea typeface="Calibri" pitchFamily="34" charset="-122"/>
                <a:cs typeface="Calibri" pitchFamily="34" charset="-120"/>
              </a:rPr>
              <a:t>02</a:t>
            </a:r>
            <a:endParaRPr lang="fr-FR" sz="900"/>
          </a:p>
        </p:txBody>
      </p:sp>
      <p:sp>
        <p:nvSpPr>
          <p:cNvPr id="12" name="Text 10"/>
          <p:cNvSpPr txBox="1"/>
          <p:nvPr/>
        </p:nvSpPr>
        <p:spPr>
          <a:xfrm>
            <a:off x="822960" y="2578608"/>
            <a:ext cx="4754880" cy="274320"/>
          </a:xfrm>
          <a:prstGeom prst="rect">
            <a:avLst/>
          </a:prstGeom>
          <a:noFill/>
          <a:ln/>
        </p:spPr>
        <p:txBody>
          <a:bodyPr wrap="square" lIns="0" tIns="0" rIns="0" bIns="0" rtlCol="0" anchor="ctr"/>
          <a:lstStyle/>
          <a:p>
            <a:pPr marL="0" indent="0">
              <a:buNone/>
            </a:pPr>
            <a:r>
              <a:rPr lang="fr-FR" sz="1400" b="1">
                <a:solidFill>
                  <a:srgbClr val="FFFFFF"/>
                </a:solidFill>
                <a:latin typeface="Cambria" pitchFamily="34" charset="0"/>
                <a:ea typeface="Cambria" pitchFamily="34" charset="-122"/>
                <a:cs typeface="Cambria" pitchFamily="34" charset="-120"/>
              </a:rPr>
              <a:t>Un accès aux instances</a:t>
            </a:r>
            <a:endParaRPr lang="fr-FR" sz="1400"/>
          </a:p>
        </p:txBody>
      </p:sp>
      <p:sp>
        <p:nvSpPr>
          <p:cNvPr id="13" name="Text 11"/>
          <p:cNvSpPr txBox="1"/>
          <p:nvPr/>
        </p:nvSpPr>
        <p:spPr>
          <a:xfrm>
            <a:off x="822960" y="2871216"/>
            <a:ext cx="4663440" cy="658368"/>
          </a:xfrm>
          <a:prstGeom prst="rect">
            <a:avLst/>
          </a:prstGeom>
          <a:noFill/>
          <a:ln/>
        </p:spPr>
        <p:txBody>
          <a:bodyPr wrap="square" lIns="0" tIns="0" rIns="0" bIns="0" rtlCol="0" anchor="t"/>
          <a:lstStyle/>
          <a:p>
            <a:pPr marL="0" indent="0">
              <a:lnSpc>
                <a:spcPct val="115000"/>
              </a:lnSpc>
              <a:buNone/>
            </a:pPr>
            <a:r>
              <a:rPr lang="fr-FR" sz="900">
                <a:solidFill>
                  <a:srgbClr val="CADCFC"/>
                </a:solidFill>
                <a:latin typeface="Calibri" pitchFamily="34" charset="0"/>
                <a:ea typeface="Calibri" pitchFamily="34" charset="-122"/>
                <a:cs typeface="Calibri" pitchFamily="34" charset="-120"/>
              </a:rPr>
              <a:t>Invitation aux restitutions annuelles. Pour les mécènes engagés, un siège au comité des partenaires économiques est possible.</a:t>
            </a:r>
            <a:endParaRPr lang="fr-FR" sz="900"/>
          </a:p>
        </p:txBody>
      </p:sp>
      <p:sp>
        <p:nvSpPr>
          <p:cNvPr id="14" name="Shape 13"/>
          <p:cNvSpPr/>
          <p:nvPr/>
        </p:nvSpPr>
        <p:spPr>
          <a:xfrm>
            <a:off x="457200" y="3584448"/>
            <a:ext cx="219456" cy="219456"/>
          </a:xfrm>
          <a:prstGeom prst="ellipse">
            <a:avLst/>
          </a:prstGeom>
          <a:solidFill>
            <a:srgbClr val="7FD3D0"/>
          </a:solidFill>
          <a:ln w="12700">
            <a:solidFill>
              <a:srgbClr val="7FD3D0"/>
            </a:solidFill>
            <a:prstDash val="solid"/>
          </a:ln>
        </p:spPr>
        <p:txBody>
          <a:bodyPr/>
          <a:lstStyle/>
          <a:p>
            <a:endParaRPr/>
          </a:p>
        </p:txBody>
      </p:sp>
      <p:sp>
        <p:nvSpPr>
          <p:cNvPr id="15" name="Text 13"/>
          <p:cNvSpPr txBox="1"/>
          <p:nvPr/>
        </p:nvSpPr>
        <p:spPr>
          <a:xfrm>
            <a:off x="822960" y="3529584"/>
            <a:ext cx="548640" cy="219456"/>
          </a:xfrm>
          <a:prstGeom prst="rect">
            <a:avLst/>
          </a:prstGeom>
          <a:noFill/>
          <a:ln/>
        </p:spPr>
        <p:txBody>
          <a:bodyPr wrap="square" lIns="0" tIns="0" rIns="0" bIns="0" rtlCol="0" anchor="ctr"/>
          <a:lstStyle/>
          <a:p>
            <a:pPr marL="0" indent="0">
              <a:buNone/>
            </a:pPr>
            <a:r>
              <a:rPr lang="fr-FR" sz="900" b="1" kern="0" spc="150">
                <a:solidFill>
                  <a:srgbClr val="7FD3D0"/>
                </a:solidFill>
                <a:latin typeface="Calibri" pitchFamily="34" charset="0"/>
                <a:ea typeface="Calibri" pitchFamily="34" charset="-122"/>
                <a:cs typeface="Calibri" pitchFamily="34" charset="-120"/>
              </a:rPr>
              <a:t>03</a:t>
            </a:r>
            <a:endParaRPr lang="fr-FR" sz="900"/>
          </a:p>
        </p:txBody>
      </p:sp>
      <p:sp>
        <p:nvSpPr>
          <p:cNvPr id="16" name="Text 14"/>
          <p:cNvSpPr txBox="1"/>
          <p:nvPr/>
        </p:nvSpPr>
        <p:spPr>
          <a:xfrm>
            <a:off x="822960" y="3712464"/>
            <a:ext cx="4754880" cy="274320"/>
          </a:xfrm>
          <a:prstGeom prst="rect">
            <a:avLst/>
          </a:prstGeom>
          <a:noFill/>
          <a:ln/>
        </p:spPr>
        <p:txBody>
          <a:bodyPr wrap="square" lIns="0" tIns="0" rIns="0" bIns="0" rtlCol="0" anchor="ctr"/>
          <a:lstStyle/>
          <a:p>
            <a:pPr marL="0" indent="0">
              <a:buNone/>
            </a:pPr>
            <a:r>
              <a:rPr lang="fr-FR" sz="1400" b="1">
                <a:solidFill>
                  <a:srgbClr val="FFFFFF"/>
                </a:solidFill>
                <a:latin typeface="Cambria" pitchFamily="34" charset="0"/>
                <a:ea typeface="Cambria" pitchFamily="34" charset="-122"/>
                <a:cs typeface="Cambria" pitchFamily="34" charset="-120"/>
              </a:rPr>
              <a:t>Une visibilité maîtrisée</a:t>
            </a:r>
            <a:endParaRPr lang="fr-FR" sz="1400"/>
          </a:p>
        </p:txBody>
      </p:sp>
      <p:sp>
        <p:nvSpPr>
          <p:cNvPr id="17" name="Text 15"/>
          <p:cNvSpPr txBox="1"/>
          <p:nvPr/>
        </p:nvSpPr>
        <p:spPr>
          <a:xfrm>
            <a:off x="822960" y="4005072"/>
            <a:ext cx="4663440" cy="658368"/>
          </a:xfrm>
          <a:prstGeom prst="rect">
            <a:avLst/>
          </a:prstGeom>
          <a:noFill/>
          <a:ln/>
        </p:spPr>
        <p:txBody>
          <a:bodyPr wrap="square" lIns="0" tIns="0" rIns="0" bIns="0" rtlCol="0" anchor="t"/>
          <a:lstStyle/>
          <a:p>
            <a:pPr marL="0" indent="0">
              <a:lnSpc>
                <a:spcPct val="115000"/>
              </a:lnSpc>
              <a:buNone/>
            </a:pPr>
            <a:r>
              <a:rPr lang="fr-FR" sz="900">
                <a:solidFill>
                  <a:srgbClr val="CADCFC"/>
                </a:solidFill>
                <a:latin typeface="Calibri" pitchFamily="34" charset="0"/>
                <a:ea typeface="Calibri" pitchFamily="34" charset="-122"/>
                <a:cs typeface="Calibri" pitchFamily="34" charset="-120"/>
              </a:rPr>
              <a:t>Le nom du donateur peut être cité sur les travaux qu’il rend possibles. Jamais de communication sans son accord.</a:t>
            </a:r>
            <a:endParaRPr lang="fr-FR" sz="900"/>
          </a:p>
        </p:txBody>
      </p:sp>
      <p:sp>
        <p:nvSpPr>
          <p:cNvPr id="18" name="Shape 11"/>
          <p:cNvSpPr/>
          <p:nvPr/>
        </p:nvSpPr>
        <p:spPr>
          <a:xfrm>
            <a:off x="5943600" y="1481328"/>
            <a:ext cx="2834640" cy="2926080"/>
          </a:xfrm>
          <a:prstGeom prst="roundRect">
            <a:avLst>
              <a:gd name="adj" fmla="val 2581"/>
            </a:avLst>
          </a:prstGeom>
          <a:solidFill>
            <a:srgbClr val="FFFFFF"/>
          </a:solidFill>
          <a:ln w="12700">
            <a:solidFill>
              <a:srgbClr val="FFFFFF"/>
            </a:solidFill>
            <a:prstDash val="solid"/>
          </a:ln>
        </p:spPr>
        <p:txBody>
          <a:bodyPr/>
          <a:lstStyle/>
          <a:p>
            <a:endParaRPr/>
          </a:p>
        </p:txBody>
      </p:sp>
      <p:sp>
        <p:nvSpPr>
          <p:cNvPr id="19" name="Text 12"/>
          <p:cNvSpPr txBox="1"/>
          <p:nvPr/>
        </p:nvSpPr>
        <p:spPr>
          <a:xfrm>
            <a:off x="6108192" y="1509310"/>
            <a:ext cx="2468880" cy="228600"/>
          </a:xfrm>
          <a:prstGeom prst="rect">
            <a:avLst/>
          </a:prstGeom>
          <a:noFill/>
          <a:ln/>
        </p:spPr>
        <p:txBody>
          <a:bodyPr wrap="square" lIns="0" tIns="0" rIns="0" bIns="0" rtlCol="0" anchor="ctr"/>
          <a:lstStyle/>
          <a:p>
            <a:pPr marL="0" indent="0">
              <a:buNone/>
            </a:pPr>
            <a:r>
              <a:rPr lang="en-US" sz="850" b="1" kern="0" spc="150" dirty="0">
                <a:solidFill>
                  <a:srgbClr val="0E8A8A"/>
                </a:solidFill>
                <a:latin typeface="Calibri" pitchFamily="34" charset="0"/>
                <a:ea typeface="Calibri" pitchFamily="34" charset="-122"/>
                <a:cs typeface="Calibri" pitchFamily="34" charset="-120"/>
              </a:rPr>
              <a:t>NOTRE PAGE WEB</a:t>
            </a:r>
            <a:endParaRPr lang="en-US" sz="850" dirty="0"/>
          </a:p>
        </p:txBody>
      </p:sp>
      <p:sp>
        <p:nvSpPr>
          <p:cNvPr id="900" name="Text PageNum"/>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fr-FR" sz="800">
                <a:solidFill>
                  <a:srgbClr val="CADCFC"/>
                </a:solidFill>
                <a:latin typeface="Calibri" pitchFamily="34" charset="0"/>
                <a:ea typeface="Calibri" pitchFamily="34" charset="-122"/>
                <a:cs typeface="Calibri" pitchFamily="34" charset="-120"/>
              </a:rPr>
              <a:t>20</a:t>
            </a:r>
            <a:endParaRPr lang="fr-FR" sz="800"/>
          </a:p>
        </p:txBody>
      </p:sp>
      <p:pic>
        <p:nvPicPr>
          <p:cNvPr id="25" name="Image 24" descr="The image depicts a QR code, which is a two-dimensional barcode that can be scanned by a mobile device to access information or perform a specific action.">
            <a:extLst>
              <a:ext uri="{FF2B5EF4-FFF2-40B4-BE49-F238E27FC236}">
                <a16:creationId xmlns:a16="http://schemas.microsoft.com/office/drawing/2014/main" id="{63C6B2B2-98C2-B2F5-A12F-123BE93FB49D}"/>
              </a:ext>
            </a:extLst>
          </p:cNvPr>
          <p:cNvPicPr>
            <a:picLocks noChangeAspect="1"/>
          </p:cNvPicPr>
          <p:nvPr/>
        </p:nvPicPr>
        <p:blipFill>
          <a:blip r:embed="rId4"/>
          <a:srcRect l="4975" t="6793" r="6932" b="6151"/>
          <a:stretch>
            <a:fillRect/>
          </a:stretch>
        </p:blipFill>
        <p:spPr>
          <a:xfrm>
            <a:off x="6169929" y="1802687"/>
            <a:ext cx="2425431" cy="239684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256B">
              <a:alpha val="32000"/>
            </a:srgbClr>
          </a:solidFill>
          <a:ln w="12700">
            <a:solidFill>
              <a:srgbClr val="16256B">
                <a:alpha val="0"/>
              </a:srgbClr>
            </a:solidFill>
            <a:prstDash val="solid"/>
          </a:ln>
        </p:spPr>
        <p:txBody>
          <a:bodyPr/>
          <a:lstStyle/>
          <a:p>
            <a:endParaRPr/>
          </a:p>
        </p:txBody>
      </p:sp>
      <p:sp>
        <p:nvSpPr>
          <p:cNvPr id="905" name="Scrim"/>
          <p:cNvSpPr/>
          <p:nvPr/>
        </p:nvSpPr>
        <p:spPr>
          <a:xfrm>
            <a:off x="0" y="0"/>
            <a:ext cx="9144000" cy="5143500"/>
          </a:xfrm>
          <a:prstGeom prst="rect">
            <a:avLst/>
          </a:prstGeom>
          <a:gradFill flip="none" rotWithShape="1">
            <a:gsLst>
              <a:gs pos="0">
                <a:srgbClr val="16256B">
                  <a:alpha val="90000"/>
                </a:srgbClr>
              </a:gs>
              <a:gs pos="45000">
                <a:srgbClr val="16256B">
                  <a:alpha val="62000"/>
                </a:srgbClr>
              </a:gs>
              <a:gs pos="78000">
                <a:srgbClr val="16256B">
                  <a:alpha val="10000"/>
                </a:srgbClr>
              </a:gs>
              <a:gs pos="100000">
                <a:srgbClr val="16256B">
                  <a:alpha val="0"/>
                </a:srgbClr>
              </a:gs>
            </a:gsLst>
            <a:lin ang="0" scaled="0"/>
          </a:gradFill>
          <a:ln>
            <a:noFill/>
          </a:ln>
        </p:spPr>
        <p:txBody>
          <a:bodyPr/>
          <a:lstStyle/>
          <a:p>
            <a:endParaRPr/>
          </a:p>
        </p:txBody>
      </p:sp>
      <p:sp>
        <p:nvSpPr>
          <p:cNvPr id="910" name="AccentBar"/>
          <p:cNvSpPr/>
          <p:nvPr/>
        </p:nvSpPr>
        <p:spPr>
          <a:xfrm>
            <a:off x="457200" y="1150000"/>
            <a:ext cx="109728" cy="1274320"/>
          </a:xfrm>
          <a:prstGeom prst="rect">
            <a:avLst/>
          </a:prstGeom>
          <a:solidFill>
            <a:srgbClr val="7FD3D0"/>
          </a:solidFill>
          <a:ln w="12700">
            <a:solidFill>
              <a:srgbClr val="7FD3D0"/>
            </a:solidFill>
            <a:prstDash val="solid"/>
          </a:ln>
        </p:spPr>
        <p:txBody>
          <a:bodyPr/>
          <a:lstStyle/>
          <a:p>
            <a:endParaRPr/>
          </a:p>
        </p:txBody>
      </p:sp>
      <p:sp>
        <p:nvSpPr>
          <p:cNvPr id="911" name="Eyebrow"/>
          <p:cNvSpPr txBox="1"/>
          <p:nvPr/>
        </p:nvSpPr>
        <p:spPr>
          <a:xfrm>
            <a:off x="777240" y="1150000"/>
            <a:ext cx="5300000" cy="274320"/>
          </a:xfrm>
          <a:prstGeom prst="rect">
            <a:avLst/>
          </a:prstGeom>
          <a:noFill/>
          <a:ln/>
        </p:spPr>
        <p:txBody>
          <a:bodyPr wrap="square" lIns="0" tIns="0" rIns="0" bIns="0" rtlCol="0" anchor="ctr"/>
          <a:lstStyle/>
          <a:p>
            <a:pPr marL="0" indent="0">
              <a:buNone/>
            </a:pPr>
            <a:r>
              <a:rPr lang="fr-FR" sz="1000" b="1" kern="0" spc="200" dirty="0">
                <a:solidFill>
                  <a:srgbClr val="7FD3D0"/>
                </a:solidFill>
                <a:latin typeface="Calibri" pitchFamily="34" charset="0"/>
                <a:ea typeface="Calibri" pitchFamily="34" charset="-122"/>
                <a:cs typeface="Calibri" pitchFamily="34" charset="-120"/>
              </a:rPr>
              <a:t>MARE SERVICES · LA PLATEFORME DU RÉSEAU</a:t>
            </a:r>
            <a:endParaRPr lang="fr-FR" sz="1000" dirty="0"/>
          </a:p>
        </p:txBody>
      </p:sp>
      <p:sp>
        <p:nvSpPr>
          <p:cNvPr id="912" name="Title"/>
          <p:cNvSpPr txBox="1"/>
          <p:nvPr/>
        </p:nvSpPr>
        <p:spPr>
          <a:xfrm>
            <a:off x="777240" y="1424320"/>
            <a:ext cx="5300000" cy="1000000"/>
          </a:xfrm>
          <a:prstGeom prst="rect">
            <a:avLst/>
          </a:prstGeom>
          <a:noFill/>
          <a:ln/>
        </p:spPr>
        <p:txBody>
          <a:bodyPr wrap="square" lIns="0" tIns="0" rIns="0" bIns="0" rtlCol="0" anchor="t"/>
          <a:lstStyle/>
          <a:p>
            <a:pPr marL="0" indent="0">
              <a:lnSpc>
                <a:spcPct val="100000"/>
              </a:lnSpc>
              <a:buNone/>
            </a:pPr>
            <a:r>
              <a:rPr lang="fr-FR" sz="3200" b="1" dirty="0">
                <a:solidFill>
                  <a:srgbClr val="FFFFFF"/>
                </a:solidFill>
                <a:latin typeface="Cambria" pitchFamily="34" charset="0"/>
                <a:ea typeface="Cambria" pitchFamily="34" charset="-122"/>
                <a:cs typeface="Cambria" pitchFamily="34" charset="-120"/>
              </a:rPr>
              <a:t>Vous souhaitez embarquer avec un pêcheur ?</a:t>
            </a:r>
            <a:endParaRPr lang="fr-FR" sz="3200" dirty="0"/>
          </a:p>
        </p:txBody>
      </p:sp>
      <p:sp>
        <p:nvSpPr>
          <p:cNvPr id="913" name="Kicker"/>
          <p:cNvSpPr txBox="1"/>
          <p:nvPr/>
        </p:nvSpPr>
        <p:spPr>
          <a:xfrm>
            <a:off x="777240" y="2470000"/>
            <a:ext cx="5300000" cy="340000"/>
          </a:xfrm>
          <a:prstGeom prst="rect">
            <a:avLst/>
          </a:prstGeom>
          <a:noFill/>
          <a:ln/>
        </p:spPr>
        <p:txBody>
          <a:bodyPr wrap="square" lIns="0" tIns="0" rIns="0" bIns="0" rtlCol="0" anchor="t"/>
          <a:lstStyle/>
          <a:p>
            <a:pPr marL="0" indent="0">
              <a:lnSpc>
                <a:spcPct val="115000"/>
              </a:lnSpc>
              <a:buNone/>
            </a:pPr>
            <a:r>
              <a:rPr lang="fr-FR" sz="1250" dirty="0">
                <a:solidFill>
                  <a:srgbClr val="E6EAF5"/>
                </a:solidFill>
                <a:latin typeface="Calibri" pitchFamily="34" charset="0"/>
                <a:ea typeface="Calibri" pitchFamily="34" charset="-122"/>
                <a:cs typeface="Calibri" pitchFamily="34" charset="-120"/>
              </a:rPr>
              <a:t>Les navires de pêche méditerranéens ouvrent leur bord.</a:t>
            </a:r>
            <a:endParaRPr lang="fr-FR" sz="1250" dirty="0"/>
          </a:p>
        </p:txBody>
      </p:sp>
      <p:sp>
        <p:nvSpPr>
          <p:cNvPr id="930" name="Bul0"/>
          <p:cNvSpPr/>
          <p:nvPr/>
        </p:nvSpPr>
        <p:spPr>
          <a:xfrm>
            <a:off x="790000" y="2995720"/>
            <a:ext cx="91440" cy="91440"/>
          </a:xfrm>
          <a:prstGeom prst="ellipse">
            <a:avLst/>
          </a:prstGeom>
          <a:solidFill>
            <a:srgbClr val="7FD3D0"/>
          </a:solidFill>
          <a:ln w="12700">
            <a:solidFill>
              <a:srgbClr val="7FD3D0"/>
            </a:solidFill>
            <a:prstDash val="solid"/>
          </a:ln>
        </p:spPr>
        <p:txBody>
          <a:bodyPr/>
          <a:lstStyle/>
          <a:p>
            <a:endParaRPr/>
          </a:p>
        </p:txBody>
      </p:sp>
      <p:sp>
        <p:nvSpPr>
          <p:cNvPr id="931" name="Mis0"/>
          <p:cNvSpPr txBox="1"/>
          <p:nvPr/>
        </p:nvSpPr>
        <p:spPr>
          <a:xfrm>
            <a:off x="960000" y="2950000"/>
            <a:ext cx="4400000" cy="240000"/>
          </a:xfrm>
          <a:prstGeom prst="rect">
            <a:avLst/>
          </a:prstGeom>
          <a:noFill/>
          <a:ln/>
        </p:spPr>
        <p:txBody>
          <a:bodyPr wrap="square" lIns="0" tIns="0" rIns="0" bIns="0" rtlCol="0" anchor="t"/>
          <a:lstStyle/>
          <a:p>
            <a:pPr marL="0" indent="0">
              <a:buNone/>
            </a:pPr>
            <a:r>
              <a:rPr lang="fr-FR" sz="1150" b="1" dirty="0">
                <a:solidFill>
                  <a:srgbClr val="FFFFFF"/>
                </a:solidFill>
                <a:latin typeface="Calibri" pitchFamily="34" charset="0"/>
                <a:ea typeface="Calibri" pitchFamily="34" charset="-122"/>
                <a:cs typeface="Calibri" pitchFamily="34" charset="-120"/>
              </a:rPr>
              <a:t>Pesca-tourisme</a:t>
            </a:r>
            <a:endParaRPr lang="fr-FR" sz="1150" dirty="0"/>
          </a:p>
        </p:txBody>
      </p:sp>
      <p:sp>
        <p:nvSpPr>
          <p:cNvPr id="932" name="Bul1"/>
          <p:cNvSpPr/>
          <p:nvPr/>
        </p:nvSpPr>
        <p:spPr>
          <a:xfrm>
            <a:off x="790000" y="3247720"/>
            <a:ext cx="91440" cy="91440"/>
          </a:xfrm>
          <a:prstGeom prst="ellipse">
            <a:avLst/>
          </a:prstGeom>
          <a:solidFill>
            <a:srgbClr val="7FD3D0"/>
          </a:solidFill>
          <a:ln w="12700">
            <a:solidFill>
              <a:srgbClr val="7FD3D0"/>
            </a:solidFill>
            <a:prstDash val="solid"/>
          </a:ln>
        </p:spPr>
        <p:txBody>
          <a:bodyPr/>
          <a:lstStyle/>
          <a:p>
            <a:endParaRPr/>
          </a:p>
        </p:txBody>
      </p:sp>
      <p:sp>
        <p:nvSpPr>
          <p:cNvPr id="933" name="Mis1"/>
          <p:cNvSpPr txBox="1"/>
          <p:nvPr/>
        </p:nvSpPr>
        <p:spPr>
          <a:xfrm>
            <a:off x="960000" y="3202000"/>
            <a:ext cx="4400000" cy="240000"/>
          </a:xfrm>
          <a:prstGeom prst="rect">
            <a:avLst/>
          </a:prstGeom>
          <a:noFill/>
          <a:ln/>
        </p:spPr>
        <p:txBody>
          <a:bodyPr wrap="square" lIns="0" tIns="0" rIns="0" bIns="0" rtlCol="0" anchor="t"/>
          <a:lstStyle/>
          <a:p>
            <a:pPr marL="0" indent="0">
              <a:buNone/>
            </a:pPr>
            <a:r>
              <a:rPr lang="fr-FR" sz="1150" b="1" dirty="0">
                <a:solidFill>
                  <a:srgbClr val="FFFFFF"/>
                </a:solidFill>
                <a:latin typeface="Calibri" pitchFamily="34" charset="0"/>
                <a:ea typeface="Calibri" pitchFamily="34" charset="-122"/>
                <a:cs typeface="Calibri" pitchFamily="34" charset="-120"/>
              </a:rPr>
              <a:t>Missions scientifiques</a:t>
            </a:r>
            <a:endParaRPr lang="fr-FR" sz="1150" dirty="0"/>
          </a:p>
        </p:txBody>
      </p:sp>
      <p:sp>
        <p:nvSpPr>
          <p:cNvPr id="934" name="Bul2"/>
          <p:cNvSpPr/>
          <p:nvPr/>
        </p:nvSpPr>
        <p:spPr>
          <a:xfrm>
            <a:off x="790000" y="3499720"/>
            <a:ext cx="91440" cy="91440"/>
          </a:xfrm>
          <a:prstGeom prst="ellipse">
            <a:avLst/>
          </a:prstGeom>
          <a:solidFill>
            <a:srgbClr val="7FD3D0"/>
          </a:solidFill>
          <a:ln w="12700">
            <a:solidFill>
              <a:srgbClr val="7FD3D0"/>
            </a:solidFill>
            <a:prstDash val="solid"/>
          </a:ln>
        </p:spPr>
        <p:txBody>
          <a:bodyPr/>
          <a:lstStyle/>
          <a:p>
            <a:endParaRPr/>
          </a:p>
        </p:txBody>
      </p:sp>
      <p:sp>
        <p:nvSpPr>
          <p:cNvPr id="935" name="Mis2"/>
          <p:cNvSpPr txBox="1"/>
          <p:nvPr/>
        </p:nvSpPr>
        <p:spPr>
          <a:xfrm>
            <a:off x="960000" y="3454000"/>
            <a:ext cx="4400000" cy="240000"/>
          </a:xfrm>
          <a:prstGeom prst="rect">
            <a:avLst/>
          </a:prstGeom>
          <a:noFill/>
          <a:ln/>
        </p:spPr>
        <p:txBody>
          <a:bodyPr wrap="square" lIns="0" tIns="0" rIns="0" bIns="0" rtlCol="0" anchor="t"/>
          <a:lstStyle/>
          <a:p>
            <a:pPr marL="0" indent="0">
              <a:buNone/>
            </a:pPr>
            <a:r>
              <a:rPr lang="fr-FR" sz="1150" b="1" dirty="0">
                <a:solidFill>
                  <a:srgbClr val="FFFFFF"/>
                </a:solidFill>
                <a:latin typeface="Calibri" pitchFamily="34" charset="0"/>
                <a:ea typeface="Calibri" pitchFamily="34" charset="-122"/>
                <a:cs typeface="Calibri" pitchFamily="34" charset="-120"/>
              </a:rPr>
              <a:t>Science participative</a:t>
            </a:r>
            <a:endParaRPr lang="fr-FR" sz="1150" dirty="0"/>
          </a:p>
        </p:txBody>
      </p:sp>
      <p:sp>
        <p:nvSpPr>
          <p:cNvPr id="936" name="Bul3"/>
          <p:cNvSpPr/>
          <p:nvPr/>
        </p:nvSpPr>
        <p:spPr>
          <a:xfrm>
            <a:off x="790000" y="3751720"/>
            <a:ext cx="91440" cy="91440"/>
          </a:xfrm>
          <a:prstGeom prst="ellipse">
            <a:avLst/>
          </a:prstGeom>
          <a:solidFill>
            <a:srgbClr val="7FD3D0"/>
          </a:solidFill>
          <a:ln w="12700">
            <a:solidFill>
              <a:srgbClr val="7FD3D0"/>
            </a:solidFill>
            <a:prstDash val="solid"/>
          </a:ln>
        </p:spPr>
        <p:txBody>
          <a:bodyPr/>
          <a:lstStyle/>
          <a:p>
            <a:endParaRPr/>
          </a:p>
        </p:txBody>
      </p:sp>
      <p:sp>
        <p:nvSpPr>
          <p:cNvPr id="937" name="Mis3"/>
          <p:cNvSpPr txBox="1"/>
          <p:nvPr/>
        </p:nvSpPr>
        <p:spPr>
          <a:xfrm>
            <a:off x="960000" y="3706000"/>
            <a:ext cx="4400000" cy="240000"/>
          </a:xfrm>
          <a:prstGeom prst="rect">
            <a:avLst/>
          </a:prstGeom>
          <a:noFill/>
          <a:ln/>
        </p:spPr>
        <p:txBody>
          <a:bodyPr wrap="square" lIns="0" tIns="0" rIns="0" bIns="0" rtlCol="0" anchor="t"/>
          <a:lstStyle/>
          <a:p>
            <a:pPr marL="0" indent="0">
              <a:buNone/>
            </a:pPr>
            <a:r>
              <a:rPr lang="fr-FR" sz="1150" b="1" dirty="0">
                <a:solidFill>
                  <a:srgbClr val="FFFFFF"/>
                </a:solidFill>
                <a:latin typeface="Calibri" pitchFamily="34" charset="0"/>
                <a:ea typeface="Calibri" pitchFamily="34" charset="-122"/>
                <a:cs typeface="Calibri" pitchFamily="34" charset="-120"/>
              </a:rPr>
              <a:t>Appuie aux moyens de l’Etat en mer</a:t>
            </a:r>
            <a:endParaRPr lang="fr-FR" sz="1150" dirty="0"/>
          </a:p>
        </p:txBody>
      </p:sp>
      <p:sp>
        <p:nvSpPr>
          <p:cNvPr id="950" name="QRCard"/>
          <p:cNvSpPr/>
          <p:nvPr/>
        </p:nvSpPr>
        <p:spPr>
          <a:xfrm>
            <a:off x="6486800" y="1388000"/>
            <a:ext cx="2200000" cy="2320000"/>
          </a:xfrm>
          <a:prstGeom prst="roundRect">
            <a:avLst>
              <a:gd name="adj" fmla="val 4000"/>
            </a:avLst>
          </a:prstGeom>
          <a:solidFill>
            <a:srgbClr val="FFFFFF"/>
          </a:solidFill>
          <a:ln w="12700">
            <a:solidFill>
              <a:srgbClr val="FFFFFF"/>
            </a:solidFill>
            <a:prstDash val="solid"/>
          </a:ln>
        </p:spPr>
        <p:txBody>
          <a:bodyPr/>
          <a:lstStyle/>
          <a:p>
            <a:endParaRPr/>
          </a:p>
        </p:txBody>
      </p:sp>
      <p:pic>
        <p:nvPicPr>
          <p:cNvPr id="960" name="QR Mare Services"/>
          <p:cNvPicPr>
            <a:picLocks noChangeAspect="1"/>
          </p:cNvPicPr>
          <p:nvPr/>
        </p:nvPicPr>
        <p:blipFill>
          <a:blip r:embed="rId3"/>
          <a:stretch>
            <a:fillRect/>
          </a:stretch>
        </p:blipFill>
        <p:spPr>
          <a:xfrm>
            <a:off x="6681051" y="1524832"/>
            <a:ext cx="1822869" cy="2093835"/>
          </a:xfrm>
          <a:prstGeom prst="rect">
            <a:avLst/>
          </a:prstGeom>
        </p:spPr>
      </p:pic>
      <p:pic>
        <p:nvPicPr>
          <p:cNvPr id="7" name="Image 0" descr="/home/claude/v8/img/logo_white.png"/>
          <p:cNvPicPr>
            <a:picLocks noChangeAspect="1"/>
          </p:cNvPicPr>
          <p:nvPr/>
        </p:nvPicPr>
        <p:blipFill>
          <a:blip r:embed="rId4"/>
          <a:stretch>
            <a:fillRect/>
          </a:stretch>
        </p:blipFill>
        <p:spPr>
          <a:xfrm>
            <a:off x="6949440" y="320040"/>
            <a:ext cx="1621380" cy="548640"/>
          </a:xfrm>
          <a:prstGeom prst="rect">
            <a:avLst/>
          </a:prstGeom>
        </p:spPr>
      </p:pic>
      <p:sp>
        <p:nvSpPr>
          <p:cNvPr id="8" name="Text 5"/>
          <p:cNvSpPr txBox="1"/>
          <p:nvPr/>
        </p:nvSpPr>
        <p:spPr>
          <a:xfrm>
            <a:off x="8503920" y="4846320"/>
            <a:ext cx="274320" cy="228600"/>
          </a:xfrm>
          <a:prstGeom prst="rect">
            <a:avLst/>
          </a:prstGeom>
          <a:noFill/>
          <a:ln/>
        </p:spPr>
        <p:txBody>
          <a:bodyPr wrap="square" lIns="0" tIns="0" rIns="0" bIns="0" rtlCol="0" anchor="ctr"/>
          <a:lstStyle/>
          <a:p>
            <a:pPr marL="0" indent="0" algn="r">
              <a:buNone/>
            </a:pPr>
            <a:r>
              <a:rPr lang="en-US" sz="800">
                <a:solidFill>
                  <a:srgbClr val="CADCFC"/>
                </a:solidFill>
                <a:latin typeface="Calibri" pitchFamily="34" charset="0"/>
                <a:ea typeface="Calibri" pitchFamily="34" charset="-122"/>
                <a:cs typeface="Calibri" pitchFamily="34" charset="-120"/>
              </a:rPr>
              <a:t>21</a:t>
            </a:r>
            <a:endParaRPr lang="en-US" sz="800"/>
          </a:p>
        </p:txBody>
      </p:sp>
      <p:sp>
        <p:nvSpPr>
          <p:cNvPr id="970" name="Text Disclaimer"/>
          <p:cNvSpPr txBox="1"/>
          <p:nvPr/>
        </p:nvSpPr>
        <p:spPr>
          <a:xfrm>
            <a:off x="777240" y="4270000"/>
            <a:ext cx="5300000" cy="320000"/>
          </a:xfrm>
          <a:prstGeom prst="rect">
            <a:avLst/>
          </a:prstGeom>
          <a:noFill/>
          <a:ln/>
        </p:spPr>
        <p:txBody>
          <a:bodyPr wrap="square" lIns="0" tIns="0" rIns="0" bIns="0" rtlCol="0" anchor="t"/>
          <a:lstStyle/>
          <a:p>
            <a:pPr marL="0" indent="0">
              <a:lnSpc>
                <a:spcPct val="115000"/>
              </a:lnSpc>
              <a:buNone/>
            </a:pPr>
            <a:r>
              <a:rPr lang="fr-FR" sz="800" i="1" dirty="0">
                <a:solidFill>
                  <a:srgbClr val="CADCFC"/>
                </a:solidFill>
                <a:latin typeface="Calibri" pitchFamily="34" charset="0"/>
                <a:ea typeface="Calibri" pitchFamily="34" charset="-122"/>
                <a:cs typeface="Calibri" pitchFamily="34" charset="-120"/>
              </a:rPr>
              <a:t>Le site est fonctionnel et les pêcheurs référencés sont réels. Les statuts de la structure porteuse étant en cours de dépôt, </a:t>
            </a:r>
            <a:r>
              <a:rPr lang="fr-FR" sz="800" b="1" i="1" dirty="0">
                <a:solidFill>
                  <a:srgbClr val="CADCFC"/>
                </a:solidFill>
                <a:latin typeface="Calibri" pitchFamily="34" charset="0"/>
                <a:ea typeface="Calibri" pitchFamily="34" charset="-122"/>
                <a:cs typeface="Calibri" pitchFamily="34" charset="-120"/>
              </a:rPr>
              <a:t>le module de paiement est encore fictif : aucune réservation n’est facturée à ce stade.</a:t>
            </a:r>
            <a:endParaRPr lang="fr-FR" sz="8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3584</Words>
  <Application>Microsoft Office PowerPoint</Application>
  <PresentationFormat>Affichage à l'écran (16:9)</PresentationFormat>
  <Paragraphs>469</Paragraphs>
  <Slides>21</Slides>
  <Notes>11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21</vt:i4>
      </vt:variant>
    </vt:vector>
  </HeadingPairs>
  <TitlesOfParts>
    <vt:vector size="25"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Fonds de dotation Mare Durabilis — présentation aux conseillers en gestion de patrimoine</dc:title>
  <dc:subject>PptxGenJS Presentation</dc:subject>
  <dc:creator>Mare Durabilis</dc:creator>
  <cp:lastModifiedBy>Clément Chardon</cp:lastModifiedBy>
  <cp:revision>2</cp:revision>
  <dcterms:created xsi:type="dcterms:W3CDTF">2026-09-04T09:46:20Z</dcterms:created>
  <dcterms:modified xsi:type="dcterms:W3CDTF">2026-09-10T14:35:27Z</dcterms:modified>
</cp:coreProperties>
</file>